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handoutMasterIdLst>
    <p:handoutMasterId r:id="rId24"/>
  </p:handout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9"/>
    <p:sldId id="270" r:id="rId8"/>
    <p:sldId id="271" r:id="rId7"/>
    <p:sldId id="272" r:id="rId6"/>
    <p:sldId id="273" r:id="rId5"/>
    <p:sldId id="274" r:id="rId4"/>
    <p:sldId id="275" r:id="rId3"/>
    <p:sldId id="276" r:id="rId2"/>
    <p:sldId id="277" r:id="rId31"/>
    <p:sldId id="278" r:id="rId32"/>
    <p:sldId id="279" r:id="rId33"/>
    <p:sldId id="280" r:id="rId34"/>
    <p:sldId id="281" r:id="rId35"/>
    <p:sldId id="282" r:id="rId36"/>
    <p:sldId id="283" r:id="rId37"/>
    <p:sldId id="284" r:id="rId38"/>
    <p:sldId id="285" r:id="rId39"/>
    <p:sldId id="286" r:id="rId40"/>
    <p:sldId id="287" r:id="rId41"/>
  </p:sldIdLst>
  <p:sldSz cx="9144000" cy="5143500" type="screen16x9"/>
  <p:notesSz cx="6858000" cy="9144000"/>
  <p:embeddedFontLst>
    <p:embeddedFont>
      <p:font typeface="Play" panose="020B0604020202020204"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76" d="100"/>
          <a:sy n="176" d="100"/>
        </p:scale>
        <p:origin x="439" y="82"/>
      </p:cViewPr>
      <p:guideLst>
        <p:guide orient="horz" pos="1620"/>
        <p:guide pos="2880"/>
      </p:guideLst>
    </p:cSldViewPr>
  </p:slideViewPr>
  <p:notesTextViewPr>
    <p:cViewPr>
      <p:scale>
        <a:sx n="1" d="1"/>
        <a:sy n="1" d="1"/>
      </p:scale>
      <p:origin x="0" y="0"/>
    </p:cViewPr>
  </p:notesTextViewPr>
  <p:notesViewPr>
    <p:cSldViewPr snapToGrid="0">
      <p:cViewPr varScale="1">
        <p:scale>
          <a:sx n="106" d="100"/>
          <a:sy n="106" d="100"/>
        </p:scale>
        <p:origin x="4245" y="51"/>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1.xml"/><Relationship Id="rId3" Type="http://schemas.openxmlformats.org/officeDocument/2006/relationships/slide" Target="slides/slide20.xml"/><Relationship Id="rId4" Type="http://schemas.openxmlformats.org/officeDocument/2006/relationships/slide" Target="slides/slide19.xml"/><Relationship Id="rId5" Type="http://schemas.openxmlformats.org/officeDocument/2006/relationships/slide" Target="slides/slide18.xml"/><Relationship Id="rId6" Type="http://schemas.openxmlformats.org/officeDocument/2006/relationships/slide" Target="slides/slide17.xml"/><Relationship Id="rId7" Type="http://schemas.openxmlformats.org/officeDocument/2006/relationships/slide" Target="slides/slide16.xml"/><Relationship Id="rId8" Type="http://schemas.openxmlformats.org/officeDocument/2006/relationships/slide" Target="slides/slide15.xml"/><Relationship Id="rId9" Type="http://schemas.openxmlformats.org/officeDocument/2006/relationships/slide" Target="slides/slide14.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font" Target="fonts/font1.fntdata"/><Relationship Id="rId26" Type="http://schemas.openxmlformats.org/officeDocument/2006/relationships/font" Target="fonts/font2.fnt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DCC23E-2445-8927-9D31-EFE409D3E0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9B84729C-C9ED-3513-1AEF-159C7C56D07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84A861-0892-45E9-A6FF-42AA72AD79D6}" type="datetimeFigureOut">
              <a:rPr lang="en-SG" smtClean="0"/>
              <a:t>31/5/2026</a:t>
            </a:fld>
            <a:endParaRPr lang="en-SG"/>
          </a:p>
        </p:txBody>
      </p:sp>
      <p:sp>
        <p:nvSpPr>
          <p:cNvPr id="4" name="Footer Placeholder 3">
            <a:extLst>
              <a:ext uri="{FF2B5EF4-FFF2-40B4-BE49-F238E27FC236}">
                <a16:creationId xmlns:a16="http://schemas.microsoft.com/office/drawing/2014/main" id="{771F6FFB-0EEF-6E09-9A5D-A5462A8773E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68E0A69C-82A5-2C96-A5C0-8ADD11750A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9557BD-F81B-4A99-9A73-0863D2076FB4}" type="slidenum">
              <a:rPr lang="en-SG" smtClean="0"/>
              <a:t>‹#›</a:t>
            </a:fld>
            <a:endParaRPr lang="en-SG"/>
          </a:p>
        </p:txBody>
      </p:sp>
    </p:spTree>
    <p:extLst>
      <p:ext uri="{BB962C8B-B14F-4D97-AF65-F5344CB8AC3E}">
        <p14:creationId xmlns:p14="http://schemas.microsoft.com/office/powerpoint/2010/main" val="23855155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Good morning. I am Samuel Sim, and this is my capstone on profile-coherent financial asset recommendation. The one-line version: financial recommenders are judged on ranking quality and on return, but never on whether they respect the customer's regulatory risk profile. I build a metric for that gap, show it carries real economic signal, audit the standard baselines against it, and then close the gap with two cheap changes to LightGCN, stratification and regrouping.</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Financial asset recommendation sits between personalised ranking and regulation. The benchmarks optimise two things, nDCG for ranking and ROI for return. But MiFID II, the EU suitability rule, says a product's risk has to match the customer's declared tolerance before you are allowed to recommend it. So a model can top the leaderboard on ranking and return while systematically recommending products that breach suitability, and no published metric would catch it. That blind spot is the entire motivation for the work.</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A little background on the problem itself. Financial asset recommendation ranks securities, stocks, bonds, and mutual funds, by suitability to an investor. Suitability draws on investor-side signals like past transactions, declared risk tolerance, investment capacity, and goals, and on market-side signals like returns, currency, and inflation. So any FAR system has to combine heterogeneous data: pricing time series, customer profiles, and transaction history. The reason the field stalled is data. Most prior work used proprietary or simulated data, and the one earlier public dataset had no pricing and no asset identifiers, which rules out any price-based method. That is the gap FAR-Trans fills.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Everything runs on FAR-Trans, the first open dataset that pairs real asset pricing with real retail transactions, from a large European institution between 2018 and 2022. The counts are 228,913 Buys and 159,135 Sells over 806 assets and 29,090 customers. About 228,000 of those Buys are scoreable, meaning we can measure alignment because the asset has a risk class and the customer has a declared band. Nearly 99% of customers carry a band. Profiles also include customer type and investment capacity, which become controls in the RQ1 regression. The feature that matters most is daily pricing, which is what makes both price-based and profile-based recommendation measurable on one dataset.</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FAR-Trans does not just provide data, it sets the evaluation standard, benchmarking eleven algorithms on two axes over the top ten items: nDCG for next-purchase ranking and ROI for realised profitability. A 2026 follow-up made an important point: on this data those two axes are actually negatively correlated, so a model that wins one tends to lose the other. They measure genuinely different things. But here is the gap that motivates everything: neither axis says whether a recommendation matches the customer's declared MiFID band. That suitability dimension is the blind spot.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The work is a chain: diagnose, audit, then remedy. RQ1 diagnoses how common discordance is and whether it is a stable customer trait, and it tests whether discordance actually costs return. RQ2 audits whether the existing baselines even beat a random baseline band by band. RQ3 is the fix. I will take all three in order.</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Three contributions, all measured through PC@k and its chance baseline. First, a profile-coherent margin loss on top of BPR that turns PC@k into something the model optimises during training, not just a number we report. Second, band stratification, routing each customer to a sub-model for their band. Third, customer regrouping, relabelling each customer onto the band their purchases actually imply. An ablation separates the contribution of each. The throughline is that we put suitability inside the training loop rather than bolting it on as a filter afterwards.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Three strands of prior work position the contribution. Ghiye and colleagues extend LightGCN with causal graph convolution for credit bonds, which shows LightGCN can carry domain-specific structure beyond plain BPR, and that motivates our backbone. RURA, from Sakurai and colleagues, does risk-aware re-ranking on FAR-Trans: it conditions a mean-variance objective on risk tolerance and lifts ROI, but it never quantifies how aligned the resulting list is with the declared band in ordinal terms, which is exactly the gap PC@k fills. And fairness-aware recommendation enforces group-level quality, which is the closest lens: PC@k is per-group quality where the groups are MiFID bands, except the target is a regulatory constraint rather than a social one.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Here is the metric. Customers and assets share a single four-point ordinal scale, Conservative through Aggressive, encoded 0 to 3. Discordance is just the absolute distance between the customer's band and the asset's band. We call a recommendation coherent when that distance is at most one. The plus or minus one tolerance is deliberate: it mirrors MiFID's adjacency allowance for borderline cases, so we are not punishing every single-band drift. PC@k is then simply the share of the top-k list that is coherent, and it drops onto any ranker's existing output without retraining.</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One subtlety makes the metric honest. Raw PC@k flatters easy bands, because almost 78% of assets sit in the middle three bands, so pushing Income at everyone already scores well. So we define a band-conditional random baseline, pi of b, the share of assets within one step of band b. It runs from 0.78 for Income down to 0.35 for Aggressive. PC-lift then divides each customer's score by pi at their own band. Lift above one means you genuinely beat chance, and this is what lets us compare very different bands on equal footing.</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One caveat to state up front. FAR-Trans does not label asset risk bands, so I assign them with a three-step rule. Funds and bonds are labelled directly from their subcategory. Stocks have no usable tag, so they fall through to volatility quartiles on a trailing 252-day window. Anything left over defaults to Balanced. That produces 806 assets distributed as 190, 333, 105, and 178, and that distribution is exactly what feeds pi of b. It is a heuristic rather than an external classification, and I flag it as a limitation later.</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Now RQ1, the diagnosis, two findings on one slide. On the left, at the transaction level, 18.6% of scoreable Buys breach the band by two or more steps. That is nearly one in five, far too large to dismiss as noise. On the right, and this is the key result, the violations are not spread evenly. The per-customer distribution is sharply bimodal: 64% of customers are coherent on every Buy, and 17% are discordant on every Buy. A Hartigan dip test rejects a single mode at p below ten to the minus fifteen. So discordance is a structural customer-level trait, and a trait is something you can route on.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Two robustness checks so this does not look like an artefact. On the left, coherence by band is U-shaped. The extremes mismatch most, Conservative at 45% and Aggressive at 56%, while the middle bands sit near 90. That reinforces the bimodality. On the right, mean discordance is essentially flat from 2019 to 2022, within 0.02 of a band, so this is not driven by any single year's market regime. 2018 sits a little higher, and because MiFID came into force in the very first week of the data, we hypothesise a transition effect, though we do not test it.</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Before the result, the specification, because a careful examiner will ask. It is a transaction-level OLS on 208,000 priced Buys. The outcome is the six-month realised return, end price over start price minus one. The coefficient of interest is on is_coherent, a binary for distance at most one, and I control for asset volatility, customer segment, and year. Prices are matched with a backward-nearest join, the last close on or before each date, and I drop any Buy with no price within seven days at either end. Standard errors are clustered by customer, because each customer makes about eight Buys whose residuals share shocks, so treating them as independent would overstate significance. The null is simply that the coherence coefficient is zero.</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This is the economic test, and it is the result I would defend hardest. A transaction-level OLS on 208,000 priced Buys, with standard errors clustered by customer, controlling for volatility, segment, and year. The coherence coefficient is plus 2.94 percentage points on six-month return, at p of ten to the minus thirteen. So coherent Buys earn more, not less. The controls barely move it: the raw gap is 3.31 points and conditioning removes only 0.37 of that. The headline is that there is no return tax for staying inside the risk profile, which removes the main objection to optimising for coherence.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Quickly, what the controls say, since they are a good sanity check that the regression behaves. All four year dummies are significant and they line up with the actual market regimes relative to the 2018 base year. 2019 is strongly positive, the recovery after the late-2018 sell-off. 2020 is the largest, the rebound from the COVID crash to record highs by August. 2021 is positive but smaller, late-cycle gains before the Fed taper. And 2022 turns negative, the year aggressive rate hikes drove a broad drawdown. Those four are backed by news citations in the paper. Volatility is strongly negative, consistent with low-volatility outperformance over this window. And the R-squared is only about five percent, which is expected because individual returns are mostly idiosyncratic, but that concerns prediction, not the hypothesis test, and the premium itself is estimated precisely.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RQ2 needs an evaluation protocol, so here it is. Sixty-nine temporal splits on a roughly biweekly trading-day grid, following the original FAR-Trans cadence. Split points run from August 2019 to December 2021, and the per-split test windows push coverage out to May 2022. For each split, training is everything up to the split point and the test set is the window just after, deduplicated against training and restricted to assets seen in training. A customer has to appear in both training and test to be eligible, and an asset needs prices at both endpoints. The important property is that it is strictly forward-looking, no test Buy leaks into training.</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These are the two baselines and how they were tuned. Both are swept with Ray Tune, LightGCN on average nDCG and Random Forest on average ROI, each on its own best axis so we audit them at their strongest. For LightGCN the grid is embedding size, number of layers, and learning rate, with weight decay, dropout, epochs, and batch size fixed, and the best trial is 64 dimensions, three layers, and the smaller learning rate. For Random Forest the grid is the number of trees and the max depth, landing on forty trees at depth fifty, with a six-month horizon. I show the full grid so it is clear the audit is at each model's optimum, not a hobbled version.</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Start with the aggregate numbers before we break them down. The audit method is to average per-customer PC@10 across every customer and split, then divide by the chance baseline for lift. LightGCN clearly wins ranking, nDCG of 0.33 and recall around 0.5, but its ROI is slightly negative. Random Forest is the mirror image, near-random on ranking but positive on ROI. On coherence both look fine in aggregate, lift of 1.17 and 1.06. The catch, which the next slide exposes, is that this single PC number averages across bands whose chance baselines run from 0.35 up to 0.78, so it can hide a lot.</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The answer is no, and you would miss it from the aggregate. Aggregate lift looks fine, 1.17 for LightGCN and 1.06 for Random Forest. But broken out by band, both under-serve the low bands. Look at Conservative: LightGCN at 0.75 and Random Forest at 0.52, both below random. For both models lift rises monotonically with the band, which means they skew toward higher-risk assets. Aggressive looks strong, but that is mechanical, its bar is only 0.35. Neither model has band labels or a band-aware loss, so coherence here is an accident of training rather than a controlled output.</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RQ3 is the fix, three components on a LightGCN backbone. First, stratify: train four sub-models, one per band, and route each customer to theirs. Second, add a coherence-margin loss on top of BPR. Third, regroup: relabel each customer onto the band their actual purchases imply. The diagram shows the flow. A customer hits the router, goes into the band-stratified sub-models, comes out as scores, and then either the top-k list at inference or the two losses at training. The next two slides cover the loss and the regrouping.</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A quick justification for why the fix targets LightGCN and not Random Forest, since Random Forest actually won on ROI. Two reasons, both structural. LightGCN has a differentiable BPR loss, so I can attach the coherence margin directly as another loss term at training time. And it learns per-customer embeddings, so there is an actual user-level representation to condition on. Random Forest has neither: it ranks purely from technical indicators of the asset, with no customer-side signal to push on, so there is nothing to attach a coherence objective to. The extension needs a differentiable, customer-conditioned scorer, and LightGCN is the natural choice.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The margin loss. Independently of BPR, we sample one coherent asset and one discordant asset and push the coherent score above the discordant one through a softplus. We use softplus rather than a hard hinge because it is differentiable everywhere and it matches BPR's own log-sigmoid form, so the two terms stay consistent. Lambda sets its weight. Regrouping is even simpler: reassign each customer to the lower median of the risk classes of the assets they bought, with ties going conservative. The logic is that RQ1 already told us the declared bands are noisy, so we correct the label instead of fighting it with a penalty.</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The ablation is designed to separate the three components cleanly. The stratified model inherits the best LightGCN backbone hyperparameters, so any difference comes from the intervention, not retuning. Lambda zero is stratified BPR alone, which isolates the architecture. Lambda one adds the coherence margin, which isolates the loss. Then I rerun that pair on the regrouped bands, which isolates regrouping. That gives five configurations: the baseline, declared at lambda zero and one, and regrouped at lambda zero and one. Every number is reported as a delta against the baseline LightGCN.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Results. Reading down the table: declared lambda equal to one lifts PC@10 from 0.79 to 0.92, a twelve-point gain. Decomposed, stratification alone is cheap and buys about a quarter of that at no real cost. The margin buys the rest, but it spends a couple of points of nDCG and Recall to do it. Now the highlighted row, regrouped with lambda zero: PC@10 of 0.949, higher than the full declared treatment, and crucially nDCG and Recall go up rather than down, with ROI flat. That is the recommended operating point. Correcting the label beats penalising the model.</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This is the per-split evidence that the regrouping win is real and not an averaging effect. On the left, win rates: regrouped lambda zero beats the baseline on all 69 splits, simultaneously on coherence, ranking, and recall. On the right, the actual deltas split by split: coherence is positive on every single split, and the ranking metrics are positive too, exactly where the margin loss was negative. So the gain is uniform across every split, not a few lucky ones. And because nDCG and Recall do not depend on the band, their improvement is direct evidence that the declared bands were injecting label noise.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Last results slide, the per-band breakdown, and the story is Conservative, the band everyone failed. Baseline 0.75, below random. Stratification alone lifts it to 0.91, still below. Only the margin, or regrouping, finally pushes it over the line. Under the regrouped columns every band clears random for the first time. Aggressive jumps to 2.68, partly because its bar is so low. The point is that the intervention specifically rescues the band the baselines neglected, rather than just inflating an aggregate.</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Limitations for the first two questions, and I want to be direct. The RQ1 premium is associational, full stop. I control for volatility, segment, and year, but I cannot rule out confounders like financial literacy, advisor channel, or account constraints, so I do not claim causation. The asset bands are the bigger caveat: they come from my own three-step heuristic, not an external classification, the stock volatility step in particular could mislabel, and any mislabelling flows into every coherence number in the paper. For RQ2, the audit is at each model's single best operating point, not a full grid sweep, and the per-band lifts have to be read against their chance baseline, because a low-baseline band like Aggressive clears the bar easily.</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And the RQ3 limitations, including the one I would raise on myself before anyone else does. I extend only LightGCN, at a single lambda, on inherited hyperparameters, so the coherence gains are really a lower bound and the ranking costs an upper bound on what a full sweep could do. The important one is regrouping leakage. The revealed bands are computed from each customer's entire Buy history, so they carry look-ahead relative to any given split, and because I then score coherence against those same bands, part of the regrouped coherence gain is true by construction. That is exactly why I lean on the ranking and return gains instead, nDCG, recall, and ROI, none of which is defined relative to the band, so they cannot be inflated this way. A per-split version using only training-window purchases is the obvious fix and is future work.</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Future directions follow from those limitations. Causal identification with instrumental variables or difference-in-differences across a regulatory boundary, which would also let us test the 2018 transition hypothesis directly. Data-driven calibration of both the tolerance and the band assignment, validated against real fund classifications. Extending the treatment beyond LightGCN to sequential and transformer recommenders with a full Pareto sweep. And bridging realised return on executed Buys with forward return on recommended slates through online or off-policy evaluation.</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To conclude. The central finding is that regulatory coherence and economic return are not in structural conflict on this data. You can make a recommender meaningfully more profile-coherent and keep the return story intact. RQ1 showed the trait is real and earns a premium. RQ2 showed the baselines hide per-band failures. RQ3 showed that stratification with regrouping lifts coherence to 0.95 while also improving ranking, at no return cost. The broader message is that suitability, and regulatory constraints more generally, can be encoded as a training objective rather than a post-hoc filter.</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sz="1200">
                <a:latin typeface="Arial"/>
              </a:rPr>
              <a:t>That is the work. All code, configuration grids, and evaluation artefacts are in the linked repository. Thank you, and I am happy to take questions, especially on the metric design or on the regrouping leakage point, which I expect someone will push 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sp>
        <p:nvSpPr>
          <p:cNvPr id="13" name="Google Shape;13;p2"/>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rgbClr val="002060"/>
              </a:buClr>
              <a:buSzPts val="3800"/>
              <a:buFont typeface="Arial"/>
              <a:buNone/>
              <a:defRPr sz="3800" b="1">
                <a:solidFill>
                  <a:srgbClr val="002060"/>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14" name="Google Shape;14;p2"/>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rgbClr val="002060"/>
              </a:buClr>
              <a:buSzPts val="1800"/>
              <a:buNone/>
              <a:defRPr sz="1800">
                <a:solidFill>
                  <a:srgbClr val="002060"/>
                </a:solidFill>
                <a:latin typeface="Arial"/>
                <a:ea typeface="Arial"/>
                <a:cs typeface="Arial"/>
                <a:sym typeface="Aria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dirty="0"/>
          </a:p>
        </p:txBody>
      </p:sp>
      <p:sp>
        <p:nvSpPr>
          <p:cNvPr id="15" name="Google Shape;15;p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solidFill>
                  <a:srgbClr val="00206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 name="Google Shape;16;p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 name="Google Shape;17;p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reserve="1">
  <p:cSld name="Subtitle">
    <p:spTree>
      <p:nvGrpSpPr>
        <p:cNvPr id="1" name="Shape 12"/>
        <p:cNvGrpSpPr/>
        <p:nvPr/>
      </p:nvGrpSpPr>
      <p:grpSpPr>
        <a:xfrm>
          <a:off x="0" y="0"/>
          <a:ext cx="0" cy="0"/>
          <a:chOff x="0" y="0"/>
          <a:chExt cx="0" cy="0"/>
        </a:xfrm>
      </p:grpSpPr>
      <p:sp>
        <p:nvSpPr>
          <p:cNvPr id="13" name="Google Shape;13;p2"/>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002060"/>
              </a:buClr>
              <a:buSzPts val="3800"/>
              <a:buFont typeface="Arial"/>
              <a:buNone/>
              <a:defRPr sz="3800" b="1">
                <a:solidFill>
                  <a:srgbClr val="002060"/>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14" name="Google Shape;14;p2"/>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rgbClr val="002060"/>
              </a:buClr>
              <a:buSzPts val="1800"/>
              <a:buNone/>
              <a:defRPr sz="1800">
                <a:solidFill>
                  <a:srgbClr val="002060"/>
                </a:solidFill>
                <a:latin typeface="Arial"/>
                <a:ea typeface="Arial"/>
                <a:cs typeface="Arial"/>
                <a:sym typeface="Aria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dirty="0"/>
          </a:p>
        </p:txBody>
      </p:sp>
      <p:sp>
        <p:nvSpPr>
          <p:cNvPr id="15" name="Google Shape;15;p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solidFill>
                  <a:srgbClr val="00206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 name="Google Shape;16;p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 name="Google Shape;17;p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00206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4214401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userDrawn="1">
  <p:cSld name="TEXT">
    <p:spTree>
      <p:nvGrpSpPr>
        <p:cNvPr id="1" name="Shape 69"/>
        <p:cNvGrpSpPr/>
        <p:nvPr/>
      </p:nvGrpSpPr>
      <p:grpSpPr>
        <a:xfrm>
          <a:off x="0" y="0"/>
          <a:ext cx="0" cy="0"/>
          <a:chOff x="0" y="0"/>
          <a:chExt cx="0" cy="0"/>
        </a:xfrm>
      </p:grpSpPr>
      <p:sp>
        <p:nvSpPr>
          <p:cNvPr id="70" name="Google Shape;70;p11"/>
          <p:cNvSpPr txBox="1">
            <a:spLocks noGrp="1"/>
          </p:cNvSpPr>
          <p:nvPr>
            <p:ph type="title"/>
          </p:nvPr>
        </p:nvSpPr>
        <p:spPr>
          <a:xfrm>
            <a:off x="628650" y="713791"/>
            <a:ext cx="7886700" cy="588106"/>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sz="2400">
                <a:latin typeface="+mn-l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72" name="Google Shape;72;p1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3" name="Google Shape;73;p1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4" name="Google Shape;74;p1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4" name="Google Shape;58;p9">
            <a:extLst>
              <a:ext uri="{FF2B5EF4-FFF2-40B4-BE49-F238E27FC236}">
                <a16:creationId xmlns:a16="http://schemas.microsoft.com/office/drawing/2014/main" id="{399CF884-266D-2EC9-6E32-30026BCF9848}"/>
              </a:ext>
            </a:extLst>
          </p:cNvPr>
          <p:cNvSpPr txBox="1">
            <a:spLocks noGrp="1"/>
          </p:cNvSpPr>
          <p:nvPr>
            <p:ph type="body" idx="2"/>
          </p:nvPr>
        </p:nvSpPr>
        <p:spPr>
          <a:xfrm>
            <a:off x="629840" y="1365737"/>
            <a:ext cx="7885509" cy="3264877"/>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629841" y="740568"/>
            <a:ext cx="2949300" cy="802631"/>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Play"/>
              <a:buNone/>
              <a:defRPr sz="2400">
                <a:latin typeface="+mj-l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57" name="Google Shape;57;p9"/>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dirty="0"/>
          </a:p>
        </p:txBody>
      </p:sp>
      <p:sp>
        <p:nvSpPr>
          <p:cNvPr id="58" name="Google Shape;58;p9"/>
          <p:cNvSpPr txBox="1">
            <a:spLocks noGrp="1"/>
          </p:cNvSpPr>
          <p:nvPr>
            <p:ph type="body" idx="2"/>
          </p:nvPr>
        </p:nvSpPr>
        <p:spPr>
          <a:xfrm>
            <a:off x="629841" y="1623646"/>
            <a:ext cx="2949300" cy="2778104"/>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dirty="0"/>
          </a:p>
        </p:txBody>
      </p:sp>
      <p:sp>
        <p:nvSpPr>
          <p:cNvPr id="59" name="Google Shape;59;p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1" name="Google Shape;61;p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userDrawn="1">
  <p:cSld name="PICTURE_WITH_CAPTION_TEXT">
    <p:spTree>
      <p:nvGrpSpPr>
        <p:cNvPr id="1" name="Shape 62"/>
        <p:cNvGrpSpPr/>
        <p:nvPr/>
      </p:nvGrpSpPr>
      <p:grpSpPr>
        <a:xfrm>
          <a:off x="0" y="0"/>
          <a:ext cx="0" cy="0"/>
          <a:chOff x="0" y="0"/>
          <a:chExt cx="0" cy="0"/>
        </a:xfrm>
      </p:grpSpPr>
      <p:sp>
        <p:nvSpPr>
          <p:cNvPr id="63" name="Google Shape;63;p10"/>
          <p:cNvSpPr txBox="1">
            <a:spLocks noGrp="1"/>
          </p:cNvSpPr>
          <p:nvPr>
            <p:ph type="title"/>
          </p:nvPr>
        </p:nvSpPr>
        <p:spPr>
          <a:xfrm>
            <a:off x="629841" y="740568"/>
            <a:ext cx="2949300" cy="802631"/>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Play"/>
              <a:buNone/>
              <a:defRPr sz="2400">
                <a:latin typeface="+mj-l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64" name="Google Shape;64;p10"/>
          <p:cNvSpPr>
            <a:spLocks noGrp="1"/>
          </p:cNvSpPr>
          <p:nvPr>
            <p:ph type="pic" idx="2"/>
          </p:nvPr>
        </p:nvSpPr>
        <p:spPr>
          <a:xfrm>
            <a:off x="3887391" y="740569"/>
            <a:ext cx="4629300" cy="3655200"/>
          </a:xfrm>
          <a:prstGeom prst="rect">
            <a:avLst/>
          </a:prstGeom>
          <a:noFill/>
          <a:ln>
            <a:noFill/>
          </a:ln>
        </p:spPr>
      </p:sp>
      <p:sp>
        <p:nvSpPr>
          <p:cNvPr id="66" name="Google Shape;66;p1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 name="Google Shape;67;p1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8" name="Google Shape;68;p1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 name="Google Shape;58;p9">
            <a:extLst>
              <a:ext uri="{FF2B5EF4-FFF2-40B4-BE49-F238E27FC236}">
                <a16:creationId xmlns:a16="http://schemas.microsoft.com/office/drawing/2014/main" id="{D3C5BA6B-0163-B42D-92BF-6C035280FB45}"/>
              </a:ext>
            </a:extLst>
          </p:cNvPr>
          <p:cNvSpPr txBox="1">
            <a:spLocks noGrp="1"/>
          </p:cNvSpPr>
          <p:nvPr>
            <p:ph type="body" idx="13"/>
          </p:nvPr>
        </p:nvSpPr>
        <p:spPr>
          <a:xfrm>
            <a:off x="629841" y="1623646"/>
            <a:ext cx="2949300" cy="2778104"/>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7">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8650" y="726830"/>
            <a:ext cx="7886700" cy="541213"/>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Play"/>
              <a:buNone/>
              <a:defRPr sz="33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dirty="0"/>
          </a:p>
        </p:txBody>
      </p:sp>
      <p:sp>
        <p:nvSpPr>
          <p:cNvPr id="7" name="Google Shape;7;p1"/>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dirty="0"/>
          </a:p>
        </p:txBody>
      </p:sp>
      <p:sp>
        <p:nvSpPr>
          <p:cNvPr id="8" name="Google Shape;8;p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1" name="Google Shape;11;p1"/>
          <p:cNvSpPr txBox="1"/>
          <p:nvPr/>
        </p:nvSpPr>
        <p:spPr>
          <a:xfrm>
            <a:off x="4110038" y="47625"/>
            <a:ext cx="940500" cy="92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GB" sz="600" b="0" i="0" u="none" strike="noStrike" cap="none">
                <a:solidFill>
                  <a:srgbClr val="000000"/>
                </a:solidFill>
                <a:latin typeface="Calibri"/>
                <a:ea typeface="Calibri"/>
                <a:cs typeface="Calibri"/>
                <a:sym typeface="Calibri"/>
              </a:rPr>
              <a:t>SMU Classification: Restricted</a:t>
            </a:r>
            <a:endParaRPr sz="11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57" r:id="rId3"/>
    <p:sldLayoutId id="2147483655" r:id="rId4"/>
    <p:sldLayoutId id="2147483656"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b="1" sz="2600">
                <a:solidFill>
                  <a:srgbClr val="0E2841"/>
                </a:solidFill>
                <a:latin typeface="Arial"/>
              </a:rPr>
              <a:t>Stratification and Regrouping for Profile-Coherent Financial Asset Recommendation</a:t>
            </a:r>
          </a:p>
        </p:txBody>
      </p:sp>
      <p:sp>
        <p:nvSpPr>
          <p:cNvPr id="3" name="Subtitle 2"/>
          <p:cNvSpPr>
            <a:spLocks noGrp="1"/>
          </p:cNvSpPr>
          <p:nvPr>
            <p:ph type="subTitle" idx="1"/>
          </p:nvPr>
        </p:nvSpPr>
        <p:spPr/>
        <p:txBody>
          <a:bodyPr wrap="square"/>
          <a:lstStyle/>
          <a:p>
            <a:pPr algn="ctr">
              <a:spcAft>
                <a:spcPts val="400"/>
              </a:spcAft>
              <a:buNone/>
            </a:pPr>
            <a:r>
              <a:rPr b="1" sz="1500">
                <a:solidFill>
                  <a:srgbClr val="156082"/>
                </a:solidFill>
                <a:latin typeface="Arial"/>
              </a:rPr>
              <a:t>Samuel Sim Wei Xuan</a:t>
            </a:r>
          </a:p>
          <a:p>
            <a:pPr algn="ctr">
              <a:spcAft>
                <a:spcPts val="400"/>
              </a:spcAft>
              <a:buNone/>
            </a:pPr>
            <a:r>
              <a:rPr b="0" sz="1200">
                <a:solidFill>
                  <a:srgbClr val="5A5A5A"/>
                </a:solidFill>
                <a:latin typeface="Arial"/>
              </a:rPr>
              <a:t>School of Computing and Information Systems</a:t>
            </a:r>
          </a:p>
          <a:p>
            <a:pPr algn="ctr">
              <a:spcAft>
                <a:spcPts val="400"/>
              </a:spcAft>
              <a:buNone/>
            </a:pPr>
            <a:r>
              <a:rPr b="0" sz="1200">
                <a:solidFill>
                  <a:srgbClr val="5A5A5A"/>
                </a:solidFill>
                <a:latin typeface="Arial"/>
              </a:rPr>
              <a:t>Singapore Management University</a:t>
            </a:r>
          </a:p>
          <a:p>
            <a:pPr algn="ctr">
              <a:spcAft>
                <a:spcPts val="400"/>
              </a:spcAft>
              <a:buNone/>
            </a:pPr>
            <a:r>
              <a:rPr b="0" sz="1100">
                <a:solidFill>
                  <a:srgbClr val="5A5A5A"/>
                </a:solidFill>
                <a:latin typeface="Arial"/>
              </a:rPr>
              <a:t>MSc Capstone  ·  samuel.sim.2024@msc.smu.edu.sg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The regulatory gap in Financial Asset Recommendation</a:t>
            </a:r>
          </a:p>
        </p:txBody>
      </p:sp>
      <p:sp>
        <p:nvSpPr>
          <p:cNvPr id="3" name="TextBox 2"/>
          <p:cNvSpPr txBox="1"/>
          <p:nvPr/>
        </p:nvSpPr>
        <p:spPr>
          <a:xfrm>
            <a:off x="502920" y="1371600"/>
            <a:ext cx="8138160" cy="246888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Financial Asset Recommendation (FAR) ranks securities for investors by suitability</a:t>
            </a:r>
          </a:p>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Standard FAR benchmarks optimise two axes: ranking quality (nDCG@10) and realised return (ROI@10)</a:t>
            </a:r>
          </a:p>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MiFID II requires a suitability check first: a product's risk must match the customer's declared risk tolerance</a:t>
            </a:r>
          </a:p>
          <a:p>
            <a:pPr algn="l" marL="228600" indent="-228600">
              <a:lnSpc>
                <a:spcPct val="104000"/>
              </a:lnSpc>
              <a:spcBef>
                <a:spcPts val="400"/>
              </a:spcBef>
              <a:spcAft>
                <a:spcPts val="200"/>
              </a:spcAft>
              <a:buClr>
                <a:srgbClr val="156082"/>
              </a:buClr>
              <a:buFont typeface="Arial"/>
              <a:buChar char="▪"/>
            </a:pPr>
            <a:r>
              <a:rPr b="1" sz="1400">
                <a:solidFill>
                  <a:srgbClr val="C0392B"/>
                </a:solidFill>
                <a:latin typeface="Arial"/>
              </a:rPr>
              <a:t>The gap: </a:t>
            </a:r>
            <a:r>
              <a:rPr b="0" sz="1400">
                <a:solidFill>
                  <a:srgbClr val="0E2841"/>
                </a:solidFill>
                <a:latin typeface="Arial"/>
              </a:rPr>
              <a:t>a model can win on nDCG and ROI while recommending products that breach the declared risk band</a:t>
            </a:r>
          </a:p>
        </p:txBody>
      </p:sp>
      <p:sp>
        <p:nvSpPr>
          <p:cNvPr id="4" name="Rounded Rectangle 3"/>
          <p:cNvSpPr/>
          <p:nvPr/>
        </p:nvSpPr>
        <p:spPr>
          <a:xfrm>
            <a:off x="502920" y="3977639"/>
            <a:ext cx="8138160" cy="658368"/>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1" sz="1400">
                <a:solidFill>
                  <a:srgbClr val="FFFFFF"/>
                </a:solidFill>
                <a:latin typeface="Arial"/>
              </a:rPr>
              <a:t>No published FAR metric exposes this profile (mis)alignment. We introduce one, then fix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Background: the financial asset recommendation problem</a:t>
            </a:r>
          </a:p>
        </p:txBody>
      </p:sp>
      <p:sp>
        <p:nvSpPr>
          <p:cNvPr id="3" name="TextBox 2"/>
          <p:cNvSpPr txBox="1"/>
          <p:nvPr/>
        </p:nvSpPr>
        <p:spPr>
          <a:xfrm>
            <a:off x="502920" y="1371600"/>
            <a:ext cx="8138160" cy="274320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FAR identifies and ranks securities (stocks, bonds, mutual funds) for an investor by suitability</a:t>
            </a:r>
          </a:p>
          <a:p>
            <a:pPr algn="l" marL="502920" indent="-228600">
              <a:lnSpc>
                <a:spcPct val="104000"/>
              </a:lnSpc>
              <a:spcBef>
                <a:spcPts val="400"/>
              </a:spcBef>
              <a:spcAft>
                <a:spcPts val="200"/>
              </a:spcAft>
              <a:buClr>
                <a:srgbClr val="156082"/>
              </a:buClr>
              <a:buFont typeface="Arial"/>
              <a:buChar char="–"/>
            </a:pPr>
            <a:r>
              <a:rPr b="1" sz="1350">
                <a:solidFill>
                  <a:srgbClr val="156082"/>
                </a:solidFill>
                <a:latin typeface="Arial"/>
              </a:rPr>
              <a:t>Investor-side signals: </a:t>
            </a:r>
            <a:r>
              <a:rPr b="0" sz="1350">
                <a:solidFill>
                  <a:srgbClr val="0E2841"/>
                </a:solidFill>
                <a:latin typeface="Arial"/>
              </a:rPr>
              <a:t>past transactions, declared risk tolerance, investment capacity, and personal goals</a:t>
            </a:r>
          </a:p>
          <a:p>
            <a:pPr algn="l" marL="502920" indent="-228600">
              <a:lnSpc>
                <a:spcPct val="104000"/>
              </a:lnSpc>
              <a:spcBef>
                <a:spcPts val="400"/>
              </a:spcBef>
              <a:spcAft>
                <a:spcPts val="200"/>
              </a:spcAft>
              <a:buClr>
                <a:srgbClr val="156082"/>
              </a:buClr>
              <a:buFont typeface="Arial"/>
              <a:buChar char="–"/>
            </a:pPr>
            <a:r>
              <a:rPr b="1" sz="1350">
                <a:solidFill>
                  <a:srgbClr val="156082"/>
                </a:solidFill>
                <a:latin typeface="Arial"/>
              </a:rPr>
              <a:t>Market-side signals: </a:t>
            </a:r>
            <a:r>
              <a:rPr b="0" sz="1350">
                <a:solidFill>
                  <a:srgbClr val="0E2841"/>
                </a:solidFill>
                <a:latin typeface="Arial"/>
              </a:rPr>
              <a:t>asset returns, currency value, and inflation</a:t>
            </a:r>
          </a:p>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So a FAR system draws on heterogeneous data: time-series pricing, customer profiles, and historical transactions</a:t>
            </a:r>
          </a:p>
          <a:p>
            <a:pPr algn="l" marL="228600" indent="-228600">
              <a:lnSpc>
                <a:spcPct val="104000"/>
              </a:lnSpc>
              <a:spcBef>
                <a:spcPts val="400"/>
              </a:spcBef>
              <a:spcAft>
                <a:spcPts val="200"/>
              </a:spcAft>
              <a:buClr>
                <a:srgbClr val="156082"/>
              </a:buClr>
              <a:buFont typeface="Arial"/>
              <a:buChar char="▪"/>
            </a:pPr>
            <a:r>
              <a:rPr b="0" sz="1350">
                <a:solidFill>
                  <a:srgbClr val="0E2841"/>
                </a:solidFill>
                <a:latin typeface="Arial"/>
              </a:rPr>
              <a:t>Most prior FAR used proprietary or simulated data, and the only earlier public set lacked pricing and asset identifiers</a:t>
            </a:r>
          </a:p>
        </p:txBody>
      </p:sp>
      <p:sp>
        <p:nvSpPr>
          <p:cNvPr id="4" name="Rounded Rectangle 3"/>
          <p:cNvSpPr/>
          <p:nvPr/>
        </p:nvSpPr>
        <p:spPr>
          <a:xfrm>
            <a:off x="502920" y="4114800"/>
            <a:ext cx="8138160" cy="530352"/>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1" sz="1350">
                <a:solidFill>
                  <a:srgbClr val="FFFFFF"/>
                </a:solidFill>
                <a:latin typeface="Arial"/>
              </a:rPr>
              <a:t>This blocked fair, price-based cross-method comparison, until FAR-Trans.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Setting: the FAR-Trans dataset</a:t>
            </a:r>
          </a:p>
        </p:txBody>
      </p:sp>
      <p:sp>
        <p:nvSpPr>
          <p:cNvPr id="3" name="TextBox 2"/>
          <p:cNvSpPr txBox="1"/>
          <p:nvPr/>
        </p:nvSpPr>
        <p:spPr>
          <a:xfrm>
            <a:off x="502920" y="1371600"/>
            <a:ext cx="8138160" cy="283464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1" sz="1400">
                <a:solidFill>
                  <a:srgbClr val="156082"/>
                </a:solidFill>
                <a:latin typeface="Arial"/>
              </a:rPr>
              <a:t>FAR-Trans</a:t>
            </a:r>
            <a:r>
              <a:rPr b="0" sz="1400">
                <a:solidFill>
                  <a:srgbClr val="0E2841"/>
                </a:solidFill>
                <a:latin typeface="Arial"/>
              </a:rPr>
              <a:t> (Sanz-Cruzado et al., 2024): the first public FAR dataset pairing real asset pricing with real retail-investor transactions</a:t>
            </a:r>
          </a:p>
          <a:p>
            <a:pPr algn="l" marL="502920" indent="-228600">
              <a:lnSpc>
                <a:spcPct val="104000"/>
              </a:lnSpc>
              <a:spcBef>
                <a:spcPts val="400"/>
              </a:spcBef>
              <a:spcAft>
                <a:spcPts val="200"/>
              </a:spcAft>
              <a:buClr>
                <a:srgbClr val="156082"/>
              </a:buClr>
              <a:buFont typeface="Arial"/>
              <a:buChar char="–"/>
            </a:pPr>
            <a:r>
              <a:rPr b="0" sz="1300">
                <a:solidFill>
                  <a:srgbClr val="0E2841"/>
                </a:solidFill>
                <a:latin typeface="Arial"/>
              </a:rPr>
              <a:t>Large European institution, January 2018 to November 2022, with daily closing prices</a:t>
            </a:r>
          </a:p>
          <a:p>
            <a:pPr algn="l" marL="502920" indent="-228600">
              <a:lnSpc>
                <a:spcPct val="104000"/>
              </a:lnSpc>
              <a:spcBef>
                <a:spcPts val="400"/>
              </a:spcBef>
              <a:spcAft>
                <a:spcPts val="200"/>
              </a:spcAft>
              <a:buClr>
                <a:srgbClr val="156082"/>
              </a:buClr>
              <a:buFont typeface="Arial"/>
              <a:buChar char="–"/>
            </a:pPr>
            <a:r>
              <a:rPr b="0" sz="1300">
                <a:solidFill>
                  <a:srgbClr val="0E2841"/>
                </a:solidFill>
                <a:latin typeface="Arial"/>
              </a:rPr>
              <a:t>228,913 Buy and 159,135 Sell transactions over 806 assets and 29,090 customers</a:t>
            </a:r>
          </a:p>
          <a:p>
            <a:pPr algn="l" marL="502920" indent="-228600">
              <a:lnSpc>
                <a:spcPct val="104000"/>
              </a:lnSpc>
              <a:spcBef>
                <a:spcPts val="400"/>
              </a:spcBef>
              <a:spcAft>
                <a:spcPts val="200"/>
              </a:spcAft>
              <a:buClr>
                <a:srgbClr val="156082"/>
              </a:buClr>
              <a:buFont typeface="Arial"/>
              <a:buChar char="–"/>
            </a:pPr>
            <a:r>
              <a:rPr b="0" sz="1300">
                <a:solidFill>
                  <a:srgbClr val="0E2841"/>
                </a:solidFill>
                <a:latin typeface="Arial"/>
              </a:rPr>
              <a:t>228,241 Buys (99.7%) are </a:t>
            </a:r>
            <a:r>
              <a:rPr b="1" sz="1300">
                <a:solidFill>
                  <a:srgbClr val="0E2841"/>
                </a:solidFill>
                <a:latin typeface="Arial"/>
              </a:rPr>
              <a:t>scoreable</a:t>
            </a:r>
            <a:r>
              <a:rPr b="0" sz="1300">
                <a:solidFill>
                  <a:srgbClr val="0E2841"/>
                </a:solidFill>
                <a:latin typeface="Arial"/>
              </a:rPr>
              <a:t>: the asset has a derived risk class and the customer a declared band</a:t>
            </a:r>
          </a:p>
          <a:p>
            <a:pPr algn="l" marL="502920" indent="-228600">
              <a:lnSpc>
                <a:spcPct val="104000"/>
              </a:lnSpc>
              <a:spcBef>
                <a:spcPts val="400"/>
              </a:spcBef>
              <a:spcAft>
                <a:spcPts val="200"/>
              </a:spcAft>
              <a:buClr>
                <a:srgbClr val="156082"/>
              </a:buClr>
              <a:buFont typeface="Arial"/>
              <a:buChar char="–"/>
            </a:pPr>
            <a:r>
              <a:rPr b="0" sz="1300">
                <a:solidFill>
                  <a:srgbClr val="0E2841"/>
                </a:solidFill>
                <a:latin typeface="Arial"/>
              </a:rPr>
              <a:t>28,770 customers (98.9%) carry a declared MiFID II band, and 320 are excluded</a:t>
            </a:r>
          </a:p>
          <a:p>
            <a:pPr algn="l" marL="502920" indent="-228600">
              <a:lnSpc>
                <a:spcPct val="104000"/>
              </a:lnSpc>
              <a:spcBef>
                <a:spcPts val="400"/>
              </a:spcBef>
              <a:spcAft>
                <a:spcPts val="200"/>
              </a:spcAft>
              <a:buClr>
                <a:srgbClr val="156082"/>
              </a:buClr>
              <a:buFont typeface="Arial"/>
              <a:buChar char="–"/>
            </a:pPr>
            <a:r>
              <a:rPr b="0" sz="1300">
                <a:solidFill>
                  <a:srgbClr val="0E2841"/>
                </a:solidFill>
                <a:latin typeface="Arial"/>
              </a:rPr>
              <a:t>Profiles also include customerType and investmentCapacity, used later as regression controls</a:t>
            </a:r>
          </a:p>
        </p:txBody>
      </p:sp>
      <p:sp>
        <p:nvSpPr>
          <p:cNvPr id="4" name="Rounded Rectangle 3"/>
          <p:cNvSpPr/>
          <p:nvPr/>
        </p:nvSpPr>
        <p:spPr>
          <a:xfrm>
            <a:off x="502920" y="4160520"/>
            <a:ext cx="8138160" cy="548640"/>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1" sz="1350">
                <a:solidFill>
                  <a:srgbClr val="FFFFFF"/>
                </a:solidFill>
                <a:latin typeface="Arial"/>
              </a:rPr>
              <a:t>The only open FAR dataset that makes both price-based and profile-based recommendation measurable.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The two-axis benchmark and its blind spot</a:t>
            </a:r>
          </a:p>
        </p:txBody>
      </p:sp>
      <p:sp>
        <p:nvSpPr>
          <p:cNvPr id="3" name="TextBox 2"/>
          <p:cNvSpPr txBox="1"/>
          <p:nvPr/>
        </p:nvSpPr>
        <p:spPr>
          <a:xfrm>
            <a:off x="502920" y="1371600"/>
            <a:ext cx="8138160" cy="274320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FAR-Trans also sets the field's evaluation standard, benchmarking 11 algorithms on two axes over the top-10 items:</a:t>
            </a:r>
          </a:p>
          <a:p>
            <a:pPr algn="l" marL="502920" indent="-228600">
              <a:lnSpc>
                <a:spcPct val="104000"/>
              </a:lnSpc>
              <a:spcBef>
                <a:spcPts val="400"/>
              </a:spcBef>
              <a:spcAft>
                <a:spcPts val="200"/>
              </a:spcAft>
              <a:buClr>
                <a:srgbClr val="156082"/>
              </a:buClr>
              <a:buFont typeface="Arial"/>
              <a:buChar char="–"/>
            </a:pPr>
            <a:r>
              <a:rPr b="1" sz="1350">
                <a:solidFill>
                  <a:srgbClr val="0E2841"/>
                </a:solidFill>
                <a:latin typeface="Arial"/>
              </a:rPr>
              <a:t>nDCG@10</a:t>
            </a:r>
            <a:r>
              <a:rPr b="0" sz="1350">
                <a:solidFill>
                  <a:srgbClr val="0E2841"/>
                </a:solidFill>
                <a:latin typeface="Arial"/>
              </a:rPr>
              <a:t>: next-purchase ranking quality</a:t>
            </a:r>
          </a:p>
          <a:p>
            <a:pPr algn="l" marL="502920" indent="-228600">
              <a:lnSpc>
                <a:spcPct val="104000"/>
              </a:lnSpc>
              <a:spcBef>
                <a:spcPts val="400"/>
              </a:spcBef>
              <a:spcAft>
                <a:spcPts val="200"/>
              </a:spcAft>
              <a:buClr>
                <a:srgbClr val="156082"/>
              </a:buClr>
              <a:buFont typeface="Arial"/>
              <a:buChar char="–"/>
            </a:pPr>
            <a:r>
              <a:rPr b="1" sz="1350">
                <a:solidFill>
                  <a:srgbClr val="0E2841"/>
                </a:solidFill>
                <a:latin typeface="Arial"/>
              </a:rPr>
              <a:t>ROI@10</a:t>
            </a:r>
            <a:r>
              <a:rPr b="0" sz="1350">
                <a:solidFill>
                  <a:srgbClr val="0E2841"/>
                </a:solidFill>
                <a:latin typeface="Arial"/>
              </a:rPr>
              <a:t>: realised profitability</a:t>
            </a:r>
          </a:p>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A follow-up study (Sanz-Cruzado et al., 2026) shows the two axes are </a:t>
            </a:r>
            <a:r>
              <a:rPr b="1" sz="1400">
                <a:solidFill>
                  <a:srgbClr val="C0392B"/>
                </a:solidFill>
                <a:latin typeface="Arial"/>
              </a:rPr>
              <a:t>negatively correlated</a:t>
            </a:r>
            <a:r>
              <a:rPr b="0" sz="1400">
                <a:solidFill>
                  <a:srgbClr val="0E2841"/>
                </a:solidFill>
                <a:latin typeface="Arial"/>
              </a:rPr>
              <a:t> on FAR-Trans: a model that wins one tends to lose the other</a:t>
            </a:r>
          </a:p>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They capture genuinely different objectives, but neither measures alignment with the declared MiFID II band</a:t>
            </a:r>
          </a:p>
        </p:txBody>
      </p:sp>
      <p:sp>
        <p:nvSpPr>
          <p:cNvPr id="4" name="Rounded Rectangle 3"/>
          <p:cNvSpPr/>
          <p:nvPr/>
        </p:nvSpPr>
        <p:spPr>
          <a:xfrm>
            <a:off x="502920" y="4160520"/>
            <a:ext cx="8138160" cy="530352"/>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1" sz="1350">
                <a:solidFill>
                  <a:srgbClr val="FFFFFF"/>
                </a:solidFill>
                <a:latin typeface="Arial"/>
              </a:rPr>
              <a:t>That regulatory suitability dimension is the blind spot this paper targets.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Research questions: a diagnostic-to-remedy chain</a:t>
            </a:r>
          </a:p>
        </p:txBody>
      </p:sp>
      <p:sp>
        <p:nvSpPr>
          <p:cNvPr id="3" name="Rounded Rectangle 2"/>
          <p:cNvSpPr/>
          <p:nvPr/>
        </p:nvSpPr>
        <p:spPr>
          <a:xfrm>
            <a:off x="502920" y="1417320"/>
            <a:ext cx="1417320" cy="914400"/>
          </a:xfrm>
          <a:prstGeom prst="roundRect">
            <a:avLst>
              <a:gd name="adj" fmla="val 12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buNone/>
            </a:pPr>
            <a:r>
              <a:rPr b="1" sz="1900">
                <a:solidFill>
                  <a:srgbClr val="FFFFFF"/>
                </a:solidFill>
                <a:latin typeface="Arial"/>
              </a:rPr>
              <a:t>RQ1</a:t>
            </a:r>
          </a:p>
          <a:p>
            <a:pPr algn="ctr">
              <a:lnSpc>
                <a:spcPct val="100000"/>
              </a:lnSpc>
              <a:buNone/>
            </a:pPr>
            <a:r>
              <a:rPr b="0" sz="1000">
                <a:solidFill>
                  <a:srgbClr val="FFFFFF"/>
                </a:solidFill>
                <a:latin typeface="Arial"/>
              </a:rPr>
              <a:t>Diagnose and test</a:t>
            </a:r>
          </a:p>
        </p:txBody>
      </p:sp>
      <p:sp>
        <p:nvSpPr>
          <p:cNvPr id="4" name="TextBox 3"/>
          <p:cNvSpPr txBox="1"/>
          <p:nvPr/>
        </p:nvSpPr>
        <p:spPr>
          <a:xfrm>
            <a:off x="2103120" y="1417320"/>
            <a:ext cx="6537960" cy="914400"/>
          </a:xfrm>
          <a:prstGeom prst="rect">
            <a:avLst/>
          </a:prstGeom>
          <a:noFill/>
        </p:spPr>
        <p:txBody>
          <a:bodyPr wrap="square" anchor="ctr" lIns="36576" rIns="36576" tIns="18288" bIns="18288">
            <a:spAutoFit/>
          </a:bodyPr>
          <a:lstStyle/>
          <a:p>
            <a:pPr algn="l">
              <a:lnSpc>
                <a:spcPct val="105000"/>
              </a:lnSpc>
              <a:spcBef>
                <a:spcPts val="0"/>
              </a:spcBef>
              <a:spcAft>
                <a:spcPts val="0"/>
              </a:spcAft>
              <a:buNone/>
            </a:pPr>
            <a:r>
              <a:rPr b="0" sz="1250">
                <a:solidFill>
                  <a:srgbClr val="0E2841"/>
                </a:solidFill>
                <a:latin typeface="Arial"/>
              </a:rPr>
              <a:t>How prevalent is profile-discordance, and is it a stable customer trait or noise? Do discordant Buys earn lower 6-month return once volatility, segment, and year are controlled?</a:t>
            </a:r>
          </a:p>
        </p:txBody>
      </p:sp>
      <p:sp>
        <p:nvSpPr>
          <p:cNvPr id="5" name="Rounded Rectangle 4"/>
          <p:cNvSpPr/>
          <p:nvPr/>
        </p:nvSpPr>
        <p:spPr>
          <a:xfrm>
            <a:off x="502920" y="2459736"/>
            <a:ext cx="1417320" cy="914400"/>
          </a:xfrm>
          <a:prstGeom prst="roundRect">
            <a:avLst>
              <a:gd name="adj" fmla="val 12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buNone/>
            </a:pPr>
            <a:r>
              <a:rPr b="1" sz="1900">
                <a:solidFill>
                  <a:srgbClr val="FFFFFF"/>
                </a:solidFill>
                <a:latin typeface="Arial"/>
              </a:rPr>
              <a:t>RQ2</a:t>
            </a:r>
          </a:p>
          <a:p>
            <a:pPr algn="ctr">
              <a:lnSpc>
                <a:spcPct val="100000"/>
              </a:lnSpc>
              <a:buNone/>
            </a:pPr>
            <a:r>
              <a:rPr b="0" sz="1000">
                <a:solidFill>
                  <a:srgbClr val="FFFFFF"/>
                </a:solidFill>
                <a:latin typeface="Arial"/>
              </a:rPr>
              <a:t>Audit baselines</a:t>
            </a:r>
          </a:p>
        </p:txBody>
      </p:sp>
      <p:sp>
        <p:nvSpPr>
          <p:cNvPr id="6" name="TextBox 5"/>
          <p:cNvSpPr txBox="1"/>
          <p:nvPr/>
        </p:nvSpPr>
        <p:spPr>
          <a:xfrm>
            <a:off x="2103120" y="2459736"/>
            <a:ext cx="6537960" cy="914400"/>
          </a:xfrm>
          <a:prstGeom prst="rect">
            <a:avLst/>
          </a:prstGeom>
          <a:noFill/>
        </p:spPr>
        <p:txBody>
          <a:bodyPr wrap="square" anchor="ctr" lIns="36576" rIns="36576" tIns="18288" bIns="18288">
            <a:spAutoFit/>
          </a:bodyPr>
          <a:lstStyle/>
          <a:p>
            <a:pPr algn="l">
              <a:lnSpc>
                <a:spcPct val="105000"/>
              </a:lnSpc>
              <a:spcBef>
                <a:spcPts val="0"/>
              </a:spcBef>
              <a:spcAft>
                <a:spcPts val="0"/>
              </a:spcAft>
              <a:buNone/>
            </a:pPr>
            <a:r>
              <a:rPr b="0" sz="1250">
                <a:solidFill>
                  <a:srgbClr val="0E2841"/>
                </a:solidFill>
                <a:latin typeface="Arial"/>
              </a:rPr>
              <a:t>At their best published settings, do the FAR-Trans baselines lift coherence above the band-conditional random baseline π(b) for every declared band?</a:t>
            </a:r>
          </a:p>
        </p:txBody>
      </p:sp>
      <p:sp>
        <p:nvSpPr>
          <p:cNvPr id="7" name="Rounded Rectangle 6"/>
          <p:cNvSpPr/>
          <p:nvPr/>
        </p:nvSpPr>
        <p:spPr>
          <a:xfrm>
            <a:off x="502920" y="3502152"/>
            <a:ext cx="1417320" cy="914400"/>
          </a:xfrm>
          <a:prstGeom prst="roundRect">
            <a:avLst>
              <a:gd name="adj" fmla="val 12000"/>
            </a:avLst>
          </a:prstGeom>
          <a:solidFill>
            <a:srgbClr val="1E7A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buNone/>
            </a:pPr>
            <a:r>
              <a:rPr b="1" sz="1900">
                <a:solidFill>
                  <a:srgbClr val="FFFFFF"/>
                </a:solidFill>
                <a:latin typeface="Arial"/>
              </a:rPr>
              <a:t>RQ3</a:t>
            </a:r>
          </a:p>
          <a:p>
            <a:pPr algn="ctr">
              <a:lnSpc>
                <a:spcPct val="100000"/>
              </a:lnSpc>
              <a:buNone/>
            </a:pPr>
            <a:r>
              <a:rPr b="0" sz="1000">
                <a:solidFill>
                  <a:srgbClr val="FFFFFF"/>
                </a:solidFill>
                <a:latin typeface="Arial"/>
              </a:rPr>
              <a:t>Remedy</a:t>
            </a:r>
          </a:p>
        </p:txBody>
      </p:sp>
      <p:sp>
        <p:nvSpPr>
          <p:cNvPr id="8" name="TextBox 7"/>
          <p:cNvSpPr txBox="1"/>
          <p:nvPr/>
        </p:nvSpPr>
        <p:spPr>
          <a:xfrm>
            <a:off x="2103120" y="3502152"/>
            <a:ext cx="6537960" cy="914400"/>
          </a:xfrm>
          <a:prstGeom prst="rect">
            <a:avLst/>
          </a:prstGeom>
          <a:noFill/>
        </p:spPr>
        <p:txBody>
          <a:bodyPr wrap="square" anchor="ctr" lIns="36576" rIns="36576" tIns="18288" bIns="18288">
            <a:spAutoFit/>
          </a:bodyPr>
          <a:lstStyle/>
          <a:p>
            <a:pPr algn="l">
              <a:lnSpc>
                <a:spcPct val="105000"/>
              </a:lnSpc>
              <a:spcBef>
                <a:spcPts val="0"/>
              </a:spcBef>
              <a:spcAft>
                <a:spcPts val="0"/>
              </a:spcAft>
              <a:buNone/>
            </a:pPr>
            <a:r>
              <a:rPr b="0" sz="1250">
                <a:solidFill>
                  <a:srgbClr val="0E2841"/>
                </a:solidFill>
                <a:latin typeface="Arial"/>
              </a:rPr>
              <a:t>Can a profile-coherent LightGCN (stratification + coherence margin + regrouping) raise coherence, and at what cost to nDCG, Recall, and ROI?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Contributions</a:t>
            </a:r>
          </a:p>
        </p:txBody>
      </p:sp>
      <p:sp>
        <p:nvSpPr>
          <p:cNvPr id="3" name="TextBox 2"/>
          <p:cNvSpPr txBox="1"/>
          <p:nvPr/>
        </p:nvSpPr>
        <p:spPr>
          <a:xfrm>
            <a:off x="502920" y="1463040"/>
            <a:ext cx="8138160" cy="2651760"/>
          </a:xfrm>
          <a:prstGeom prst="rect">
            <a:avLst/>
          </a:prstGeom>
          <a:noFill/>
        </p:spPr>
        <p:txBody>
          <a:bodyPr wrap="square" anchor="t" lIns="36576" rIns="36576" tIns="18288" bIns="18288">
            <a:spAutoFit/>
          </a:bodyPr>
          <a:lstStyle/>
          <a:p>
            <a:pPr algn="l">
              <a:lnSpc>
                <a:spcPct val="104000"/>
              </a:lnSpc>
              <a:spcBef>
                <a:spcPts val="400"/>
              </a:spcBef>
              <a:spcAft>
                <a:spcPts val="200"/>
              </a:spcAft>
              <a:buNone/>
            </a:pPr>
            <a:r>
              <a:rPr b="0" sz="1400">
                <a:solidFill>
                  <a:srgbClr val="0E2841"/>
                </a:solidFill>
                <a:latin typeface="Arial"/>
              </a:rPr>
              <a:t>Each measured with Profile Coherence at top-k (PC@k) and its band-conditional random baseline π(b):</a:t>
            </a:r>
          </a:p>
          <a:p>
            <a:pPr algn="l" marL="228600" indent="-228600">
              <a:lnSpc>
                <a:spcPct val="104000"/>
              </a:lnSpc>
              <a:spcBef>
                <a:spcPts val="900"/>
              </a:spcBef>
              <a:spcAft>
                <a:spcPts val="200"/>
              </a:spcAft>
              <a:buClr>
                <a:srgbClr val="156082"/>
              </a:buClr>
              <a:buFont typeface="Arial"/>
              <a:buChar char="▪"/>
            </a:pPr>
            <a:r>
              <a:rPr b="1" sz="1400">
                <a:solidFill>
                  <a:srgbClr val="156082"/>
                </a:solidFill>
                <a:latin typeface="Arial"/>
              </a:rPr>
              <a:t>Profile-coherent margin loss</a:t>
            </a:r>
            <a:r>
              <a:rPr b="0" sz="1400">
                <a:solidFill>
                  <a:srgbClr val="0E2841"/>
                </a:solidFill>
                <a:latin typeface="Arial"/>
              </a:rPr>
              <a:t> atop BPR that makes PC@k a training-time objective</a:t>
            </a:r>
          </a:p>
          <a:p>
            <a:pPr algn="l" marL="228600" indent="-228600">
              <a:lnSpc>
                <a:spcPct val="104000"/>
              </a:lnSpc>
              <a:spcBef>
                <a:spcPts val="900"/>
              </a:spcBef>
              <a:spcAft>
                <a:spcPts val="200"/>
              </a:spcAft>
              <a:buClr>
                <a:srgbClr val="156082"/>
              </a:buClr>
              <a:buFont typeface="Arial"/>
              <a:buChar char="▪"/>
            </a:pPr>
            <a:r>
              <a:rPr b="1" sz="1400">
                <a:solidFill>
                  <a:srgbClr val="156082"/>
                </a:solidFill>
                <a:latin typeface="Arial"/>
              </a:rPr>
              <a:t>Band stratification</a:t>
            </a:r>
            <a:r>
              <a:rPr b="0" sz="1400">
                <a:solidFill>
                  <a:srgbClr val="0E2841"/>
                </a:solidFill>
                <a:latin typeface="Arial"/>
              </a:rPr>
              <a:t> that routes each customer to a per-band sub-model</a:t>
            </a:r>
          </a:p>
          <a:p>
            <a:pPr algn="l" marL="228600" indent="-228600">
              <a:lnSpc>
                <a:spcPct val="104000"/>
              </a:lnSpc>
              <a:spcBef>
                <a:spcPts val="900"/>
              </a:spcBef>
              <a:spcAft>
                <a:spcPts val="200"/>
              </a:spcAft>
              <a:buClr>
                <a:srgbClr val="156082"/>
              </a:buClr>
              <a:buFont typeface="Arial"/>
              <a:buChar char="▪"/>
            </a:pPr>
            <a:r>
              <a:rPr b="1" sz="1400">
                <a:solidFill>
                  <a:srgbClr val="156082"/>
                </a:solidFill>
                <a:latin typeface="Arial"/>
              </a:rPr>
              <a:t>Customer regrouping</a:t>
            </a:r>
            <a:r>
              <a:rPr b="0" sz="1400">
                <a:solidFill>
                  <a:srgbClr val="0E2841"/>
                </a:solidFill>
                <a:latin typeface="Arial"/>
              </a:rPr>
              <a:t> that reassigns each customer to the band implied by their revealed purchases</a:t>
            </a:r>
          </a:p>
          <a:p>
            <a:pPr algn="l">
              <a:lnSpc>
                <a:spcPct val="104000"/>
              </a:lnSpc>
              <a:spcBef>
                <a:spcPts val="900"/>
              </a:spcBef>
              <a:spcAft>
                <a:spcPts val="200"/>
              </a:spcAft>
              <a:buNone/>
            </a:pPr>
            <a:r>
              <a:rPr b="0" sz="1250">
                <a:solidFill>
                  <a:srgbClr val="5A5A5A"/>
                </a:solidFill>
                <a:latin typeface="Arial"/>
              </a:rPr>
              <a:t>An ablation isolates each component.</a:t>
            </a:r>
          </a:p>
        </p:txBody>
      </p:sp>
      <p:sp>
        <p:nvSpPr>
          <p:cNvPr id="4" name="Rounded Rectangle 3"/>
          <p:cNvSpPr/>
          <p:nvPr/>
        </p:nvSpPr>
        <p:spPr>
          <a:xfrm>
            <a:off x="502920" y="4114800"/>
            <a:ext cx="8138160" cy="548640"/>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1" sz="1350">
                <a:solidFill>
                  <a:srgbClr val="FFFFFF"/>
                </a:solidFill>
                <a:latin typeface="Arial"/>
              </a:rPr>
              <a:t>We bring suitability inside the training loop instead of filtering for it afterwards.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Related work and positioning</a:t>
            </a:r>
          </a:p>
        </p:txBody>
      </p:sp>
      <p:sp>
        <p:nvSpPr>
          <p:cNvPr id="3" name="TextBox 2"/>
          <p:cNvSpPr txBox="1"/>
          <p:nvPr/>
        </p:nvSpPr>
        <p:spPr>
          <a:xfrm>
            <a:off x="502920" y="1371600"/>
            <a:ext cx="8138160" cy="283464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1" sz="1350">
                <a:solidFill>
                  <a:srgbClr val="156082"/>
                </a:solidFill>
                <a:latin typeface="Arial"/>
              </a:rPr>
              <a:t>Profile-aware FAR architectures (Ghiye et al., 2024): </a:t>
            </a:r>
            <a:r>
              <a:rPr b="0" sz="1350">
                <a:solidFill>
                  <a:srgbClr val="0E2841"/>
                </a:solidFill>
                <a:latin typeface="Arial"/>
              </a:rPr>
              <a:t>LightGCN with causal graph convolution and sliding-window training for credit bonds, showing LightGCN can carry domain structure beyond plain BPR</a:t>
            </a:r>
          </a:p>
          <a:p>
            <a:pPr algn="l" marL="228600" indent="-228600">
              <a:lnSpc>
                <a:spcPct val="104000"/>
              </a:lnSpc>
              <a:spcBef>
                <a:spcPts val="400"/>
              </a:spcBef>
              <a:spcAft>
                <a:spcPts val="200"/>
              </a:spcAft>
              <a:buClr>
                <a:srgbClr val="156082"/>
              </a:buClr>
              <a:buFont typeface="Arial"/>
              <a:buChar char="▪"/>
            </a:pPr>
            <a:r>
              <a:rPr b="1" sz="1350">
                <a:solidFill>
                  <a:srgbClr val="E97132"/>
                </a:solidFill>
                <a:latin typeface="Arial"/>
              </a:rPr>
              <a:t>Risk-aware re-ranking, RURA (Sakurai et al., 2026): </a:t>
            </a:r>
            <a:r>
              <a:rPr b="0" sz="1350">
                <a:solidFill>
                  <a:srgbClr val="0E2841"/>
                </a:solidFill>
                <a:latin typeface="Arial"/>
              </a:rPr>
              <a:t>a mean-variance re-ranking on the base ranker's top list, lifting ROI but not quantifying ordinal alignment with the declared band</a:t>
            </a:r>
          </a:p>
          <a:p>
            <a:pPr algn="l" marL="228600" indent="-228600">
              <a:lnSpc>
                <a:spcPct val="104000"/>
              </a:lnSpc>
              <a:spcBef>
                <a:spcPts val="400"/>
              </a:spcBef>
              <a:spcAft>
                <a:spcPts val="200"/>
              </a:spcAft>
              <a:buClr>
                <a:srgbClr val="156082"/>
              </a:buClr>
              <a:buFont typeface="Arial"/>
              <a:buChar char="▪"/>
            </a:pPr>
            <a:r>
              <a:rPr b="1" sz="1350">
                <a:solidFill>
                  <a:srgbClr val="A02B93"/>
                </a:solidFill>
                <a:latin typeface="Arial"/>
              </a:rPr>
              <a:t>Fairness-aware recommendation (Zhao et al., 2024): </a:t>
            </a:r>
            <a:r>
              <a:rPr b="0" sz="1350">
                <a:solidFill>
                  <a:srgbClr val="0E2841"/>
                </a:solidFill>
                <a:latin typeface="Arial"/>
              </a:rPr>
              <a:t>group-level quality guarantees. PC@k is a per-group quality view where the groups are MiFID bands, with PC-lift adjusting for chance</a:t>
            </a:r>
          </a:p>
        </p:txBody>
      </p:sp>
      <p:sp>
        <p:nvSpPr>
          <p:cNvPr id="4" name="Rounded Rectangle 3"/>
          <p:cNvSpPr/>
          <p:nvPr/>
        </p:nvSpPr>
        <p:spPr>
          <a:xfrm>
            <a:off x="502920" y="4114800"/>
            <a:ext cx="8138160" cy="566928"/>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1" sz="1200">
                <a:solidFill>
                  <a:srgbClr val="FFFFFF"/>
                </a:solidFill>
                <a:latin typeface="Arial"/>
              </a:rPr>
              <a:t>Prior work optimises profitability or ranking, with risk entering only as a post-hoc weight. We score suitability on the same top-k list and train an objective for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PC@k: the Profile Coherence metric</a:t>
            </a:r>
          </a:p>
        </p:txBody>
      </p:sp>
      <p:sp>
        <p:nvSpPr>
          <p:cNvPr id="3" name="TextBox 2"/>
          <p:cNvSpPr txBox="1"/>
          <p:nvPr/>
        </p:nvSpPr>
        <p:spPr>
          <a:xfrm>
            <a:off x="502920" y="1371600"/>
            <a:ext cx="8138160" cy="228600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Shared 4-point ordinal scale: </a:t>
            </a:r>
            <a:r>
              <a:rPr b="1" sz="1400">
                <a:solidFill>
                  <a:srgbClr val="0E2841"/>
                </a:solidFill>
                <a:latin typeface="Arial"/>
              </a:rPr>
              <a:t>Conservative (0) · Income (1) · Balanced (2) · Aggressive (3)</a:t>
            </a:r>
          </a:p>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Pairwise discordance:  d(u, i) = | b_u − b_i |  ∈ {0, 1, 2, 3}</a:t>
            </a:r>
          </a:p>
          <a:p>
            <a:pPr algn="l" marL="228600" indent="-228600">
              <a:lnSpc>
                <a:spcPct val="104000"/>
              </a:lnSpc>
              <a:spcBef>
                <a:spcPts val="400"/>
              </a:spcBef>
              <a:spcAft>
                <a:spcPts val="200"/>
              </a:spcAft>
              <a:buClr>
                <a:srgbClr val="156082"/>
              </a:buClr>
              <a:buFont typeface="Arial"/>
              <a:buChar char="▪"/>
            </a:pPr>
            <a:r>
              <a:rPr b="1" sz="1400">
                <a:solidFill>
                  <a:srgbClr val="1E7A34"/>
                </a:solidFill>
                <a:latin typeface="Arial"/>
              </a:rPr>
              <a:t>Coherent iff d ≤ 1</a:t>
            </a:r>
            <a:r>
              <a:rPr b="0" sz="1400">
                <a:solidFill>
                  <a:srgbClr val="0E2841"/>
                </a:solidFill>
                <a:latin typeface="Arial"/>
              </a:rPr>
              <a:t>: a ±1 band tolerance mirroring MiFID II's adjacency allowance for borderline suitability</a:t>
            </a:r>
          </a:p>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PC@k(u) = share of the customer's top-k list with d ≤ 1</a:t>
            </a:r>
          </a:p>
          <a:p>
            <a:pPr algn="l" marL="228600" indent="-228600">
              <a:lnSpc>
                <a:spcPct val="104000"/>
              </a:lnSpc>
              <a:spcBef>
                <a:spcPts val="400"/>
              </a:spcBef>
              <a:spcAft>
                <a:spcPts val="200"/>
              </a:spcAft>
              <a:buClr>
                <a:srgbClr val="156082"/>
              </a:buClr>
              <a:buFont typeface="Arial"/>
              <a:buChar char="▪"/>
            </a:pPr>
            <a:r>
              <a:rPr b="0" sz="1300">
                <a:solidFill>
                  <a:srgbClr val="0E2841"/>
                </a:solidFill>
                <a:latin typeface="Arial"/>
              </a:rPr>
              <a:t>Per-split PC@k = mean over eligible customers; customers with no band are dropped</a:t>
            </a:r>
          </a:p>
        </p:txBody>
      </p:sp>
      <p:sp>
        <p:nvSpPr>
          <p:cNvPr id="4" name="Rounded Rectangle 3"/>
          <p:cNvSpPr/>
          <p:nvPr/>
        </p:nvSpPr>
        <p:spPr>
          <a:xfrm>
            <a:off x="502920" y="4069080"/>
            <a:ext cx="8138160" cy="566928"/>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1" sz="1400">
                <a:solidFill>
                  <a:srgbClr val="FFFFFF"/>
                </a:solidFill>
                <a:latin typeface="Arial"/>
              </a:rPr>
              <a:t>One ordinal-distance metric, computable on any ranker's existing top-k list.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Normalising for chance: π(b) and PC-lift</a:t>
            </a:r>
          </a:p>
        </p:txBody>
      </p:sp>
      <p:sp>
        <p:nvSpPr>
          <p:cNvPr id="3" name="TextBox 2"/>
          <p:cNvSpPr txBox="1"/>
          <p:nvPr/>
        </p:nvSpPr>
        <p:spPr>
          <a:xfrm>
            <a:off x="502920" y="1371600"/>
            <a:ext cx="8138160" cy="237744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Raw PC@k flatters easy bands: </a:t>
            </a:r>
            <a:r>
              <a:rPr b="1" sz="1400">
                <a:solidFill>
                  <a:srgbClr val="0E2841"/>
                </a:solidFill>
                <a:latin typeface="Arial"/>
              </a:rPr>
              <a:t>77.9% of assets sit in Conservative, Income, or Balanced</a:t>
            </a:r>
          </a:p>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Band-conditional random baseline:  π(b) = share of assets within ±1 of band b</a:t>
            </a:r>
          </a:p>
          <a:p>
            <a:pPr algn="l" marL="502920" indent="-228600">
              <a:lnSpc>
                <a:spcPct val="104000"/>
              </a:lnSpc>
              <a:spcBef>
                <a:spcPts val="400"/>
              </a:spcBef>
              <a:spcAft>
                <a:spcPts val="200"/>
              </a:spcAft>
              <a:buClr>
                <a:srgbClr val="0E2841"/>
              </a:buClr>
              <a:buFont typeface="Arial"/>
              <a:buChar char="–"/>
            </a:pPr>
            <a:r>
              <a:rPr b="1" sz="1400">
                <a:solidFill>
                  <a:srgbClr val="156082"/>
                </a:solidFill>
                <a:latin typeface="Arial"/>
              </a:rPr>
              <a:t>π(b) = (0.65, 0.78, 0.76, 0.35)</a:t>
            </a:r>
            <a:r>
              <a:rPr b="0" sz="1400">
                <a:solidFill>
                  <a:srgbClr val="0E2841"/>
                </a:solidFill>
                <a:latin typeface="Arial"/>
              </a:rPr>
              <a:t>  for (Conservative, Income, Balanced, Aggressive)</a:t>
            </a:r>
          </a:p>
          <a:p>
            <a:pPr algn="l" marL="228600" indent="-228600">
              <a:lnSpc>
                <a:spcPct val="104000"/>
              </a:lnSpc>
              <a:spcBef>
                <a:spcPts val="400"/>
              </a:spcBef>
              <a:spcAft>
                <a:spcPts val="200"/>
              </a:spcAft>
              <a:buClr>
                <a:srgbClr val="156082"/>
              </a:buClr>
              <a:buFont typeface="Arial"/>
              <a:buChar char="▪"/>
            </a:pPr>
            <a:r>
              <a:rPr b="1" sz="1400">
                <a:solidFill>
                  <a:srgbClr val="0E2841"/>
                </a:solidFill>
                <a:latin typeface="Arial"/>
              </a:rPr>
              <a:t>PC-lift@k(u) = PC@k(u) / π(b_u)</a:t>
            </a:r>
          </a:p>
          <a:p>
            <a:pPr algn="l" marL="502920" indent="-228600">
              <a:lnSpc>
                <a:spcPct val="104000"/>
              </a:lnSpc>
              <a:spcBef>
                <a:spcPts val="400"/>
              </a:spcBef>
              <a:spcAft>
                <a:spcPts val="200"/>
              </a:spcAft>
              <a:buClr>
                <a:srgbClr val="156082"/>
              </a:buClr>
              <a:buFont typeface="Arial"/>
              <a:buChar char="–"/>
            </a:pPr>
            <a:r>
              <a:rPr b="0" sz="1300">
                <a:solidFill>
                  <a:srgbClr val="0E2841"/>
                </a:solidFill>
                <a:latin typeface="Arial"/>
              </a:rPr>
              <a:t>lift &gt; 1 beats random at the customer's own band, lift = 1 matches it</a:t>
            </a:r>
          </a:p>
        </p:txBody>
      </p:sp>
      <p:sp>
        <p:nvSpPr>
          <p:cNvPr id="4" name="Rounded Rectangle 3"/>
          <p:cNvSpPr/>
          <p:nvPr/>
        </p:nvSpPr>
        <p:spPr>
          <a:xfrm>
            <a:off x="502920" y="4114800"/>
            <a:ext cx="8138160" cy="530352"/>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1" sz="1300">
                <a:solidFill>
                  <a:srgbClr val="FFFFFF"/>
                </a:solidFill>
                <a:latin typeface="Arial"/>
              </a:rPr>
              <a:t>Dividing by π(b) puts every band on equal footing, so easy bands get no free credit.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Asset risk-band assignment</a:t>
            </a:r>
          </a:p>
        </p:txBody>
      </p:sp>
      <p:sp>
        <p:nvSpPr>
          <p:cNvPr id="3" name="TextBox 2"/>
          <p:cNvSpPr txBox="1"/>
          <p:nvPr/>
        </p:nvSpPr>
        <p:spPr>
          <a:xfrm>
            <a:off x="502920" y="1371600"/>
            <a:ext cx="8138160" cy="265176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FAR-Trans carries no MiFID band per asset, so we assign b_i by a 3-step hierarchical rule:</a:t>
            </a:r>
          </a:p>
          <a:p>
            <a:pPr algn="l" marL="502920" indent="-228600">
              <a:lnSpc>
                <a:spcPct val="104000"/>
              </a:lnSpc>
              <a:spcBef>
                <a:spcPts val="400"/>
              </a:spcBef>
              <a:spcAft>
                <a:spcPts val="200"/>
              </a:spcAft>
              <a:buClr>
                <a:srgbClr val="156082"/>
              </a:buClr>
              <a:buFont typeface="Arial"/>
              <a:buChar char="–"/>
            </a:pPr>
            <a:r>
              <a:rPr b="1" sz="1300">
                <a:solidFill>
                  <a:srgbClr val="0E2841"/>
                </a:solidFill>
                <a:latin typeface="Arial"/>
              </a:rPr>
              <a:t>Step 1 (subcategory metadata): </a:t>
            </a:r>
            <a:r>
              <a:rPr b="0" sz="1300">
                <a:solidFill>
                  <a:srgbClr val="0E2841"/>
                </a:solidFill>
                <a:latin typeface="Arial"/>
              </a:rPr>
              <a:t>funds and bonds labelled directly (Money Market → Conservative, Bond → Income, Equity → Aggressive)</a:t>
            </a:r>
          </a:p>
          <a:p>
            <a:pPr algn="l" marL="502920" indent="-228600">
              <a:lnSpc>
                <a:spcPct val="104000"/>
              </a:lnSpc>
              <a:spcBef>
                <a:spcPts val="400"/>
              </a:spcBef>
              <a:spcAft>
                <a:spcPts val="200"/>
              </a:spcAft>
              <a:buClr>
                <a:srgbClr val="156082"/>
              </a:buClr>
              <a:buFont typeface="Arial"/>
              <a:buChar char="–"/>
            </a:pPr>
            <a:r>
              <a:rPr b="1" sz="1300">
                <a:solidFill>
                  <a:srgbClr val="0E2841"/>
                </a:solidFill>
                <a:latin typeface="Arial"/>
              </a:rPr>
              <a:t>Step 2 (volatility quartiles): </a:t>
            </a:r>
            <a:r>
              <a:rPr b="0" sz="1300">
                <a:solidFill>
                  <a:srgbClr val="0E2841"/>
                </a:solidFill>
                <a:latin typeface="Arial"/>
              </a:rPr>
              <a:t>stocks bucketed by trailing 252-day annualised volatility</a:t>
            </a:r>
          </a:p>
          <a:p>
            <a:pPr algn="l" marL="502920" indent="-228600">
              <a:lnSpc>
                <a:spcPct val="104000"/>
              </a:lnSpc>
              <a:spcBef>
                <a:spcPts val="400"/>
              </a:spcBef>
              <a:spcAft>
                <a:spcPts val="200"/>
              </a:spcAft>
              <a:buClr>
                <a:srgbClr val="156082"/>
              </a:buClr>
              <a:buFont typeface="Arial"/>
              <a:buChar char="–"/>
            </a:pPr>
            <a:r>
              <a:rPr b="1" sz="1300">
                <a:solidFill>
                  <a:srgbClr val="0E2841"/>
                </a:solidFill>
                <a:latin typeface="Arial"/>
              </a:rPr>
              <a:t>Step 3 (residual default): </a:t>
            </a:r>
            <a:r>
              <a:rPr b="0" sz="1300">
                <a:solidFill>
                  <a:srgbClr val="0E2841"/>
                </a:solidFill>
                <a:latin typeface="Arial"/>
              </a:rPr>
              <a:t>anything remaining → Balanced</a:t>
            </a:r>
          </a:p>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Asset universe |A| = 806: distribution </a:t>
            </a:r>
            <a:r>
              <a:rPr b="1" sz="1400">
                <a:solidFill>
                  <a:srgbClr val="156082"/>
                </a:solidFill>
                <a:latin typeface="Arial"/>
              </a:rPr>
              <a:t>(190, 333, 105, 178)</a:t>
            </a:r>
            <a:r>
              <a:rPr b="0" sz="1400">
                <a:solidFill>
                  <a:srgbClr val="0E2841"/>
                </a:solidFill>
                <a:latin typeface="Arial"/>
              </a:rPr>
              <a:t> across the four bands, which feeds π(b)</a:t>
            </a:r>
          </a:p>
        </p:txBody>
      </p:sp>
      <p:sp>
        <p:nvSpPr>
          <p:cNvPr id="4" name="Rounded Rectangle 3"/>
          <p:cNvSpPr/>
          <p:nvPr/>
        </p:nvSpPr>
        <p:spPr>
          <a:xfrm>
            <a:off x="502920" y="4160520"/>
            <a:ext cx="8138160" cy="502920"/>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1" sz="1300">
                <a:solidFill>
                  <a:srgbClr val="FFFFFF"/>
                </a:solidFill>
                <a:latin typeface="Arial"/>
              </a:rPr>
              <a:t>Heuristic, not an externally validated label: flagged as an RQ1 limitation.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RQ1  ·  Discordance is common and customer-level</a:t>
            </a:r>
          </a:p>
        </p:txBody>
      </p:sp>
      <p:sp>
        <p:nvSpPr>
          <p:cNvPr id="3" name="Rounded Rectangle 2"/>
          <p:cNvSpPr/>
          <p:nvPr/>
        </p:nvSpPr>
        <p:spPr>
          <a:xfrm>
            <a:off x="457200" y="1280160"/>
            <a:ext cx="8229600" cy="676656"/>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0" sz="1250">
                <a:solidFill>
                  <a:srgbClr val="FFFFFF"/>
                </a:solidFill>
                <a:latin typeface="Arial"/>
              </a:rPr>
              <a:t>18.6% of 228,241 scoreable Buys breach the band by ≥ 2 steps. The trait is bimodal: </a:t>
            </a:r>
            <a:r>
              <a:rPr b="1" sz="1250">
                <a:solidFill>
                  <a:srgbClr val="FFFFFF"/>
                </a:solidFill>
                <a:latin typeface="Arial"/>
              </a:rPr>
              <a:t>64.4% of customers fully coherent, 17.2% fully discordant</a:t>
            </a:r>
            <a:r>
              <a:rPr b="0" sz="1250">
                <a:solidFill>
                  <a:srgbClr val="FFFFFF"/>
                </a:solidFill>
                <a:latin typeface="Arial"/>
              </a:rPr>
              <a:t>  (dip test p &lt; 1e-15).</a:t>
            </a:r>
          </a:p>
        </p:txBody>
      </p:sp>
      <p:pic>
        <p:nvPicPr>
          <p:cNvPr id="4" name="Picture 3" descr="discordance_distribution.png"/>
          <p:cNvPicPr>
            <a:picLocks noChangeAspect="1"/>
          </p:cNvPicPr>
          <p:nvPr/>
        </p:nvPicPr>
        <p:blipFill>
          <a:blip r:embed="rId2"/>
          <a:stretch>
            <a:fillRect/>
          </a:stretch>
        </p:blipFill>
        <p:spPr>
          <a:xfrm>
            <a:off x="752090" y="2148840"/>
            <a:ext cx="3479298" cy="2514600"/>
          </a:xfrm>
          <a:prstGeom prst="rect">
            <a:avLst/>
          </a:prstGeom>
        </p:spPr>
      </p:pic>
      <p:pic>
        <p:nvPicPr>
          <p:cNvPr id="5" name="Picture 4" descr="self_discordance.png"/>
          <p:cNvPicPr>
            <a:picLocks noChangeAspect="1"/>
          </p:cNvPicPr>
          <p:nvPr/>
        </p:nvPicPr>
        <p:blipFill>
          <a:blip r:embed="rId3"/>
          <a:stretch>
            <a:fillRect/>
          </a:stretch>
        </p:blipFill>
        <p:spPr>
          <a:xfrm>
            <a:off x="5049979" y="2148840"/>
            <a:ext cx="3204561" cy="2514600"/>
          </a:xfrm>
          <a:prstGeom prst="rect">
            <a:avLst/>
          </a:prstGeom>
        </p:spPr>
      </p:pic>
      <p:sp>
        <p:nvSpPr>
          <p:cNvPr id="6" name="TextBox 5"/>
          <p:cNvSpPr txBox="1"/>
          <p:nvPr/>
        </p:nvSpPr>
        <p:spPr>
          <a:xfrm>
            <a:off x="502920" y="4617720"/>
            <a:ext cx="3977639" cy="274320"/>
          </a:xfrm>
          <a:prstGeom prst="rect">
            <a:avLst/>
          </a:prstGeom>
          <a:noFill/>
        </p:spPr>
        <p:txBody>
          <a:bodyPr wrap="square" anchor="t" lIns="36576" rIns="36576" tIns="18288" bIns="18288">
            <a:spAutoFit/>
          </a:bodyPr>
          <a:lstStyle/>
          <a:p>
            <a:pPr algn="ctr">
              <a:lnSpc>
                <a:spcPct val="104000"/>
              </a:lnSpc>
              <a:spcBef>
                <a:spcPts val="0"/>
              </a:spcBef>
              <a:spcAft>
                <a:spcPts val="0"/>
              </a:spcAft>
              <a:buNone/>
            </a:pPr>
            <a:r>
              <a:rPr b="0" sz="850">
                <a:solidFill>
                  <a:srgbClr val="5A5A5A"/>
                </a:solidFill>
                <a:latin typeface="Arial"/>
              </a:rPr>
              <a:t>Transaction-level discordance d over scoreable Buys</a:t>
            </a:r>
          </a:p>
        </p:txBody>
      </p:sp>
      <p:sp>
        <p:nvSpPr>
          <p:cNvPr id="7" name="TextBox 6"/>
          <p:cNvSpPr txBox="1"/>
          <p:nvPr/>
        </p:nvSpPr>
        <p:spPr>
          <a:xfrm>
            <a:off x="4663440" y="4617720"/>
            <a:ext cx="3977639" cy="274320"/>
          </a:xfrm>
          <a:prstGeom prst="rect">
            <a:avLst/>
          </a:prstGeom>
          <a:noFill/>
        </p:spPr>
        <p:txBody>
          <a:bodyPr wrap="square" anchor="t" lIns="36576" rIns="36576" tIns="18288" bIns="18288">
            <a:spAutoFit/>
          </a:bodyPr>
          <a:lstStyle/>
          <a:p>
            <a:pPr algn="ctr">
              <a:lnSpc>
                <a:spcPct val="104000"/>
              </a:lnSpc>
              <a:spcBef>
                <a:spcPts val="0"/>
              </a:spcBef>
              <a:spcAft>
                <a:spcPts val="0"/>
              </a:spcAft>
              <a:buNone/>
            </a:pPr>
            <a:r>
              <a:rPr b="0" sz="850">
                <a:solidFill>
                  <a:srgbClr val="5A5A5A"/>
                </a:solidFill>
                <a:latin typeface="Arial"/>
              </a:rPr>
              <a:t>Per-customer discordant share is sharply bimodal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RQ1  ·  Robust across bands and across years</a:t>
            </a:r>
          </a:p>
        </p:txBody>
      </p:sp>
      <p:sp>
        <p:nvSpPr>
          <p:cNvPr id="3" name="Rounded Rectangle 2"/>
          <p:cNvSpPr/>
          <p:nvPr/>
        </p:nvSpPr>
        <p:spPr>
          <a:xfrm>
            <a:off x="457200" y="1280160"/>
            <a:ext cx="8229600" cy="676656"/>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0" sz="1250">
                <a:solidFill>
                  <a:srgbClr val="FFFFFF"/>
                </a:solidFill>
                <a:latin typeface="Arial"/>
              </a:rPr>
              <a:t>Coherence is </a:t>
            </a:r>
            <a:r>
              <a:rPr b="1" sz="1250">
                <a:solidFill>
                  <a:srgbClr val="FFFFFF"/>
                </a:solidFill>
                <a:latin typeface="Arial"/>
              </a:rPr>
              <a:t>U-shaped by band</a:t>
            </a:r>
            <a:r>
              <a:rPr b="0" sz="1250">
                <a:solidFill>
                  <a:srgbClr val="FFFFFF"/>
                </a:solidFill>
                <a:latin typeface="Arial"/>
              </a:rPr>
              <a:t> (extremes mismatch most: Conservative 45.1%, Aggressive 56.2%). Mean discordance is </a:t>
            </a:r>
            <a:r>
              <a:rPr b="1" sz="1250">
                <a:solidFill>
                  <a:srgbClr val="FFFFFF"/>
                </a:solidFill>
                <a:latin typeface="Arial"/>
              </a:rPr>
              <a:t>flat across 2019 to 2022</a:t>
            </a:r>
            <a:r>
              <a:rPr b="0" sz="1250">
                <a:solidFill>
                  <a:srgbClr val="FFFFFF"/>
                </a:solidFill>
                <a:latin typeface="Arial"/>
              </a:rPr>
              <a:t> (within 0.02 bands).</a:t>
            </a:r>
          </a:p>
        </p:txBody>
      </p:sp>
      <p:pic>
        <p:nvPicPr>
          <p:cNvPr id="4" name="Picture 3" descr="per_band_coherence.png"/>
          <p:cNvPicPr>
            <a:picLocks noChangeAspect="1"/>
          </p:cNvPicPr>
          <p:nvPr/>
        </p:nvPicPr>
        <p:blipFill>
          <a:blip r:embed="rId2"/>
          <a:stretch>
            <a:fillRect/>
          </a:stretch>
        </p:blipFill>
        <p:spPr>
          <a:xfrm>
            <a:off x="685866" y="2148840"/>
            <a:ext cx="3611746" cy="2514600"/>
          </a:xfrm>
          <a:prstGeom prst="rect">
            <a:avLst/>
          </a:prstGeom>
        </p:spPr>
      </p:pic>
      <p:pic>
        <p:nvPicPr>
          <p:cNvPr id="5" name="Picture 4" descr="yearly_discordance.png"/>
          <p:cNvPicPr>
            <a:picLocks noChangeAspect="1"/>
          </p:cNvPicPr>
          <p:nvPr/>
        </p:nvPicPr>
        <p:blipFill>
          <a:blip r:embed="rId3"/>
          <a:stretch>
            <a:fillRect/>
          </a:stretch>
        </p:blipFill>
        <p:spPr>
          <a:xfrm>
            <a:off x="4915481" y="2148840"/>
            <a:ext cx="3473557" cy="2514600"/>
          </a:xfrm>
          <a:prstGeom prst="rect">
            <a:avLst/>
          </a:prstGeom>
        </p:spPr>
      </p:pic>
      <p:sp>
        <p:nvSpPr>
          <p:cNvPr id="6" name="TextBox 5"/>
          <p:cNvSpPr txBox="1"/>
          <p:nvPr/>
        </p:nvSpPr>
        <p:spPr>
          <a:xfrm>
            <a:off x="502920" y="4617720"/>
            <a:ext cx="3977639" cy="274320"/>
          </a:xfrm>
          <a:prstGeom prst="rect">
            <a:avLst/>
          </a:prstGeom>
          <a:noFill/>
        </p:spPr>
        <p:txBody>
          <a:bodyPr wrap="square" anchor="t" lIns="36576" rIns="36576" tIns="18288" bIns="18288">
            <a:spAutoFit/>
          </a:bodyPr>
          <a:lstStyle/>
          <a:p>
            <a:pPr algn="ctr">
              <a:lnSpc>
                <a:spcPct val="104000"/>
              </a:lnSpc>
              <a:spcBef>
                <a:spcPts val="0"/>
              </a:spcBef>
              <a:spcAft>
                <a:spcPts val="0"/>
              </a:spcAft>
              <a:buNone/>
            </a:pPr>
            <a:r>
              <a:rPr b="0" sz="850">
                <a:solidFill>
                  <a:srgbClr val="5A5A5A"/>
                </a:solidFill>
                <a:latin typeface="Arial"/>
              </a:rPr>
              <a:t>Coherent share by declared band (U-shaped)</a:t>
            </a:r>
          </a:p>
        </p:txBody>
      </p:sp>
      <p:sp>
        <p:nvSpPr>
          <p:cNvPr id="7" name="TextBox 6"/>
          <p:cNvSpPr txBox="1"/>
          <p:nvPr/>
        </p:nvSpPr>
        <p:spPr>
          <a:xfrm>
            <a:off x="4663440" y="4617720"/>
            <a:ext cx="3977639" cy="274320"/>
          </a:xfrm>
          <a:prstGeom prst="rect">
            <a:avLst/>
          </a:prstGeom>
          <a:noFill/>
        </p:spPr>
        <p:txBody>
          <a:bodyPr wrap="square" anchor="t" lIns="36576" rIns="36576" tIns="18288" bIns="18288">
            <a:spAutoFit/>
          </a:bodyPr>
          <a:lstStyle/>
          <a:p>
            <a:pPr algn="ctr">
              <a:lnSpc>
                <a:spcPct val="104000"/>
              </a:lnSpc>
              <a:spcBef>
                <a:spcPts val="0"/>
              </a:spcBef>
              <a:spcAft>
                <a:spcPts val="0"/>
              </a:spcAft>
              <a:buNone/>
            </a:pPr>
            <a:r>
              <a:rPr b="0" sz="850">
                <a:solidFill>
                  <a:srgbClr val="5A5A5A"/>
                </a:solidFill>
                <a:latin typeface="Arial"/>
              </a:rPr>
              <a:t>Mean discordance by year (2018 elevated: transition hypothesis)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RQ1  ·  Return-premium regression specification</a:t>
            </a:r>
          </a:p>
        </p:txBody>
      </p:sp>
      <p:sp>
        <p:nvSpPr>
          <p:cNvPr id="3" name="TextBox 2"/>
          <p:cNvSpPr txBox="1"/>
          <p:nvPr/>
        </p:nvSpPr>
        <p:spPr>
          <a:xfrm>
            <a:off x="502920" y="1371600"/>
            <a:ext cx="8138160" cy="91440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0" sz="1350">
                <a:solidFill>
                  <a:srgbClr val="0E2841"/>
                </a:solidFill>
                <a:latin typeface="Arial"/>
              </a:rPr>
              <a:t>Transaction-level OLS on 208,029 priced Buys, testing whether coherent Buys earn a different 6-month realised return</a:t>
            </a:r>
          </a:p>
        </p:txBody>
      </p:sp>
      <p:sp>
        <p:nvSpPr>
          <p:cNvPr id="4" name="Rounded Rectangle 3"/>
          <p:cNvSpPr/>
          <p:nvPr/>
        </p:nvSpPr>
        <p:spPr>
          <a:xfrm>
            <a:off x="1005840" y="2103120"/>
            <a:ext cx="7132320" cy="566928"/>
          </a:xfrm>
          <a:prstGeom prst="roundRect">
            <a:avLst>
              <a:gd name="adj" fmla="val 12000"/>
            </a:avLst>
          </a:prstGeom>
          <a:solidFill>
            <a:srgbClr val="F2F4F6"/>
          </a:solidFill>
          <a:ln w="9525">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buNone/>
            </a:pPr>
            <a:r>
              <a:rPr b="1" sz="1300">
                <a:solidFill>
                  <a:srgbClr val="0E2841"/>
                </a:solidFill>
                <a:latin typeface="Arial"/>
              </a:rPr>
              <a:t>r = β0 + β1 · is_coherent + β2 · asset_volatility + C(type)·γ + C(year)·δ + ε</a:t>
            </a:r>
          </a:p>
        </p:txBody>
      </p:sp>
      <p:sp>
        <p:nvSpPr>
          <p:cNvPr id="5" name="TextBox 4"/>
          <p:cNvSpPr txBox="1"/>
          <p:nvPr/>
        </p:nvSpPr>
        <p:spPr>
          <a:xfrm>
            <a:off x="502920" y="2880360"/>
            <a:ext cx="8138160" cy="178308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1" sz="1300">
                <a:solidFill>
                  <a:srgbClr val="0E2841"/>
                </a:solidFill>
                <a:latin typeface="Arial"/>
              </a:rPr>
              <a:t>r = (p_end − p_start) / p_start</a:t>
            </a:r>
            <a:r>
              <a:rPr b="0" sz="1300">
                <a:solidFill>
                  <a:srgbClr val="0E2841"/>
                </a:solidFill>
                <a:latin typeface="Arial"/>
              </a:rPr>
              <a:t>, the 6-month realised return as a decimal fraction</a:t>
            </a:r>
          </a:p>
          <a:p>
            <a:pPr algn="l" marL="228600" indent="-228600">
              <a:lnSpc>
                <a:spcPct val="104000"/>
              </a:lnSpc>
              <a:spcBef>
                <a:spcPts val="400"/>
              </a:spcBef>
              <a:spcAft>
                <a:spcPts val="200"/>
              </a:spcAft>
              <a:buClr>
                <a:srgbClr val="156082"/>
              </a:buClr>
              <a:buFont typeface="Arial"/>
              <a:buChar char="▪"/>
            </a:pPr>
            <a:r>
              <a:rPr b="0" sz="1300">
                <a:solidFill>
                  <a:srgbClr val="0E2841"/>
                </a:solidFill>
                <a:latin typeface="Arial"/>
              </a:rPr>
              <a:t>Prices matched by backward-nearest join (last close on or before the date), dropping any Buy unmatched within 7 days at either endpoint</a:t>
            </a:r>
          </a:p>
          <a:p>
            <a:pPr algn="l" marL="228600" indent="-228600">
              <a:lnSpc>
                <a:spcPct val="104000"/>
              </a:lnSpc>
              <a:spcBef>
                <a:spcPts val="400"/>
              </a:spcBef>
              <a:spcAft>
                <a:spcPts val="200"/>
              </a:spcAft>
              <a:buClr>
                <a:srgbClr val="156082"/>
              </a:buClr>
              <a:buFont typeface="Arial"/>
              <a:buChar char="▪"/>
            </a:pPr>
            <a:r>
              <a:rPr b="0" sz="1300">
                <a:solidFill>
                  <a:srgbClr val="0E2841"/>
                </a:solidFill>
                <a:latin typeface="Arial"/>
              </a:rPr>
              <a:t>Cluster-robust SE on customerID, since each customer makes about 8 Buys whose residuals share unobserved shocks</a:t>
            </a:r>
          </a:p>
          <a:p>
            <a:pPr algn="l" marL="228600" indent="-228600">
              <a:lnSpc>
                <a:spcPct val="104000"/>
              </a:lnSpc>
              <a:spcBef>
                <a:spcPts val="400"/>
              </a:spcBef>
              <a:spcAft>
                <a:spcPts val="200"/>
              </a:spcAft>
              <a:buClr>
                <a:srgbClr val="156082"/>
              </a:buClr>
              <a:buFont typeface="Arial"/>
              <a:buChar char="▪"/>
            </a:pPr>
            <a:r>
              <a:rPr b="1" sz="1300">
                <a:solidFill>
                  <a:srgbClr val="156082"/>
                </a:solidFill>
                <a:latin typeface="Arial"/>
              </a:rPr>
              <a:t>Null hypothesis H0: β1 = 0</a:t>
            </a:r>
            <a:r>
              <a:rPr b="0" sz="1300">
                <a:solidFill>
                  <a:srgbClr val="0E2841"/>
                </a:solidFill>
                <a:latin typeface="Arial"/>
              </a:rPr>
              <a:t>, a two-sided Wald test at α = 0.05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RQ1  ·  Coherent Buys earn a return premium</a:t>
            </a:r>
          </a:p>
        </p:txBody>
      </p:sp>
      <p:sp>
        <p:nvSpPr>
          <p:cNvPr id="3" name="TextBox 2"/>
          <p:cNvSpPr txBox="1"/>
          <p:nvPr/>
        </p:nvSpPr>
        <p:spPr>
          <a:xfrm>
            <a:off x="502920" y="1417320"/>
            <a:ext cx="2971800" cy="320040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0" sz="1300">
                <a:solidFill>
                  <a:srgbClr val="0E2841"/>
                </a:solidFill>
                <a:latin typeface="Arial"/>
              </a:rPr>
              <a:t>Transaction-level OLS on </a:t>
            </a:r>
            <a:r>
              <a:rPr b="1" sz="1300">
                <a:solidFill>
                  <a:srgbClr val="0E2841"/>
                </a:solidFill>
                <a:latin typeface="Arial"/>
              </a:rPr>
              <a:t>208,029 priced Buys</a:t>
            </a:r>
            <a:r>
              <a:rPr b="0" sz="1300">
                <a:solidFill>
                  <a:srgbClr val="0E2841"/>
                </a:solidFill>
                <a:latin typeface="Arial"/>
              </a:rPr>
              <a:t>, cluster-robust SE on customerID</a:t>
            </a:r>
          </a:p>
          <a:p>
            <a:pPr algn="l" marL="228600" indent="-228600">
              <a:lnSpc>
                <a:spcPct val="104000"/>
              </a:lnSpc>
              <a:spcBef>
                <a:spcPts val="400"/>
              </a:spcBef>
              <a:spcAft>
                <a:spcPts val="200"/>
              </a:spcAft>
              <a:buClr>
                <a:srgbClr val="156082"/>
              </a:buClr>
              <a:buFont typeface="Arial"/>
              <a:buChar char="▪"/>
            </a:pPr>
            <a:r>
              <a:rPr b="0" sz="1300">
                <a:solidFill>
                  <a:srgbClr val="0E2841"/>
                </a:solidFill>
                <a:latin typeface="Arial"/>
              </a:rPr>
              <a:t>Controls: asset volatility, customer segment, year</a:t>
            </a:r>
          </a:p>
          <a:p>
            <a:pPr algn="l" marL="228600" indent="-228600">
              <a:lnSpc>
                <a:spcPct val="104000"/>
              </a:lnSpc>
              <a:spcBef>
                <a:spcPts val="400"/>
              </a:spcBef>
              <a:spcAft>
                <a:spcPts val="200"/>
              </a:spcAft>
              <a:buClr>
                <a:srgbClr val="156082"/>
              </a:buClr>
              <a:buFont typeface="Arial"/>
              <a:buChar char="▪"/>
            </a:pPr>
            <a:r>
              <a:rPr b="0" sz="1300">
                <a:solidFill>
                  <a:srgbClr val="0E2841"/>
                </a:solidFill>
                <a:latin typeface="Arial"/>
              </a:rPr>
              <a:t>Coherent Buys earn </a:t>
            </a:r>
            <a:r>
              <a:rPr b="1" sz="1300">
                <a:solidFill>
                  <a:srgbClr val="1E7A34"/>
                </a:solidFill>
                <a:latin typeface="Arial"/>
              </a:rPr>
              <a:t>+2.94 pp</a:t>
            </a:r>
            <a:r>
              <a:rPr b="0" sz="1300">
                <a:solidFill>
                  <a:srgbClr val="0E2841"/>
                </a:solidFill>
                <a:latin typeface="Arial"/>
              </a:rPr>
              <a:t> higher 6-month return</a:t>
            </a:r>
          </a:p>
          <a:p>
            <a:pPr algn="l" marL="228600" indent="-228600">
              <a:lnSpc>
                <a:spcPct val="104000"/>
              </a:lnSpc>
              <a:spcBef>
                <a:spcPts val="400"/>
              </a:spcBef>
              <a:spcAft>
                <a:spcPts val="200"/>
              </a:spcAft>
              <a:buClr>
                <a:srgbClr val="156082"/>
              </a:buClr>
              <a:buFont typeface="Arial"/>
              <a:buChar char="▪"/>
            </a:pPr>
            <a:r>
              <a:rPr b="0" sz="1300">
                <a:solidFill>
                  <a:srgbClr val="0E2841"/>
                </a:solidFill>
                <a:latin typeface="Arial"/>
              </a:rPr>
              <a:t>Controls absorb only 0.37 pp of the +3.31 pp raw gap (~11%)</a:t>
            </a:r>
          </a:p>
          <a:p>
            <a:pPr algn="l" marL="228600" indent="-228600">
              <a:lnSpc>
                <a:spcPct val="104000"/>
              </a:lnSpc>
              <a:spcBef>
                <a:spcPts val="400"/>
              </a:spcBef>
              <a:spcAft>
                <a:spcPts val="200"/>
              </a:spcAft>
              <a:buClr>
                <a:srgbClr val="156082"/>
              </a:buClr>
              <a:buFont typeface="Arial"/>
              <a:buChar char="▪"/>
            </a:pPr>
            <a:r>
              <a:rPr b="1" sz="1300">
                <a:solidFill>
                  <a:srgbClr val="156082"/>
                </a:solidFill>
                <a:latin typeface="Arial"/>
              </a:rPr>
              <a:t>No return tax for regulatory coherence</a:t>
            </a:r>
          </a:p>
        </p:txBody>
      </p:sp>
      <p:graphicFrame>
        <p:nvGraphicFramePr>
          <p:cNvPr id="4" name="Table 3"/>
          <p:cNvGraphicFramePr>
            <a:graphicFrameLocks noGrp="1"/>
          </p:cNvGraphicFramePr>
          <p:nvPr/>
        </p:nvGraphicFramePr>
        <p:xfrm>
          <a:off x="3703320" y="1417320"/>
          <a:ext cx="4937760" cy="2926080"/>
        </p:xfrm>
        <a:graphic>
          <a:graphicData uri="http://schemas.openxmlformats.org/drawingml/2006/table">
            <a:tbl>
              <a:tblPr firstRow="0" bandRow="0">
                <a:tableStyleId>{5C22544A-7EE6-4342-B048-85BDC9FD1C3A}</a:tableStyleId>
              </a:tblPr>
              <a:tblGrid>
                <a:gridCol w="2286000"/>
                <a:gridCol w="1417320"/>
                <a:gridCol w="1234440"/>
              </a:tblGrid>
              <a:tr h="365760">
                <a:tc>
                  <a:txBody>
                    <a:bodyPr wrap="square"/>
                    <a:lstStyle/>
                    <a:p>
                      <a:pPr algn="l">
                        <a:lnSpc>
                          <a:spcPct val="100000"/>
                        </a:lnSpc>
                      </a:pPr>
                      <a:r>
                        <a:rPr b="1" sz="1050">
                          <a:solidFill>
                            <a:srgbClr val="FFFFFF"/>
                          </a:solidFill>
                          <a:latin typeface="Arial"/>
                        </a:rPr>
                        <a:t>Term</a:t>
                      </a:r>
                    </a:p>
                  </a:txBody>
                  <a:tcPr anchor="ctr" marL="45720" marR="45720" marT="9144" marB="9144">
                    <a:solidFill>
                      <a:srgbClr val="0E2841"/>
                    </a:solidFill>
                  </a:tcPr>
                </a:tc>
                <a:tc>
                  <a:txBody>
                    <a:bodyPr wrap="square"/>
                    <a:lstStyle/>
                    <a:p>
                      <a:pPr algn="ctr">
                        <a:lnSpc>
                          <a:spcPct val="100000"/>
                        </a:lnSpc>
                      </a:pPr>
                      <a:r>
                        <a:rPr b="1" sz="1050">
                          <a:solidFill>
                            <a:srgbClr val="FFFFFF"/>
                          </a:solidFill>
                          <a:latin typeface="Arial"/>
                        </a:rPr>
                        <a:t>Estimate</a:t>
                      </a:r>
                    </a:p>
                  </a:txBody>
                  <a:tcPr anchor="ctr" marL="45720" marR="45720" marT="9144" marB="9144">
                    <a:solidFill>
                      <a:srgbClr val="0E2841"/>
                    </a:solidFill>
                  </a:tcPr>
                </a:tc>
                <a:tc>
                  <a:txBody>
                    <a:bodyPr wrap="square"/>
                    <a:lstStyle/>
                    <a:p>
                      <a:pPr algn="ctr">
                        <a:lnSpc>
                          <a:spcPct val="100000"/>
                        </a:lnSpc>
                      </a:pPr>
                      <a:r>
                        <a:rPr b="1" sz="1050">
                          <a:solidFill>
                            <a:srgbClr val="FFFFFF"/>
                          </a:solidFill>
                          <a:latin typeface="Arial"/>
                        </a:rPr>
                        <a:t>p-value</a:t>
                      </a:r>
                    </a:p>
                  </a:txBody>
                  <a:tcPr anchor="ctr" marL="45720" marR="45720" marT="9144" marB="9144">
                    <a:solidFill>
                      <a:srgbClr val="0E2841"/>
                    </a:solidFill>
                  </a:tcPr>
                </a:tc>
              </a:tr>
              <a:tr h="365760">
                <a:tc>
                  <a:txBody>
                    <a:bodyPr wrap="square"/>
                    <a:lstStyle/>
                    <a:p>
                      <a:pPr algn="l">
                        <a:lnSpc>
                          <a:spcPct val="100000"/>
                        </a:lnSpc>
                      </a:pPr>
                      <a:r>
                        <a:rPr b="1" sz="1000">
                          <a:solidFill>
                            <a:srgbClr val="0E2841"/>
                          </a:solidFill>
                          <a:latin typeface="Arial"/>
                        </a:rPr>
                        <a:t>is_coherent</a:t>
                      </a:r>
                    </a:p>
                  </a:txBody>
                  <a:tcPr anchor="ctr" marL="45720" marR="45720" marT="9144" marB="9144">
                    <a:solidFill>
                      <a:srgbClr val="E4F1E6"/>
                    </a:solidFill>
                  </a:tcPr>
                </a:tc>
                <a:tc>
                  <a:txBody>
                    <a:bodyPr wrap="square"/>
                    <a:lstStyle/>
                    <a:p>
                      <a:pPr algn="ctr">
                        <a:lnSpc>
                          <a:spcPct val="100000"/>
                        </a:lnSpc>
                      </a:pPr>
                      <a:r>
                        <a:rPr b="1" sz="1000">
                          <a:solidFill>
                            <a:srgbClr val="1E7A34"/>
                          </a:solidFill>
                          <a:latin typeface="Arial"/>
                        </a:rPr>
                        <a:t>+2.94 pp</a:t>
                      </a:r>
                    </a:p>
                  </a:txBody>
                  <a:tcPr anchor="ctr" marL="45720" marR="45720" marT="9144" marB="9144">
                    <a:solidFill>
                      <a:srgbClr val="E4F1E6"/>
                    </a:solidFill>
                  </a:tcPr>
                </a:tc>
                <a:tc>
                  <a:txBody>
                    <a:bodyPr wrap="square"/>
                    <a:lstStyle/>
                    <a:p>
                      <a:pPr algn="ctr">
                        <a:lnSpc>
                          <a:spcPct val="100000"/>
                        </a:lnSpc>
                      </a:pPr>
                      <a:r>
                        <a:rPr b="0" sz="1000">
                          <a:solidFill>
                            <a:srgbClr val="5A5A5A"/>
                          </a:solidFill>
                          <a:latin typeface="Arial"/>
                        </a:rPr>
                        <a:t>2.3e-13</a:t>
                      </a:r>
                    </a:p>
                  </a:txBody>
                  <a:tcPr anchor="ctr" marL="45720" marR="45720" marT="9144" marB="9144">
                    <a:solidFill>
                      <a:srgbClr val="E4F1E6"/>
                    </a:solidFill>
                  </a:tcPr>
                </a:tc>
              </a:tr>
              <a:tr h="365760">
                <a:tc>
                  <a:txBody>
                    <a:bodyPr wrap="square"/>
                    <a:lstStyle/>
                    <a:p>
                      <a:pPr algn="l">
                        <a:lnSpc>
                          <a:spcPct val="100000"/>
                        </a:lnSpc>
                      </a:pPr>
                      <a:r>
                        <a:rPr b="0" sz="1000">
                          <a:solidFill>
                            <a:srgbClr val="0E2841"/>
                          </a:solidFill>
                          <a:latin typeface="Arial"/>
                        </a:rPr>
                        <a:t>asset_volatility</a:t>
                      </a:r>
                    </a:p>
                  </a:txBody>
                  <a:tcPr anchor="ctr" marL="45720" marR="45720" marT="9144" marB="9144">
                    <a:noFill/>
                  </a:tcPr>
                </a:tc>
                <a:tc>
                  <a:txBody>
                    <a:bodyPr wrap="square"/>
                    <a:lstStyle/>
                    <a:p>
                      <a:pPr algn="ctr">
                        <a:lnSpc>
                          <a:spcPct val="100000"/>
                        </a:lnSpc>
                      </a:pPr>
                      <a:r>
                        <a:rPr b="0" sz="1000">
                          <a:solidFill>
                            <a:srgbClr val="C0392B"/>
                          </a:solidFill>
                          <a:latin typeface="Arial"/>
                        </a:rPr>
                        <a:t>-10.25 pp</a:t>
                      </a:r>
                    </a:p>
                  </a:txBody>
                  <a:tcPr anchor="ctr" marL="45720" marR="45720" marT="9144" marB="9144">
                    <a:noFill/>
                  </a:tcPr>
                </a:tc>
                <a:tc>
                  <a:txBody>
                    <a:bodyPr wrap="square"/>
                    <a:lstStyle/>
                    <a:p>
                      <a:pPr algn="ctr">
                        <a:lnSpc>
                          <a:spcPct val="100000"/>
                        </a:lnSpc>
                      </a:pPr>
                      <a:r>
                        <a:rPr b="0" sz="1000">
                          <a:solidFill>
                            <a:srgbClr val="5A5A5A"/>
                          </a:solidFill>
                          <a:latin typeface="Arial"/>
                        </a:rPr>
                        <a:t>5.5e-10</a:t>
                      </a:r>
                    </a:p>
                  </a:txBody>
                  <a:tcPr anchor="ctr" marL="45720" marR="45720" marT="9144" marB="9144">
                    <a:noFill/>
                  </a:tcPr>
                </a:tc>
              </a:tr>
              <a:tr h="365760">
                <a:tc>
                  <a:txBody>
                    <a:bodyPr wrap="square"/>
                    <a:lstStyle/>
                    <a:p>
                      <a:pPr algn="l">
                        <a:lnSpc>
                          <a:spcPct val="100000"/>
                        </a:lnSpc>
                      </a:pPr>
                      <a:r>
                        <a:rPr b="0" sz="1000">
                          <a:solidFill>
                            <a:srgbClr val="0E2841"/>
                          </a:solidFill>
                          <a:latin typeface="Arial"/>
                        </a:rPr>
                        <a:t>year 2019</a:t>
                      </a:r>
                    </a:p>
                  </a:txBody>
                  <a:tcPr anchor="ctr" marL="45720" marR="45720" marT="9144" marB="9144">
                    <a:noFill/>
                  </a:tcPr>
                </a:tc>
                <a:tc>
                  <a:txBody>
                    <a:bodyPr wrap="square"/>
                    <a:lstStyle/>
                    <a:p>
                      <a:pPr algn="ctr">
                        <a:lnSpc>
                          <a:spcPct val="100000"/>
                        </a:lnSpc>
                      </a:pPr>
                      <a:r>
                        <a:rPr b="0" sz="1000">
                          <a:solidFill>
                            <a:srgbClr val="1E7A34"/>
                          </a:solidFill>
                          <a:latin typeface="Arial"/>
                        </a:rPr>
                        <a:t>+17.59 pp</a:t>
                      </a:r>
                    </a:p>
                  </a:txBody>
                  <a:tcPr anchor="ctr" marL="45720" marR="45720" marT="9144" marB="9144">
                    <a:noFill/>
                  </a:tcPr>
                </a:tc>
                <a:tc>
                  <a:txBody>
                    <a:bodyPr wrap="square"/>
                    <a:lstStyle/>
                    <a:p>
                      <a:pPr algn="ctr">
                        <a:lnSpc>
                          <a:spcPct val="100000"/>
                        </a:lnSpc>
                      </a:pPr>
                      <a:r>
                        <a:rPr b="0" sz="1000">
                          <a:solidFill>
                            <a:srgbClr val="5A5A5A"/>
                          </a:solidFill>
                          <a:latin typeface="Arial"/>
                        </a:rPr>
                        <a:t>1.4e-42</a:t>
                      </a:r>
                    </a:p>
                  </a:txBody>
                  <a:tcPr anchor="ctr" marL="45720" marR="45720" marT="9144" marB="9144">
                    <a:noFill/>
                  </a:tcPr>
                </a:tc>
              </a:tr>
              <a:tr h="365760">
                <a:tc>
                  <a:txBody>
                    <a:bodyPr wrap="square"/>
                    <a:lstStyle/>
                    <a:p>
                      <a:pPr algn="l">
                        <a:lnSpc>
                          <a:spcPct val="100000"/>
                        </a:lnSpc>
                      </a:pPr>
                      <a:r>
                        <a:rPr b="0" sz="1000">
                          <a:solidFill>
                            <a:srgbClr val="0E2841"/>
                          </a:solidFill>
                          <a:latin typeface="Arial"/>
                        </a:rPr>
                        <a:t>year 2020</a:t>
                      </a:r>
                    </a:p>
                  </a:txBody>
                  <a:tcPr anchor="ctr" marL="45720" marR="45720" marT="9144" marB="9144">
                    <a:noFill/>
                  </a:tcPr>
                </a:tc>
                <a:tc>
                  <a:txBody>
                    <a:bodyPr wrap="square"/>
                    <a:lstStyle/>
                    <a:p>
                      <a:pPr algn="ctr">
                        <a:lnSpc>
                          <a:spcPct val="100000"/>
                        </a:lnSpc>
                      </a:pPr>
                      <a:r>
                        <a:rPr b="0" sz="1000">
                          <a:solidFill>
                            <a:srgbClr val="1E7A34"/>
                          </a:solidFill>
                          <a:latin typeface="Arial"/>
                        </a:rPr>
                        <a:t>+21.07 pp</a:t>
                      </a:r>
                    </a:p>
                  </a:txBody>
                  <a:tcPr anchor="ctr" marL="45720" marR="45720" marT="9144" marB="9144">
                    <a:noFill/>
                  </a:tcPr>
                </a:tc>
                <a:tc>
                  <a:txBody>
                    <a:bodyPr wrap="square"/>
                    <a:lstStyle/>
                    <a:p>
                      <a:pPr algn="ctr">
                        <a:lnSpc>
                          <a:spcPct val="100000"/>
                        </a:lnSpc>
                      </a:pPr>
                      <a:r>
                        <a:rPr b="0" sz="1000">
                          <a:solidFill>
                            <a:srgbClr val="5A5A5A"/>
                          </a:solidFill>
                          <a:latin typeface="Arial"/>
                        </a:rPr>
                        <a:t>6.2e-259</a:t>
                      </a:r>
                    </a:p>
                  </a:txBody>
                  <a:tcPr anchor="ctr" marL="45720" marR="45720" marT="9144" marB="9144">
                    <a:noFill/>
                  </a:tcPr>
                </a:tc>
              </a:tr>
              <a:tr h="365760">
                <a:tc>
                  <a:txBody>
                    <a:bodyPr wrap="square"/>
                    <a:lstStyle/>
                    <a:p>
                      <a:pPr algn="l">
                        <a:lnSpc>
                          <a:spcPct val="100000"/>
                        </a:lnSpc>
                      </a:pPr>
                      <a:r>
                        <a:rPr b="0" sz="1000">
                          <a:solidFill>
                            <a:srgbClr val="0E2841"/>
                          </a:solidFill>
                          <a:latin typeface="Arial"/>
                        </a:rPr>
                        <a:t>year 2021</a:t>
                      </a:r>
                    </a:p>
                  </a:txBody>
                  <a:tcPr anchor="ctr" marL="45720" marR="45720" marT="9144" marB="9144">
                    <a:noFill/>
                  </a:tcPr>
                </a:tc>
                <a:tc>
                  <a:txBody>
                    <a:bodyPr wrap="square"/>
                    <a:lstStyle/>
                    <a:p>
                      <a:pPr algn="ctr">
                        <a:lnSpc>
                          <a:spcPct val="100000"/>
                        </a:lnSpc>
                      </a:pPr>
                      <a:r>
                        <a:rPr b="0" sz="1000">
                          <a:solidFill>
                            <a:srgbClr val="1E7A34"/>
                          </a:solidFill>
                          <a:latin typeface="Arial"/>
                        </a:rPr>
                        <a:t>+7.54 pp</a:t>
                      </a:r>
                    </a:p>
                  </a:txBody>
                  <a:tcPr anchor="ctr" marL="45720" marR="45720" marT="9144" marB="9144">
                    <a:noFill/>
                  </a:tcPr>
                </a:tc>
                <a:tc>
                  <a:txBody>
                    <a:bodyPr wrap="square"/>
                    <a:lstStyle/>
                    <a:p>
                      <a:pPr algn="ctr">
                        <a:lnSpc>
                          <a:spcPct val="100000"/>
                        </a:lnSpc>
                      </a:pPr>
                      <a:r>
                        <a:rPr b="0" sz="1000">
                          <a:solidFill>
                            <a:srgbClr val="5A5A5A"/>
                          </a:solidFill>
                          <a:latin typeface="Arial"/>
                        </a:rPr>
                        <a:t>4.1e-46</a:t>
                      </a:r>
                    </a:p>
                  </a:txBody>
                  <a:tcPr anchor="ctr" marL="45720" marR="45720" marT="9144" marB="9144">
                    <a:noFill/>
                  </a:tcPr>
                </a:tc>
              </a:tr>
              <a:tr h="365760">
                <a:tc>
                  <a:txBody>
                    <a:bodyPr wrap="square"/>
                    <a:lstStyle/>
                    <a:p>
                      <a:pPr algn="l">
                        <a:lnSpc>
                          <a:spcPct val="100000"/>
                        </a:lnSpc>
                      </a:pPr>
                      <a:r>
                        <a:rPr b="0" sz="1000">
                          <a:solidFill>
                            <a:srgbClr val="0E2841"/>
                          </a:solidFill>
                          <a:latin typeface="Arial"/>
                        </a:rPr>
                        <a:t>year 2022</a:t>
                      </a:r>
                    </a:p>
                  </a:txBody>
                  <a:tcPr anchor="ctr" marL="45720" marR="45720" marT="9144" marB="9144">
                    <a:noFill/>
                  </a:tcPr>
                </a:tc>
                <a:tc>
                  <a:txBody>
                    <a:bodyPr wrap="square"/>
                    <a:lstStyle/>
                    <a:p>
                      <a:pPr algn="ctr">
                        <a:lnSpc>
                          <a:spcPct val="100000"/>
                        </a:lnSpc>
                      </a:pPr>
                      <a:r>
                        <a:rPr b="0" sz="1000">
                          <a:solidFill>
                            <a:srgbClr val="C0392B"/>
                          </a:solidFill>
                          <a:latin typeface="Arial"/>
                        </a:rPr>
                        <a:t>-1.95 pp</a:t>
                      </a:r>
                    </a:p>
                  </a:txBody>
                  <a:tcPr anchor="ctr" marL="45720" marR="45720" marT="9144" marB="9144">
                    <a:noFill/>
                  </a:tcPr>
                </a:tc>
                <a:tc>
                  <a:txBody>
                    <a:bodyPr wrap="square"/>
                    <a:lstStyle/>
                    <a:p>
                      <a:pPr algn="ctr">
                        <a:lnSpc>
                          <a:spcPct val="100000"/>
                        </a:lnSpc>
                      </a:pPr>
                      <a:r>
                        <a:rPr b="0" sz="1000">
                          <a:solidFill>
                            <a:srgbClr val="5A5A5A"/>
                          </a:solidFill>
                          <a:latin typeface="Arial"/>
                        </a:rPr>
                        <a:t>1.4e-05</a:t>
                      </a:r>
                    </a:p>
                  </a:txBody>
                  <a:tcPr anchor="ctr" marL="45720" marR="45720" marT="9144" marB="9144">
                    <a:noFill/>
                  </a:tcPr>
                </a:tc>
              </a:tr>
              <a:tr h="365760">
                <a:tc>
                  <a:txBody>
                    <a:bodyPr wrap="square"/>
                    <a:lstStyle/>
                    <a:p>
                      <a:pPr algn="l">
                        <a:lnSpc>
                          <a:spcPct val="100000"/>
                        </a:lnSpc>
                      </a:pPr>
                      <a:r>
                        <a:rPr b="0" sz="1000">
                          <a:solidFill>
                            <a:srgbClr val="0E2841"/>
                          </a:solidFill>
                          <a:latin typeface="Arial"/>
                        </a:rPr>
                        <a:t>customer_type (all)</a:t>
                      </a:r>
                    </a:p>
                  </a:txBody>
                  <a:tcPr anchor="ctr" marL="45720" marR="45720" marT="9144" marB="9144">
                    <a:noFill/>
                  </a:tcPr>
                </a:tc>
                <a:tc>
                  <a:txBody>
                    <a:bodyPr wrap="square"/>
                    <a:lstStyle/>
                    <a:p>
                      <a:pPr algn="ctr">
                        <a:lnSpc>
                          <a:spcPct val="100000"/>
                        </a:lnSpc>
                      </a:pPr>
                      <a:r>
                        <a:rPr b="0" sz="1000">
                          <a:solidFill>
                            <a:srgbClr val="0E2841"/>
                          </a:solidFill>
                          <a:latin typeface="Arial"/>
                        </a:rPr>
                        <a:t>n.s.</a:t>
                      </a:r>
                    </a:p>
                  </a:txBody>
                  <a:tcPr anchor="ctr" marL="45720" marR="45720" marT="9144" marB="9144">
                    <a:noFill/>
                  </a:tcPr>
                </a:tc>
                <a:tc>
                  <a:txBody>
                    <a:bodyPr wrap="square"/>
                    <a:lstStyle/>
                    <a:p>
                      <a:pPr algn="ctr">
                        <a:lnSpc>
                          <a:spcPct val="100000"/>
                        </a:lnSpc>
                      </a:pPr>
                      <a:r>
                        <a:rPr b="0" sz="1000">
                          <a:solidFill>
                            <a:srgbClr val="5A5A5A"/>
                          </a:solidFill>
                          <a:latin typeface="Arial"/>
                        </a:rPr>
                        <a:t>&gt; 0.14</a:t>
                      </a:r>
                    </a:p>
                  </a:txBody>
                  <a:tcPr anchor="ctr" marL="45720" marR="45720" marT="9144" marB="9144">
                    <a:noFill/>
                  </a:tcPr>
                </a:tc>
              </a:tr>
            </a:tbl>
          </a:graphicData>
        </a:graphic>
      </p:graphicFrame>
      <p:sp>
        <p:nvSpPr>
          <p:cNvPr id="5" name="TextBox 4"/>
          <p:cNvSpPr txBox="1"/>
          <p:nvPr/>
        </p:nvSpPr>
        <p:spPr>
          <a:xfrm>
            <a:off x="3703320" y="4434840"/>
            <a:ext cx="4937760" cy="274320"/>
          </a:xfrm>
          <a:prstGeom prst="rect">
            <a:avLst/>
          </a:prstGeom>
          <a:noFill/>
        </p:spPr>
        <p:txBody>
          <a:bodyPr wrap="square" anchor="t" lIns="36576" rIns="36576" tIns="18288" bIns="18288">
            <a:spAutoFit/>
          </a:bodyPr>
          <a:lstStyle/>
          <a:p>
            <a:pPr algn="ctr">
              <a:lnSpc>
                <a:spcPct val="104000"/>
              </a:lnSpc>
              <a:spcBef>
                <a:spcPts val="0"/>
              </a:spcBef>
              <a:spcAft>
                <a:spcPts val="0"/>
              </a:spcAft>
              <a:buNone/>
            </a:pPr>
            <a:r>
              <a:rPr b="0" sz="850">
                <a:solidFill>
                  <a:srgbClr val="5A5A5A"/>
                </a:solidFill>
                <a:latin typeface="Arial"/>
              </a:rPr>
              <a:t>Key OLS coefficients (pp on 6-month return), reference year 2018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RQ1  ·  Reading the controls: years and volatility</a:t>
            </a:r>
          </a:p>
        </p:txBody>
      </p:sp>
      <p:sp>
        <p:nvSpPr>
          <p:cNvPr id="3" name="TextBox 2"/>
          <p:cNvSpPr txBox="1"/>
          <p:nvPr/>
        </p:nvSpPr>
        <p:spPr>
          <a:xfrm>
            <a:off x="502920" y="1371600"/>
            <a:ext cx="8138160" cy="310896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0" sz="1350">
                <a:solidFill>
                  <a:srgbClr val="0E2841"/>
                </a:solidFill>
                <a:latin typeface="Arial"/>
              </a:rPr>
              <a:t>All four year dummies reject H0, reflecting distinct market regimes relative to the 2018 reference:</a:t>
            </a:r>
          </a:p>
          <a:p>
            <a:pPr algn="l" marL="502920" indent="-228600">
              <a:lnSpc>
                <a:spcPct val="104000"/>
              </a:lnSpc>
              <a:spcBef>
                <a:spcPts val="400"/>
              </a:spcBef>
              <a:spcAft>
                <a:spcPts val="200"/>
              </a:spcAft>
              <a:buClr>
                <a:srgbClr val="156082"/>
              </a:buClr>
              <a:buFont typeface="Arial"/>
              <a:buChar char="–"/>
            </a:pPr>
            <a:r>
              <a:rPr b="1" sz="1250">
                <a:solidFill>
                  <a:srgbClr val="0E2841"/>
                </a:solidFill>
                <a:latin typeface="Arial"/>
              </a:rPr>
              <a:t>2019 (+17.59 pp): </a:t>
            </a:r>
            <a:r>
              <a:rPr b="0" sz="1250">
                <a:solidFill>
                  <a:srgbClr val="0E2841"/>
                </a:solidFill>
                <a:latin typeface="Arial"/>
              </a:rPr>
              <a:t>broad equity recovery after the December 2018 sell-off (CNBC, 2019)</a:t>
            </a:r>
          </a:p>
          <a:p>
            <a:pPr algn="l" marL="502920" indent="-228600">
              <a:lnSpc>
                <a:spcPct val="104000"/>
              </a:lnSpc>
              <a:spcBef>
                <a:spcPts val="400"/>
              </a:spcBef>
              <a:spcAft>
                <a:spcPts val="200"/>
              </a:spcAft>
              <a:buClr>
                <a:srgbClr val="156082"/>
              </a:buClr>
              <a:buFont typeface="Arial"/>
              <a:buChar char="–"/>
            </a:pPr>
            <a:r>
              <a:rPr b="1" sz="1250">
                <a:solidFill>
                  <a:srgbClr val="0E2841"/>
                </a:solidFill>
                <a:latin typeface="Arial"/>
              </a:rPr>
              <a:t>2020 (+21.07 pp): </a:t>
            </a:r>
            <a:r>
              <a:rPr b="0" sz="1250">
                <a:solidFill>
                  <a:srgbClr val="0E2841"/>
                </a:solidFill>
                <a:latin typeface="Arial"/>
              </a:rPr>
              <a:t>rapid rebound from the COVID-19 sell-off, record highs by August (Reuters, 2020)</a:t>
            </a:r>
          </a:p>
          <a:p>
            <a:pPr algn="l" marL="502920" indent="-228600">
              <a:lnSpc>
                <a:spcPct val="104000"/>
              </a:lnSpc>
              <a:spcBef>
                <a:spcPts val="400"/>
              </a:spcBef>
              <a:spcAft>
                <a:spcPts val="200"/>
              </a:spcAft>
              <a:buClr>
                <a:srgbClr val="156082"/>
              </a:buClr>
              <a:buFont typeface="Arial"/>
              <a:buChar char="–"/>
            </a:pPr>
            <a:r>
              <a:rPr b="1" sz="1250">
                <a:solidFill>
                  <a:srgbClr val="0E2841"/>
                </a:solidFill>
                <a:latin typeface="Arial"/>
              </a:rPr>
              <a:t>2021 (+7.54 pp): </a:t>
            </a:r>
            <a:r>
              <a:rPr b="0" sz="1250">
                <a:solidFill>
                  <a:srgbClr val="0E2841"/>
                </a:solidFill>
                <a:latin typeface="Arial"/>
              </a:rPr>
              <a:t>continued gains under accommodative policy before the expected Fed taper (Reuters, 2021)</a:t>
            </a:r>
          </a:p>
          <a:p>
            <a:pPr algn="l" marL="502920" indent="-228600">
              <a:lnSpc>
                <a:spcPct val="104000"/>
              </a:lnSpc>
              <a:spcBef>
                <a:spcPts val="400"/>
              </a:spcBef>
              <a:spcAft>
                <a:spcPts val="200"/>
              </a:spcAft>
              <a:buClr>
                <a:srgbClr val="156082"/>
              </a:buClr>
              <a:buFont typeface="Arial"/>
              <a:buChar char="–"/>
            </a:pPr>
            <a:r>
              <a:rPr b="1" sz="1250">
                <a:solidFill>
                  <a:srgbClr val="0E2841"/>
                </a:solidFill>
                <a:latin typeface="Arial"/>
              </a:rPr>
              <a:t>2022 (-1.95 pp): </a:t>
            </a:r>
            <a:r>
              <a:rPr b="0" sz="1250">
                <a:solidFill>
                  <a:srgbClr val="0E2841"/>
                </a:solidFill>
                <a:latin typeface="Arial"/>
              </a:rPr>
              <a:t>aggressive Fed hiking drove a broad fixed-income drawdown (Reuters, 2022)</a:t>
            </a:r>
          </a:p>
          <a:p>
            <a:pPr algn="l" marL="228600" indent="-228600">
              <a:lnSpc>
                <a:spcPct val="104000"/>
              </a:lnSpc>
              <a:spcBef>
                <a:spcPts val="400"/>
              </a:spcBef>
              <a:spcAft>
                <a:spcPts val="200"/>
              </a:spcAft>
              <a:buClr>
                <a:srgbClr val="156082"/>
              </a:buClr>
              <a:buFont typeface="Arial"/>
              <a:buChar char="▪"/>
            </a:pPr>
            <a:r>
              <a:rPr b="1" sz="1300">
                <a:solidFill>
                  <a:srgbClr val="0E2841"/>
                </a:solidFill>
                <a:latin typeface="Arial"/>
              </a:rPr>
              <a:t>Volatility -10.25 pp per unit</a:t>
            </a:r>
            <a:r>
              <a:rPr b="0" sz="1300">
                <a:solidFill>
                  <a:srgbClr val="0E2841"/>
                </a:solidFill>
                <a:latin typeface="Arial"/>
              </a:rPr>
              <a:t>: low-volatility outperformance over 2019 to 2022 and the 2022 rate shock. customerType adds no return signal</a:t>
            </a:r>
          </a:p>
          <a:p>
            <a:pPr algn="l" marL="228600" indent="-228600">
              <a:lnSpc>
                <a:spcPct val="104000"/>
              </a:lnSpc>
              <a:spcBef>
                <a:spcPts val="400"/>
              </a:spcBef>
              <a:spcAft>
                <a:spcPts val="200"/>
              </a:spcAft>
              <a:buClr>
                <a:srgbClr val="156082"/>
              </a:buClr>
              <a:buFont typeface="Arial"/>
              <a:buChar char="▪"/>
            </a:pPr>
            <a:r>
              <a:rPr b="1" sz="1300">
                <a:solidFill>
                  <a:srgbClr val="0E2841"/>
                </a:solidFill>
                <a:latin typeface="Arial"/>
              </a:rPr>
              <a:t>Adjusted R² = 0.051</a:t>
            </a:r>
            <a:r>
              <a:rPr b="0" sz="1300">
                <a:solidFill>
                  <a:srgbClr val="0E2841"/>
                </a:solidFill>
                <a:latin typeface="Arial"/>
              </a:rPr>
              <a:t>: covariates explain little of individual-return variation, but the premium is still estimated precisely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RQ2  ·  Temporal split protocol</a:t>
            </a:r>
          </a:p>
        </p:txBody>
      </p:sp>
      <p:sp>
        <p:nvSpPr>
          <p:cNvPr id="3" name="TextBox 2"/>
          <p:cNvSpPr txBox="1"/>
          <p:nvPr/>
        </p:nvSpPr>
        <p:spPr>
          <a:xfrm>
            <a:off x="502920" y="1371600"/>
            <a:ext cx="8138160" cy="274320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1" sz="1400">
                <a:solidFill>
                  <a:srgbClr val="0E2841"/>
                </a:solidFill>
                <a:latin typeface="Arial"/>
              </a:rPr>
              <a:t>69 temporal splits</a:t>
            </a:r>
            <a:r>
              <a:rPr b="0" sz="1400">
                <a:solidFill>
                  <a:srgbClr val="0E2841"/>
                </a:solidFill>
                <a:latin typeface="Arial"/>
              </a:rPr>
              <a:t> on an evenly spaced trading-day grid, approximately biweekly, following the FAR-Trans benchmark</a:t>
            </a:r>
          </a:p>
          <a:p>
            <a:pPr algn="l" marL="502920" indent="-228600">
              <a:lnSpc>
                <a:spcPct val="104000"/>
              </a:lnSpc>
              <a:spcBef>
                <a:spcPts val="400"/>
              </a:spcBef>
              <a:spcAft>
                <a:spcPts val="200"/>
              </a:spcAft>
              <a:buClr>
                <a:srgbClr val="156082"/>
              </a:buClr>
              <a:buFont typeface="Arial"/>
              <a:buChar char="–"/>
            </a:pPr>
            <a:r>
              <a:rPr b="0" sz="1300">
                <a:solidFill>
                  <a:srgbClr val="0E2841"/>
                </a:solidFill>
                <a:latin typeface="Arial"/>
              </a:rPr>
              <a:t>Split points run August 2019 to December 2021, with per-split test windows extending coverage to May 2022</a:t>
            </a:r>
          </a:p>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Per split, train = all Buys in [0, time_point], test = all Buys in [time_point, test_end]</a:t>
            </a:r>
          </a:p>
          <a:p>
            <a:pPr algn="l" marL="502920" indent="-228600">
              <a:lnSpc>
                <a:spcPct val="104000"/>
              </a:lnSpc>
              <a:spcBef>
                <a:spcPts val="400"/>
              </a:spcBef>
              <a:spcAft>
                <a:spcPts val="200"/>
              </a:spcAft>
              <a:buClr>
                <a:srgbClr val="156082"/>
              </a:buClr>
              <a:buFont typeface="Arial"/>
              <a:buChar char="–"/>
            </a:pPr>
            <a:r>
              <a:rPr b="0" sz="1300">
                <a:solidFill>
                  <a:srgbClr val="0E2841"/>
                </a:solidFill>
                <a:latin typeface="Arial"/>
              </a:rPr>
              <a:t>Test set is deduplicated against training and filtered to the training-asset universe</a:t>
            </a:r>
          </a:p>
          <a:p>
            <a:pPr algn="l" marL="502920" indent="-228600">
              <a:lnSpc>
                <a:spcPct val="104000"/>
              </a:lnSpc>
              <a:spcBef>
                <a:spcPts val="400"/>
              </a:spcBef>
              <a:spcAft>
                <a:spcPts val="200"/>
              </a:spcAft>
              <a:buClr>
                <a:srgbClr val="156082"/>
              </a:buClr>
              <a:buFont typeface="Arial"/>
              <a:buChar char="–"/>
            </a:pPr>
            <a:r>
              <a:rPr b="0" sz="1300">
                <a:solidFill>
                  <a:srgbClr val="0E2841"/>
                </a:solidFill>
                <a:latin typeface="Arial"/>
              </a:rPr>
              <a:t>Eligible customers have at least one interaction in both train and test, and eligible assets have prices on both endpoints</a:t>
            </a:r>
          </a:p>
        </p:txBody>
      </p:sp>
      <p:sp>
        <p:nvSpPr>
          <p:cNvPr id="4" name="Rounded Rectangle 3"/>
          <p:cNvSpPr/>
          <p:nvPr/>
        </p:nvSpPr>
        <p:spPr>
          <a:xfrm>
            <a:off x="502920" y="4114800"/>
            <a:ext cx="8138160" cy="530352"/>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1" sz="1350">
                <a:solidFill>
                  <a:srgbClr val="FFFFFF"/>
                </a:solidFill>
                <a:latin typeface="Arial"/>
              </a:rPr>
              <a:t>A rolling temporal protocol, so no test Buy is ever seen in training.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RQ2  ·  Baselines and hyperparameter grids</a:t>
            </a:r>
          </a:p>
        </p:txBody>
      </p:sp>
      <p:sp>
        <p:nvSpPr>
          <p:cNvPr id="3" name="TextBox 2"/>
          <p:cNvSpPr txBox="1"/>
          <p:nvPr/>
        </p:nvSpPr>
        <p:spPr>
          <a:xfrm>
            <a:off x="502920" y="1325880"/>
            <a:ext cx="8138160" cy="868680"/>
          </a:xfrm>
          <a:prstGeom prst="rect">
            <a:avLst/>
          </a:prstGeom>
          <a:noFill/>
        </p:spPr>
        <p:txBody>
          <a:bodyPr wrap="square" anchor="t" lIns="36576" rIns="36576" tIns="18288" bIns="18288">
            <a:spAutoFit/>
          </a:bodyPr>
          <a:lstStyle/>
          <a:p>
            <a:pPr algn="l">
              <a:lnSpc>
                <a:spcPct val="105000"/>
              </a:lnSpc>
              <a:spcBef>
                <a:spcPts val="400"/>
              </a:spcBef>
              <a:spcAft>
                <a:spcPts val="200"/>
              </a:spcAft>
              <a:buNone/>
            </a:pPr>
            <a:r>
              <a:rPr b="0" sz="1300">
                <a:solidFill>
                  <a:srgbClr val="0E2841"/>
                </a:solidFill>
                <a:latin typeface="Arial"/>
              </a:rPr>
              <a:t>From the 11 FAR-Trans algorithms we audit the two leaders, each swept with Ray Tune on its own axis:  </a:t>
            </a:r>
            <a:r>
              <a:rPr b="1" sz="1300">
                <a:solidFill>
                  <a:srgbClr val="0F9ED5"/>
                </a:solidFill>
                <a:latin typeface="Arial"/>
              </a:rPr>
              <a:t>LightGCN</a:t>
            </a:r>
            <a:r>
              <a:rPr b="0" sz="1300">
                <a:solidFill>
                  <a:srgbClr val="0E2841"/>
                </a:solidFill>
                <a:latin typeface="Arial"/>
              </a:rPr>
              <a:t> on nDCG@10,  </a:t>
            </a:r>
            <a:r>
              <a:rPr b="1" sz="1300">
                <a:solidFill>
                  <a:srgbClr val="E97132"/>
                </a:solidFill>
                <a:latin typeface="Arial"/>
              </a:rPr>
              <a:t>Random Forest</a:t>
            </a:r>
            <a:r>
              <a:rPr b="0" sz="1300">
                <a:solidFill>
                  <a:srgbClr val="0E2841"/>
                </a:solidFill>
                <a:latin typeface="Arial"/>
              </a:rPr>
              <a:t> on ROI@10</a:t>
            </a:r>
          </a:p>
        </p:txBody>
      </p:sp>
      <p:graphicFrame>
        <p:nvGraphicFramePr>
          <p:cNvPr id="4" name="Table 3"/>
          <p:cNvGraphicFramePr>
            <a:graphicFrameLocks noGrp="1"/>
          </p:cNvGraphicFramePr>
          <p:nvPr/>
        </p:nvGraphicFramePr>
        <p:xfrm>
          <a:off x="640080" y="2240280"/>
          <a:ext cx="7863840" cy="2345427"/>
        </p:xfrm>
        <a:graphic>
          <a:graphicData uri="http://schemas.openxmlformats.org/drawingml/2006/table">
            <a:tbl>
              <a:tblPr firstRow="0" bandRow="0">
                <a:tableStyleId>{5C22544A-7EE6-4342-B048-85BDC9FD1C3A}</a:tableStyleId>
              </a:tblPr>
              <a:tblGrid>
                <a:gridCol w="1554480"/>
                <a:gridCol w="2286000"/>
                <a:gridCol w="2377440"/>
                <a:gridCol w="1645920"/>
              </a:tblGrid>
              <a:tr h="260603">
                <a:tc>
                  <a:txBody>
                    <a:bodyPr wrap="square"/>
                    <a:lstStyle/>
                    <a:p>
                      <a:pPr algn="l">
                        <a:lnSpc>
                          <a:spcPct val="100000"/>
                        </a:lnSpc>
                      </a:pPr>
                      <a:r>
                        <a:rPr b="1" sz="1000">
                          <a:solidFill>
                            <a:srgbClr val="FFFFFF"/>
                          </a:solidFill>
                          <a:latin typeface="Arial"/>
                        </a:rPr>
                        <a:t>Model</a:t>
                      </a:r>
                    </a:p>
                  </a:txBody>
                  <a:tcPr anchor="ctr" marL="45720" marR="45720" marT="9144" marB="9144">
                    <a:solidFill>
                      <a:srgbClr val="0E2841"/>
                    </a:solidFill>
                  </a:tcPr>
                </a:tc>
                <a:tc>
                  <a:txBody>
                    <a:bodyPr wrap="square"/>
                    <a:lstStyle/>
                    <a:p>
                      <a:pPr algn="l">
                        <a:lnSpc>
                          <a:spcPct val="100000"/>
                        </a:lnSpc>
                      </a:pPr>
                      <a:r>
                        <a:rPr b="1" sz="1000">
                          <a:solidFill>
                            <a:srgbClr val="FFFFFF"/>
                          </a:solidFill>
                          <a:latin typeface="Arial"/>
                        </a:rPr>
                        <a:t>Parameter</a:t>
                      </a:r>
                    </a:p>
                  </a:txBody>
                  <a:tcPr anchor="ctr" marL="45720" marR="45720" marT="9144" marB="9144">
                    <a:solidFill>
                      <a:srgbClr val="0E2841"/>
                    </a:solidFill>
                  </a:tcPr>
                </a:tc>
                <a:tc>
                  <a:txBody>
                    <a:bodyPr wrap="square"/>
                    <a:lstStyle/>
                    <a:p>
                      <a:pPr algn="ctr">
                        <a:lnSpc>
                          <a:spcPct val="100000"/>
                        </a:lnSpc>
                      </a:pPr>
                      <a:r>
                        <a:rPr b="1" sz="1000">
                          <a:solidFill>
                            <a:srgbClr val="FFFFFF"/>
                          </a:solidFill>
                          <a:latin typeface="Arial"/>
                        </a:rPr>
                        <a:t>Search space</a:t>
                      </a:r>
                    </a:p>
                  </a:txBody>
                  <a:tcPr anchor="ctr" marL="45720" marR="45720" marT="9144" marB="9144">
                    <a:solidFill>
                      <a:srgbClr val="0E2841"/>
                    </a:solidFill>
                  </a:tcPr>
                </a:tc>
                <a:tc>
                  <a:txBody>
                    <a:bodyPr wrap="square"/>
                    <a:lstStyle/>
                    <a:p>
                      <a:pPr algn="ctr">
                        <a:lnSpc>
                          <a:spcPct val="100000"/>
                        </a:lnSpc>
                      </a:pPr>
                      <a:r>
                        <a:rPr b="1" sz="1000">
                          <a:solidFill>
                            <a:srgbClr val="FFFFFF"/>
                          </a:solidFill>
                          <a:latin typeface="Arial"/>
                        </a:rPr>
                        <a:t>Best</a:t>
                      </a:r>
                    </a:p>
                  </a:txBody>
                  <a:tcPr anchor="ctr" marL="45720" marR="45720" marT="9144" marB="9144">
                    <a:solidFill>
                      <a:srgbClr val="0E2841"/>
                    </a:solidFill>
                  </a:tcPr>
                </a:tc>
              </a:tr>
              <a:tr h="260603">
                <a:tc>
                  <a:txBody>
                    <a:bodyPr wrap="square"/>
                    <a:lstStyle/>
                    <a:p>
                      <a:pPr algn="l">
                        <a:lnSpc>
                          <a:spcPct val="100000"/>
                        </a:lnSpc>
                      </a:pPr>
                      <a:r>
                        <a:rPr b="1" sz="950">
                          <a:solidFill>
                            <a:srgbClr val="0F9ED5"/>
                          </a:solidFill>
                          <a:latin typeface="Arial"/>
                        </a:rPr>
                        <a:t>LightGCN</a:t>
                      </a:r>
                    </a:p>
                  </a:txBody>
                  <a:tcPr anchor="ctr" marL="45720" marR="45720" marT="9144" marB="9144">
                    <a:noFill/>
                  </a:tcPr>
                </a:tc>
                <a:tc>
                  <a:txBody>
                    <a:bodyPr wrap="square"/>
                    <a:lstStyle/>
                    <a:p>
                      <a:pPr algn="l">
                        <a:lnSpc>
                          <a:spcPct val="100000"/>
                        </a:lnSpc>
                      </a:pPr>
                      <a:r>
                        <a:rPr b="0" sz="950">
                          <a:solidFill>
                            <a:srgbClr val="0E2841"/>
                          </a:solidFill>
                          <a:latin typeface="Arial"/>
                        </a:rPr>
                        <a:t>embedding_dim</a:t>
                      </a:r>
                    </a:p>
                  </a:txBody>
                  <a:tcPr anchor="ctr" marL="45720" marR="45720" marT="9144" marB="9144">
                    <a:noFill/>
                  </a:tcPr>
                </a:tc>
                <a:tc>
                  <a:txBody>
                    <a:bodyPr wrap="square"/>
                    <a:lstStyle/>
                    <a:p>
                      <a:pPr algn="ctr">
                        <a:lnSpc>
                          <a:spcPct val="100000"/>
                        </a:lnSpc>
                      </a:pPr>
                      <a:r>
                        <a:rPr b="0" sz="950">
                          <a:solidFill>
                            <a:srgbClr val="5A5A5A"/>
                          </a:solidFill>
                          <a:latin typeface="Arial"/>
                        </a:rPr>
                        <a:t>{64, 128}</a:t>
                      </a:r>
                    </a:p>
                  </a:txBody>
                  <a:tcPr anchor="ctr" marL="45720" marR="45720" marT="9144" marB="9144">
                    <a:noFill/>
                  </a:tcPr>
                </a:tc>
                <a:tc>
                  <a:txBody>
                    <a:bodyPr wrap="square"/>
                    <a:lstStyle/>
                    <a:p>
                      <a:pPr algn="ctr">
                        <a:lnSpc>
                          <a:spcPct val="100000"/>
                        </a:lnSpc>
                      </a:pPr>
                      <a:r>
                        <a:rPr b="1" sz="950">
                          <a:solidFill>
                            <a:srgbClr val="0E2841"/>
                          </a:solidFill>
                          <a:latin typeface="Arial"/>
                        </a:rPr>
                        <a:t>64</a:t>
                      </a:r>
                    </a:p>
                  </a:txBody>
                  <a:tcPr anchor="ctr" marL="45720" marR="45720" marT="9144" marB="9144">
                    <a:noFill/>
                  </a:tcPr>
                </a:tc>
              </a:tr>
              <a:tr h="260603">
                <a:tc>
                  <a:txBody>
                    <a:bodyPr wrap="square"/>
                    <a:lstStyle/>
                    <a:p>
                      <a:pPr algn="l">
                        <a:lnSpc>
                          <a:spcPct val="100000"/>
                        </a:lnSpc>
                      </a:pPr>
                      <a:r>
                        <a:rPr b="1" sz="950">
                          <a:solidFill>
                            <a:srgbClr val="0F9ED5"/>
                          </a:solidFill>
                          <a:latin typeface="Arial"/>
                        </a:rPr>
                        <a:t>LightGCN</a:t>
                      </a:r>
                    </a:p>
                  </a:txBody>
                  <a:tcPr anchor="ctr" marL="45720" marR="45720" marT="9144" marB="9144">
                    <a:noFill/>
                  </a:tcPr>
                </a:tc>
                <a:tc>
                  <a:txBody>
                    <a:bodyPr wrap="square"/>
                    <a:lstStyle/>
                    <a:p>
                      <a:pPr algn="l">
                        <a:lnSpc>
                          <a:spcPct val="100000"/>
                        </a:lnSpc>
                      </a:pPr>
                      <a:r>
                        <a:rPr b="0" sz="950">
                          <a:solidFill>
                            <a:srgbClr val="0E2841"/>
                          </a:solidFill>
                          <a:latin typeface="Arial"/>
                        </a:rPr>
                        <a:t>num_layers</a:t>
                      </a:r>
                    </a:p>
                  </a:txBody>
                  <a:tcPr anchor="ctr" marL="45720" marR="45720" marT="9144" marB="9144">
                    <a:noFill/>
                  </a:tcPr>
                </a:tc>
                <a:tc>
                  <a:txBody>
                    <a:bodyPr wrap="square"/>
                    <a:lstStyle/>
                    <a:p>
                      <a:pPr algn="ctr">
                        <a:lnSpc>
                          <a:spcPct val="100000"/>
                        </a:lnSpc>
                      </a:pPr>
                      <a:r>
                        <a:rPr b="0" sz="950">
                          <a:solidFill>
                            <a:srgbClr val="5A5A5A"/>
                          </a:solidFill>
                          <a:latin typeface="Arial"/>
                        </a:rPr>
                        <a:t>{2, 3}</a:t>
                      </a:r>
                    </a:p>
                  </a:txBody>
                  <a:tcPr anchor="ctr" marL="45720" marR="45720" marT="9144" marB="9144">
                    <a:noFill/>
                  </a:tcPr>
                </a:tc>
                <a:tc>
                  <a:txBody>
                    <a:bodyPr wrap="square"/>
                    <a:lstStyle/>
                    <a:p>
                      <a:pPr algn="ctr">
                        <a:lnSpc>
                          <a:spcPct val="100000"/>
                        </a:lnSpc>
                      </a:pPr>
                      <a:r>
                        <a:rPr b="1" sz="950">
                          <a:solidFill>
                            <a:srgbClr val="0E2841"/>
                          </a:solidFill>
                          <a:latin typeface="Arial"/>
                        </a:rPr>
                        <a:t>3</a:t>
                      </a:r>
                    </a:p>
                  </a:txBody>
                  <a:tcPr anchor="ctr" marL="45720" marR="45720" marT="9144" marB="9144">
                    <a:noFill/>
                  </a:tcPr>
                </a:tc>
              </a:tr>
              <a:tr h="260603">
                <a:tc>
                  <a:txBody>
                    <a:bodyPr wrap="square"/>
                    <a:lstStyle/>
                    <a:p>
                      <a:pPr algn="l">
                        <a:lnSpc>
                          <a:spcPct val="100000"/>
                        </a:lnSpc>
                      </a:pPr>
                      <a:r>
                        <a:rPr b="1" sz="950">
                          <a:solidFill>
                            <a:srgbClr val="0F9ED5"/>
                          </a:solidFill>
                          <a:latin typeface="Arial"/>
                        </a:rPr>
                        <a:t>LightGCN</a:t>
                      </a:r>
                    </a:p>
                  </a:txBody>
                  <a:tcPr anchor="ctr" marL="45720" marR="45720" marT="9144" marB="9144">
                    <a:noFill/>
                  </a:tcPr>
                </a:tc>
                <a:tc>
                  <a:txBody>
                    <a:bodyPr wrap="square"/>
                    <a:lstStyle/>
                    <a:p>
                      <a:pPr algn="l">
                        <a:lnSpc>
                          <a:spcPct val="100000"/>
                        </a:lnSpc>
                      </a:pPr>
                      <a:r>
                        <a:rPr b="0" sz="950">
                          <a:solidFill>
                            <a:srgbClr val="0E2841"/>
                          </a:solidFill>
                          <a:latin typeface="Arial"/>
                        </a:rPr>
                        <a:t>learning_rate</a:t>
                      </a:r>
                    </a:p>
                  </a:txBody>
                  <a:tcPr anchor="ctr" marL="45720" marR="45720" marT="9144" marB="9144">
                    <a:noFill/>
                  </a:tcPr>
                </a:tc>
                <a:tc>
                  <a:txBody>
                    <a:bodyPr wrap="square"/>
                    <a:lstStyle/>
                    <a:p>
                      <a:pPr algn="ctr">
                        <a:lnSpc>
                          <a:spcPct val="100000"/>
                        </a:lnSpc>
                      </a:pPr>
                      <a:r>
                        <a:rPr b="0" sz="950">
                          <a:solidFill>
                            <a:srgbClr val="5A5A5A"/>
                          </a:solidFill>
                          <a:latin typeface="Arial"/>
                        </a:rPr>
                        <a:t>{1e-2, 1e-3}</a:t>
                      </a:r>
                    </a:p>
                  </a:txBody>
                  <a:tcPr anchor="ctr" marL="45720" marR="45720" marT="9144" marB="9144">
                    <a:noFill/>
                  </a:tcPr>
                </a:tc>
                <a:tc>
                  <a:txBody>
                    <a:bodyPr wrap="square"/>
                    <a:lstStyle/>
                    <a:p>
                      <a:pPr algn="ctr">
                        <a:lnSpc>
                          <a:spcPct val="100000"/>
                        </a:lnSpc>
                      </a:pPr>
                      <a:r>
                        <a:rPr b="1" sz="950">
                          <a:solidFill>
                            <a:srgbClr val="0E2841"/>
                          </a:solidFill>
                          <a:latin typeface="Arial"/>
                        </a:rPr>
                        <a:t>1e-3</a:t>
                      </a:r>
                    </a:p>
                  </a:txBody>
                  <a:tcPr anchor="ctr" marL="45720" marR="45720" marT="9144" marB="9144">
                    <a:noFill/>
                  </a:tcPr>
                </a:tc>
              </a:tr>
              <a:tr h="260603">
                <a:tc>
                  <a:txBody>
                    <a:bodyPr wrap="square"/>
                    <a:lstStyle/>
                    <a:p>
                      <a:pPr algn="l">
                        <a:lnSpc>
                          <a:spcPct val="100000"/>
                        </a:lnSpc>
                      </a:pPr>
                      <a:r>
                        <a:rPr b="1" sz="950">
                          <a:solidFill>
                            <a:srgbClr val="0F9ED5"/>
                          </a:solidFill>
                          <a:latin typeface="Arial"/>
                        </a:rPr>
                        <a:t>LightGCN</a:t>
                      </a:r>
                    </a:p>
                  </a:txBody>
                  <a:tcPr anchor="ctr" marL="45720" marR="45720" marT="9144" marB="9144">
                    <a:noFill/>
                  </a:tcPr>
                </a:tc>
                <a:tc>
                  <a:txBody>
                    <a:bodyPr wrap="square"/>
                    <a:lstStyle/>
                    <a:p>
                      <a:pPr algn="l">
                        <a:lnSpc>
                          <a:spcPct val="100000"/>
                        </a:lnSpc>
                      </a:pPr>
                      <a:r>
                        <a:rPr b="0" sz="950">
                          <a:solidFill>
                            <a:srgbClr val="0E2841"/>
                          </a:solidFill>
                          <a:latin typeface="Arial"/>
                        </a:rPr>
                        <a:t>weight_decay / keep_prob</a:t>
                      </a:r>
                    </a:p>
                  </a:txBody>
                  <a:tcPr anchor="ctr" marL="45720" marR="45720" marT="9144" marB="9144">
                    <a:noFill/>
                  </a:tcPr>
                </a:tc>
                <a:tc>
                  <a:txBody>
                    <a:bodyPr wrap="square"/>
                    <a:lstStyle/>
                    <a:p>
                      <a:pPr algn="ctr">
                        <a:lnSpc>
                          <a:spcPct val="100000"/>
                        </a:lnSpc>
                      </a:pPr>
                      <a:r>
                        <a:rPr b="0" sz="950">
                          <a:solidFill>
                            <a:srgbClr val="5A5A5A"/>
                          </a:solidFill>
                          <a:latin typeface="Arial"/>
                        </a:rPr>
                        <a:t>1e-5 / 0.6</a:t>
                      </a:r>
                    </a:p>
                  </a:txBody>
                  <a:tcPr anchor="ctr" marL="45720" marR="45720" marT="9144" marB="9144">
                    <a:noFill/>
                  </a:tcPr>
                </a:tc>
                <a:tc>
                  <a:txBody>
                    <a:bodyPr wrap="square"/>
                    <a:lstStyle/>
                    <a:p>
                      <a:pPr algn="ctr">
                        <a:lnSpc>
                          <a:spcPct val="100000"/>
                        </a:lnSpc>
                      </a:pPr>
                      <a:r>
                        <a:rPr b="1" sz="950">
                          <a:solidFill>
                            <a:srgbClr val="0E2841"/>
                          </a:solidFill>
                          <a:latin typeface="Arial"/>
                        </a:rPr>
                        <a:t>fixed</a:t>
                      </a:r>
                    </a:p>
                  </a:txBody>
                  <a:tcPr anchor="ctr" marL="45720" marR="45720" marT="9144" marB="9144">
                    <a:noFill/>
                  </a:tcPr>
                </a:tc>
              </a:tr>
              <a:tr h="260603">
                <a:tc>
                  <a:txBody>
                    <a:bodyPr wrap="square"/>
                    <a:lstStyle/>
                    <a:p>
                      <a:pPr algn="l">
                        <a:lnSpc>
                          <a:spcPct val="100000"/>
                        </a:lnSpc>
                      </a:pPr>
                      <a:r>
                        <a:rPr b="1" sz="950">
                          <a:solidFill>
                            <a:srgbClr val="0F9ED5"/>
                          </a:solidFill>
                          <a:latin typeface="Arial"/>
                        </a:rPr>
                        <a:t>LightGCN</a:t>
                      </a:r>
                    </a:p>
                  </a:txBody>
                  <a:tcPr anchor="ctr" marL="45720" marR="45720" marT="9144" marB="9144">
                    <a:noFill/>
                  </a:tcPr>
                </a:tc>
                <a:tc>
                  <a:txBody>
                    <a:bodyPr wrap="square"/>
                    <a:lstStyle/>
                    <a:p>
                      <a:pPr algn="l">
                        <a:lnSpc>
                          <a:spcPct val="100000"/>
                        </a:lnSpc>
                      </a:pPr>
                      <a:r>
                        <a:rPr b="0" sz="950">
                          <a:solidFill>
                            <a:srgbClr val="0E2841"/>
                          </a:solidFill>
                          <a:latin typeface="Arial"/>
                        </a:rPr>
                        <a:t>epochs / batch_size</a:t>
                      </a:r>
                    </a:p>
                  </a:txBody>
                  <a:tcPr anchor="ctr" marL="45720" marR="45720" marT="9144" marB="9144">
                    <a:noFill/>
                  </a:tcPr>
                </a:tc>
                <a:tc>
                  <a:txBody>
                    <a:bodyPr wrap="square"/>
                    <a:lstStyle/>
                    <a:p>
                      <a:pPr algn="ctr">
                        <a:lnSpc>
                          <a:spcPct val="100000"/>
                        </a:lnSpc>
                      </a:pPr>
                      <a:r>
                        <a:rPr b="0" sz="950">
                          <a:solidFill>
                            <a:srgbClr val="5A5A5A"/>
                          </a:solidFill>
                          <a:latin typeface="Arial"/>
                        </a:rPr>
                        <a:t>50 / 1024</a:t>
                      </a:r>
                    </a:p>
                  </a:txBody>
                  <a:tcPr anchor="ctr" marL="45720" marR="45720" marT="9144" marB="9144">
                    <a:noFill/>
                  </a:tcPr>
                </a:tc>
                <a:tc>
                  <a:txBody>
                    <a:bodyPr wrap="square"/>
                    <a:lstStyle/>
                    <a:p>
                      <a:pPr algn="ctr">
                        <a:lnSpc>
                          <a:spcPct val="100000"/>
                        </a:lnSpc>
                      </a:pPr>
                      <a:r>
                        <a:rPr b="1" sz="950">
                          <a:solidFill>
                            <a:srgbClr val="0E2841"/>
                          </a:solidFill>
                          <a:latin typeface="Arial"/>
                        </a:rPr>
                        <a:t>fixed</a:t>
                      </a:r>
                    </a:p>
                  </a:txBody>
                  <a:tcPr anchor="ctr" marL="45720" marR="45720" marT="9144" marB="9144">
                    <a:noFill/>
                  </a:tcPr>
                </a:tc>
              </a:tr>
              <a:tr h="260603">
                <a:tc>
                  <a:txBody>
                    <a:bodyPr wrap="square"/>
                    <a:lstStyle/>
                    <a:p>
                      <a:pPr algn="l">
                        <a:lnSpc>
                          <a:spcPct val="100000"/>
                        </a:lnSpc>
                      </a:pPr>
                      <a:r>
                        <a:rPr b="1" sz="950">
                          <a:solidFill>
                            <a:srgbClr val="E97132"/>
                          </a:solidFill>
                          <a:latin typeface="Arial"/>
                        </a:rPr>
                        <a:t>Random Forest</a:t>
                      </a:r>
                    </a:p>
                  </a:txBody>
                  <a:tcPr anchor="ctr" marL="45720" marR="45720" marT="9144" marB="9144">
                    <a:noFill/>
                  </a:tcPr>
                </a:tc>
                <a:tc>
                  <a:txBody>
                    <a:bodyPr wrap="square"/>
                    <a:lstStyle/>
                    <a:p>
                      <a:pPr algn="l">
                        <a:lnSpc>
                          <a:spcPct val="100000"/>
                        </a:lnSpc>
                      </a:pPr>
                      <a:r>
                        <a:rPr b="0" sz="950">
                          <a:solidFill>
                            <a:srgbClr val="0E2841"/>
                          </a:solidFill>
                          <a:latin typeface="Arial"/>
                        </a:rPr>
                        <a:t>num_estimators</a:t>
                      </a:r>
                    </a:p>
                  </a:txBody>
                  <a:tcPr anchor="ctr" marL="45720" marR="45720" marT="9144" marB="9144">
                    <a:noFill/>
                  </a:tcPr>
                </a:tc>
                <a:tc>
                  <a:txBody>
                    <a:bodyPr wrap="square"/>
                    <a:lstStyle/>
                    <a:p>
                      <a:pPr algn="ctr">
                        <a:lnSpc>
                          <a:spcPct val="100000"/>
                        </a:lnSpc>
                      </a:pPr>
                      <a:r>
                        <a:rPr b="0" sz="950">
                          <a:solidFill>
                            <a:srgbClr val="5A5A5A"/>
                          </a:solidFill>
                          <a:latin typeface="Arial"/>
                        </a:rPr>
                        <a:t>{20, 30, 40, 50}</a:t>
                      </a:r>
                    </a:p>
                  </a:txBody>
                  <a:tcPr anchor="ctr" marL="45720" marR="45720" marT="9144" marB="9144">
                    <a:noFill/>
                  </a:tcPr>
                </a:tc>
                <a:tc>
                  <a:txBody>
                    <a:bodyPr wrap="square"/>
                    <a:lstStyle/>
                    <a:p>
                      <a:pPr algn="ctr">
                        <a:lnSpc>
                          <a:spcPct val="100000"/>
                        </a:lnSpc>
                      </a:pPr>
                      <a:r>
                        <a:rPr b="1" sz="950">
                          <a:solidFill>
                            <a:srgbClr val="0E2841"/>
                          </a:solidFill>
                          <a:latin typeface="Arial"/>
                        </a:rPr>
                        <a:t>40</a:t>
                      </a:r>
                    </a:p>
                  </a:txBody>
                  <a:tcPr anchor="ctr" marL="45720" marR="45720" marT="9144" marB="9144">
                    <a:noFill/>
                  </a:tcPr>
                </a:tc>
              </a:tr>
              <a:tr h="260603">
                <a:tc>
                  <a:txBody>
                    <a:bodyPr wrap="square"/>
                    <a:lstStyle/>
                    <a:p>
                      <a:pPr algn="l">
                        <a:lnSpc>
                          <a:spcPct val="100000"/>
                        </a:lnSpc>
                      </a:pPr>
                      <a:r>
                        <a:rPr b="1" sz="950">
                          <a:solidFill>
                            <a:srgbClr val="E97132"/>
                          </a:solidFill>
                          <a:latin typeface="Arial"/>
                        </a:rPr>
                        <a:t>Random Forest</a:t>
                      </a:r>
                    </a:p>
                  </a:txBody>
                  <a:tcPr anchor="ctr" marL="45720" marR="45720" marT="9144" marB="9144">
                    <a:noFill/>
                  </a:tcPr>
                </a:tc>
                <a:tc>
                  <a:txBody>
                    <a:bodyPr wrap="square"/>
                    <a:lstStyle/>
                    <a:p>
                      <a:pPr algn="l">
                        <a:lnSpc>
                          <a:spcPct val="100000"/>
                        </a:lnSpc>
                      </a:pPr>
                      <a:r>
                        <a:rPr b="0" sz="950">
                          <a:solidFill>
                            <a:srgbClr val="0E2841"/>
                          </a:solidFill>
                          <a:latin typeface="Arial"/>
                        </a:rPr>
                        <a:t>max_depth</a:t>
                      </a:r>
                    </a:p>
                  </a:txBody>
                  <a:tcPr anchor="ctr" marL="45720" marR="45720" marT="9144" marB="9144">
                    <a:noFill/>
                  </a:tcPr>
                </a:tc>
                <a:tc>
                  <a:txBody>
                    <a:bodyPr wrap="square"/>
                    <a:lstStyle/>
                    <a:p>
                      <a:pPr algn="ctr">
                        <a:lnSpc>
                          <a:spcPct val="100000"/>
                        </a:lnSpc>
                      </a:pPr>
                      <a:r>
                        <a:rPr b="0" sz="950">
                          <a:solidFill>
                            <a:srgbClr val="5A5A5A"/>
                          </a:solidFill>
                          <a:latin typeface="Arial"/>
                        </a:rPr>
                        <a:t>{15, 25, 50}</a:t>
                      </a:r>
                    </a:p>
                  </a:txBody>
                  <a:tcPr anchor="ctr" marL="45720" marR="45720" marT="9144" marB="9144">
                    <a:noFill/>
                  </a:tcPr>
                </a:tc>
                <a:tc>
                  <a:txBody>
                    <a:bodyPr wrap="square"/>
                    <a:lstStyle/>
                    <a:p>
                      <a:pPr algn="ctr">
                        <a:lnSpc>
                          <a:spcPct val="100000"/>
                        </a:lnSpc>
                      </a:pPr>
                      <a:r>
                        <a:rPr b="1" sz="950">
                          <a:solidFill>
                            <a:srgbClr val="0E2841"/>
                          </a:solidFill>
                          <a:latin typeface="Arial"/>
                        </a:rPr>
                        <a:t>50</a:t>
                      </a:r>
                    </a:p>
                  </a:txBody>
                  <a:tcPr anchor="ctr" marL="45720" marR="45720" marT="9144" marB="9144">
                    <a:noFill/>
                  </a:tcPr>
                </a:tc>
              </a:tr>
              <a:tr h="260603">
                <a:tc>
                  <a:txBody>
                    <a:bodyPr wrap="square"/>
                    <a:lstStyle/>
                    <a:p>
                      <a:pPr algn="l">
                        <a:lnSpc>
                          <a:spcPct val="100000"/>
                        </a:lnSpc>
                      </a:pPr>
                      <a:r>
                        <a:rPr b="1" sz="950">
                          <a:solidFill>
                            <a:srgbClr val="E97132"/>
                          </a:solidFill>
                          <a:latin typeface="Arial"/>
                        </a:rPr>
                        <a:t>Random Forest</a:t>
                      </a:r>
                    </a:p>
                  </a:txBody>
                  <a:tcPr anchor="ctr" marL="45720" marR="45720" marT="9144" marB="9144">
                    <a:noFill/>
                  </a:tcPr>
                </a:tc>
                <a:tc>
                  <a:txBody>
                    <a:bodyPr wrap="square"/>
                    <a:lstStyle/>
                    <a:p>
                      <a:pPr algn="l">
                        <a:lnSpc>
                          <a:spcPct val="100000"/>
                        </a:lnSpc>
                      </a:pPr>
                      <a:r>
                        <a:rPr b="0" sz="950">
                          <a:solidFill>
                            <a:srgbClr val="0E2841"/>
                          </a:solidFill>
                          <a:latin typeface="Arial"/>
                        </a:rPr>
                        <a:t>horizon / random_state</a:t>
                      </a:r>
                    </a:p>
                  </a:txBody>
                  <a:tcPr anchor="ctr" marL="45720" marR="45720" marT="9144" marB="9144">
                    <a:noFill/>
                  </a:tcPr>
                </a:tc>
                <a:tc>
                  <a:txBody>
                    <a:bodyPr wrap="square"/>
                    <a:lstStyle/>
                    <a:p>
                      <a:pPr algn="ctr">
                        <a:lnSpc>
                          <a:spcPct val="100000"/>
                        </a:lnSpc>
                      </a:pPr>
                      <a:r>
                        <a:rPr b="0" sz="950">
                          <a:solidFill>
                            <a:srgbClr val="5A5A5A"/>
                          </a:solidFill>
                          <a:latin typeface="Arial"/>
                        </a:rPr>
                        <a:t>6 months / 42</a:t>
                      </a:r>
                    </a:p>
                  </a:txBody>
                  <a:tcPr anchor="ctr" marL="45720" marR="45720" marT="9144" marB="9144">
                    <a:noFill/>
                  </a:tcPr>
                </a:tc>
                <a:tc>
                  <a:txBody>
                    <a:bodyPr wrap="square"/>
                    <a:lstStyle/>
                    <a:p>
                      <a:pPr algn="ctr">
                        <a:lnSpc>
                          <a:spcPct val="100000"/>
                        </a:lnSpc>
                      </a:pPr>
                      <a:r>
                        <a:rPr b="1" sz="950">
                          <a:solidFill>
                            <a:srgbClr val="0E2841"/>
                          </a:solidFill>
                          <a:latin typeface="Arial"/>
                        </a:rPr>
                        <a:t>fixed</a:t>
                      </a:r>
                    </a:p>
                  </a:txBody>
                  <a:tcPr anchor="ctr" marL="45720" marR="45720" marT="9144" marB="9144">
                    <a:noFill/>
                  </a:tcPr>
                </a:tc>
              </a:tr>
            </a:tbl>
          </a:graphicData>
        </a:graphic>
      </p:graphicFrame>
      <p:sp>
        <p:nvSpPr>
          <p:cNvPr id="5" name="TextBox 4"/>
          <p:cNvSpPr txBox="1"/>
          <p:nvPr/>
        </p:nvSpPr>
        <p:spPr>
          <a:xfrm>
            <a:off x="640080" y="4617720"/>
            <a:ext cx="7863840" cy="274320"/>
          </a:xfrm>
          <a:prstGeom prst="rect">
            <a:avLst/>
          </a:prstGeom>
          <a:noFill/>
        </p:spPr>
        <p:txBody>
          <a:bodyPr wrap="square" anchor="t" lIns="36576" rIns="36576" tIns="18288" bIns="18288">
            <a:spAutoFit/>
          </a:bodyPr>
          <a:lstStyle/>
          <a:p>
            <a:pPr algn="ctr">
              <a:lnSpc>
                <a:spcPct val="104000"/>
              </a:lnSpc>
              <a:spcBef>
                <a:spcPts val="0"/>
              </a:spcBef>
              <a:spcAft>
                <a:spcPts val="0"/>
              </a:spcAft>
              <a:buNone/>
            </a:pPr>
            <a:r>
              <a:rPr b="0" sz="850">
                <a:solidFill>
                  <a:srgbClr val="5A5A5A"/>
                </a:solidFill>
                <a:latin typeface="Arial"/>
              </a:rPr>
              <a:t>Grid rows are searched, fixed rows held constant.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RQ2  ·  Aggregate metrics at each model's optimum</a:t>
            </a:r>
          </a:p>
        </p:txBody>
      </p:sp>
      <p:sp>
        <p:nvSpPr>
          <p:cNvPr id="3" name="TextBox 2"/>
          <p:cNvSpPr txBox="1"/>
          <p:nvPr/>
        </p:nvSpPr>
        <p:spPr>
          <a:xfrm>
            <a:off x="502920" y="1371600"/>
            <a:ext cx="8138160" cy="137160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0" sz="1300">
                <a:solidFill>
                  <a:srgbClr val="0E2841"/>
                </a:solidFill>
                <a:latin typeface="Arial"/>
              </a:rPr>
              <a:t>Per-band audit method: average per-customer PC@10 over all (customer, split) pairs, then divide by π(b) for lift</a:t>
            </a:r>
          </a:p>
          <a:p>
            <a:pPr algn="l" marL="228600" indent="-228600">
              <a:lnSpc>
                <a:spcPct val="104000"/>
              </a:lnSpc>
              <a:spcBef>
                <a:spcPts val="400"/>
              </a:spcBef>
              <a:spcAft>
                <a:spcPts val="200"/>
              </a:spcAft>
              <a:buClr>
                <a:srgbClr val="156082"/>
              </a:buClr>
              <a:buFont typeface="Arial"/>
              <a:buChar char="▪"/>
            </a:pPr>
            <a:r>
              <a:rPr b="1" sz="1300">
                <a:solidFill>
                  <a:srgbClr val="0F9ED5"/>
                </a:solidFill>
                <a:latin typeface="Arial"/>
              </a:rPr>
              <a:t>LightGCN</a:t>
            </a:r>
            <a:r>
              <a:rPr b="0" sz="1300">
                <a:solidFill>
                  <a:srgbClr val="0E2841"/>
                </a:solidFill>
                <a:latin typeface="Arial"/>
              </a:rPr>
              <a:t> wins ranking, </a:t>
            </a:r>
            <a:r>
              <a:rPr b="1" sz="1300">
                <a:solidFill>
                  <a:srgbClr val="E97132"/>
                </a:solidFill>
                <a:latin typeface="Arial"/>
              </a:rPr>
              <a:t>Random Forest</a:t>
            </a:r>
            <a:r>
              <a:rPr b="0" sz="1300">
                <a:solidFill>
                  <a:srgbClr val="0E2841"/>
                </a:solidFill>
                <a:latin typeface="Arial"/>
              </a:rPr>
              <a:t> wins ROI, and aggregate PC@10 looks adequate for both</a:t>
            </a:r>
          </a:p>
        </p:txBody>
      </p:sp>
      <p:graphicFrame>
        <p:nvGraphicFramePr>
          <p:cNvPr id="4" name="Table 3"/>
          <p:cNvGraphicFramePr>
            <a:graphicFrameLocks noGrp="1"/>
          </p:cNvGraphicFramePr>
          <p:nvPr/>
        </p:nvGraphicFramePr>
        <p:xfrm>
          <a:off x="640080" y="2834640"/>
          <a:ext cx="7863840" cy="1152144"/>
        </p:xfrm>
        <a:graphic>
          <a:graphicData uri="http://schemas.openxmlformats.org/drawingml/2006/table">
            <a:tbl>
              <a:tblPr firstRow="0" bandRow="0">
                <a:tableStyleId>{5C22544A-7EE6-4342-B048-85BDC9FD1C3A}</a:tableStyleId>
              </a:tblPr>
              <a:tblGrid>
                <a:gridCol w="1737360"/>
                <a:gridCol w="1225296"/>
                <a:gridCol w="1225296"/>
                <a:gridCol w="1225296"/>
                <a:gridCol w="1225296"/>
                <a:gridCol w="1225296"/>
              </a:tblGrid>
              <a:tr h="384048">
                <a:tc>
                  <a:txBody>
                    <a:bodyPr wrap="square"/>
                    <a:lstStyle/>
                    <a:p>
                      <a:pPr algn="l">
                        <a:lnSpc>
                          <a:spcPct val="100000"/>
                        </a:lnSpc>
                      </a:pPr>
                      <a:r>
                        <a:rPr b="1" sz="1100">
                          <a:solidFill>
                            <a:srgbClr val="FFFFFF"/>
                          </a:solidFill>
                          <a:latin typeface="Arial"/>
                        </a:rPr>
                        <a:t>Model</a:t>
                      </a:r>
                    </a:p>
                  </a:txBody>
                  <a:tcPr anchor="ctr" marL="45720" marR="45720" marT="9144" marB="9144">
                    <a:solidFill>
                      <a:srgbClr val="0E2841"/>
                    </a:solidFill>
                  </a:tcPr>
                </a:tc>
                <a:tc>
                  <a:txBody>
                    <a:bodyPr wrap="square"/>
                    <a:lstStyle/>
                    <a:p>
                      <a:pPr algn="ctr">
                        <a:lnSpc>
                          <a:spcPct val="100000"/>
                        </a:lnSpc>
                      </a:pPr>
                      <a:r>
                        <a:rPr b="1" sz="1100">
                          <a:solidFill>
                            <a:srgbClr val="FFFFFF"/>
                          </a:solidFill>
                          <a:latin typeface="Arial"/>
                        </a:rPr>
                        <a:t>nDCG@10</a:t>
                      </a:r>
                    </a:p>
                  </a:txBody>
                  <a:tcPr anchor="ctr" marL="45720" marR="45720" marT="9144" marB="9144">
                    <a:solidFill>
                      <a:srgbClr val="0E2841"/>
                    </a:solidFill>
                  </a:tcPr>
                </a:tc>
                <a:tc>
                  <a:txBody>
                    <a:bodyPr wrap="square"/>
                    <a:lstStyle/>
                    <a:p>
                      <a:pPr algn="ctr">
                        <a:lnSpc>
                          <a:spcPct val="100000"/>
                        </a:lnSpc>
                      </a:pPr>
                      <a:r>
                        <a:rPr b="1" sz="1100">
                          <a:solidFill>
                            <a:srgbClr val="FFFFFF"/>
                          </a:solidFill>
                          <a:latin typeface="Arial"/>
                        </a:rPr>
                        <a:t>Recall@10</a:t>
                      </a:r>
                    </a:p>
                  </a:txBody>
                  <a:tcPr anchor="ctr" marL="45720" marR="45720" marT="9144" marB="9144">
                    <a:solidFill>
                      <a:srgbClr val="0E2841"/>
                    </a:solidFill>
                  </a:tcPr>
                </a:tc>
                <a:tc>
                  <a:txBody>
                    <a:bodyPr wrap="square"/>
                    <a:lstStyle/>
                    <a:p>
                      <a:pPr algn="ctr">
                        <a:lnSpc>
                          <a:spcPct val="100000"/>
                        </a:lnSpc>
                      </a:pPr>
                      <a:r>
                        <a:rPr b="1" sz="1100">
                          <a:solidFill>
                            <a:srgbClr val="FFFFFF"/>
                          </a:solidFill>
                          <a:latin typeface="Arial"/>
                        </a:rPr>
                        <a:t>ROI@10</a:t>
                      </a:r>
                    </a:p>
                  </a:txBody>
                  <a:tcPr anchor="ctr" marL="45720" marR="45720" marT="9144" marB="9144">
                    <a:solidFill>
                      <a:srgbClr val="0E2841"/>
                    </a:solidFill>
                  </a:tcPr>
                </a:tc>
                <a:tc>
                  <a:txBody>
                    <a:bodyPr wrap="square"/>
                    <a:lstStyle/>
                    <a:p>
                      <a:pPr algn="ctr">
                        <a:lnSpc>
                          <a:spcPct val="100000"/>
                        </a:lnSpc>
                      </a:pPr>
                      <a:r>
                        <a:rPr b="1" sz="1100">
                          <a:solidFill>
                            <a:srgbClr val="FFFFFF"/>
                          </a:solidFill>
                          <a:latin typeface="Arial"/>
                        </a:rPr>
                        <a:t>PC@10</a:t>
                      </a:r>
                    </a:p>
                  </a:txBody>
                  <a:tcPr anchor="ctr" marL="45720" marR="45720" marT="9144" marB="9144">
                    <a:solidFill>
                      <a:srgbClr val="0E2841"/>
                    </a:solidFill>
                  </a:tcPr>
                </a:tc>
                <a:tc>
                  <a:txBody>
                    <a:bodyPr wrap="square"/>
                    <a:lstStyle/>
                    <a:p>
                      <a:pPr algn="ctr">
                        <a:lnSpc>
                          <a:spcPct val="100000"/>
                        </a:lnSpc>
                      </a:pPr>
                      <a:r>
                        <a:rPr b="1" sz="1100">
                          <a:solidFill>
                            <a:srgbClr val="FFFFFF"/>
                          </a:solidFill>
                          <a:latin typeface="Arial"/>
                        </a:rPr>
                        <a:t>PC-lift@10</a:t>
                      </a:r>
                    </a:p>
                  </a:txBody>
                  <a:tcPr anchor="ctr" marL="45720" marR="45720" marT="9144" marB="9144">
                    <a:solidFill>
                      <a:srgbClr val="0E2841"/>
                    </a:solidFill>
                  </a:tcPr>
                </a:tc>
              </a:tr>
              <a:tr h="384048">
                <a:tc>
                  <a:txBody>
                    <a:bodyPr wrap="square"/>
                    <a:lstStyle/>
                    <a:p>
                      <a:pPr algn="l">
                        <a:lnSpc>
                          <a:spcPct val="100000"/>
                        </a:lnSpc>
                      </a:pPr>
                      <a:r>
                        <a:rPr b="1" sz="1100">
                          <a:solidFill>
                            <a:srgbClr val="0F9ED5"/>
                          </a:solidFill>
                          <a:latin typeface="Arial"/>
                        </a:rPr>
                        <a:t>LightGCN</a:t>
                      </a:r>
                    </a:p>
                  </a:txBody>
                  <a:tcPr anchor="ctr" marL="45720" marR="45720" marT="9144" marB="9144">
                    <a:noFill/>
                  </a:tcPr>
                </a:tc>
                <a:tc>
                  <a:txBody>
                    <a:bodyPr wrap="square"/>
                    <a:lstStyle/>
                    <a:p>
                      <a:pPr algn="ctr">
                        <a:lnSpc>
                          <a:spcPct val="100000"/>
                        </a:lnSpc>
                      </a:pPr>
                      <a:r>
                        <a:rPr b="0" sz="1100">
                          <a:solidFill>
                            <a:srgbClr val="0E2841"/>
                          </a:solidFill>
                          <a:latin typeface="Arial"/>
                        </a:rPr>
                        <a:t>0.330</a:t>
                      </a:r>
                    </a:p>
                  </a:txBody>
                  <a:tcPr anchor="ctr" marL="45720" marR="45720" marT="9144" marB="9144">
                    <a:noFill/>
                  </a:tcPr>
                </a:tc>
                <a:tc>
                  <a:txBody>
                    <a:bodyPr wrap="square"/>
                    <a:lstStyle/>
                    <a:p>
                      <a:pPr algn="ctr">
                        <a:lnSpc>
                          <a:spcPct val="100000"/>
                        </a:lnSpc>
                      </a:pPr>
                      <a:r>
                        <a:rPr b="0" sz="1100">
                          <a:solidFill>
                            <a:srgbClr val="0E2841"/>
                          </a:solidFill>
                          <a:latin typeface="Arial"/>
                        </a:rPr>
                        <a:t>0.495</a:t>
                      </a:r>
                    </a:p>
                  </a:txBody>
                  <a:tcPr anchor="ctr" marL="45720" marR="45720" marT="9144" marB="9144">
                    <a:noFill/>
                  </a:tcPr>
                </a:tc>
                <a:tc>
                  <a:txBody>
                    <a:bodyPr wrap="square"/>
                    <a:lstStyle/>
                    <a:p>
                      <a:pPr algn="ctr">
                        <a:lnSpc>
                          <a:spcPct val="100000"/>
                        </a:lnSpc>
                      </a:pPr>
                      <a:r>
                        <a:rPr b="0" sz="1100">
                          <a:solidFill>
                            <a:srgbClr val="0E2841"/>
                          </a:solidFill>
                          <a:latin typeface="Arial"/>
                        </a:rPr>
                        <a:t>-0.005</a:t>
                      </a:r>
                    </a:p>
                  </a:txBody>
                  <a:tcPr anchor="ctr" marL="45720" marR="45720" marT="9144" marB="9144">
                    <a:noFill/>
                  </a:tcPr>
                </a:tc>
                <a:tc>
                  <a:txBody>
                    <a:bodyPr wrap="square"/>
                    <a:lstStyle/>
                    <a:p>
                      <a:pPr algn="ctr">
                        <a:lnSpc>
                          <a:spcPct val="100000"/>
                        </a:lnSpc>
                      </a:pPr>
                      <a:r>
                        <a:rPr b="0" sz="1100">
                          <a:solidFill>
                            <a:srgbClr val="0E2841"/>
                          </a:solidFill>
                          <a:latin typeface="Arial"/>
                        </a:rPr>
                        <a:t>0.794</a:t>
                      </a:r>
                    </a:p>
                  </a:txBody>
                  <a:tcPr anchor="ctr" marL="45720" marR="45720" marT="9144" marB="9144">
                    <a:noFill/>
                  </a:tcPr>
                </a:tc>
                <a:tc>
                  <a:txBody>
                    <a:bodyPr wrap="square"/>
                    <a:lstStyle/>
                    <a:p>
                      <a:pPr algn="ctr">
                        <a:lnSpc>
                          <a:spcPct val="100000"/>
                        </a:lnSpc>
                      </a:pPr>
                      <a:r>
                        <a:rPr b="1" sz="1100">
                          <a:solidFill>
                            <a:srgbClr val="0E2841"/>
                          </a:solidFill>
                          <a:latin typeface="Arial"/>
                        </a:rPr>
                        <a:t>1.17×</a:t>
                      </a:r>
                    </a:p>
                  </a:txBody>
                  <a:tcPr anchor="ctr" marL="45720" marR="45720" marT="9144" marB="9144">
                    <a:noFill/>
                  </a:tcPr>
                </a:tc>
              </a:tr>
              <a:tr h="384048">
                <a:tc>
                  <a:txBody>
                    <a:bodyPr wrap="square"/>
                    <a:lstStyle/>
                    <a:p>
                      <a:pPr algn="l">
                        <a:lnSpc>
                          <a:spcPct val="100000"/>
                        </a:lnSpc>
                      </a:pPr>
                      <a:r>
                        <a:rPr b="1" sz="1100">
                          <a:solidFill>
                            <a:srgbClr val="E97132"/>
                          </a:solidFill>
                          <a:latin typeface="Arial"/>
                        </a:rPr>
                        <a:t>Random Forest</a:t>
                      </a:r>
                    </a:p>
                  </a:txBody>
                  <a:tcPr anchor="ctr" marL="45720" marR="45720" marT="9144" marB="9144">
                    <a:noFill/>
                  </a:tcPr>
                </a:tc>
                <a:tc>
                  <a:txBody>
                    <a:bodyPr wrap="square"/>
                    <a:lstStyle/>
                    <a:p>
                      <a:pPr algn="ctr">
                        <a:lnSpc>
                          <a:spcPct val="100000"/>
                        </a:lnSpc>
                      </a:pPr>
                      <a:r>
                        <a:rPr b="0" sz="1100">
                          <a:solidFill>
                            <a:srgbClr val="0E2841"/>
                          </a:solidFill>
                          <a:latin typeface="Arial"/>
                        </a:rPr>
                        <a:t>0.019</a:t>
                      </a:r>
                    </a:p>
                  </a:txBody>
                  <a:tcPr anchor="ctr" marL="45720" marR="45720" marT="9144" marB="9144">
                    <a:noFill/>
                  </a:tcPr>
                </a:tc>
                <a:tc>
                  <a:txBody>
                    <a:bodyPr wrap="square"/>
                    <a:lstStyle/>
                    <a:p>
                      <a:pPr algn="ctr">
                        <a:lnSpc>
                          <a:spcPct val="100000"/>
                        </a:lnSpc>
                      </a:pPr>
                      <a:r>
                        <a:rPr b="0" sz="1100">
                          <a:solidFill>
                            <a:srgbClr val="0E2841"/>
                          </a:solidFill>
                          <a:latin typeface="Arial"/>
                        </a:rPr>
                        <a:t>0.036</a:t>
                      </a:r>
                    </a:p>
                  </a:txBody>
                  <a:tcPr anchor="ctr" marL="45720" marR="45720" marT="9144" marB="9144">
                    <a:noFill/>
                  </a:tcPr>
                </a:tc>
                <a:tc>
                  <a:txBody>
                    <a:bodyPr wrap="square"/>
                    <a:lstStyle/>
                    <a:p>
                      <a:pPr algn="ctr">
                        <a:lnSpc>
                          <a:spcPct val="100000"/>
                        </a:lnSpc>
                      </a:pPr>
                      <a:r>
                        <a:rPr b="0" sz="1100">
                          <a:solidFill>
                            <a:srgbClr val="0E2841"/>
                          </a:solidFill>
                          <a:latin typeface="Arial"/>
                        </a:rPr>
                        <a:t>+0.014</a:t>
                      </a:r>
                    </a:p>
                  </a:txBody>
                  <a:tcPr anchor="ctr" marL="45720" marR="45720" marT="9144" marB="9144">
                    <a:noFill/>
                  </a:tcPr>
                </a:tc>
                <a:tc>
                  <a:txBody>
                    <a:bodyPr wrap="square"/>
                    <a:lstStyle/>
                    <a:p>
                      <a:pPr algn="ctr">
                        <a:lnSpc>
                          <a:spcPct val="100000"/>
                        </a:lnSpc>
                      </a:pPr>
                      <a:r>
                        <a:rPr b="0" sz="1100">
                          <a:solidFill>
                            <a:srgbClr val="0E2841"/>
                          </a:solidFill>
                          <a:latin typeface="Arial"/>
                        </a:rPr>
                        <a:t>0.667</a:t>
                      </a:r>
                    </a:p>
                  </a:txBody>
                  <a:tcPr anchor="ctr" marL="45720" marR="45720" marT="9144" marB="9144">
                    <a:noFill/>
                  </a:tcPr>
                </a:tc>
                <a:tc>
                  <a:txBody>
                    <a:bodyPr wrap="square"/>
                    <a:lstStyle/>
                    <a:p>
                      <a:pPr algn="ctr">
                        <a:lnSpc>
                          <a:spcPct val="100000"/>
                        </a:lnSpc>
                      </a:pPr>
                      <a:r>
                        <a:rPr b="1" sz="1100">
                          <a:solidFill>
                            <a:srgbClr val="0E2841"/>
                          </a:solidFill>
                          <a:latin typeface="Arial"/>
                        </a:rPr>
                        <a:t>1.06×</a:t>
                      </a:r>
                    </a:p>
                  </a:txBody>
                  <a:tcPr anchor="ctr" marL="45720" marR="45720" marT="9144" marB="9144">
                    <a:noFill/>
                  </a:tcPr>
                </a:tc>
              </a:tr>
            </a:tbl>
          </a:graphicData>
        </a:graphic>
      </p:graphicFrame>
      <p:sp>
        <p:nvSpPr>
          <p:cNvPr id="5" name="TextBox 4"/>
          <p:cNvSpPr txBox="1"/>
          <p:nvPr/>
        </p:nvSpPr>
        <p:spPr>
          <a:xfrm>
            <a:off x="640080" y="4041648"/>
            <a:ext cx="7863840" cy="274320"/>
          </a:xfrm>
          <a:prstGeom prst="rect">
            <a:avLst/>
          </a:prstGeom>
          <a:noFill/>
        </p:spPr>
        <p:txBody>
          <a:bodyPr wrap="square" anchor="t" lIns="36576" rIns="36576" tIns="18288" bIns="18288">
            <a:spAutoFit/>
          </a:bodyPr>
          <a:lstStyle/>
          <a:p>
            <a:pPr algn="ctr">
              <a:lnSpc>
                <a:spcPct val="104000"/>
              </a:lnSpc>
              <a:spcBef>
                <a:spcPts val="0"/>
              </a:spcBef>
              <a:spcAft>
                <a:spcPts val="0"/>
              </a:spcAft>
              <a:buNone/>
            </a:pPr>
            <a:r>
              <a:rPr b="0" sz="850">
                <a:solidFill>
                  <a:srgbClr val="5A5A5A"/>
                </a:solidFill>
                <a:latin typeface="Arial"/>
              </a:rPr>
              <a:t>Aggregate over 69 splits. ROI@10 is per-month. PC-lift@10 = PC@10 / π(b).</a:t>
            </a:r>
          </a:p>
        </p:txBody>
      </p:sp>
      <p:sp>
        <p:nvSpPr>
          <p:cNvPr id="6" name="Rounded Rectangle 5"/>
          <p:cNvSpPr/>
          <p:nvPr/>
        </p:nvSpPr>
        <p:spPr>
          <a:xfrm>
            <a:off x="640080" y="4224528"/>
            <a:ext cx="7863840" cy="438912"/>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1" sz="1200">
                <a:solidFill>
                  <a:srgbClr val="FFFFFF"/>
                </a:solidFill>
                <a:latin typeface="Arial"/>
              </a:rPr>
              <a:t>But one aggregate number averages over bands whose π(b) ranges from 0.35 to 0.78.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RQ2  ·  Aggregate hides a per-band deficit</a:t>
            </a:r>
          </a:p>
        </p:txBody>
      </p:sp>
      <p:sp>
        <p:nvSpPr>
          <p:cNvPr id="3" name="TextBox 2"/>
          <p:cNvSpPr txBox="1"/>
          <p:nvPr/>
        </p:nvSpPr>
        <p:spPr>
          <a:xfrm>
            <a:off x="502920" y="1417320"/>
            <a:ext cx="2880360" cy="310896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0" sz="1300">
                <a:solidFill>
                  <a:srgbClr val="0E2841"/>
                </a:solidFill>
                <a:latin typeface="Arial"/>
              </a:rPr>
              <a:t>Aggregate PC@10 looks adequate: </a:t>
            </a:r>
            <a:r>
              <a:rPr b="1" sz="1300">
                <a:solidFill>
                  <a:srgbClr val="0E2841"/>
                </a:solidFill>
                <a:latin typeface="Arial"/>
              </a:rPr>
              <a:t>LightGCN 1.17×, RF 1.06×</a:t>
            </a:r>
          </a:p>
          <a:p>
            <a:pPr algn="l" marL="228600" indent="-228600">
              <a:lnSpc>
                <a:spcPct val="104000"/>
              </a:lnSpc>
              <a:spcBef>
                <a:spcPts val="400"/>
              </a:spcBef>
              <a:spcAft>
                <a:spcPts val="200"/>
              </a:spcAft>
              <a:buClr>
                <a:srgbClr val="156082"/>
              </a:buClr>
              <a:buFont typeface="Arial"/>
              <a:buChar char="▪"/>
            </a:pPr>
            <a:r>
              <a:rPr b="0" sz="1300">
                <a:solidFill>
                  <a:srgbClr val="0E2841"/>
                </a:solidFill>
                <a:latin typeface="Arial"/>
              </a:rPr>
              <a:t>Per band, both skew to higher-risk assets and </a:t>
            </a:r>
            <a:r>
              <a:rPr b="1" sz="1300">
                <a:solidFill>
                  <a:srgbClr val="C0392B"/>
                </a:solidFill>
                <a:latin typeface="Arial"/>
              </a:rPr>
              <a:t>under-serve the low bands</a:t>
            </a:r>
          </a:p>
          <a:p>
            <a:pPr algn="l" marL="228600" indent="-228600">
              <a:lnSpc>
                <a:spcPct val="104000"/>
              </a:lnSpc>
              <a:spcBef>
                <a:spcPts val="400"/>
              </a:spcBef>
              <a:spcAft>
                <a:spcPts val="200"/>
              </a:spcAft>
              <a:buClr>
                <a:srgbClr val="156082"/>
              </a:buClr>
              <a:buFont typeface="Arial"/>
              <a:buChar char="▪"/>
            </a:pPr>
            <a:r>
              <a:rPr b="0" sz="1300">
                <a:solidFill>
                  <a:srgbClr val="0E2841"/>
                </a:solidFill>
                <a:latin typeface="Arial"/>
              </a:rPr>
              <a:t>Lift rises monotonically with the band: coherence is a passive byproduct, not a controlled output</a:t>
            </a:r>
          </a:p>
          <a:p>
            <a:pPr algn="l" marL="228600" indent="-228600">
              <a:lnSpc>
                <a:spcPct val="104000"/>
              </a:lnSpc>
              <a:spcBef>
                <a:spcPts val="400"/>
              </a:spcBef>
              <a:spcAft>
                <a:spcPts val="200"/>
              </a:spcAft>
              <a:buClr>
                <a:srgbClr val="156082"/>
              </a:buClr>
              <a:buFont typeface="Arial"/>
              <a:buChar char="▪"/>
            </a:pPr>
            <a:r>
              <a:rPr b="0" sz="1250">
                <a:solidFill>
                  <a:srgbClr val="0E2841"/>
                </a:solidFill>
                <a:latin typeface="Arial"/>
              </a:rPr>
              <a:t>Aggressive clears easily because π = 0.35 is the lowest bar</a:t>
            </a:r>
          </a:p>
        </p:txBody>
      </p:sp>
      <p:graphicFrame>
        <p:nvGraphicFramePr>
          <p:cNvPr id="4" name="Table 3"/>
          <p:cNvGraphicFramePr>
            <a:graphicFrameLocks noGrp="1"/>
          </p:cNvGraphicFramePr>
          <p:nvPr/>
        </p:nvGraphicFramePr>
        <p:xfrm>
          <a:off x="3611880" y="1417320"/>
          <a:ext cx="5029200" cy="2921508"/>
        </p:xfrm>
        <a:graphic>
          <a:graphicData uri="http://schemas.openxmlformats.org/drawingml/2006/table">
            <a:tbl>
              <a:tblPr firstRow="0" bandRow="0">
                <a:tableStyleId>{5C22544A-7EE6-4342-B048-85BDC9FD1C3A}</a:tableStyleId>
              </a:tblPr>
              <a:tblGrid>
                <a:gridCol w="1234440"/>
                <a:gridCol w="1417320"/>
                <a:gridCol w="777240"/>
                <a:gridCol w="822960"/>
                <a:gridCol w="777240"/>
              </a:tblGrid>
              <a:tr h="324612">
                <a:tc>
                  <a:txBody>
                    <a:bodyPr wrap="square"/>
                    <a:lstStyle/>
                    <a:p>
                      <a:pPr algn="l">
                        <a:lnSpc>
                          <a:spcPct val="100000"/>
                        </a:lnSpc>
                      </a:pPr>
                      <a:r>
                        <a:rPr b="1" sz="1000">
                          <a:solidFill>
                            <a:srgbClr val="FFFFFF"/>
                          </a:solidFill>
                          <a:latin typeface="Arial"/>
                        </a:rPr>
                        <a:t>Model</a:t>
                      </a:r>
                    </a:p>
                  </a:txBody>
                  <a:tcPr anchor="ctr" marL="45720" marR="45720" marT="9144" marB="9144">
                    <a:solidFill>
                      <a:srgbClr val="0E2841"/>
                    </a:solidFill>
                  </a:tcPr>
                </a:tc>
                <a:tc>
                  <a:txBody>
                    <a:bodyPr wrap="square"/>
                    <a:lstStyle/>
                    <a:p>
                      <a:pPr algn="l">
                        <a:lnSpc>
                          <a:spcPct val="100000"/>
                        </a:lnSpc>
                      </a:pPr>
                      <a:r>
                        <a:rPr b="1" sz="1000">
                          <a:solidFill>
                            <a:srgbClr val="FFFFFF"/>
                          </a:solidFill>
                          <a:latin typeface="Arial"/>
                        </a:rPr>
                        <a:t>Band</a:t>
                      </a:r>
                    </a:p>
                  </a:txBody>
                  <a:tcPr anchor="ctr" marL="45720" marR="45720" marT="9144" marB="9144">
                    <a:solidFill>
                      <a:srgbClr val="0E2841"/>
                    </a:solidFill>
                  </a:tcPr>
                </a:tc>
                <a:tc>
                  <a:txBody>
                    <a:bodyPr wrap="square"/>
                    <a:lstStyle/>
                    <a:p>
                      <a:pPr algn="ctr">
                        <a:lnSpc>
                          <a:spcPct val="100000"/>
                        </a:lnSpc>
                      </a:pPr>
                      <a:r>
                        <a:rPr b="1" sz="1000">
                          <a:solidFill>
                            <a:srgbClr val="FFFFFF"/>
                          </a:solidFill>
                          <a:latin typeface="Arial"/>
                        </a:rPr>
                        <a:t>π(b)</a:t>
                      </a:r>
                    </a:p>
                  </a:txBody>
                  <a:tcPr anchor="ctr" marL="45720" marR="45720" marT="9144" marB="9144">
                    <a:solidFill>
                      <a:srgbClr val="0E2841"/>
                    </a:solidFill>
                  </a:tcPr>
                </a:tc>
                <a:tc>
                  <a:txBody>
                    <a:bodyPr wrap="square"/>
                    <a:lstStyle/>
                    <a:p>
                      <a:pPr algn="ctr">
                        <a:lnSpc>
                          <a:spcPct val="100000"/>
                        </a:lnSpc>
                      </a:pPr>
                      <a:r>
                        <a:rPr b="1" sz="1000">
                          <a:solidFill>
                            <a:srgbClr val="FFFFFF"/>
                          </a:solidFill>
                          <a:latin typeface="Arial"/>
                        </a:rPr>
                        <a:t>PC@10</a:t>
                      </a:r>
                    </a:p>
                  </a:txBody>
                  <a:tcPr anchor="ctr" marL="45720" marR="45720" marT="9144" marB="9144">
                    <a:solidFill>
                      <a:srgbClr val="0E2841"/>
                    </a:solidFill>
                  </a:tcPr>
                </a:tc>
                <a:tc>
                  <a:txBody>
                    <a:bodyPr wrap="square"/>
                    <a:lstStyle/>
                    <a:p>
                      <a:pPr algn="ctr">
                        <a:lnSpc>
                          <a:spcPct val="100000"/>
                        </a:lnSpc>
                      </a:pPr>
                      <a:r>
                        <a:rPr b="1" sz="1000">
                          <a:solidFill>
                            <a:srgbClr val="FFFFFF"/>
                          </a:solidFill>
                          <a:latin typeface="Arial"/>
                        </a:rPr>
                        <a:t>lift</a:t>
                      </a:r>
                    </a:p>
                  </a:txBody>
                  <a:tcPr anchor="ctr" marL="45720" marR="45720" marT="9144" marB="9144">
                    <a:solidFill>
                      <a:srgbClr val="0E2841"/>
                    </a:solidFill>
                  </a:tcPr>
                </a:tc>
              </a:tr>
              <a:tr h="324612">
                <a:tc>
                  <a:txBody>
                    <a:bodyPr wrap="square"/>
                    <a:lstStyle/>
                    <a:p>
                      <a:pPr algn="l">
                        <a:lnSpc>
                          <a:spcPct val="100000"/>
                        </a:lnSpc>
                      </a:pPr>
                      <a:r>
                        <a:rPr b="1" sz="950">
                          <a:solidFill>
                            <a:srgbClr val="E97132"/>
                          </a:solidFill>
                          <a:latin typeface="Arial"/>
                        </a:rPr>
                        <a:t>RF</a:t>
                      </a:r>
                    </a:p>
                  </a:txBody>
                  <a:tcPr anchor="ctr" marL="45720" marR="45720" marT="9144" marB="9144">
                    <a:noFill/>
                  </a:tcPr>
                </a:tc>
                <a:tc>
                  <a:txBody>
                    <a:bodyPr wrap="square"/>
                    <a:lstStyle/>
                    <a:p>
                      <a:pPr algn="l">
                        <a:lnSpc>
                          <a:spcPct val="100000"/>
                        </a:lnSpc>
                      </a:pPr>
                      <a:r>
                        <a:rPr b="0" sz="950">
                          <a:solidFill>
                            <a:srgbClr val="0E2841"/>
                          </a:solidFill>
                          <a:latin typeface="Arial"/>
                        </a:rPr>
                        <a:t>Conservative</a:t>
                      </a:r>
                    </a:p>
                  </a:txBody>
                  <a:tcPr anchor="ctr" marL="45720" marR="45720" marT="9144" marB="9144">
                    <a:noFill/>
                  </a:tcPr>
                </a:tc>
                <a:tc>
                  <a:txBody>
                    <a:bodyPr wrap="square"/>
                    <a:lstStyle/>
                    <a:p>
                      <a:pPr algn="ctr">
                        <a:lnSpc>
                          <a:spcPct val="100000"/>
                        </a:lnSpc>
                      </a:pPr>
                      <a:r>
                        <a:rPr b="0" sz="950">
                          <a:solidFill>
                            <a:srgbClr val="5A5A5A"/>
                          </a:solidFill>
                          <a:latin typeface="Arial"/>
                        </a:rPr>
                        <a:t>0.65</a:t>
                      </a:r>
                    </a:p>
                  </a:txBody>
                  <a:tcPr anchor="ctr" marL="45720" marR="45720" marT="9144" marB="9144">
                    <a:noFill/>
                  </a:tcPr>
                </a:tc>
                <a:tc>
                  <a:txBody>
                    <a:bodyPr wrap="square"/>
                    <a:lstStyle/>
                    <a:p>
                      <a:pPr algn="ctr">
                        <a:lnSpc>
                          <a:spcPct val="100000"/>
                        </a:lnSpc>
                      </a:pPr>
                      <a:r>
                        <a:rPr b="0" sz="950">
                          <a:solidFill>
                            <a:srgbClr val="0E2841"/>
                          </a:solidFill>
                          <a:latin typeface="Arial"/>
                        </a:rPr>
                        <a:t>0.34</a:t>
                      </a:r>
                    </a:p>
                  </a:txBody>
                  <a:tcPr anchor="ctr" marL="45720" marR="45720" marT="9144" marB="9144">
                    <a:noFill/>
                  </a:tcPr>
                </a:tc>
                <a:tc>
                  <a:txBody>
                    <a:bodyPr wrap="square"/>
                    <a:lstStyle/>
                    <a:p>
                      <a:pPr algn="ctr">
                        <a:lnSpc>
                          <a:spcPct val="100000"/>
                        </a:lnSpc>
                      </a:pPr>
                      <a:r>
                        <a:rPr b="1" sz="950">
                          <a:solidFill>
                            <a:srgbClr val="C0392B"/>
                          </a:solidFill>
                          <a:latin typeface="Arial"/>
                        </a:rPr>
                        <a:t>0.52×</a:t>
                      </a:r>
                    </a:p>
                  </a:txBody>
                  <a:tcPr anchor="ctr" marL="45720" marR="45720" marT="9144" marB="9144">
                    <a:noFill/>
                  </a:tcPr>
                </a:tc>
              </a:tr>
              <a:tr h="324612">
                <a:tc>
                  <a:txBody>
                    <a:bodyPr wrap="square"/>
                    <a:lstStyle/>
                    <a:p>
                      <a:pPr algn="l">
                        <a:lnSpc>
                          <a:spcPct val="100000"/>
                        </a:lnSpc>
                      </a:pPr>
                      <a:r>
                        <a:rPr b="1" sz="950">
                          <a:solidFill>
                            <a:srgbClr val="E97132"/>
                          </a:solidFill>
                          <a:latin typeface="Arial"/>
                        </a:rPr>
                        <a:t>RF</a:t>
                      </a:r>
                    </a:p>
                  </a:txBody>
                  <a:tcPr anchor="ctr" marL="45720" marR="45720" marT="9144" marB="9144">
                    <a:noFill/>
                  </a:tcPr>
                </a:tc>
                <a:tc>
                  <a:txBody>
                    <a:bodyPr wrap="square"/>
                    <a:lstStyle/>
                    <a:p>
                      <a:pPr algn="l">
                        <a:lnSpc>
                          <a:spcPct val="100000"/>
                        </a:lnSpc>
                      </a:pPr>
                      <a:r>
                        <a:rPr b="0" sz="950">
                          <a:solidFill>
                            <a:srgbClr val="0E2841"/>
                          </a:solidFill>
                          <a:latin typeface="Arial"/>
                        </a:rPr>
                        <a:t>Income</a:t>
                      </a:r>
                    </a:p>
                  </a:txBody>
                  <a:tcPr anchor="ctr" marL="45720" marR="45720" marT="9144" marB="9144">
                    <a:noFill/>
                  </a:tcPr>
                </a:tc>
                <a:tc>
                  <a:txBody>
                    <a:bodyPr wrap="square"/>
                    <a:lstStyle/>
                    <a:p>
                      <a:pPr algn="ctr">
                        <a:lnSpc>
                          <a:spcPct val="100000"/>
                        </a:lnSpc>
                      </a:pPr>
                      <a:r>
                        <a:rPr b="0" sz="950">
                          <a:solidFill>
                            <a:srgbClr val="5A5A5A"/>
                          </a:solidFill>
                          <a:latin typeface="Arial"/>
                        </a:rPr>
                        <a:t>0.78</a:t>
                      </a:r>
                    </a:p>
                  </a:txBody>
                  <a:tcPr anchor="ctr" marL="45720" marR="45720" marT="9144" marB="9144">
                    <a:noFill/>
                  </a:tcPr>
                </a:tc>
                <a:tc>
                  <a:txBody>
                    <a:bodyPr wrap="square"/>
                    <a:lstStyle/>
                    <a:p>
                      <a:pPr algn="ctr">
                        <a:lnSpc>
                          <a:spcPct val="100000"/>
                        </a:lnSpc>
                      </a:pPr>
                      <a:r>
                        <a:rPr b="0" sz="950">
                          <a:solidFill>
                            <a:srgbClr val="0E2841"/>
                          </a:solidFill>
                          <a:latin typeface="Arial"/>
                        </a:rPr>
                        <a:t>0.54</a:t>
                      </a:r>
                    </a:p>
                  </a:txBody>
                  <a:tcPr anchor="ctr" marL="45720" marR="45720" marT="9144" marB="9144">
                    <a:noFill/>
                  </a:tcPr>
                </a:tc>
                <a:tc>
                  <a:txBody>
                    <a:bodyPr wrap="square"/>
                    <a:lstStyle/>
                    <a:p>
                      <a:pPr algn="ctr">
                        <a:lnSpc>
                          <a:spcPct val="100000"/>
                        </a:lnSpc>
                      </a:pPr>
                      <a:r>
                        <a:rPr b="1" sz="950">
                          <a:solidFill>
                            <a:srgbClr val="C0392B"/>
                          </a:solidFill>
                          <a:latin typeface="Arial"/>
                        </a:rPr>
                        <a:t>0.70×</a:t>
                      </a:r>
                    </a:p>
                  </a:txBody>
                  <a:tcPr anchor="ctr" marL="45720" marR="45720" marT="9144" marB="9144">
                    <a:noFill/>
                  </a:tcPr>
                </a:tc>
              </a:tr>
              <a:tr h="324612">
                <a:tc>
                  <a:txBody>
                    <a:bodyPr wrap="square"/>
                    <a:lstStyle/>
                    <a:p>
                      <a:pPr algn="l">
                        <a:lnSpc>
                          <a:spcPct val="100000"/>
                        </a:lnSpc>
                      </a:pPr>
                      <a:r>
                        <a:rPr b="1" sz="950">
                          <a:solidFill>
                            <a:srgbClr val="E97132"/>
                          </a:solidFill>
                          <a:latin typeface="Arial"/>
                        </a:rPr>
                        <a:t>RF</a:t>
                      </a:r>
                    </a:p>
                  </a:txBody>
                  <a:tcPr anchor="ctr" marL="45720" marR="45720" marT="9144" marB="9144">
                    <a:noFill/>
                  </a:tcPr>
                </a:tc>
                <a:tc>
                  <a:txBody>
                    <a:bodyPr wrap="square"/>
                    <a:lstStyle/>
                    <a:p>
                      <a:pPr algn="l">
                        <a:lnSpc>
                          <a:spcPct val="100000"/>
                        </a:lnSpc>
                      </a:pPr>
                      <a:r>
                        <a:rPr b="0" sz="950">
                          <a:solidFill>
                            <a:srgbClr val="0E2841"/>
                          </a:solidFill>
                          <a:latin typeface="Arial"/>
                        </a:rPr>
                        <a:t>Balanced</a:t>
                      </a:r>
                    </a:p>
                  </a:txBody>
                  <a:tcPr anchor="ctr" marL="45720" marR="45720" marT="9144" marB="9144">
                    <a:noFill/>
                  </a:tcPr>
                </a:tc>
                <a:tc>
                  <a:txBody>
                    <a:bodyPr wrap="square"/>
                    <a:lstStyle/>
                    <a:p>
                      <a:pPr algn="ctr">
                        <a:lnSpc>
                          <a:spcPct val="100000"/>
                        </a:lnSpc>
                      </a:pPr>
                      <a:r>
                        <a:rPr b="0" sz="950">
                          <a:solidFill>
                            <a:srgbClr val="5A5A5A"/>
                          </a:solidFill>
                          <a:latin typeface="Arial"/>
                        </a:rPr>
                        <a:t>0.76</a:t>
                      </a:r>
                    </a:p>
                  </a:txBody>
                  <a:tcPr anchor="ctr" marL="45720" marR="45720" marT="9144" marB="9144">
                    <a:noFill/>
                  </a:tcPr>
                </a:tc>
                <a:tc>
                  <a:txBody>
                    <a:bodyPr wrap="square"/>
                    <a:lstStyle/>
                    <a:p>
                      <a:pPr algn="ctr">
                        <a:lnSpc>
                          <a:spcPct val="100000"/>
                        </a:lnSpc>
                      </a:pPr>
                      <a:r>
                        <a:rPr b="0" sz="950">
                          <a:solidFill>
                            <a:srgbClr val="0E2841"/>
                          </a:solidFill>
                          <a:latin typeface="Arial"/>
                        </a:rPr>
                        <a:t>0.79</a:t>
                      </a:r>
                    </a:p>
                  </a:txBody>
                  <a:tcPr anchor="ctr" marL="45720" marR="45720" marT="9144" marB="9144">
                    <a:noFill/>
                  </a:tcPr>
                </a:tc>
                <a:tc>
                  <a:txBody>
                    <a:bodyPr wrap="square"/>
                    <a:lstStyle/>
                    <a:p>
                      <a:pPr algn="ctr">
                        <a:lnSpc>
                          <a:spcPct val="100000"/>
                        </a:lnSpc>
                      </a:pPr>
                      <a:r>
                        <a:rPr b="1" sz="950">
                          <a:solidFill>
                            <a:srgbClr val="0E2841"/>
                          </a:solidFill>
                          <a:latin typeface="Arial"/>
                        </a:rPr>
                        <a:t>1.03×</a:t>
                      </a:r>
                    </a:p>
                  </a:txBody>
                  <a:tcPr anchor="ctr" marL="45720" marR="45720" marT="9144" marB="9144">
                    <a:noFill/>
                  </a:tcPr>
                </a:tc>
              </a:tr>
              <a:tr h="324612">
                <a:tc>
                  <a:txBody>
                    <a:bodyPr wrap="square"/>
                    <a:lstStyle/>
                    <a:p>
                      <a:pPr algn="l">
                        <a:lnSpc>
                          <a:spcPct val="100000"/>
                        </a:lnSpc>
                      </a:pPr>
                      <a:r>
                        <a:rPr b="1" sz="950">
                          <a:solidFill>
                            <a:srgbClr val="E97132"/>
                          </a:solidFill>
                          <a:latin typeface="Arial"/>
                        </a:rPr>
                        <a:t>RF</a:t>
                      </a:r>
                    </a:p>
                  </a:txBody>
                  <a:tcPr anchor="ctr" marL="45720" marR="45720" marT="9144" marB="9144">
                    <a:noFill/>
                  </a:tcPr>
                </a:tc>
                <a:tc>
                  <a:txBody>
                    <a:bodyPr wrap="square"/>
                    <a:lstStyle/>
                    <a:p>
                      <a:pPr algn="l">
                        <a:lnSpc>
                          <a:spcPct val="100000"/>
                        </a:lnSpc>
                      </a:pPr>
                      <a:r>
                        <a:rPr b="0" sz="950">
                          <a:solidFill>
                            <a:srgbClr val="0E2841"/>
                          </a:solidFill>
                          <a:latin typeface="Arial"/>
                        </a:rPr>
                        <a:t>Aggressive</a:t>
                      </a:r>
                    </a:p>
                  </a:txBody>
                  <a:tcPr anchor="ctr" marL="45720" marR="45720" marT="9144" marB="9144">
                    <a:noFill/>
                  </a:tcPr>
                </a:tc>
                <a:tc>
                  <a:txBody>
                    <a:bodyPr wrap="square"/>
                    <a:lstStyle/>
                    <a:p>
                      <a:pPr algn="ctr">
                        <a:lnSpc>
                          <a:spcPct val="100000"/>
                        </a:lnSpc>
                      </a:pPr>
                      <a:r>
                        <a:rPr b="0" sz="950">
                          <a:solidFill>
                            <a:srgbClr val="5A5A5A"/>
                          </a:solidFill>
                          <a:latin typeface="Arial"/>
                        </a:rPr>
                        <a:t>0.35</a:t>
                      </a:r>
                    </a:p>
                  </a:txBody>
                  <a:tcPr anchor="ctr" marL="45720" marR="45720" marT="9144" marB="9144">
                    <a:noFill/>
                  </a:tcPr>
                </a:tc>
                <a:tc>
                  <a:txBody>
                    <a:bodyPr wrap="square"/>
                    <a:lstStyle/>
                    <a:p>
                      <a:pPr algn="ctr">
                        <a:lnSpc>
                          <a:spcPct val="100000"/>
                        </a:lnSpc>
                      </a:pPr>
                      <a:r>
                        <a:rPr b="0" sz="950">
                          <a:solidFill>
                            <a:srgbClr val="0E2841"/>
                          </a:solidFill>
                          <a:latin typeface="Arial"/>
                        </a:rPr>
                        <a:t>0.66</a:t>
                      </a:r>
                    </a:p>
                  </a:txBody>
                  <a:tcPr anchor="ctr" marL="45720" marR="45720" marT="9144" marB="9144">
                    <a:noFill/>
                  </a:tcPr>
                </a:tc>
                <a:tc>
                  <a:txBody>
                    <a:bodyPr wrap="square"/>
                    <a:lstStyle/>
                    <a:p>
                      <a:pPr algn="ctr">
                        <a:lnSpc>
                          <a:spcPct val="100000"/>
                        </a:lnSpc>
                      </a:pPr>
                      <a:r>
                        <a:rPr b="1" sz="950">
                          <a:solidFill>
                            <a:srgbClr val="0E2841"/>
                          </a:solidFill>
                          <a:latin typeface="Arial"/>
                        </a:rPr>
                        <a:t>1.88×</a:t>
                      </a:r>
                    </a:p>
                  </a:txBody>
                  <a:tcPr anchor="ctr" marL="45720" marR="45720" marT="9144" marB="9144">
                    <a:noFill/>
                  </a:tcPr>
                </a:tc>
              </a:tr>
              <a:tr h="324612">
                <a:tc>
                  <a:txBody>
                    <a:bodyPr wrap="square"/>
                    <a:lstStyle/>
                    <a:p>
                      <a:pPr algn="l">
                        <a:lnSpc>
                          <a:spcPct val="100000"/>
                        </a:lnSpc>
                      </a:pPr>
                      <a:r>
                        <a:rPr b="1" sz="950">
                          <a:solidFill>
                            <a:srgbClr val="0F9ED5"/>
                          </a:solidFill>
                          <a:latin typeface="Arial"/>
                        </a:rPr>
                        <a:t>LightGCN</a:t>
                      </a:r>
                    </a:p>
                  </a:txBody>
                  <a:tcPr anchor="ctr" marL="45720" marR="45720" marT="9144" marB="9144">
                    <a:noFill/>
                  </a:tcPr>
                </a:tc>
                <a:tc>
                  <a:txBody>
                    <a:bodyPr wrap="square"/>
                    <a:lstStyle/>
                    <a:p>
                      <a:pPr algn="l">
                        <a:lnSpc>
                          <a:spcPct val="100000"/>
                        </a:lnSpc>
                      </a:pPr>
                      <a:r>
                        <a:rPr b="0" sz="950">
                          <a:solidFill>
                            <a:srgbClr val="0E2841"/>
                          </a:solidFill>
                          <a:latin typeface="Arial"/>
                        </a:rPr>
                        <a:t>Conservative</a:t>
                      </a:r>
                    </a:p>
                  </a:txBody>
                  <a:tcPr anchor="ctr" marL="45720" marR="45720" marT="9144" marB="9144">
                    <a:noFill/>
                  </a:tcPr>
                </a:tc>
                <a:tc>
                  <a:txBody>
                    <a:bodyPr wrap="square"/>
                    <a:lstStyle/>
                    <a:p>
                      <a:pPr algn="ctr">
                        <a:lnSpc>
                          <a:spcPct val="100000"/>
                        </a:lnSpc>
                      </a:pPr>
                      <a:r>
                        <a:rPr b="0" sz="950">
                          <a:solidFill>
                            <a:srgbClr val="5A5A5A"/>
                          </a:solidFill>
                          <a:latin typeface="Arial"/>
                        </a:rPr>
                        <a:t>0.65</a:t>
                      </a:r>
                    </a:p>
                  </a:txBody>
                  <a:tcPr anchor="ctr" marL="45720" marR="45720" marT="9144" marB="9144">
                    <a:noFill/>
                  </a:tcPr>
                </a:tc>
                <a:tc>
                  <a:txBody>
                    <a:bodyPr wrap="square"/>
                    <a:lstStyle/>
                    <a:p>
                      <a:pPr algn="ctr">
                        <a:lnSpc>
                          <a:spcPct val="100000"/>
                        </a:lnSpc>
                      </a:pPr>
                      <a:r>
                        <a:rPr b="0" sz="950">
                          <a:solidFill>
                            <a:srgbClr val="0E2841"/>
                          </a:solidFill>
                          <a:latin typeface="Arial"/>
                        </a:rPr>
                        <a:t>0.48</a:t>
                      </a:r>
                    </a:p>
                  </a:txBody>
                  <a:tcPr anchor="ctr" marL="45720" marR="45720" marT="9144" marB="9144">
                    <a:noFill/>
                  </a:tcPr>
                </a:tc>
                <a:tc>
                  <a:txBody>
                    <a:bodyPr wrap="square"/>
                    <a:lstStyle/>
                    <a:p>
                      <a:pPr algn="ctr">
                        <a:lnSpc>
                          <a:spcPct val="100000"/>
                        </a:lnSpc>
                      </a:pPr>
                      <a:r>
                        <a:rPr b="1" sz="950">
                          <a:solidFill>
                            <a:srgbClr val="C0392B"/>
                          </a:solidFill>
                          <a:latin typeface="Arial"/>
                        </a:rPr>
                        <a:t>0.75×</a:t>
                      </a:r>
                    </a:p>
                  </a:txBody>
                  <a:tcPr anchor="ctr" marL="45720" marR="45720" marT="9144" marB="9144">
                    <a:noFill/>
                  </a:tcPr>
                </a:tc>
              </a:tr>
              <a:tr h="324612">
                <a:tc>
                  <a:txBody>
                    <a:bodyPr wrap="square"/>
                    <a:lstStyle/>
                    <a:p>
                      <a:pPr algn="l">
                        <a:lnSpc>
                          <a:spcPct val="100000"/>
                        </a:lnSpc>
                      </a:pPr>
                      <a:r>
                        <a:rPr b="1" sz="950">
                          <a:solidFill>
                            <a:srgbClr val="0F9ED5"/>
                          </a:solidFill>
                          <a:latin typeface="Arial"/>
                        </a:rPr>
                        <a:t>LightGCN</a:t>
                      </a:r>
                    </a:p>
                  </a:txBody>
                  <a:tcPr anchor="ctr" marL="45720" marR="45720" marT="9144" marB="9144">
                    <a:noFill/>
                  </a:tcPr>
                </a:tc>
                <a:tc>
                  <a:txBody>
                    <a:bodyPr wrap="square"/>
                    <a:lstStyle/>
                    <a:p>
                      <a:pPr algn="l">
                        <a:lnSpc>
                          <a:spcPct val="100000"/>
                        </a:lnSpc>
                      </a:pPr>
                      <a:r>
                        <a:rPr b="0" sz="950">
                          <a:solidFill>
                            <a:srgbClr val="0E2841"/>
                          </a:solidFill>
                          <a:latin typeface="Arial"/>
                        </a:rPr>
                        <a:t>Income</a:t>
                      </a:r>
                    </a:p>
                  </a:txBody>
                  <a:tcPr anchor="ctr" marL="45720" marR="45720" marT="9144" marB="9144">
                    <a:noFill/>
                  </a:tcPr>
                </a:tc>
                <a:tc>
                  <a:txBody>
                    <a:bodyPr wrap="square"/>
                    <a:lstStyle/>
                    <a:p>
                      <a:pPr algn="ctr">
                        <a:lnSpc>
                          <a:spcPct val="100000"/>
                        </a:lnSpc>
                      </a:pPr>
                      <a:r>
                        <a:rPr b="0" sz="950">
                          <a:solidFill>
                            <a:srgbClr val="5A5A5A"/>
                          </a:solidFill>
                          <a:latin typeface="Arial"/>
                        </a:rPr>
                        <a:t>0.78</a:t>
                      </a:r>
                    </a:p>
                  </a:txBody>
                  <a:tcPr anchor="ctr" marL="45720" marR="45720" marT="9144" marB="9144">
                    <a:noFill/>
                  </a:tcPr>
                </a:tc>
                <a:tc>
                  <a:txBody>
                    <a:bodyPr wrap="square"/>
                    <a:lstStyle/>
                    <a:p>
                      <a:pPr algn="ctr">
                        <a:lnSpc>
                          <a:spcPct val="100000"/>
                        </a:lnSpc>
                      </a:pPr>
                      <a:r>
                        <a:rPr b="0" sz="950">
                          <a:solidFill>
                            <a:srgbClr val="0E2841"/>
                          </a:solidFill>
                          <a:latin typeface="Arial"/>
                        </a:rPr>
                        <a:t>0.88</a:t>
                      </a:r>
                    </a:p>
                  </a:txBody>
                  <a:tcPr anchor="ctr" marL="45720" marR="45720" marT="9144" marB="9144">
                    <a:noFill/>
                  </a:tcPr>
                </a:tc>
                <a:tc>
                  <a:txBody>
                    <a:bodyPr wrap="square"/>
                    <a:lstStyle/>
                    <a:p>
                      <a:pPr algn="ctr">
                        <a:lnSpc>
                          <a:spcPct val="100000"/>
                        </a:lnSpc>
                      </a:pPr>
                      <a:r>
                        <a:rPr b="1" sz="950">
                          <a:solidFill>
                            <a:srgbClr val="0E2841"/>
                          </a:solidFill>
                          <a:latin typeface="Arial"/>
                        </a:rPr>
                        <a:t>1.13×</a:t>
                      </a:r>
                    </a:p>
                  </a:txBody>
                  <a:tcPr anchor="ctr" marL="45720" marR="45720" marT="9144" marB="9144">
                    <a:noFill/>
                  </a:tcPr>
                </a:tc>
              </a:tr>
              <a:tr h="324612">
                <a:tc>
                  <a:txBody>
                    <a:bodyPr wrap="square"/>
                    <a:lstStyle/>
                    <a:p>
                      <a:pPr algn="l">
                        <a:lnSpc>
                          <a:spcPct val="100000"/>
                        </a:lnSpc>
                      </a:pPr>
                      <a:r>
                        <a:rPr b="1" sz="950">
                          <a:solidFill>
                            <a:srgbClr val="0F9ED5"/>
                          </a:solidFill>
                          <a:latin typeface="Arial"/>
                        </a:rPr>
                        <a:t>LightGCN</a:t>
                      </a:r>
                    </a:p>
                  </a:txBody>
                  <a:tcPr anchor="ctr" marL="45720" marR="45720" marT="9144" marB="9144">
                    <a:noFill/>
                  </a:tcPr>
                </a:tc>
                <a:tc>
                  <a:txBody>
                    <a:bodyPr wrap="square"/>
                    <a:lstStyle/>
                    <a:p>
                      <a:pPr algn="l">
                        <a:lnSpc>
                          <a:spcPct val="100000"/>
                        </a:lnSpc>
                      </a:pPr>
                      <a:r>
                        <a:rPr b="0" sz="950">
                          <a:solidFill>
                            <a:srgbClr val="0E2841"/>
                          </a:solidFill>
                          <a:latin typeface="Arial"/>
                        </a:rPr>
                        <a:t>Balanced</a:t>
                      </a:r>
                    </a:p>
                  </a:txBody>
                  <a:tcPr anchor="ctr" marL="45720" marR="45720" marT="9144" marB="9144">
                    <a:noFill/>
                  </a:tcPr>
                </a:tc>
                <a:tc>
                  <a:txBody>
                    <a:bodyPr wrap="square"/>
                    <a:lstStyle/>
                    <a:p>
                      <a:pPr algn="ctr">
                        <a:lnSpc>
                          <a:spcPct val="100000"/>
                        </a:lnSpc>
                      </a:pPr>
                      <a:r>
                        <a:rPr b="0" sz="950">
                          <a:solidFill>
                            <a:srgbClr val="5A5A5A"/>
                          </a:solidFill>
                          <a:latin typeface="Arial"/>
                        </a:rPr>
                        <a:t>0.76</a:t>
                      </a:r>
                    </a:p>
                  </a:txBody>
                  <a:tcPr anchor="ctr" marL="45720" marR="45720" marT="9144" marB="9144">
                    <a:noFill/>
                  </a:tcPr>
                </a:tc>
                <a:tc>
                  <a:txBody>
                    <a:bodyPr wrap="square"/>
                    <a:lstStyle/>
                    <a:p>
                      <a:pPr algn="ctr">
                        <a:lnSpc>
                          <a:spcPct val="100000"/>
                        </a:lnSpc>
                      </a:pPr>
                      <a:r>
                        <a:rPr b="0" sz="950">
                          <a:solidFill>
                            <a:srgbClr val="0E2841"/>
                          </a:solidFill>
                          <a:latin typeface="Arial"/>
                        </a:rPr>
                        <a:t>0.89</a:t>
                      </a:r>
                    </a:p>
                  </a:txBody>
                  <a:tcPr anchor="ctr" marL="45720" marR="45720" marT="9144" marB="9144">
                    <a:noFill/>
                  </a:tcPr>
                </a:tc>
                <a:tc>
                  <a:txBody>
                    <a:bodyPr wrap="square"/>
                    <a:lstStyle/>
                    <a:p>
                      <a:pPr algn="ctr">
                        <a:lnSpc>
                          <a:spcPct val="100000"/>
                        </a:lnSpc>
                      </a:pPr>
                      <a:r>
                        <a:rPr b="1" sz="950">
                          <a:solidFill>
                            <a:srgbClr val="0E2841"/>
                          </a:solidFill>
                          <a:latin typeface="Arial"/>
                        </a:rPr>
                        <a:t>1.17×</a:t>
                      </a:r>
                    </a:p>
                  </a:txBody>
                  <a:tcPr anchor="ctr" marL="45720" marR="45720" marT="9144" marB="9144">
                    <a:noFill/>
                  </a:tcPr>
                </a:tc>
              </a:tr>
              <a:tr h="324612">
                <a:tc>
                  <a:txBody>
                    <a:bodyPr wrap="square"/>
                    <a:lstStyle/>
                    <a:p>
                      <a:pPr algn="l">
                        <a:lnSpc>
                          <a:spcPct val="100000"/>
                        </a:lnSpc>
                      </a:pPr>
                      <a:r>
                        <a:rPr b="1" sz="950">
                          <a:solidFill>
                            <a:srgbClr val="0F9ED5"/>
                          </a:solidFill>
                          <a:latin typeface="Arial"/>
                        </a:rPr>
                        <a:t>LightGCN</a:t>
                      </a:r>
                    </a:p>
                  </a:txBody>
                  <a:tcPr anchor="ctr" marL="45720" marR="45720" marT="9144" marB="9144">
                    <a:noFill/>
                  </a:tcPr>
                </a:tc>
                <a:tc>
                  <a:txBody>
                    <a:bodyPr wrap="square"/>
                    <a:lstStyle/>
                    <a:p>
                      <a:pPr algn="l">
                        <a:lnSpc>
                          <a:spcPct val="100000"/>
                        </a:lnSpc>
                      </a:pPr>
                      <a:r>
                        <a:rPr b="0" sz="950">
                          <a:solidFill>
                            <a:srgbClr val="0E2841"/>
                          </a:solidFill>
                          <a:latin typeface="Arial"/>
                        </a:rPr>
                        <a:t>Aggressive</a:t>
                      </a:r>
                    </a:p>
                  </a:txBody>
                  <a:tcPr anchor="ctr" marL="45720" marR="45720" marT="9144" marB="9144">
                    <a:noFill/>
                  </a:tcPr>
                </a:tc>
                <a:tc>
                  <a:txBody>
                    <a:bodyPr wrap="square"/>
                    <a:lstStyle/>
                    <a:p>
                      <a:pPr algn="ctr">
                        <a:lnSpc>
                          <a:spcPct val="100000"/>
                        </a:lnSpc>
                      </a:pPr>
                      <a:r>
                        <a:rPr b="0" sz="950">
                          <a:solidFill>
                            <a:srgbClr val="5A5A5A"/>
                          </a:solidFill>
                          <a:latin typeface="Arial"/>
                        </a:rPr>
                        <a:t>0.35</a:t>
                      </a:r>
                    </a:p>
                  </a:txBody>
                  <a:tcPr anchor="ctr" marL="45720" marR="45720" marT="9144" marB="9144">
                    <a:noFill/>
                  </a:tcPr>
                </a:tc>
                <a:tc>
                  <a:txBody>
                    <a:bodyPr wrap="square"/>
                    <a:lstStyle/>
                    <a:p>
                      <a:pPr algn="ctr">
                        <a:lnSpc>
                          <a:spcPct val="100000"/>
                        </a:lnSpc>
                      </a:pPr>
                      <a:r>
                        <a:rPr b="0" sz="950">
                          <a:solidFill>
                            <a:srgbClr val="0E2841"/>
                          </a:solidFill>
                          <a:latin typeface="Arial"/>
                        </a:rPr>
                        <a:t>0.47</a:t>
                      </a:r>
                    </a:p>
                  </a:txBody>
                  <a:tcPr anchor="ctr" marL="45720" marR="45720" marT="9144" marB="9144">
                    <a:noFill/>
                  </a:tcPr>
                </a:tc>
                <a:tc>
                  <a:txBody>
                    <a:bodyPr wrap="square"/>
                    <a:lstStyle/>
                    <a:p>
                      <a:pPr algn="ctr">
                        <a:lnSpc>
                          <a:spcPct val="100000"/>
                        </a:lnSpc>
                      </a:pPr>
                      <a:r>
                        <a:rPr b="1" sz="950">
                          <a:solidFill>
                            <a:srgbClr val="0E2841"/>
                          </a:solidFill>
                          <a:latin typeface="Arial"/>
                        </a:rPr>
                        <a:t>1.35×</a:t>
                      </a:r>
                    </a:p>
                  </a:txBody>
                  <a:tcPr anchor="ctr" marL="45720" marR="45720" marT="9144" marB="9144">
                    <a:noFill/>
                  </a:tcPr>
                </a:tc>
              </a:tr>
            </a:tbl>
          </a:graphicData>
        </a:graphic>
      </p:graphicFrame>
      <p:sp>
        <p:nvSpPr>
          <p:cNvPr id="5" name="TextBox 4"/>
          <p:cNvSpPr txBox="1"/>
          <p:nvPr/>
        </p:nvSpPr>
        <p:spPr>
          <a:xfrm>
            <a:off x="3611880" y="4434840"/>
            <a:ext cx="5029200" cy="274320"/>
          </a:xfrm>
          <a:prstGeom prst="rect">
            <a:avLst/>
          </a:prstGeom>
          <a:noFill/>
        </p:spPr>
        <p:txBody>
          <a:bodyPr wrap="square" anchor="t" lIns="36576" rIns="36576" tIns="18288" bIns="18288">
            <a:spAutoFit/>
          </a:bodyPr>
          <a:lstStyle/>
          <a:p>
            <a:pPr algn="ctr">
              <a:lnSpc>
                <a:spcPct val="104000"/>
              </a:lnSpc>
              <a:spcBef>
                <a:spcPts val="0"/>
              </a:spcBef>
              <a:spcAft>
                <a:spcPts val="0"/>
              </a:spcAft>
              <a:buNone/>
            </a:pPr>
            <a:r>
              <a:rPr b="0" sz="850">
                <a:solidFill>
                  <a:srgbClr val="5A5A5A"/>
                </a:solidFill>
                <a:latin typeface="Arial"/>
              </a:rPr>
              <a:t>Per-band PC@10 and PC-lift@10 vs π(b), 69 splits; lift below 1 in red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RQ3  ·  A profile-coherent LightGCN</a:t>
            </a:r>
          </a:p>
        </p:txBody>
      </p:sp>
      <p:sp>
        <p:nvSpPr>
          <p:cNvPr id="3" name="TextBox 2"/>
          <p:cNvSpPr txBox="1"/>
          <p:nvPr/>
        </p:nvSpPr>
        <p:spPr>
          <a:xfrm>
            <a:off x="502920" y="1325880"/>
            <a:ext cx="8138160" cy="822960"/>
          </a:xfrm>
          <a:prstGeom prst="rect">
            <a:avLst/>
          </a:prstGeom>
          <a:noFill/>
        </p:spPr>
        <p:txBody>
          <a:bodyPr wrap="square" anchor="t" lIns="36576" rIns="36576" tIns="18288" bIns="18288">
            <a:spAutoFit/>
          </a:bodyPr>
          <a:lstStyle/>
          <a:p>
            <a:pPr algn="l">
              <a:lnSpc>
                <a:spcPct val="105000"/>
              </a:lnSpc>
              <a:spcBef>
                <a:spcPts val="400"/>
              </a:spcBef>
              <a:spcAft>
                <a:spcPts val="200"/>
              </a:spcAft>
              <a:buNone/>
            </a:pPr>
            <a:r>
              <a:rPr b="0" sz="1300">
                <a:solidFill>
                  <a:srgbClr val="0E2841"/>
                </a:solidFill>
                <a:latin typeface="Arial"/>
              </a:rPr>
              <a:t>Three components on a LightGCN backbone:  </a:t>
            </a:r>
            <a:r>
              <a:rPr b="1" sz="1300">
                <a:solidFill>
                  <a:srgbClr val="156082"/>
                </a:solidFill>
                <a:latin typeface="Arial"/>
              </a:rPr>
              <a:t>(1) stratify</a:t>
            </a:r>
            <a:r>
              <a:rPr b="0" sz="1300">
                <a:solidFill>
                  <a:srgbClr val="0E2841"/>
                </a:solidFill>
                <a:latin typeface="Arial"/>
              </a:rPr>
              <a:t> per band  ·  </a:t>
            </a:r>
            <a:r>
              <a:rPr b="1" sz="1300">
                <a:solidFill>
                  <a:srgbClr val="156082"/>
                </a:solidFill>
                <a:latin typeface="Arial"/>
              </a:rPr>
              <a:t>(2) coherence-margin loss</a:t>
            </a:r>
            <a:r>
              <a:rPr b="0" sz="1300">
                <a:solidFill>
                  <a:srgbClr val="0E2841"/>
                </a:solidFill>
                <a:latin typeface="Arial"/>
              </a:rPr>
              <a:t>  ·  </a:t>
            </a:r>
            <a:r>
              <a:rPr b="1" sz="1300">
                <a:solidFill>
                  <a:srgbClr val="156082"/>
                </a:solidFill>
                <a:latin typeface="Arial"/>
              </a:rPr>
              <a:t>(3) regroup</a:t>
            </a:r>
            <a:r>
              <a:rPr b="0" sz="1300">
                <a:solidFill>
                  <a:srgbClr val="0E2841"/>
                </a:solidFill>
                <a:latin typeface="Arial"/>
              </a:rPr>
              <a:t> onto the revealed band</a:t>
            </a:r>
          </a:p>
        </p:txBody>
      </p:sp>
      <p:sp>
        <p:nvSpPr>
          <p:cNvPr id="4" name="Rounded Rectangle 3"/>
          <p:cNvSpPr/>
          <p:nvPr/>
        </p:nvSpPr>
        <p:spPr>
          <a:xfrm>
            <a:off x="411480" y="2377440"/>
            <a:ext cx="1051560" cy="658368"/>
          </a:xfrm>
          <a:prstGeom prst="roundRect">
            <a:avLst>
              <a:gd name="adj" fmla="val 12000"/>
            </a:avLst>
          </a:prstGeom>
          <a:solidFill>
            <a:srgbClr val="F2F4F6"/>
          </a:solidFill>
          <a:ln w="1270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buNone/>
            </a:pPr>
            <a:r>
              <a:rPr b="1" sz="900">
                <a:solidFill>
                  <a:srgbClr val="0E2841"/>
                </a:solidFill>
                <a:latin typeface="Arial"/>
              </a:rPr>
              <a:t>Customer u</a:t>
            </a:r>
          </a:p>
          <a:p>
            <a:pPr algn="ctr">
              <a:lnSpc>
                <a:spcPct val="100000"/>
              </a:lnSpc>
              <a:buNone/>
            </a:pPr>
            <a:r>
              <a:rPr b="0" sz="800">
                <a:solidFill>
                  <a:srgbClr val="5A5A5A"/>
                </a:solidFill>
                <a:latin typeface="Arial"/>
              </a:rPr>
              <a:t>band b_u</a:t>
            </a:r>
          </a:p>
        </p:txBody>
      </p:sp>
      <p:sp>
        <p:nvSpPr>
          <p:cNvPr id="5" name="Rounded Rectangle 4"/>
          <p:cNvSpPr/>
          <p:nvPr/>
        </p:nvSpPr>
        <p:spPr>
          <a:xfrm>
            <a:off x="1783080" y="2377440"/>
            <a:ext cx="914400" cy="658368"/>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buNone/>
            </a:pPr>
            <a:r>
              <a:rPr b="1" sz="900">
                <a:solidFill>
                  <a:srgbClr val="FFFFFF"/>
                </a:solidFill>
                <a:latin typeface="Arial"/>
              </a:rPr>
              <a:t>Band</a:t>
            </a:r>
          </a:p>
          <a:p>
            <a:pPr algn="ctr">
              <a:lnSpc>
                <a:spcPct val="100000"/>
              </a:lnSpc>
              <a:buNone/>
            </a:pPr>
            <a:r>
              <a:rPr b="1" sz="900">
                <a:solidFill>
                  <a:srgbClr val="FFFFFF"/>
                </a:solidFill>
                <a:latin typeface="Arial"/>
              </a:rPr>
              <a:t>Router</a:t>
            </a:r>
          </a:p>
        </p:txBody>
      </p:sp>
      <p:sp>
        <p:nvSpPr>
          <p:cNvPr id="6" name="Rounded Rectangle 5"/>
          <p:cNvSpPr/>
          <p:nvPr/>
        </p:nvSpPr>
        <p:spPr>
          <a:xfrm>
            <a:off x="3127248" y="1444752"/>
            <a:ext cx="1517904" cy="2267712"/>
          </a:xfrm>
          <a:prstGeom prst="roundRect">
            <a:avLst>
              <a:gd name="adj" fmla="val 12000"/>
            </a:avLst>
          </a:prstGeom>
          <a:noFill/>
          <a:ln w="12700">
            <a:solidFill>
              <a:srgbClr val="0E284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0" y="1207008"/>
            <a:ext cx="1737360" cy="274320"/>
          </a:xfrm>
          <a:prstGeom prst="rect">
            <a:avLst/>
          </a:prstGeom>
          <a:noFill/>
        </p:spPr>
        <p:txBody>
          <a:bodyPr wrap="square" anchor="t" lIns="36576" rIns="36576" tIns="18288" bIns="18288">
            <a:spAutoFit/>
          </a:bodyPr>
          <a:lstStyle/>
          <a:p>
            <a:pPr algn="ctr">
              <a:lnSpc>
                <a:spcPct val="104000"/>
              </a:lnSpc>
              <a:spcBef>
                <a:spcPts val="0"/>
              </a:spcBef>
              <a:spcAft>
                <a:spcPts val="0"/>
              </a:spcAft>
              <a:buNone/>
            </a:pPr>
            <a:r>
              <a:rPr b="0" sz="800">
                <a:solidFill>
                  <a:srgbClr val="5A5A5A"/>
                </a:solidFill>
                <a:latin typeface="Arial"/>
              </a:rPr>
              <a:t>Band-stratified LightGCN</a:t>
            </a:r>
          </a:p>
        </p:txBody>
      </p:sp>
      <p:sp>
        <p:nvSpPr>
          <p:cNvPr id="8" name="Rounded Rectangle 7"/>
          <p:cNvSpPr/>
          <p:nvPr/>
        </p:nvSpPr>
        <p:spPr>
          <a:xfrm>
            <a:off x="3200400" y="1554480"/>
            <a:ext cx="1371600" cy="420624"/>
          </a:xfrm>
          <a:prstGeom prst="roundRect">
            <a:avLst>
              <a:gd name="adj" fmla="val 12000"/>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buNone/>
            </a:pPr>
            <a:r>
              <a:rPr b="1" sz="850">
                <a:solidFill>
                  <a:srgbClr val="FFFFFF"/>
                </a:solidFill>
                <a:latin typeface="Arial"/>
              </a:rPr>
              <a:t>Conservative</a:t>
            </a:r>
          </a:p>
        </p:txBody>
      </p:sp>
      <p:sp>
        <p:nvSpPr>
          <p:cNvPr id="9" name="Rounded Rectangle 8"/>
          <p:cNvSpPr/>
          <p:nvPr/>
        </p:nvSpPr>
        <p:spPr>
          <a:xfrm>
            <a:off x="3200400" y="2103120"/>
            <a:ext cx="1371600" cy="420624"/>
          </a:xfrm>
          <a:prstGeom prst="roundRect">
            <a:avLst>
              <a:gd name="adj" fmla="val 12000"/>
            </a:avLst>
          </a:prstGeom>
          <a:solidFill>
            <a:srgbClr val="1E7A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buNone/>
            </a:pPr>
            <a:r>
              <a:rPr b="1" sz="850">
                <a:solidFill>
                  <a:srgbClr val="FFFFFF"/>
                </a:solidFill>
                <a:latin typeface="Arial"/>
              </a:rPr>
              <a:t>Income</a:t>
            </a:r>
          </a:p>
        </p:txBody>
      </p:sp>
      <p:sp>
        <p:nvSpPr>
          <p:cNvPr id="10" name="Rounded Rectangle 9"/>
          <p:cNvSpPr/>
          <p:nvPr/>
        </p:nvSpPr>
        <p:spPr>
          <a:xfrm>
            <a:off x="3200400" y="2651760"/>
            <a:ext cx="1371600" cy="420624"/>
          </a:xfrm>
          <a:prstGeom prst="roundRect">
            <a:avLst>
              <a:gd name="adj" fmla="val 12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buNone/>
            </a:pPr>
            <a:r>
              <a:rPr b="1" sz="850">
                <a:solidFill>
                  <a:srgbClr val="FFFFFF"/>
                </a:solidFill>
                <a:latin typeface="Arial"/>
              </a:rPr>
              <a:t>Balanced</a:t>
            </a:r>
          </a:p>
        </p:txBody>
      </p:sp>
      <p:sp>
        <p:nvSpPr>
          <p:cNvPr id="11" name="Rounded Rectangle 10"/>
          <p:cNvSpPr/>
          <p:nvPr/>
        </p:nvSpPr>
        <p:spPr>
          <a:xfrm>
            <a:off x="3200400" y="3200400"/>
            <a:ext cx="1371600" cy="420624"/>
          </a:xfrm>
          <a:prstGeom prst="roundRect">
            <a:avLst>
              <a:gd name="adj" fmla="val 1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buNone/>
            </a:pPr>
            <a:r>
              <a:rPr b="1" sz="850">
                <a:solidFill>
                  <a:srgbClr val="FFFFFF"/>
                </a:solidFill>
                <a:latin typeface="Arial"/>
              </a:rPr>
              <a:t>Aggressive</a:t>
            </a:r>
          </a:p>
        </p:txBody>
      </p:sp>
      <p:sp>
        <p:nvSpPr>
          <p:cNvPr id="12" name="Rounded Rectangle 11"/>
          <p:cNvSpPr/>
          <p:nvPr/>
        </p:nvSpPr>
        <p:spPr>
          <a:xfrm>
            <a:off x="5120640" y="2377440"/>
            <a:ext cx="1097280" cy="658368"/>
          </a:xfrm>
          <a:prstGeom prst="roundRect">
            <a:avLst>
              <a:gd name="adj" fmla="val 12000"/>
            </a:avLst>
          </a:prstGeom>
          <a:solidFill>
            <a:srgbClr val="F2F4F6"/>
          </a:solidFill>
          <a:ln w="1270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buNone/>
            </a:pPr>
            <a:r>
              <a:rPr b="1" sz="900">
                <a:solidFill>
                  <a:srgbClr val="0E2841"/>
                </a:solidFill>
                <a:latin typeface="Arial"/>
              </a:rPr>
              <a:t>Scores</a:t>
            </a:r>
          </a:p>
          <a:p>
            <a:pPr algn="ctr">
              <a:lnSpc>
                <a:spcPct val="100000"/>
              </a:lnSpc>
              <a:buNone/>
            </a:pPr>
            <a:r>
              <a:rPr b="0" sz="800">
                <a:solidFill>
                  <a:srgbClr val="5A5A5A"/>
                </a:solidFill>
                <a:latin typeface="Arial"/>
              </a:rPr>
              <a:t>s(u, i)</a:t>
            </a:r>
          </a:p>
        </p:txBody>
      </p:sp>
      <p:sp>
        <p:nvSpPr>
          <p:cNvPr id="13" name="Rounded Rectangle 12"/>
          <p:cNvSpPr/>
          <p:nvPr/>
        </p:nvSpPr>
        <p:spPr>
          <a:xfrm>
            <a:off x="7269480" y="2377440"/>
            <a:ext cx="1051560" cy="658368"/>
          </a:xfrm>
          <a:prstGeom prst="roundRect">
            <a:avLst>
              <a:gd name="adj" fmla="val 12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buNone/>
            </a:pPr>
            <a:r>
              <a:rPr b="1" sz="900">
                <a:solidFill>
                  <a:srgbClr val="FFFFFF"/>
                </a:solidFill>
                <a:latin typeface="Arial"/>
              </a:rPr>
              <a:t>Top-k</a:t>
            </a:r>
          </a:p>
          <a:p>
            <a:pPr algn="ctr">
              <a:lnSpc>
                <a:spcPct val="100000"/>
              </a:lnSpc>
              <a:buNone/>
            </a:pPr>
            <a:r>
              <a:rPr b="1" sz="900">
                <a:solidFill>
                  <a:srgbClr val="FFFFFF"/>
                </a:solidFill>
                <a:latin typeface="Arial"/>
              </a:rPr>
              <a:t>list</a:t>
            </a:r>
          </a:p>
        </p:txBody>
      </p:sp>
      <p:sp>
        <p:nvSpPr>
          <p:cNvPr id="14" name="TextBox 13"/>
          <p:cNvSpPr txBox="1"/>
          <p:nvPr/>
        </p:nvSpPr>
        <p:spPr>
          <a:xfrm>
            <a:off x="7178040" y="3081528"/>
            <a:ext cx="1234440" cy="274320"/>
          </a:xfrm>
          <a:prstGeom prst="rect">
            <a:avLst/>
          </a:prstGeom>
          <a:noFill/>
        </p:spPr>
        <p:txBody>
          <a:bodyPr wrap="square" anchor="t" lIns="36576" rIns="36576" tIns="18288" bIns="18288">
            <a:spAutoFit/>
          </a:bodyPr>
          <a:lstStyle/>
          <a:p>
            <a:pPr algn="ctr">
              <a:lnSpc>
                <a:spcPct val="104000"/>
              </a:lnSpc>
              <a:spcBef>
                <a:spcPts val="0"/>
              </a:spcBef>
              <a:spcAft>
                <a:spcPts val="0"/>
              </a:spcAft>
              <a:buNone/>
            </a:pPr>
            <a:r>
              <a:rPr b="0" sz="800">
                <a:solidFill>
                  <a:srgbClr val="5A5A5A"/>
                </a:solidFill>
                <a:latin typeface="Arial"/>
              </a:rPr>
              <a:t>Inference</a:t>
            </a:r>
          </a:p>
        </p:txBody>
      </p:sp>
      <p:sp>
        <p:nvSpPr>
          <p:cNvPr id="15" name="Rounded Rectangle 14"/>
          <p:cNvSpPr/>
          <p:nvPr/>
        </p:nvSpPr>
        <p:spPr>
          <a:xfrm>
            <a:off x="5029200" y="3977639"/>
            <a:ext cx="960120" cy="457200"/>
          </a:xfrm>
          <a:prstGeom prst="roundRect">
            <a:avLst>
              <a:gd name="adj" fmla="val 12000"/>
            </a:avLst>
          </a:prstGeom>
          <a:solidFill>
            <a:srgbClr val="DDE3E8"/>
          </a:solidFill>
          <a:ln w="9525">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buNone/>
            </a:pPr>
            <a:r>
              <a:rPr b="1" sz="900">
                <a:solidFill>
                  <a:srgbClr val="0E2841"/>
                </a:solidFill>
                <a:latin typeface="Arial"/>
              </a:rPr>
              <a:t>L_BPR</a:t>
            </a:r>
          </a:p>
        </p:txBody>
      </p:sp>
      <p:sp>
        <p:nvSpPr>
          <p:cNvPr id="16" name="Rounded Rectangle 15"/>
          <p:cNvSpPr/>
          <p:nvPr/>
        </p:nvSpPr>
        <p:spPr>
          <a:xfrm>
            <a:off x="6172200" y="3977639"/>
            <a:ext cx="1234440" cy="457200"/>
          </a:xfrm>
          <a:prstGeom prst="roundRect">
            <a:avLst>
              <a:gd name="adj" fmla="val 12000"/>
            </a:avLst>
          </a:prstGeom>
          <a:solidFill>
            <a:srgbClr val="DDE3E8"/>
          </a:solidFill>
          <a:ln w="9525">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buNone/>
            </a:pPr>
            <a:r>
              <a:rPr b="1" sz="900">
                <a:solidFill>
                  <a:srgbClr val="0E2841"/>
                </a:solidFill>
                <a:latin typeface="Arial"/>
              </a:rPr>
              <a:t>λ · L_coh</a:t>
            </a:r>
          </a:p>
        </p:txBody>
      </p:sp>
      <p:sp>
        <p:nvSpPr>
          <p:cNvPr id="17" name="TextBox 16"/>
          <p:cNvSpPr txBox="1"/>
          <p:nvPr/>
        </p:nvSpPr>
        <p:spPr>
          <a:xfrm>
            <a:off x="5029200" y="4462272"/>
            <a:ext cx="2377440" cy="274320"/>
          </a:xfrm>
          <a:prstGeom prst="rect">
            <a:avLst/>
          </a:prstGeom>
          <a:noFill/>
        </p:spPr>
        <p:txBody>
          <a:bodyPr wrap="square" anchor="t" lIns="36576" rIns="36576" tIns="18288" bIns="18288">
            <a:spAutoFit/>
          </a:bodyPr>
          <a:lstStyle/>
          <a:p>
            <a:pPr algn="ctr">
              <a:lnSpc>
                <a:spcPct val="104000"/>
              </a:lnSpc>
              <a:spcBef>
                <a:spcPts val="0"/>
              </a:spcBef>
              <a:spcAft>
                <a:spcPts val="0"/>
              </a:spcAft>
              <a:buNone/>
            </a:pPr>
            <a:r>
              <a:rPr b="0" sz="800">
                <a:solidFill>
                  <a:srgbClr val="5A5A5A"/>
                </a:solidFill>
                <a:latin typeface="Arial"/>
              </a:rPr>
              <a:t>Training</a:t>
            </a:r>
          </a:p>
        </p:txBody>
      </p:sp>
      <p:cxnSp>
        <p:nvCxnSpPr>
          <p:cNvPr id="18" name="Connector 17"/>
          <p:cNvCxnSpPr/>
          <p:nvPr/>
        </p:nvCxnSpPr>
        <p:spPr>
          <a:xfrm>
            <a:off x="1463040" y="2697480"/>
            <a:ext cx="320040" cy="0"/>
          </a:xfrm>
          <a:prstGeom prst="line">
            <a:avLst/>
          </a:prstGeom>
          <a:ln w="15875">
            <a:solidFill>
              <a:srgbClr val="0E284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697480" y="1764792"/>
            <a:ext cx="502920" cy="932688"/>
          </a:xfrm>
          <a:prstGeom prst="line">
            <a:avLst/>
          </a:prstGeom>
          <a:ln w="11430">
            <a:solidFill>
              <a:srgbClr val="5A5A5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72000" y="1764792"/>
            <a:ext cx="548640" cy="932688"/>
          </a:xfrm>
          <a:prstGeom prst="line">
            <a:avLst/>
          </a:prstGeom>
          <a:ln w="11430">
            <a:solidFill>
              <a:srgbClr val="5A5A5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697480" y="2313432"/>
            <a:ext cx="502920" cy="384048"/>
          </a:xfrm>
          <a:prstGeom prst="line">
            <a:avLst/>
          </a:prstGeom>
          <a:ln w="11430">
            <a:solidFill>
              <a:srgbClr val="5A5A5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572000" y="2313432"/>
            <a:ext cx="548640" cy="384048"/>
          </a:xfrm>
          <a:prstGeom prst="line">
            <a:avLst/>
          </a:prstGeom>
          <a:ln w="11430">
            <a:solidFill>
              <a:srgbClr val="5A5A5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697480" y="2697480"/>
            <a:ext cx="502920" cy="164592"/>
          </a:xfrm>
          <a:prstGeom prst="line">
            <a:avLst/>
          </a:prstGeom>
          <a:ln w="11430">
            <a:solidFill>
              <a:srgbClr val="5A5A5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572000" y="2697480"/>
            <a:ext cx="548640" cy="164592"/>
          </a:xfrm>
          <a:prstGeom prst="line">
            <a:avLst/>
          </a:prstGeom>
          <a:ln w="11430">
            <a:solidFill>
              <a:srgbClr val="5A5A5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697480" y="2697480"/>
            <a:ext cx="502920" cy="713232"/>
          </a:xfrm>
          <a:prstGeom prst="line">
            <a:avLst/>
          </a:prstGeom>
          <a:ln w="11430">
            <a:solidFill>
              <a:srgbClr val="5A5A5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572000" y="2697480"/>
            <a:ext cx="548640" cy="713232"/>
          </a:xfrm>
          <a:prstGeom prst="line">
            <a:avLst/>
          </a:prstGeom>
          <a:ln w="11430">
            <a:solidFill>
              <a:srgbClr val="5A5A5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217920" y="2697480"/>
            <a:ext cx="1051560" cy="0"/>
          </a:xfrm>
          <a:prstGeom prst="line">
            <a:avLst/>
          </a:prstGeom>
          <a:ln w="15875">
            <a:solidFill>
              <a:srgbClr val="0E284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486400" y="3035808"/>
            <a:ext cx="0" cy="941831"/>
          </a:xfrm>
          <a:prstGeom prst="line">
            <a:avLst/>
          </a:prstGeom>
          <a:ln w="11430">
            <a:solidFill>
              <a:srgbClr val="5A5A5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669280" y="3035808"/>
            <a:ext cx="914400" cy="941831"/>
          </a:xfrm>
          <a:prstGeom prst="line">
            <a:avLst/>
          </a:prstGeom>
          <a:ln w="11430">
            <a:solidFill>
              <a:srgbClr val="5A5A5A"/>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RQ3  ·  Why extend LightGCN, not Random Forest</a:t>
            </a:r>
          </a:p>
        </p:txBody>
      </p:sp>
      <p:sp>
        <p:nvSpPr>
          <p:cNvPr id="3" name="TextBox 2"/>
          <p:cNvSpPr txBox="1"/>
          <p:nvPr/>
        </p:nvSpPr>
        <p:spPr>
          <a:xfrm>
            <a:off x="502920" y="1508760"/>
            <a:ext cx="3886200" cy="2743200"/>
          </a:xfrm>
          <a:prstGeom prst="rect">
            <a:avLst/>
          </a:prstGeom>
          <a:noFill/>
        </p:spPr>
        <p:txBody>
          <a:bodyPr wrap="square" anchor="t" lIns="36576" rIns="36576" tIns="18288" bIns="18288">
            <a:spAutoFit/>
          </a:bodyPr>
          <a:lstStyle/>
          <a:p>
            <a:pPr algn="l">
              <a:lnSpc>
                <a:spcPct val="104000"/>
              </a:lnSpc>
              <a:spcBef>
                <a:spcPts val="400"/>
              </a:spcBef>
              <a:spcAft>
                <a:spcPts val="500"/>
              </a:spcAft>
              <a:buNone/>
            </a:pPr>
            <a:r>
              <a:rPr b="1" sz="1500">
                <a:solidFill>
                  <a:srgbClr val="0F9ED5"/>
                </a:solidFill>
                <a:latin typeface="Arial"/>
              </a:rPr>
              <a:t>LightGCN</a:t>
            </a:r>
          </a:p>
          <a:p>
            <a:pPr algn="l" marL="228600" indent="-228600">
              <a:lnSpc>
                <a:spcPct val="104000"/>
              </a:lnSpc>
              <a:spcBef>
                <a:spcPts val="400"/>
              </a:spcBef>
              <a:spcAft>
                <a:spcPts val="200"/>
              </a:spcAft>
              <a:buClr>
                <a:srgbClr val="0F9ED5"/>
              </a:buClr>
              <a:buFont typeface="Arial"/>
              <a:buChar char="▪"/>
            </a:pPr>
            <a:r>
              <a:rPr b="0" sz="1350">
                <a:solidFill>
                  <a:srgbClr val="0E2841"/>
                </a:solidFill>
                <a:latin typeface="Arial"/>
              </a:rPr>
              <a:t>Differentiable BPR loss: the coherence margin attaches directly at training time</a:t>
            </a:r>
          </a:p>
          <a:p>
            <a:pPr algn="l" marL="228600" indent="-228600">
              <a:lnSpc>
                <a:spcPct val="104000"/>
              </a:lnSpc>
              <a:spcBef>
                <a:spcPts val="400"/>
              </a:spcBef>
              <a:spcAft>
                <a:spcPts val="200"/>
              </a:spcAft>
              <a:buClr>
                <a:srgbClr val="0F9ED5"/>
              </a:buClr>
              <a:buFont typeface="Arial"/>
              <a:buChar char="▪"/>
            </a:pPr>
            <a:r>
              <a:rPr b="0" sz="1350">
                <a:solidFill>
                  <a:srgbClr val="0E2841"/>
                </a:solidFill>
                <a:latin typeface="Arial"/>
              </a:rPr>
              <a:t>Per-customer embeddings over the user-item graph: a user-level signal to condition on</a:t>
            </a:r>
          </a:p>
        </p:txBody>
      </p:sp>
      <p:sp>
        <p:nvSpPr>
          <p:cNvPr id="4" name="TextBox 3"/>
          <p:cNvSpPr txBox="1"/>
          <p:nvPr/>
        </p:nvSpPr>
        <p:spPr>
          <a:xfrm>
            <a:off x="4617720" y="1508760"/>
            <a:ext cx="4023360" cy="2743200"/>
          </a:xfrm>
          <a:prstGeom prst="rect">
            <a:avLst/>
          </a:prstGeom>
          <a:noFill/>
        </p:spPr>
        <p:txBody>
          <a:bodyPr wrap="square" anchor="t" lIns="36576" rIns="36576" tIns="18288" bIns="18288">
            <a:spAutoFit/>
          </a:bodyPr>
          <a:lstStyle/>
          <a:p>
            <a:pPr algn="l">
              <a:lnSpc>
                <a:spcPct val="104000"/>
              </a:lnSpc>
              <a:spcBef>
                <a:spcPts val="400"/>
              </a:spcBef>
              <a:spcAft>
                <a:spcPts val="500"/>
              </a:spcAft>
              <a:buNone/>
            </a:pPr>
            <a:r>
              <a:rPr b="1" sz="1500">
                <a:solidFill>
                  <a:srgbClr val="E97132"/>
                </a:solidFill>
                <a:latin typeface="Arial"/>
              </a:rPr>
              <a:t>Random Forest</a:t>
            </a:r>
          </a:p>
          <a:p>
            <a:pPr algn="l" marL="228600" indent="-228600">
              <a:lnSpc>
                <a:spcPct val="104000"/>
              </a:lnSpc>
              <a:spcBef>
                <a:spcPts val="400"/>
              </a:spcBef>
              <a:spcAft>
                <a:spcPts val="200"/>
              </a:spcAft>
              <a:buClr>
                <a:srgbClr val="E97132"/>
              </a:buClr>
              <a:buFont typeface="Arial"/>
              <a:buChar char="▪"/>
            </a:pPr>
            <a:r>
              <a:rPr b="0" sz="1350">
                <a:solidFill>
                  <a:srgbClr val="0E2841"/>
                </a:solidFill>
                <a:latin typeface="Arial"/>
              </a:rPr>
              <a:t>Ranks assets by predicted return from technical indicators alone</a:t>
            </a:r>
          </a:p>
          <a:p>
            <a:pPr algn="l" marL="228600" indent="-228600">
              <a:lnSpc>
                <a:spcPct val="104000"/>
              </a:lnSpc>
              <a:spcBef>
                <a:spcPts val="400"/>
              </a:spcBef>
              <a:spcAft>
                <a:spcPts val="200"/>
              </a:spcAft>
              <a:buClr>
                <a:srgbClr val="E97132"/>
              </a:buClr>
              <a:buFont typeface="Arial"/>
              <a:buChar char="▪"/>
            </a:pPr>
            <a:r>
              <a:rPr b="0" sz="1350">
                <a:solidFill>
                  <a:srgbClr val="0E2841"/>
                </a:solidFill>
                <a:latin typeface="Arial"/>
              </a:rPr>
              <a:t>No customer-level signal to condition on, so it is not extended</a:t>
            </a:r>
          </a:p>
        </p:txBody>
      </p:sp>
      <p:sp>
        <p:nvSpPr>
          <p:cNvPr id="5" name="Rounded Rectangle 4"/>
          <p:cNvSpPr/>
          <p:nvPr/>
        </p:nvSpPr>
        <p:spPr>
          <a:xfrm>
            <a:off x="502920" y="4160520"/>
            <a:ext cx="8138160" cy="530352"/>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1" sz="1300">
                <a:solidFill>
                  <a:srgbClr val="FFFFFF"/>
                </a:solidFill>
                <a:latin typeface="Arial"/>
              </a:rPr>
              <a:t>The extension needs a differentiable, customer-conditioned scorer, and LightGCN is the natural backbone.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RQ3  ·  Coherence margin, total loss, regrouping</a:t>
            </a:r>
          </a:p>
        </p:txBody>
      </p:sp>
      <p:sp>
        <p:nvSpPr>
          <p:cNvPr id="3" name="TextBox 2"/>
          <p:cNvSpPr txBox="1"/>
          <p:nvPr/>
        </p:nvSpPr>
        <p:spPr>
          <a:xfrm>
            <a:off x="502920" y="1371600"/>
            <a:ext cx="8138160" cy="146304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1" sz="1400">
                <a:solidFill>
                  <a:srgbClr val="156082"/>
                </a:solidFill>
                <a:latin typeface="Arial"/>
              </a:rPr>
              <a:t>Coherence margin</a:t>
            </a:r>
            <a:r>
              <a:rPr b="0" sz="1300">
                <a:solidFill>
                  <a:srgbClr val="0E2841"/>
                </a:solidFill>
                <a:latin typeface="Arial"/>
              </a:rPr>
              <a:t>: sample one coherent asset i_c (d ≤ 1) and one discordant asset i_d (d &gt; 1), push the coherent score above the discordant one</a:t>
            </a:r>
          </a:p>
        </p:txBody>
      </p:sp>
      <p:sp>
        <p:nvSpPr>
          <p:cNvPr id="4" name="Rounded Rectangle 3"/>
          <p:cNvSpPr/>
          <p:nvPr/>
        </p:nvSpPr>
        <p:spPr>
          <a:xfrm>
            <a:off x="1463040" y="2331720"/>
            <a:ext cx="6217920" cy="566928"/>
          </a:xfrm>
          <a:prstGeom prst="roundRect">
            <a:avLst>
              <a:gd name="adj" fmla="val 12000"/>
            </a:avLst>
          </a:prstGeom>
          <a:solidFill>
            <a:srgbClr val="F2F4F6"/>
          </a:solidFill>
          <a:ln w="9525">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buNone/>
            </a:pPr>
            <a:r>
              <a:rPr b="1" sz="1400">
                <a:solidFill>
                  <a:srgbClr val="0E2841"/>
                </a:solidFill>
                <a:latin typeface="Arial"/>
              </a:rPr>
              <a:t>L_coh(u) = softplus( s(u, i_d) − s(u, i_c) )</a:t>
            </a:r>
          </a:p>
        </p:txBody>
      </p:sp>
      <p:sp>
        <p:nvSpPr>
          <p:cNvPr id="5" name="Rounded Rectangle 4"/>
          <p:cNvSpPr/>
          <p:nvPr/>
        </p:nvSpPr>
        <p:spPr>
          <a:xfrm>
            <a:off x="1463040" y="3017520"/>
            <a:ext cx="6217920" cy="566928"/>
          </a:xfrm>
          <a:prstGeom prst="roundRect">
            <a:avLst>
              <a:gd name="adj" fmla="val 12000"/>
            </a:avLst>
          </a:prstGeom>
          <a:solidFill>
            <a:srgbClr val="F2F4F6"/>
          </a:solidFill>
          <a:ln w="9525">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100000"/>
              </a:lnSpc>
              <a:buNone/>
            </a:pPr>
            <a:r>
              <a:rPr b="1" sz="1400">
                <a:solidFill>
                  <a:srgbClr val="0E2841"/>
                </a:solidFill>
                <a:latin typeface="Arial"/>
              </a:rPr>
              <a:t>L = L_BPR + ω ‖Θ‖² + λ · L_coh</a:t>
            </a:r>
          </a:p>
        </p:txBody>
      </p:sp>
      <p:sp>
        <p:nvSpPr>
          <p:cNvPr id="6" name="TextBox 5"/>
          <p:cNvSpPr txBox="1"/>
          <p:nvPr/>
        </p:nvSpPr>
        <p:spPr>
          <a:xfrm>
            <a:off x="502920" y="3703320"/>
            <a:ext cx="8138160" cy="100584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0" sz="1250">
                <a:solidFill>
                  <a:srgbClr val="0E2841"/>
                </a:solidFill>
                <a:latin typeface="Arial"/>
              </a:rPr>
              <a:t>softplus(x) = ln(1 + e^x): a smooth, everywhere-differentiable hinge matching BPR's −ln σ(·) form</a:t>
            </a:r>
          </a:p>
          <a:p>
            <a:pPr algn="l" marL="228600" indent="-228600">
              <a:lnSpc>
                <a:spcPct val="104000"/>
              </a:lnSpc>
              <a:spcBef>
                <a:spcPts val="400"/>
              </a:spcBef>
              <a:spcAft>
                <a:spcPts val="200"/>
              </a:spcAft>
              <a:buClr>
                <a:srgbClr val="156082"/>
              </a:buClr>
              <a:buFont typeface="Arial"/>
              <a:buChar char="▪"/>
            </a:pPr>
            <a:r>
              <a:rPr b="1" sz="1300">
                <a:solidFill>
                  <a:srgbClr val="1E7A34"/>
                </a:solidFill>
                <a:latin typeface="Arial"/>
              </a:rPr>
              <a:t>Regrouping</a:t>
            </a:r>
            <a:r>
              <a:rPr b="0" sz="1250">
                <a:solidFill>
                  <a:srgbClr val="0E2841"/>
                </a:solidFill>
                <a:latin typeface="Arial"/>
              </a:rPr>
              <a:t>: reassign each customer to the band implied by purchases (lower median of bought-asset risk classes, ties → more conservative)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RQ3  ·  Ablation and evaluation setup</a:t>
            </a:r>
          </a:p>
        </p:txBody>
      </p:sp>
      <p:sp>
        <p:nvSpPr>
          <p:cNvPr id="3" name="TextBox 2"/>
          <p:cNvSpPr txBox="1"/>
          <p:nvPr/>
        </p:nvSpPr>
        <p:spPr>
          <a:xfrm>
            <a:off x="502920" y="1463040"/>
            <a:ext cx="8138160" cy="256032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The stratified PC-LightGCN inherits the best LightGCN trial's backbone hyperparameters</a:t>
            </a:r>
          </a:p>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Two trials on the same 69 splits isolate each component:</a:t>
            </a:r>
          </a:p>
          <a:p>
            <a:pPr algn="l" marL="502920" indent="-228600">
              <a:lnSpc>
                <a:spcPct val="104000"/>
              </a:lnSpc>
              <a:spcBef>
                <a:spcPts val="400"/>
              </a:spcBef>
              <a:spcAft>
                <a:spcPts val="200"/>
              </a:spcAft>
              <a:buClr>
                <a:srgbClr val="156082"/>
              </a:buClr>
              <a:buFont typeface="Arial"/>
              <a:buChar char="–"/>
            </a:pPr>
            <a:r>
              <a:rPr b="1" sz="1350">
                <a:solidFill>
                  <a:srgbClr val="156082"/>
                </a:solidFill>
                <a:latin typeface="Arial"/>
              </a:rPr>
              <a:t>λ = 0</a:t>
            </a:r>
            <a:r>
              <a:rPr b="0" sz="1350">
                <a:solidFill>
                  <a:srgbClr val="0E2841"/>
                </a:solidFill>
                <a:latin typeface="Arial"/>
              </a:rPr>
              <a:t>: stratified BPR alone, isolating the architecture</a:t>
            </a:r>
          </a:p>
          <a:p>
            <a:pPr algn="l" marL="502920" indent="-228600">
              <a:lnSpc>
                <a:spcPct val="104000"/>
              </a:lnSpc>
              <a:spcBef>
                <a:spcPts val="400"/>
              </a:spcBef>
              <a:spcAft>
                <a:spcPts val="200"/>
              </a:spcAft>
              <a:buClr>
                <a:srgbClr val="156082"/>
              </a:buClr>
              <a:buFont typeface="Arial"/>
              <a:buChar char="–"/>
            </a:pPr>
            <a:r>
              <a:rPr b="1" sz="1350">
                <a:solidFill>
                  <a:srgbClr val="156082"/>
                </a:solidFill>
                <a:latin typeface="Arial"/>
              </a:rPr>
              <a:t>λ = 1</a:t>
            </a:r>
            <a:r>
              <a:rPr b="0" sz="1350">
                <a:solidFill>
                  <a:srgbClr val="0E2841"/>
                </a:solidFill>
                <a:latin typeface="Arial"/>
              </a:rPr>
              <a:t>: adds the coherence margin on top</a:t>
            </a:r>
          </a:p>
          <a:p>
            <a:pPr algn="l" marL="228600" indent="-228600">
              <a:lnSpc>
                <a:spcPct val="104000"/>
              </a:lnSpc>
              <a:spcBef>
                <a:spcPts val="400"/>
              </a:spcBef>
              <a:spcAft>
                <a:spcPts val="200"/>
              </a:spcAft>
              <a:buClr>
                <a:srgbClr val="156082"/>
              </a:buClr>
              <a:buFont typeface="Arial"/>
              <a:buChar char="▪"/>
            </a:pPr>
            <a:r>
              <a:rPr b="0" sz="1400">
                <a:solidFill>
                  <a:srgbClr val="0E2841"/>
                </a:solidFill>
                <a:latin typeface="Arial"/>
              </a:rPr>
              <a:t>Regrouping is evaluated by rerunning the same λ ∈ {0, 1} ablation on the regrouped bands</a:t>
            </a:r>
          </a:p>
          <a:p>
            <a:pPr algn="l" marL="228600" indent="-228600">
              <a:lnSpc>
                <a:spcPct val="104000"/>
              </a:lnSpc>
              <a:spcBef>
                <a:spcPts val="400"/>
              </a:spcBef>
              <a:spcAft>
                <a:spcPts val="200"/>
              </a:spcAft>
              <a:buClr>
                <a:srgbClr val="156082"/>
              </a:buClr>
              <a:buFont typeface="Arial"/>
              <a:buChar char="▪"/>
            </a:pPr>
            <a:r>
              <a:rPr b="0" sz="1350">
                <a:solidFill>
                  <a:srgbClr val="0E2841"/>
                </a:solidFill>
                <a:latin typeface="Arial"/>
              </a:rPr>
              <a:t>Every metric is reported against the baseline LightGCN</a:t>
            </a:r>
          </a:p>
        </p:txBody>
      </p:sp>
      <p:sp>
        <p:nvSpPr>
          <p:cNvPr id="4" name="Rounded Rectangle 3"/>
          <p:cNvSpPr/>
          <p:nvPr/>
        </p:nvSpPr>
        <p:spPr>
          <a:xfrm>
            <a:off x="502920" y="4160520"/>
            <a:ext cx="8138160" cy="502920"/>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1" sz="1300">
                <a:solidFill>
                  <a:srgbClr val="FFFFFF"/>
                </a:solidFill>
                <a:latin typeface="Arial"/>
              </a:rPr>
              <a:t>Five configurations: baseline, declared λ ∈ {0,1}, and regrouped λ ∈ {0,1}.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RQ3  ·  Coherence gained at near-zero ranking cost</a:t>
            </a:r>
          </a:p>
        </p:txBody>
      </p:sp>
      <p:graphicFrame>
        <p:nvGraphicFramePr>
          <p:cNvPr id="3" name="Table 2"/>
          <p:cNvGraphicFramePr>
            <a:graphicFrameLocks noGrp="1"/>
          </p:cNvGraphicFramePr>
          <p:nvPr/>
        </p:nvGraphicFramePr>
        <p:xfrm>
          <a:off x="502920" y="1417320"/>
          <a:ext cx="7772400" cy="1865376"/>
        </p:xfrm>
        <a:graphic>
          <a:graphicData uri="http://schemas.openxmlformats.org/drawingml/2006/table">
            <a:tbl>
              <a:tblPr firstRow="0" bandRow="0">
                <a:tableStyleId>{5C22544A-7EE6-4342-B048-85BDC9FD1C3A}</a:tableStyleId>
              </a:tblPr>
              <a:tblGrid>
                <a:gridCol w="2331720"/>
                <a:gridCol w="1161288"/>
                <a:gridCol w="1161288"/>
                <a:gridCol w="1234440"/>
                <a:gridCol w="969264"/>
                <a:gridCol w="914400"/>
              </a:tblGrid>
              <a:tr h="310896">
                <a:tc>
                  <a:txBody>
                    <a:bodyPr wrap="square"/>
                    <a:lstStyle/>
                    <a:p>
                      <a:pPr algn="l">
                        <a:lnSpc>
                          <a:spcPct val="100000"/>
                        </a:lnSpc>
                      </a:pPr>
                      <a:r>
                        <a:rPr b="1" sz="1050">
                          <a:solidFill>
                            <a:srgbClr val="FFFFFF"/>
                          </a:solidFill>
                          <a:latin typeface="Arial"/>
                        </a:rPr>
                        <a:t>Trial</a:t>
                      </a:r>
                    </a:p>
                  </a:txBody>
                  <a:tcPr anchor="ctr" marL="45720" marR="45720" marT="9144" marB="9144">
                    <a:solidFill>
                      <a:srgbClr val="0E2841"/>
                    </a:solidFill>
                  </a:tcPr>
                </a:tc>
                <a:tc>
                  <a:txBody>
                    <a:bodyPr wrap="square"/>
                    <a:lstStyle/>
                    <a:p>
                      <a:pPr algn="ctr">
                        <a:lnSpc>
                          <a:spcPct val="100000"/>
                        </a:lnSpc>
                      </a:pPr>
                      <a:r>
                        <a:rPr b="1" sz="1050">
                          <a:solidFill>
                            <a:srgbClr val="FFFFFF"/>
                          </a:solidFill>
                          <a:latin typeface="Arial"/>
                        </a:rPr>
                        <a:t>nDCG@10</a:t>
                      </a:r>
                    </a:p>
                  </a:txBody>
                  <a:tcPr anchor="ctr" marL="45720" marR="45720" marT="9144" marB="9144">
                    <a:solidFill>
                      <a:srgbClr val="0E2841"/>
                    </a:solidFill>
                  </a:tcPr>
                </a:tc>
                <a:tc>
                  <a:txBody>
                    <a:bodyPr wrap="square"/>
                    <a:lstStyle/>
                    <a:p>
                      <a:pPr algn="ctr">
                        <a:lnSpc>
                          <a:spcPct val="100000"/>
                        </a:lnSpc>
                      </a:pPr>
                      <a:r>
                        <a:rPr b="1" sz="1050">
                          <a:solidFill>
                            <a:srgbClr val="FFFFFF"/>
                          </a:solidFill>
                          <a:latin typeface="Arial"/>
                        </a:rPr>
                        <a:t>ROI@10</a:t>
                      </a:r>
                    </a:p>
                  </a:txBody>
                  <a:tcPr anchor="ctr" marL="45720" marR="45720" marT="9144" marB="9144">
                    <a:solidFill>
                      <a:srgbClr val="0E2841"/>
                    </a:solidFill>
                  </a:tcPr>
                </a:tc>
                <a:tc>
                  <a:txBody>
                    <a:bodyPr wrap="square"/>
                    <a:lstStyle/>
                    <a:p>
                      <a:pPr algn="ctr">
                        <a:lnSpc>
                          <a:spcPct val="100000"/>
                        </a:lnSpc>
                      </a:pPr>
                      <a:r>
                        <a:rPr b="1" sz="1050">
                          <a:solidFill>
                            <a:srgbClr val="FFFFFF"/>
                          </a:solidFill>
                          <a:latin typeface="Arial"/>
                        </a:rPr>
                        <a:t>Recall@10</a:t>
                      </a:r>
                    </a:p>
                  </a:txBody>
                  <a:tcPr anchor="ctr" marL="45720" marR="45720" marT="9144" marB="9144">
                    <a:solidFill>
                      <a:srgbClr val="0E2841"/>
                    </a:solidFill>
                  </a:tcPr>
                </a:tc>
                <a:tc>
                  <a:txBody>
                    <a:bodyPr wrap="square"/>
                    <a:lstStyle/>
                    <a:p>
                      <a:pPr algn="ctr">
                        <a:lnSpc>
                          <a:spcPct val="100000"/>
                        </a:lnSpc>
                      </a:pPr>
                      <a:r>
                        <a:rPr b="1" sz="1050">
                          <a:solidFill>
                            <a:srgbClr val="FFFFFF"/>
                          </a:solidFill>
                          <a:latin typeface="Arial"/>
                        </a:rPr>
                        <a:t>PC@10</a:t>
                      </a:r>
                    </a:p>
                  </a:txBody>
                  <a:tcPr anchor="ctr" marL="45720" marR="45720" marT="9144" marB="9144">
                    <a:solidFill>
                      <a:srgbClr val="0E2841"/>
                    </a:solidFill>
                  </a:tcPr>
                </a:tc>
                <a:tc>
                  <a:txBody>
                    <a:bodyPr wrap="square"/>
                    <a:lstStyle/>
                    <a:p>
                      <a:pPr algn="ctr">
                        <a:lnSpc>
                          <a:spcPct val="100000"/>
                        </a:lnSpc>
                      </a:pPr>
                      <a:r>
                        <a:rPr b="1" sz="1050">
                          <a:solidFill>
                            <a:srgbClr val="FFFFFF"/>
                          </a:solidFill>
                          <a:latin typeface="Arial"/>
                        </a:rPr>
                        <a:t>PC-lift@10</a:t>
                      </a:r>
                    </a:p>
                  </a:txBody>
                  <a:tcPr anchor="ctr" marL="45720" marR="45720" marT="9144" marB="9144">
                    <a:solidFill>
                      <a:srgbClr val="0E2841"/>
                    </a:solidFill>
                  </a:tcPr>
                </a:tc>
              </a:tr>
              <a:tr h="310896">
                <a:tc>
                  <a:txBody>
                    <a:bodyPr wrap="square"/>
                    <a:lstStyle/>
                    <a:p>
                      <a:pPr algn="l">
                        <a:lnSpc>
                          <a:spcPct val="100000"/>
                        </a:lnSpc>
                      </a:pPr>
                      <a:r>
                        <a:rPr b="1" sz="950">
                          <a:solidFill>
                            <a:srgbClr val="0E2841"/>
                          </a:solidFill>
                          <a:latin typeface="Arial"/>
                        </a:rPr>
                        <a:t>Baseline LightGCN</a:t>
                      </a:r>
                    </a:p>
                  </a:txBody>
                  <a:tcPr anchor="ctr" marL="45720" marR="45720" marT="9144" marB="9144">
                    <a:noFill/>
                  </a:tcPr>
                </a:tc>
                <a:tc>
                  <a:txBody>
                    <a:bodyPr wrap="square"/>
                    <a:lstStyle/>
                    <a:p>
                      <a:pPr algn="ctr">
                        <a:lnSpc>
                          <a:spcPct val="100000"/>
                        </a:lnSpc>
                      </a:pPr>
                      <a:r>
                        <a:rPr b="0" sz="950">
                          <a:solidFill>
                            <a:srgbClr val="0E2841"/>
                          </a:solidFill>
                          <a:latin typeface="Arial"/>
                        </a:rPr>
                        <a:t>0.330</a:t>
                      </a:r>
                    </a:p>
                  </a:txBody>
                  <a:tcPr anchor="ctr" marL="45720" marR="45720" marT="9144" marB="9144">
                    <a:noFill/>
                  </a:tcPr>
                </a:tc>
                <a:tc>
                  <a:txBody>
                    <a:bodyPr wrap="square"/>
                    <a:lstStyle/>
                    <a:p>
                      <a:pPr algn="ctr">
                        <a:lnSpc>
                          <a:spcPct val="100000"/>
                        </a:lnSpc>
                      </a:pPr>
                      <a:r>
                        <a:rPr b="0" sz="950">
                          <a:solidFill>
                            <a:srgbClr val="0E2841"/>
                          </a:solidFill>
                          <a:latin typeface="Arial"/>
                        </a:rPr>
                        <a:t>-0.005</a:t>
                      </a:r>
                    </a:p>
                  </a:txBody>
                  <a:tcPr anchor="ctr" marL="45720" marR="45720" marT="9144" marB="9144">
                    <a:noFill/>
                  </a:tcPr>
                </a:tc>
                <a:tc>
                  <a:txBody>
                    <a:bodyPr wrap="square"/>
                    <a:lstStyle/>
                    <a:p>
                      <a:pPr algn="ctr">
                        <a:lnSpc>
                          <a:spcPct val="100000"/>
                        </a:lnSpc>
                      </a:pPr>
                      <a:r>
                        <a:rPr b="0" sz="950">
                          <a:solidFill>
                            <a:srgbClr val="0E2841"/>
                          </a:solidFill>
                          <a:latin typeface="Arial"/>
                        </a:rPr>
                        <a:t>0.495</a:t>
                      </a:r>
                    </a:p>
                  </a:txBody>
                  <a:tcPr anchor="ctr" marL="45720" marR="45720" marT="9144" marB="9144">
                    <a:noFill/>
                  </a:tcPr>
                </a:tc>
                <a:tc>
                  <a:txBody>
                    <a:bodyPr wrap="square"/>
                    <a:lstStyle/>
                    <a:p>
                      <a:pPr algn="ctr">
                        <a:lnSpc>
                          <a:spcPct val="100000"/>
                        </a:lnSpc>
                      </a:pPr>
                      <a:r>
                        <a:rPr b="1" sz="950">
                          <a:solidFill>
                            <a:srgbClr val="0E2841"/>
                          </a:solidFill>
                          <a:latin typeface="Arial"/>
                        </a:rPr>
                        <a:t>0.794</a:t>
                      </a:r>
                    </a:p>
                  </a:txBody>
                  <a:tcPr anchor="ctr" marL="45720" marR="45720" marT="9144" marB="9144">
                    <a:noFill/>
                  </a:tcPr>
                </a:tc>
                <a:tc>
                  <a:txBody>
                    <a:bodyPr wrap="square"/>
                    <a:lstStyle/>
                    <a:p>
                      <a:pPr algn="ctr">
                        <a:lnSpc>
                          <a:spcPct val="100000"/>
                        </a:lnSpc>
                      </a:pPr>
                      <a:r>
                        <a:rPr b="0" sz="950">
                          <a:solidFill>
                            <a:srgbClr val="0E2841"/>
                          </a:solidFill>
                          <a:latin typeface="Arial"/>
                        </a:rPr>
                        <a:t>1.17×</a:t>
                      </a:r>
                    </a:p>
                  </a:txBody>
                  <a:tcPr anchor="ctr" marL="45720" marR="45720" marT="9144" marB="9144">
                    <a:noFill/>
                  </a:tcPr>
                </a:tc>
              </a:tr>
              <a:tr h="310896">
                <a:tc>
                  <a:txBody>
                    <a:bodyPr wrap="square"/>
                    <a:lstStyle/>
                    <a:p>
                      <a:pPr algn="l">
                        <a:lnSpc>
                          <a:spcPct val="100000"/>
                        </a:lnSpc>
                      </a:pPr>
                      <a:r>
                        <a:rPr b="1" sz="950">
                          <a:solidFill>
                            <a:srgbClr val="0E2841"/>
                          </a:solidFill>
                          <a:latin typeface="Arial"/>
                        </a:rPr>
                        <a:t>Declared  ·  Stratify (λ=0)</a:t>
                      </a:r>
                    </a:p>
                  </a:txBody>
                  <a:tcPr anchor="ctr" marL="45720" marR="45720" marT="9144" marB="9144">
                    <a:noFill/>
                  </a:tcPr>
                </a:tc>
                <a:tc>
                  <a:txBody>
                    <a:bodyPr wrap="square"/>
                    <a:lstStyle/>
                    <a:p>
                      <a:pPr algn="ctr">
                        <a:lnSpc>
                          <a:spcPct val="100000"/>
                        </a:lnSpc>
                      </a:pPr>
                      <a:r>
                        <a:rPr b="0" sz="950">
                          <a:solidFill>
                            <a:srgbClr val="0E2841"/>
                          </a:solidFill>
                          <a:latin typeface="Arial"/>
                        </a:rPr>
                        <a:t>0.332</a:t>
                      </a:r>
                    </a:p>
                  </a:txBody>
                  <a:tcPr anchor="ctr" marL="45720" marR="45720" marT="9144" marB="9144">
                    <a:noFill/>
                  </a:tcPr>
                </a:tc>
                <a:tc>
                  <a:txBody>
                    <a:bodyPr wrap="square"/>
                    <a:lstStyle/>
                    <a:p>
                      <a:pPr algn="ctr">
                        <a:lnSpc>
                          <a:spcPct val="100000"/>
                        </a:lnSpc>
                      </a:pPr>
                      <a:r>
                        <a:rPr b="0" sz="950">
                          <a:solidFill>
                            <a:srgbClr val="0E2841"/>
                          </a:solidFill>
                          <a:latin typeface="Arial"/>
                        </a:rPr>
                        <a:t>-0.007</a:t>
                      </a:r>
                    </a:p>
                  </a:txBody>
                  <a:tcPr anchor="ctr" marL="45720" marR="45720" marT="9144" marB="9144">
                    <a:noFill/>
                  </a:tcPr>
                </a:tc>
                <a:tc>
                  <a:txBody>
                    <a:bodyPr wrap="square"/>
                    <a:lstStyle/>
                    <a:p>
                      <a:pPr algn="ctr">
                        <a:lnSpc>
                          <a:spcPct val="100000"/>
                        </a:lnSpc>
                      </a:pPr>
                      <a:r>
                        <a:rPr b="0" sz="950">
                          <a:solidFill>
                            <a:srgbClr val="0E2841"/>
                          </a:solidFill>
                          <a:latin typeface="Arial"/>
                        </a:rPr>
                        <a:t>0.501</a:t>
                      </a:r>
                    </a:p>
                  </a:txBody>
                  <a:tcPr anchor="ctr" marL="45720" marR="45720" marT="9144" marB="9144">
                    <a:noFill/>
                  </a:tcPr>
                </a:tc>
                <a:tc>
                  <a:txBody>
                    <a:bodyPr wrap="square"/>
                    <a:lstStyle/>
                    <a:p>
                      <a:pPr algn="ctr">
                        <a:lnSpc>
                          <a:spcPct val="100000"/>
                        </a:lnSpc>
                      </a:pPr>
                      <a:r>
                        <a:rPr b="1" sz="950">
                          <a:solidFill>
                            <a:srgbClr val="0E2841"/>
                          </a:solidFill>
                          <a:latin typeface="Arial"/>
                        </a:rPr>
                        <a:t>0.821</a:t>
                      </a:r>
                    </a:p>
                  </a:txBody>
                  <a:tcPr anchor="ctr" marL="45720" marR="45720" marT="9144" marB="9144">
                    <a:noFill/>
                  </a:tcPr>
                </a:tc>
                <a:tc>
                  <a:txBody>
                    <a:bodyPr wrap="square"/>
                    <a:lstStyle/>
                    <a:p>
                      <a:pPr algn="ctr">
                        <a:lnSpc>
                          <a:spcPct val="100000"/>
                        </a:lnSpc>
                      </a:pPr>
                      <a:r>
                        <a:rPr b="0" sz="950">
                          <a:solidFill>
                            <a:srgbClr val="0E2841"/>
                          </a:solidFill>
                          <a:latin typeface="Arial"/>
                        </a:rPr>
                        <a:t>1.19×</a:t>
                      </a:r>
                    </a:p>
                  </a:txBody>
                  <a:tcPr anchor="ctr" marL="45720" marR="45720" marT="9144" marB="9144">
                    <a:noFill/>
                  </a:tcPr>
                </a:tc>
              </a:tr>
              <a:tr h="310896">
                <a:tc>
                  <a:txBody>
                    <a:bodyPr wrap="square"/>
                    <a:lstStyle/>
                    <a:p>
                      <a:pPr algn="l">
                        <a:lnSpc>
                          <a:spcPct val="100000"/>
                        </a:lnSpc>
                      </a:pPr>
                      <a:r>
                        <a:rPr b="1" sz="950">
                          <a:solidFill>
                            <a:srgbClr val="0E2841"/>
                          </a:solidFill>
                          <a:latin typeface="Arial"/>
                        </a:rPr>
                        <a:t>Declared  ·  Stratify + PC (λ=1)</a:t>
                      </a:r>
                    </a:p>
                  </a:txBody>
                  <a:tcPr anchor="ctr" marL="45720" marR="45720" marT="9144" marB="9144">
                    <a:noFill/>
                  </a:tcPr>
                </a:tc>
                <a:tc>
                  <a:txBody>
                    <a:bodyPr wrap="square"/>
                    <a:lstStyle/>
                    <a:p>
                      <a:pPr algn="ctr">
                        <a:lnSpc>
                          <a:spcPct val="100000"/>
                        </a:lnSpc>
                      </a:pPr>
                      <a:r>
                        <a:rPr b="0" sz="950">
                          <a:solidFill>
                            <a:srgbClr val="0E2841"/>
                          </a:solidFill>
                          <a:latin typeface="Arial"/>
                        </a:rPr>
                        <a:t>0.309</a:t>
                      </a:r>
                    </a:p>
                  </a:txBody>
                  <a:tcPr anchor="ctr" marL="45720" marR="45720" marT="9144" marB="9144">
                    <a:noFill/>
                  </a:tcPr>
                </a:tc>
                <a:tc>
                  <a:txBody>
                    <a:bodyPr wrap="square"/>
                    <a:lstStyle/>
                    <a:p>
                      <a:pPr algn="ctr">
                        <a:lnSpc>
                          <a:spcPct val="100000"/>
                        </a:lnSpc>
                      </a:pPr>
                      <a:r>
                        <a:rPr b="0" sz="950">
                          <a:solidFill>
                            <a:srgbClr val="0E2841"/>
                          </a:solidFill>
                          <a:latin typeface="Arial"/>
                        </a:rPr>
                        <a:t>-0.007</a:t>
                      </a:r>
                    </a:p>
                  </a:txBody>
                  <a:tcPr anchor="ctr" marL="45720" marR="45720" marT="9144" marB="9144">
                    <a:noFill/>
                  </a:tcPr>
                </a:tc>
                <a:tc>
                  <a:txBody>
                    <a:bodyPr wrap="square"/>
                    <a:lstStyle/>
                    <a:p>
                      <a:pPr algn="ctr">
                        <a:lnSpc>
                          <a:spcPct val="100000"/>
                        </a:lnSpc>
                      </a:pPr>
                      <a:r>
                        <a:rPr b="0" sz="950">
                          <a:solidFill>
                            <a:srgbClr val="0E2841"/>
                          </a:solidFill>
                          <a:latin typeface="Arial"/>
                        </a:rPr>
                        <a:t>0.467</a:t>
                      </a:r>
                    </a:p>
                  </a:txBody>
                  <a:tcPr anchor="ctr" marL="45720" marR="45720" marT="9144" marB="9144">
                    <a:noFill/>
                  </a:tcPr>
                </a:tc>
                <a:tc>
                  <a:txBody>
                    <a:bodyPr wrap="square"/>
                    <a:lstStyle/>
                    <a:p>
                      <a:pPr algn="ctr">
                        <a:lnSpc>
                          <a:spcPct val="100000"/>
                        </a:lnSpc>
                      </a:pPr>
                      <a:r>
                        <a:rPr b="1" sz="950">
                          <a:solidFill>
                            <a:srgbClr val="0E2841"/>
                          </a:solidFill>
                          <a:latin typeface="Arial"/>
                        </a:rPr>
                        <a:t>0.918</a:t>
                      </a:r>
                    </a:p>
                  </a:txBody>
                  <a:tcPr anchor="ctr" marL="45720" marR="45720" marT="9144" marB="9144">
                    <a:noFill/>
                  </a:tcPr>
                </a:tc>
                <a:tc>
                  <a:txBody>
                    <a:bodyPr wrap="square"/>
                    <a:lstStyle/>
                    <a:p>
                      <a:pPr algn="ctr">
                        <a:lnSpc>
                          <a:spcPct val="100000"/>
                        </a:lnSpc>
                      </a:pPr>
                      <a:r>
                        <a:rPr b="0" sz="950">
                          <a:solidFill>
                            <a:srgbClr val="0E2841"/>
                          </a:solidFill>
                          <a:latin typeface="Arial"/>
                        </a:rPr>
                        <a:t>1.40×</a:t>
                      </a:r>
                    </a:p>
                  </a:txBody>
                  <a:tcPr anchor="ctr" marL="45720" marR="45720" marT="9144" marB="9144">
                    <a:noFill/>
                  </a:tcPr>
                </a:tc>
              </a:tr>
              <a:tr h="310896">
                <a:tc>
                  <a:txBody>
                    <a:bodyPr wrap="square"/>
                    <a:lstStyle/>
                    <a:p>
                      <a:pPr algn="l">
                        <a:lnSpc>
                          <a:spcPct val="100000"/>
                        </a:lnSpc>
                      </a:pPr>
                      <a:r>
                        <a:rPr b="1" sz="950">
                          <a:solidFill>
                            <a:srgbClr val="0E2841"/>
                          </a:solidFill>
                          <a:latin typeface="Arial"/>
                        </a:rPr>
                        <a:t>Regrouped  ·  Stratify (λ=0)</a:t>
                      </a:r>
                    </a:p>
                  </a:txBody>
                  <a:tcPr anchor="ctr" marL="45720" marR="45720" marT="9144" marB="9144">
                    <a:solidFill>
                      <a:srgbClr val="E4F1E6"/>
                    </a:solidFill>
                  </a:tcPr>
                </a:tc>
                <a:tc>
                  <a:txBody>
                    <a:bodyPr wrap="square"/>
                    <a:lstStyle/>
                    <a:p>
                      <a:pPr algn="ctr">
                        <a:lnSpc>
                          <a:spcPct val="100000"/>
                        </a:lnSpc>
                      </a:pPr>
                      <a:r>
                        <a:rPr b="0" sz="950">
                          <a:solidFill>
                            <a:srgbClr val="0E2841"/>
                          </a:solidFill>
                          <a:latin typeface="Arial"/>
                        </a:rPr>
                        <a:t>0.352</a:t>
                      </a:r>
                    </a:p>
                  </a:txBody>
                  <a:tcPr anchor="ctr" marL="45720" marR="45720" marT="9144" marB="9144">
                    <a:solidFill>
                      <a:srgbClr val="E4F1E6"/>
                    </a:solidFill>
                  </a:tcPr>
                </a:tc>
                <a:tc>
                  <a:txBody>
                    <a:bodyPr wrap="square"/>
                    <a:lstStyle/>
                    <a:p>
                      <a:pPr algn="ctr">
                        <a:lnSpc>
                          <a:spcPct val="100000"/>
                        </a:lnSpc>
                      </a:pPr>
                      <a:r>
                        <a:rPr b="0" sz="950">
                          <a:solidFill>
                            <a:srgbClr val="0E2841"/>
                          </a:solidFill>
                          <a:latin typeface="Arial"/>
                        </a:rPr>
                        <a:t>-0.006</a:t>
                      </a:r>
                    </a:p>
                  </a:txBody>
                  <a:tcPr anchor="ctr" marL="45720" marR="45720" marT="9144" marB="9144">
                    <a:solidFill>
                      <a:srgbClr val="E4F1E6"/>
                    </a:solidFill>
                  </a:tcPr>
                </a:tc>
                <a:tc>
                  <a:txBody>
                    <a:bodyPr wrap="square"/>
                    <a:lstStyle/>
                    <a:p>
                      <a:pPr algn="ctr">
                        <a:lnSpc>
                          <a:spcPct val="100000"/>
                        </a:lnSpc>
                      </a:pPr>
                      <a:r>
                        <a:rPr b="0" sz="950">
                          <a:solidFill>
                            <a:srgbClr val="0E2841"/>
                          </a:solidFill>
                          <a:latin typeface="Arial"/>
                        </a:rPr>
                        <a:t>0.522</a:t>
                      </a:r>
                    </a:p>
                  </a:txBody>
                  <a:tcPr anchor="ctr" marL="45720" marR="45720" marT="9144" marB="9144">
                    <a:solidFill>
                      <a:srgbClr val="E4F1E6"/>
                    </a:solidFill>
                  </a:tcPr>
                </a:tc>
                <a:tc>
                  <a:txBody>
                    <a:bodyPr wrap="square"/>
                    <a:lstStyle/>
                    <a:p>
                      <a:pPr algn="ctr">
                        <a:lnSpc>
                          <a:spcPct val="100000"/>
                        </a:lnSpc>
                      </a:pPr>
                      <a:r>
                        <a:rPr b="1" sz="950">
                          <a:solidFill>
                            <a:srgbClr val="1E7A34"/>
                          </a:solidFill>
                          <a:latin typeface="Arial"/>
                        </a:rPr>
                        <a:t>0.949</a:t>
                      </a:r>
                    </a:p>
                  </a:txBody>
                  <a:tcPr anchor="ctr" marL="45720" marR="45720" marT="9144" marB="9144">
                    <a:solidFill>
                      <a:srgbClr val="E4F1E6"/>
                    </a:solidFill>
                  </a:tcPr>
                </a:tc>
                <a:tc>
                  <a:txBody>
                    <a:bodyPr wrap="square"/>
                    <a:lstStyle/>
                    <a:p>
                      <a:pPr algn="ctr">
                        <a:lnSpc>
                          <a:spcPct val="100000"/>
                        </a:lnSpc>
                      </a:pPr>
                      <a:r>
                        <a:rPr b="0" sz="950">
                          <a:solidFill>
                            <a:srgbClr val="0E2841"/>
                          </a:solidFill>
                          <a:latin typeface="Arial"/>
                        </a:rPr>
                        <a:t>n/a</a:t>
                      </a:r>
                    </a:p>
                  </a:txBody>
                  <a:tcPr anchor="ctr" marL="45720" marR="45720" marT="9144" marB="9144">
                    <a:solidFill>
                      <a:srgbClr val="E4F1E6"/>
                    </a:solidFill>
                  </a:tcPr>
                </a:tc>
              </a:tr>
              <a:tr h="310896">
                <a:tc>
                  <a:txBody>
                    <a:bodyPr wrap="square"/>
                    <a:lstStyle/>
                    <a:p>
                      <a:pPr algn="l">
                        <a:lnSpc>
                          <a:spcPct val="100000"/>
                        </a:lnSpc>
                      </a:pPr>
                      <a:r>
                        <a:rPr b="1" sz="950">
                          <a:solidFill>
                            <a:srgbClr val="0E2841"/>
                          </a:solidFill>
                          <a:latin typeface="Arial"/>
                        </a:rPr>
                        <a:t>Regrouped  ·  Stratify + PC (λ=1)</a:t>
                      </a:r>
                    </a:p>
                  </a:txBody>
                  <a:tcPr anchor="ctr" marL="45720" marR="45720" marT="9144" marB="9144">
                    <a:noFill/>
                  </a:tcPr>
                </a:tc>
                <a:tc>
                  <a:txBody>
                    <a:bodyPr wrap="square"/>
                    <a:lstStyle/>
                    <a:p>
                      <a:pPr algn="ctr">
                        <a:lnSpc>
                          <a:spcPct val="100000"/>
                        </a:lnSpc>
                      </a:pPr>
                      <a:r>
                        <a:rPr b="0" sz="950">
                          <a:solidFill>
                            <a:srgbClr val="0E2841"/>
                          </a:solidFill>
                          <a:latin typeface="Arial"/>
                        </a:rPr>
                        <a:t>0.333</a:t>
                      </a:r>
                    </a:p>
                  </a:txBody>
                  <a:tcPr anchor="ctr" marL="45720" marR="45720" marT="9144" marB="9144">
                    <a:noFill/>
                  </a:tcPr>
                </a:tc>
                <a:tc>
                  <a:txBody>
                    <a:bodyPr wrap="square"/>
                    <a:lstStyle/>
                    <a:p>
                      <a:pPr algn="ctr">
                        <a:lnSpc>
                          <a:spcPct val="100000"/>
                        </a:lnSpc>
                      </a:pPr>
                      <a:r>
                        <a:rPr b="0" sz="950">
                          <a:solidFill>
                            <a:srgbClr val="0E2841"/>
                          </a:solidFill>
                          <a:latin typeface="Arial"/>
                        </a:rPr>
                        <a:t>-0.005</a:t>
                      </a:r>
                    </a:p>
                  </a:txBody>
                  <a:tcPr anchor="ctr" marL="45720" marR="45720" marT="9144" marB="9144">
                    <a:noFill/>
                  </a:tcPr>
                </a:tc>
                <a:tc>
                  <a:txBody>
                    <a:bodyPr wrap="square"/>
                    <a:lstStyle/>
                    <a:p>
                      <a:pPr algn="ctr">
                        <a:lnSpc>
                          <a:spcPct val="100000"/>
                        </a:lnSpc>
                      </a:pPr>
                      <a:r>
                        <a:rPr b="0" sz="950">
                          <a:solidFill>
                            <a:srgbClr val="0E2841"/>
                          </a:solidFill>
                          <a:latin typeface="Arial"/>
                        </a:rPr>
                        <a:t>0.493</a:t>
                      </a:r>
                    </a:p>
                  </a:txBody>
                  <a:tcPr anchor="ctr" marL="45720" marR="45720" marT="9144" marB="9144">
                    <a:noFill/>
                  </a:tcPr>
                </a:tc>
                <a:tc>
                  <a:txBody>
                    <a:bodyPr wrap="square"/>
                    <a:lstStyle/>
                    <a:p>
                      <a:pPr algn="ctr">
                        <a:lnSpc>
                          <a:spcPct val="100000"/>
                        </a:lnSpc>
                      </a:pPr>
                      <a:r>
                        <a:rPr b="1" sz="950">
                          <a:solidFill>
                            <a:srgbClr val="0E2841"/>
                          </a:solidFill>
                          <a:latin typeface="Arial"/>
                        </a:rPr>
                        <a:t>0.982</a:t>
                      </a:r>
                    </a:p>
                  </a:txBody>
                  <a:tcPr anchor="ctr" marL="45720" marR="45720" marT="9144" marB="9144">
                    <a:noFill/>
                  </a:tcPr>
                </a:tc>
                <a:tc>
                  <a:txBody>
                    <a:bodyPr wrap="square"/>
                    <a:lstStyle/>
                    <a:p>
                      <a:pPr algn="ctr">
                        <a:lnSpc>
                          <a:spcPct val="100000"/>
                        </a:lnSpc>
                      </a:pPr>
                      <a:r>
                        <a:rPr b="0" sz="950">
                          <a:solidFill>
                            <a:srgbClr val="0E2841"/>
                          </a:solidFill>
                          <a:latin typeface="Arial"/>
                        </a:rPr>
                        <a:t>n/a</a:t>
                      </a:r>
                    </a:p>
                  </a:txBody>
                  <a:tcPr anchor="ctr" marL="45720" marR="45720" marT="9144" marB="9144">
                    <a:noFill/>
                  </a:tcPr>
                </a:tc>
              </a:tr>
            </a:tbl>
          </a:graphicData>
        </a:graphic>
      </p:graphicFrame>
      <p:sp>
        <p:nvSpPr>
          <p:cNvPr id="4" name="TextBox 3"/>
          <p:cNvSpPr txBox="1"/>
          <p:nvPr/>
        </p:nvSpPr>
        <p:spPr>
          <a:xfrm>
            <a:off x="502920" y="3611880"/>
            <a:ext cx="8138160" cy="109728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0" sz="1250">
                <a:solidFill>
                  <a:srgbClr val="0E2841"/>
                </a:solidFill>
                <a:latin typeface="Arial"/>
              </a:rPr>
              <a:t>Declared λ=1 lifts PC@10 0.794 → 0.918 (+12.4 pp): stratification is cheap (+2.7 pp), the margin buys the rest at a bounded ranking cost</a:t>
            </a:r>
          </a:p>
          <a:p>
            <a:pPr algn="l" marL="228600" indent="-228600">
              <a:lnSpc>
                <a:spcPct val="104000"/>
              </a:lnSpc>
              <a:spcBef>
                <a:spcPts val="400"/>
              </a:spcBef>
              <a:spcAft>
                <a:spcPts val="200"/>
              </a:spcAft>
              <a:buClr>
                <a:srgbClr val="156082"/>
              </a:buClr>
              <a:buFont typeface="Arial"/>
              <a:buChar char="▪"/>
            </a:pPr>
            <a:r>
              <a:rPr b="1" sz="1300">
                <a:solidFill>
                  <a:srgbClr val="1E7A34"/>
                </a:solidFill>
                <a:latin typeface="Arial"/>
              </a:rPr>
              <a:t>Regrouped λ=0 is the recommended operating point</a:t>
            </a:r>
            <a:r>
              <a:rPr b="0" sz="1250">
                <a:solidFill>
                  <a:srgbClr val="0E2841"/>
                </a:solidFill>
                <a:latin typeface="Arial"/>
              </a:rPr>
              <a:t>: PC@10 0.949 while also raising nDCG and Recall, ROI flat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RQ3  ·  Regrouping is the winning lever</a:t>
            </a:r>
          </a:p>
        </p:txBody>
      </p:sp>
      <p:sp>
        <p:nvSpPr>
          <p:cNvPr id="3" name="Rounded Rectangle 2"/>
          <p:cNvSpPr/>
          <p:nvPr/>
        </p:nvSpPr>
        <p:spPr>
          <a:xfrm>
            <a:off x="457200" y="1280160"/>
            <a:ext cx="8229600" cy="676656"/>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0" sz="1250">
                <a:solidFill>
                  <a:srgbClr val="FFFFFF"/>
                </a:solidFill>
                <a:latin typeface="Arial"/>
              </a:rPr>
              <a:t>Regrouped λ=0 wins on </a:t>
            </a:r>
            <a:r>
              <a:rPr b="1" sz="1250">
                <a:solidFill>
                  <a:srgbClr val="FFFFFF"/>
                </a:solidFill>
                <a:latin typeface="Arial"/>
              </a:rPr>
              <a:t>every one of the 69 splits</a:t>
            </a:r>
            <a:r>
              <a:rPr b="0" sz="1250">
                <a:solidFill>
                  <a:srgbClr val="FFFFFF"/>
                </a:solidFill>
                <a:latin typeface="Arial"/>
              </a:rPr>
              <a:t> for PC@10, nDCG, and Recall, with ROI flat. Correcting labels beats penalising incoherence.</a:t>
            </a:r>
          </a:p>
        </p:txBody>
      </p:sp>
      <p:pic>
        <p:nvPicPr>
          <p:cNvPr id="4" name="Picture 3" descr="paired_win_rates.png"/>
          <p:cNvPicPr>
            <a:picLocks noChangeAspect="1"/>
          </p:cNvPicPr>
          <p:nvPr/>
        </p:nvPicPr>
        <p:blipFill>
          <a:blip r:embed="rId2"/>
          <a:stretch>
            <a:fillRect/>
          </a:stretch>
        </p:blipFill>
        <p:spPr>
          <a:xfrm>
            <a:off x="1724880" y="2103120"/>
            <a:ext cx="1762318" cy="2606040"/>
          </a:xfrm>
          <a:prstGeom prst="rect">
            <a:avLst/>
          </a:prstGeom>
        </p:spPr>
      </p:pic>
      <p:pic>
        <p:nvPicPr>
          <p:cNvPr id="5" name="Picture 4" descr="paired_deltas.png"/>
          <p:cNvPicPr>
            <a:picLocks noChangeAspect="1"/>
          </p:cNvPicPr>
          <p:nvPr/>
        </p:nvPicPr>
        <p:blipFill>
          <a:blip r:embed="rId3"/>
          <a:stretch>
            <a:fillRect/>
          </a:stretch>
        </p:blipFill>
        <p:spPr>
          <a:xfrm>
            <a:off x="5379741" y="2103120"/>
            <a:ext cx="1767797" cy="2606040"/>
          </a:xfrm>
          <a:prstGeom prst="rect">
            <a:avLst/>
          </a:prstGeom>
        </p:spPr>
      </p:pic>
      <p:sp>
        <p:nvSpPr>
          <p:cNvPr id="6" name="TextBox 5"/>
          <p:cNvSpPr txBox="1"/>
          <p:nvPr/>
        </p:nvSpPr>
        <p:spPr>
          <a:xfrm>
            <a:off x="822960" y="4663440"/>
            <a:ext cx="3566160" cy="274320"/>
          </a:xfrm>
          <a:prstGeom prst="rect">
            <a:avLst/>
          </a:prstGeom>
          <a:noFill/>
        </p:spPr>
        <p:txBody>
          <a:bodyPr wrap="square" anchor="t" lIns="36576" rIns="36576" tIns="18288" bIns="18288">
            <a:spAutoFit/>
          </a:bodyPr>
          <a:lstStyle/>
          <a:p>
            <a:pPr algn="ctr">
              <a:lnSpc>
                <a:spcPct val="104000"/>
              </a:lnSpc>
              <a:spcBef>
                <a:spcPts val="0"/>
              </a:spcBef>
              <a:spcAft>
                <a:spcPts val="0"/>
              </a:spcAft>
              <a:buNone/>
            </a:pPr>
            <a:r>
              <a:rPr b="0" sz="850">
                <a:solidFill>
                  <a:srgbClr val="5A5A5A"/>
                </a:solidFill>
                <a:latin typeface="Arial"/>
              </a:rPr>
              <a:t>Per-split win rate vs baseline</a:t>
            </a:r>
          </a:p>
        </p:txBody>
      </p:sp>
      <p:sp>
        <p:nvSpPr>
          <p:cNvPr id="7" name="TextBox 6"/>
          <p:cNvSpPr txBox="1"/>
          <p:nvPr/>
        </p:nvSpPr>
        <p:spPr>
          <a:xfrm>
            <a:off x="4480560" y="4663440"/>
            <a:ext cx="3566160" cy="274320"/>
          </a:xfrm>
          <a:prstGeom prst="rect">
            <a:avLst/>
          </a:prstGeom>
          <a:noFill/>
        </p:spPr>
        <p:txBody>
          <a:bodyPr wrap="square" anchor="t" lIns="36576" rIns="36576" tIns="18288" bIns="18288">
            <a:spAutoFit/>
          </a:bodyPr>
          <a:lstStyle/>
          <a:p>
            <a:pPr algn="ctr">
              <a:lnSpc>
                <a:spcPct val="104000"/>
              </a:lnSpc>
              <a:spcBef>
                <a:spcPts val="0"/>
              </a:spcBef>
              <a:spcAft>
                <a:spcPts val="0"/>
              </a:spcAft>
              <a:buNone/>
            </a:pPr>
            <a:r>
              <a:rPr b="0" sz="850">
                <a:solidFill>
                  <a:srgbClr val="5A5A5A"/>
                </a:solidFill>
                <a:latin typeface="Arial"/>
              </a:rPr>
              <a:t>Paired per-split deltas vs baseline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RQ3  ·  Every band clears the random baseline</a:t>
            </a:r>
          </a:p>
        </p:txBody>
      </p:sp>
      <p:graphicFrame>
        <p:nvGraphicFramePr>
          <p:cNvPr id="3" name="Table 2"/>
          <p:cNvGraphicFramePr>
            <a:graphicFrameLocks noGrp="1"/>
          </p:cNvGraphicFramePr>
          <p:nvPr/>
        </p:nvGraphicFramePr>
        <p:xfrm>
          <a:off x="868680" y="1508760"/>
          <a:ext cx="7406640" cy="1920240"/>
        </p:xfrm>
        <a:graphic>
          <a:graphicData uri="http://schemas.openxmlformats.org/drawingml/2006/table">
            <a:tbl>
              <a:tblPr firstRow="0" bandRow="0">
                <a:tableStyleId>{5C22544A-7EE6-4342-B048-85BDC9FD1C3A}</a:tableStyleId>
              </a:tblPr>
              <a:tblGrid>
                <a:gridCol w="1737360"/>
                <a:gridCol w="1133856"/>
                <a:gridCol w="1133856"/>
                <a:gridCol w="1133856"/>
                <a:gridCol w="1133856"/>
                <a:gridCol w="1133856"/>
              </a:tblGrid>
              <a:tr h="384048">
                <a:tc>
                  <a:txBody>
                    <a:bodyPr wrap="square"/>
                    <a:lstStyle/>
                    <a:p>
                      <a:pPr algn="l">
                        <a:lnSpc>
                          <a:spcPct val="100000"/>
                        </a:lnSpc>
                      </a:pPr>
                      <a:r>
                        <a:rPr b="1" sz="1100">
                          <a:solidFill>
                            <a:srgbClr val="FFFFFF"/>
                          </a:solidFill>
                          <a:latin typeface="Arial"/>
                        </a:rPr>
                        <a:t>Band</a:t>
                      </a:r>
                    </a:p>
                  </a:txBody>
                  <a:tcPr anchor="ctr" marL="45720" marR="45720" marT="9144" marB="9144">
                    <a:solidFill>
                      <a:srgbClr val="0E2841"/>
                    </a:solidFill>
                  </a:tcPr>
                </a:tc>
                <a:tc>
                  <a:txBody>
                    <a:bodyPr wrap="square"/>
                    <a:lstStyle/>
                    <a:p>
                      <a:pPr algn="ctr">
                        <a:lnSpc>
                          <a:spcPct val="100000"/>
                        </a:lnSpc>
                      </a:pPr>
                      <a:r>
                        <a:rPr b="1" sz="1100">
                          <a:solidFill>
                            <a:srgbClr val="FFFFFF"/>
                          </a:solidFill>
                          <a:latin typeface="Arial"/>
                        </a:rPr>
                        <a:t>Baseline</a:t>
                      </a:r>
                    </a:p>
                  </a:txBody>
                  <a:tcPr anchor="ctr" marL="45720" marR="45720" marT="9144" marB="9144">
                    <a:solidFill>
                      <a:srgbClr val="0E2841"/>
                    </a:solidFill>
                  </a:tcPr>
                </a:tc>
                <a:tc>
                  <a:txBody>
                    <a:bodyPr wrap="square"/>
                    <a:lstStyle/>
                    <a:p>
                      <a:pPr algn="ctr">
                        <a:lnSpc>
                          <a:spcPct val="100000"/>
                        </a:lnSpc>
                      </a:pPr>
                      <a:r>
                        <a:rPr b="1" sz="1100">
                          <a:solidFill>
                            <a:srgbClr val="FFFFFF"/>
                          </a:solidFill>
                          <a:latin typeface="Arial"/>
                        </a:rPr>
                        <a:t>Decl λ=0</a:t>
                      </a:r>
                    </a:p>
                  </a:txBody>
                  <a:tcPr anchor="ctr" marL="45720" marR="45720" marT="9144" marB="9144">
                    <a:solidFill>
                      <a:srgbClr val="0E2841"/>
                    </a:solidFill>
                  </a:tcPr>
                </a:tc>
                <a:tc>
                  <a:txBody>
                    <a:bodyPr wrap="square"/>
                    <a:lstStyle/>
                    <a:p>
                      <a:pPr algn="ctr">
                        <a:lnSpc>
                          <a:spcPct val="100000"/>
                        </a:lnSpc>
                      </a:pPr>
                      <a:r>
                        <a:rPr b="1" sz="1100">
                          <a:solidFill>
                            <a:srgbClr val="FFFFFF"/>
                          </a:solidFill>
                          <a:latin typeface="Arial"/>
                        </a:rPr>
                        <a:t>Decl λ=1</a:t>
                      </a:r>
                    </a:p>
                  </a:txBody>
                  <a:tcPr anchor="ctr" marL="45720" marR="45720" marT="9144" marB="9144">
                    <a:solidFill>
                      <a:srgbClr val="0E2841"/>
                    </a:solidFill>
                  </a:tcPr>
                </a:tc>
                <a:tc>
                  <a:txBody>
                    <a:bodyPr wrap="square"/>
                    <a:lstStyle/>
                    <a:p>
                      <a:pPr algn="ctr">
                        <a:lnSpc>
                          <a:spcPct val="100000"/>
                        </a:lnSpc>
                      </a:pPr>
                      <a:r>
                        <a:rPr b="1" sz="1100">
                          <a:solidFill>
                            <a:srgbClr val="FFFFFF"/>
                          </a:solidFill>
                          <a:latin typeface="Arial"/>
                        </a:rPr>
                        <a:t>Regr λ=0</a:t>
                      </a:r>
                    </a:p>
                  </a:txBody>
                  <a:tcPr anchor="ctr" marL="45720" marR="45720" marT="9144" marB="9144">
                    <a:solidFill>
                      <a:srgbClr val="0E2841"/>
                    </a:solidFill>
                  </a:tcPr>
                </a:tc>
                <a:tc>
                  <a:txBody>
                    <a:bodyPr wrap="square"/>
                    <a:lstStyle/>
                    <a:p>
                      <a:pPr algn="ctr">
                        <a:lnSpc>
                          <a:spcPct val="100000"/>
                        </a:lnSpc>
                      </a:pPr>
                      <a:r>
                        <a:rPr b="1" sz="1100">
                          <a:solidFill>
                            <a:srgbClr val="FFFFFF"/>
                          </a:solidFill>
                          <a:latin typeface="Arial"/>
                        </a:rPr>
                        <a:t>Regr λ=1</a:t>
                      </a:r>
                    </a:p>
                  </a:txBody>
                  <a:tcPr anchor="ctr" marL="45720" marR="45720" marT="9144" marB="9144">
                    <a:solidFill>
                      <a:srgbClr val="0E2841"/>
                    </a:solidFill>
                  </a:tcPr>
                </a:tc>
              </a:tr>
              <a:tr h="384048">
                <a:tc>
                  <a:txBody>
                    <a:bodyPr wrap="square"/>
                    <a:lstStyle/>
                    <a:p>
                      <a:pPr algn="l">
                        <a:lnSpc>
                          <a:spcPct val="100000"/>
                        </a:lnSpc>
                      </a:pPr>
                      <a:r>
                        <a:rPr b="1" sz="1100">
                          <a:solidFill>
                            <a:srgbClr val="0E2841"/>
                          </a:solidFill>
                          <a:latin typeface="Arial"/>
                        </a:rPr>
                        <a:t>Conservative</a:t>
                      </a:r>
                    </a:p>
                  </a:txBody>
                  <a:tcPr anchor="ctr" marL="45720" marR="45720" marT="9144" marB="9144">
                    <a:noFill/>
                  </a:tcPr>
                </a:tc>
                <a:tc>
                  <a:txBody>
                    <a:bodyPr wrap="square"/>
                    <a:lstStyle/>
                    <a:p>
                      <a:pPr algn="ctr">
                        <a:lnSpc>
                          <a:spcPct val="100000"/>
                        </a:lnSpc>
                      </a:pPr>
                      <a:r>
                        <a:rPr b="0" sz="1100">
                          <a:solidFill>
                            <a:srgbClr val="C0392B"/>
                          </a:solidFill>
                          <a:latin typeface="Arial"/>
                        </a:rPr>
                        <a:t>0.75×</a:t>
                      </a:r>
                    </a:p>
                  </a:txBody>
                  <a:tcPr anchor="ctr" marL="45720" marR="45720" marT="9144" marB="9144">
                    <a:noFill/>
                  </a:tcPr>
                </a:tc>
                <a:tc>
                  <a:txBody>
                    <a:bodyPr wrap="square"/>
                    <a:lstStyle/>
                    <a:p>
                      <a:pPr algn="ctr">
                        <a:lnSpc>
                          <a:spcPct val="100000"/>
                        </a:lnSpc>
                      </a:pPr>
                      <a:r>
                        <a:rPr b="0" sz="1100">
                          <a:solidFill>
                            <a:srgbClr val="C0392B"/>
                          </a:solidFill>
                          <a:latin typeface="Arial"/>
                        </a:rPr>
                        <a:t>0.91×</a:t>
                      </a:r>
                    </a:p>
                  </a:txBody>
                  <a:tcPr anchor="ctr" marL="45720" marR="45720" marT="9144" marB="9144">
                    <a:noFill/>
                  </a:tcPr>
                </a:tc>
                <a:tc>
                  <a:txBody>
                    <a:bodyPr wrap="square"/>
                    <a:lstStyle/>
                    <a:p>
                      <a:pPr algn="ctr">
                        <a:lnSpc>
                          <a:spcPct val="100000"/>
                        </a:lnSpc>
                      </a:pPr>
                      <a:r>
                        <a:rPr b="1" sz="1100">
                          <a:solidFill>
                            <a:srgbClr val="0E2841"/>
                          </a:solidFill>
                          <a:latin typeface="Arial"/>
                        </a:rPr>
                        <a:t>1.19×</a:t>
                      </a:r>
                    </a:p>
                  </a:txBody>
                  <a:tcPr anchor="ctr" marL="45720" marR="45720" marT="9144" marB="9144">
                    <a:noFill/>
                  </a:tcPr>
                </a:tc>
                <a:tc>
                  <a:txBody>
                    <a:bodyPr wrap="square"/>
                    <a:lstStyle/>
                    <a:p>
                      <a:pPr algn="ctr">
                        <a:lnSpc>
                          <a:spcPct val="100000"/>
                        </a:lnSpc>
                      </a:pPr>
                      <a:r>
                        <a:rPr b="1" sz="1100">
                          <a:solidFill>
                            <a:srgbClr val="0E2841"/>
                          </a:solidFill>
                          <a:latin typeface="Arial"/>
                        </a:rPr>
                        <a:t>1.21×</a:t>
                      </a:r>
                    </a:p>
                  </a:txBody>
                  <a:tcPr anchor="ctr" marL="45720" marR="45720" marT="9144" marB="9144">
                    <a:solidFill>
                      <a:srgbClr val="E4F1E6"/>
                    </a:solidFill>
                  </a:tcPr>
                </a:tc>
                <a:tc>
                  <a:txBody>
                    <a:bodyPr wrap="square"/>
                    <a:lstStyle/>
                    <a:p>
                      <a:pPr algn="ctr">
                        <a:lnSpc>
                          <a:spcPct val="100000"/>
                        </a:lnSpc>
                      </a:pPr>
                      <a:r>
                        <a:rPr b="1" sz="1100">
                          <a:solidFill>
                            <a:srgbClr val="0E2841"/>
                          </a:solidFill>
                          <a:latin typeface="Arial"/>
                        </a:rPr>
                        <a:t>1.25×</a:t>
                      </a:r>
                    </a:p>
                  </a:txBody>
                  <a:tcPr anchor="ctr" marL="45720" marR="45720" marT="9144" marB="9144">
                    <a:noFill/>
                  </a:tcPr>
                </a:tc>
              </a:tr>
              <a:tr h="384048">
                <a:tc>
                  <a:txBody>
                    <a:bodyPr wrap="square"/>
                    <a:lstStyle/>
                    <a:p>
                      <a:pPr algn="l">
                        <a:lnSpc>
                          <a:spcPct val="100000"/>
                        </a:lnSpc>
                      </a:pPr>
                      <a:r>
                        <a:rPr b="1" sz="1100">
                          <a:solidFill>
                            <a:srgbClr val="0E2841"/>
                          </a:solidFill>
                          <a:latin typeface="Arial"/>
                        </a:rPr>
                        <a:t>Income</a:t>
                      </a:r>
                    </a:p>
                  </a:txBody>
                  <a:tcPr anchor="ctr" marL="45720" marR="45720" marT="9144" marB="9144">
                    <a:noFill/>
                  </a:tcPr>
                </a:tc>
                <a:tc>
                  <a:txBody>
                    <a:bodyPr wrap="square"/>
                    <a:lstStyle/>
                    <a:p>
                      <a:pPr algn="ctr">
                        <a:lnSpc>
                          <a:spcPct val="100000"/>
                        </a:lnSpc>
                      </a:pPr>
                      <a:r>
                        <a:rPr b="1" sz="1100">
                          <a:solidFill>
                            <a:srgbClr val="0E2841"/>
                          </a:solidFill>
                          <a:latin typeface="Arial"/>
                        </a:rPr>
                        <a:t>1.13×</a:t>
                      </a:r>
                    </a:p>
                  </a:txBody>
                  <a:tcPr anchor="ctr" marL="45720" marR="45720" marT="9144" marB="9144">
                    <a:noFill/>
                  </a:tcPr>
                </a:tc>
                <a:tc>
                  <a:txBody>
                    <a:bodyPr wrap="square"/>
                    <a:lstStyle/>
                    <a:p>
                      <a:pPr algn="ctr">
                        <a:lnSpc>
                          <a:spcPct val="100000"/>
                        </a:lnSpc>
                      </a:pPr>
                      <a:r>
                        <a:rPr b="1" sz="1100">
                          <a:solidFill>
                            <a:srgbClr val="0E2841"/>
                          </a:solidFill>
                          <a:latin typeface="Arial"/>
                        </a:rPr>
                        <a:t>1.20×</a:t>
                      </a:r>
                    </a:p>
                  </a:txBody>
                  <a:tcPr anchor="ctr" marL="45720" marR="45720" marT="9144" marB="9144">
                    <a:noFill/>
                  </a:tcPr>
                </a:tc>
                <a:tc>
                  <a:txBody>
                    <a:bodyPr wrap="square"/>
                    <a:lstStyle/>
                    <a:p>
                      <a:pPr algn="ctr">
                        <a:lnSpc>
                          <a:spcPct val="100000"/>
                        </a:lnSpc>
                      </a:pPr>
                      <a:r>
                        <a:rPr b="1" sz="1100">
                          <a:solidFill>
                            <a:srgbClr val="0E2841"/>
                          </a:solidFill>
                          <a:latin typeface="Arial"/>
                        </a:rPr>
                        <a:t>1.26×</a:t>
                      </a:r>
                    </a:p>
                  </a:txBody>
                  <a:tcPr anchor="ctr" marL="45720" marR="45720" marT="9144" marB="9144">
                    <a:noFill/>
                  </a:tcPr>
                </a:tc>
                <a:tc>
                  <a:txBody>
                    <a:bodyPr wrap="square"/>
                    <a:lstStyle/>
                    <a:p>
                      <a:pPr algn="ctr">
                        <a:lnSpc>
                          <a:spcPct val="100000"/>
                        </a:lnSpc>
                      </a:pPr>
                      <a:r>
                        <a:rPr b="1" sz="1100">
                          <a:solidFill>
                            <a:srgbClr val="0E2841"/>
                          </a:solidFill>
                          <a:latin typeface="Arial"/>
                        </a:rPr>
                        <a:t>1.25×</a:t>
                      </a:r>
                    </a:p>
                  </a:txBody>
                  <a:tcPr anchor="ctr" marL="45720" marR="45720" marT="9144" marB="9144">
                    <a:solidFill>
                      <a:srgbClr val="E4F1E6"/>
                    </a:solidFill>
                  </a:tcPr>
                </a:tc>
                <a:tc>
                  <a:txBody>
                    <a:bodyPr wrap="square"/>
                    <a:lstStyle/>
                    <a:p>
                      <a:pPr algn="ctr">
                        <a:lnSpc>
                          <a:spcPct val="100000"/>
                        </a:lnSpc>
                      </a:pPr>
                      <a:r>
                        <a:rPr b="1" sz="1100">
                          <a:solidFill>
                            <a:srgbClr val="0E2841"/>
                          </a:solidFill>
                          <a:latin typeface="Arial"/>
                        </a:rPr>
                        <a:t>1.27×</a:t>
                      </a:r>
                    </a:p>
                  </a:txBody>
                  <a:tcPr anchor="ctr" marL="45720" marR="45720" marT="9144" marB="9144">
                    <a:noFill/>
                  </a:tcPr>
                </a:tc>
              </a:tr>
              <a:tr h="384048">
                <a:tc>
                  <a:txBody>
                    <a:bodyPr wrap="square"/>
                    <a:lstStyle/>
                    <a:p>
                      <a:pPr algn="l">
                        <a:lnSpc>
                          <a:spcPct val="100000"/>
                        </a:lnSpc>
                      </a:pPr>
                      <a:r>
                        <a:rPr b="1" sz="1100">
                          <a:solidFill>
                            <a:srgbClr val="0E2841"/>
                          </a:solidFill>
                          <a:latin typeface="Arial"/>
                        </a:rPr>
                        <a:t>Balanced</a:t>
                      </a:r>
                    </a:p>
                  </a:txBody>
                  <a:tcPr anchor="ctr" marL="45720" marR="45720" marT="9144" marB="9144">
                    <a:noFill/>
                  </a:tcPr>
                </a:tc>
                <a:tc>
                  <a:txBody>
                    <a:bodyPr wrap="square"/>
                    <a:lstStyle/>
                    <a:p>
                      <a:pPr algn="ctr">
                        <a:lnSpc>
                          <a:spcPct val="100000"/>
                        </a:lnSpc>
                      </a:pPr>
                      <a:r>
                        <a:rPr b="1" sz="1100">
                          <a:solidFill>
                            <a:srgbClr val="0E2841"/>
                          </a:solidFill>
                          <a:latin typeface="Arial"/>
                        </a:rPr>
                        <a:t>1.17×</a:t>
                      </a:r>
                    </a:p>
                  </a:txBody>
                  <a:tcPr anchor="ctr" marL="45720" marR="45720" marT="9144" marB="9144">
                    <a:noFill/>
                  </a:tcPr>
                </a:tc>
                <a:tc>
                  <a:txBody>
                    <a:bodyPr wrap="square"/>
                    <a:lstStyle/>
                    <a:p>
                      <a:pPr algn="ctr">
                        <a:lnSpc>
                          <a:spcPct val="100000"/>
                        </a:lnSpc>
                      </a:pPr>
                      <a:r>
                        <a:rPr b="1" sz="1100">
                          <a:solidFill>
                            <a:srgbClr val="0E2841"/>
                          </a:solidFill>
                          <a:latin typeface="Arial"/>
                        </a:rPr>
                        <a:t>1.22×</a:t>
                      </a:r>
                    </a:p>
                  </a:txBody>
                  <a:tcPr anchor="ctr" marL="45720" marR="45720" marT="9144" marB="9144">
                    <a:noFill/>
                  </a:tcPr>
                </a:tc>
                <a:tc>
                  <a:txBody>
                    <a:bodyPr wrap="square"/>
                    <a:lstStyle/>
                    <a:p>
                      <a:pPr algn="ctr">
                        <a:lnSpc>
                          <a:spcPct val="100000"/>
                        </a:lnSpc>
                      </a:pPr>
                      <a:r>
                        <a:rPr b="1" sz="1100">
                          <a:solidFill>
                            <a:srgbClr val="0E2841"/>
                          </a:solidFill>
                          <a:latin typeface="Arial"/>
                        </a:rPr>
                        <a:t>1.28×</a:t>
                      </a:r>
                    </a:p>
                  </a:txBody>
                  <a:tcPr anchor="ctr" marL="45720" marR="45720" marT="9144" marB="9144">
                    <a:noFill/>
                  </a:tcPr>
                </a:tc>
                <a:tc>
                  <a:txBody>
                    <a:bodyPr wrap="square"/>
                    <a:lstStyle/>
                    <a:p>
                      <a:pPr algn="ctr">
                        <a:lnSpc>
                          <a:spcPct val="100000"/>
                        </a:lnSpc>
                      </a:pPr>
                      <a:r>
                        <a:rPr b="1" sz="1100">
                          <a:solidFill>
                            <a:srgbClr val="0E2841"/>
                          </a:solidFill>
                          <a:latin typeface="Arial"/>
                        </a:rPr>
                        <a:t>1.24×</a:t>
                      </a:r>
                    </a:p>
                  </a:txBody>
                  <a:tcPr anchor="ctr" marL="45720" marR="45720" marT="9144" marB="9144">
                    <a:solidFill>
                      <a:srgbClr val="E4F1E6"/>
                    </a:solidFill>
                  </a:tcPr>
                </a:tc>
                <a:tc>
                  <a:txBody>
                    <a:bodyPr wrap="square"/>
                    <a:lstStyle/>
                    <a:p>
                      <a:pPr algn="ctr">
                        <a:lnSpc>
                          <a:spcPct val="100000"/>
                        </a:lnSpc>
                      </a:pPr>
                      <a:r>
                        <a:rPr b="1" sz="1100">
                          <a:solidFill>
                            <a:srgbClr val="0E2841"/>
                          </a:solidFill>
                          <a:latin typeface="Arial"/>
                        </a:rPr>
                        <a:t>1.30×</a:t>
                      </a:r>
                    </a:p>
                  </a:txBody>
                  <a:tcPr anchor="ctr" marL="45720" marR="45720" marT="9144" marB="9144">
                    <a:noFill/>
                  </a:tcPr>
                </a:tc>
              </a:tr>
              <a:tr h="384048">
                <a:tc>
                  <a:txBody>
                    <a:bodyPr wrap="square"/>
                    <a:lstStyle/>
                    <a:p>
                      <a:pPr algn="l">
                        <a:lnSpc>
                          <a:spcPct val="100000"/>
                        </a:lnSpc>
                      </a:pPr>
                      <a:r>
                        <a:rPr b="1" sz="1100">
                          <a:solidFill>
                            <a:srgbClr val="0E2841"/>
                          </a:solidFill>
                          <a:latin typeface="Arial"/>
                        </a:rPr>
                        <a:t>Aggressive</a:t>
                      </a:r>
                    </a:p>
                  </a:txBody>
                  <a:tcPr anchor="ctr" marL="45720" marR="45720" marT="9144" marB="9144">
                    <a:noFill/>
                  </a:tcPr>
                </a:tc>
                <a:tc>
                  <a:txBody>
                    <a:bodyPr wrap="square"/>
                    <a:lstStyle/>
                    <a:p>
                      <a:pPr algn="ctr">
                        <a:lnSpc>
                          <a:spcPct val="100000"/>
                        </a:lnSpc>
                      </a:pPr>
                      <a:r>
                        <a:rPr b="1" sz="1100">
                          <a:solidFill>
                            <a:srgbClr val="0E2841"/>
                          </a:solidFill>
                          <a:latin typeface="Arial"/>
                        </a:rPr>
                        <a:t>1.35×</a:t>
                      </a:r>
                    </a:p>
                  </a:txBody>
                  <a:tcPr anchor="ctr" marL="45720" marR="45720" marT="9144" marB="9144">
                    <a:noFill/>
                  </a:tcPr>
                </a:tc>
                <a:tc>
                  <a:txBody>
                    <a:bodyPr wrap="square"/>
                    <a:lstStyle/>
                    <a:p>
                      <a:pPr algn="ctr">
                        <a:lnSpc>
                          <a:spcPct val="100000"/>
                        </a:lnSpc>
                      </a:pPr>
                      <a:r>
                        <a:rPr b="1" sz="1100">
                          <a:solidFill>
                            <a:srgbClr val="0E2841"/>
                          </a:solidFill>
                          <a:latin typeface="Arial"/>
                        </a:rPr>
                        <a:t>1.17×</a:t>
                      </a:r>
                    </a:p>
                  </a:txBody>
                  <a:tcPr anchor="ctr" marL="45720" marR="45720" marT="9144" marB="9144">
                    <a:noFill/>
                  </a:tcPr>
                </a:tc>
                <a:tc>
                  <a:txBody>
                    <a:bodyPr wrap="square"/>
                    <a:lstStyle/>
                    <a:p>
                      <a:pPr algn="ctr">
                        <a:lnSpc>
                          <a:spcPct val="100000"/>
                        </a:lnSpc>
                      </a:pPr>
                      <a:r>
                        <a:rPr b="1" sz="1100">
                          <a:solidFill>
                            <a:srgbClr val="0E2841"/>
                          </a:solidFill>
                          <a:latin typeface="Arial"/>
                        </a:rPr>
                        <a:t>1.97×</a:t>
                      </a:r>
                    </a:p>
                  </a:txBody>
                  <a:tcPr anchor="ctr" marL="45720" marR="45720" marT="9144" marB="9144">
                    <a:noFill/>
                  </a:tcPr>
                </a:tc>
                <a:tc>
                  <a:txBody>
                    <a:bodyPr wrap="square"/>
                    <a:lstStyle/>
                    <a:p>
                      <a:pPr algn="ctr">
                        <a:lnSpc>
                          <a:spcPct val="100000"/>
                        </a:lnSpc>
                      </a:pPr>
                      <a:r>
                        <a:rPr b="1" sz="1100">
                          <a:solidFill>
                            <a:srgbClr val="0E2841"/>
                          </a:solidFill>
                          <a:latin typeface="Arial"/>
                        </a:rPr>
                        <a:t>2.24×</a:t>
                      </a:r>
                    </a:p>
                  </a:txBody>
                  <a:tcPr anchor="ctr" marL="45720" marR="45720" marT="9144" marB="9144">
                    <a:solidFill>
                      <a:srgbClr val="E4F1E6"/>
                    </a:solidFill>
                  </a:tcPr>
                </a:tc>
                <a:tc>
                  <a:txBody>
                    <a:bodyPr wrap="square"/>
                    <a:lstStyle/>
                    <a:p>
                      <a:pPr algn="ctr">
                        <a:lnSpc>
                          <a:spcPct val="100000"/>
                        </a:lnSpc>
                      </a:pPr>
                      <a:r>
                        <a:rPr b="1" sz="1100">
                          <a:solidFill>
                            <a:srgbClr val="0E2841"/>
                          </a:solidFill>
                          <a:latin typeface="Arial"/>
                        </a:rPr>
                        <a:t>2.68×</a:t>
                      </a:r>
                    </a:p>
                  </a:txBody>
                  <a:tcPr anchor="ctr" marL="45720" marR="45720" marT="9144" marB="9144">
                    <a:noFill/>
                  </a:tcPr>
                </a:tc>
              </a:tr>
            </a:tbl>
          </a:graphicData>
        </a:graphic>
      </p:graphicFrame>
      <p:sp>
        <p:nvSpPr>
          <p:cNvPr id="4" name="TextBox 3"/>
          <p:cNvSpPr txBox="1"/>
          <p:nvPr/>
        </p:nvSpPr>
        <p:spPr>
          <a:xfrm>
            <a:off x="868680" y="3611880"/>
            <a:ext cx="7406640" cy="100584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0" sz="1250">
                <a:solidFill>
                  <a:srgbClr val="0E2841"/>
                </a:solidFill>
                <a:latin typeface="Arial"/>
              </a:rPr>
              <a:t>Per-band PC-lift@10. Conservative crosses random only once the margin or regrouping is applied; </a:t>
            </a:r>
            <a:r>
              <a:rPr b="1" sz="1250">
                <a:solidFill>
                  <a:srgbClr val="1E7A34"/>
                </a:solidFill>
                <a:latin typeface="Arial"/>
              </a:rPr>
              <a:t>regrouped columns lift all four bands above π(b)</a:t>
            </a:r>
            <a:r>
              <a:rPr b="0" sz="1250">
                <a:solidFill>
                  <a:srgbClr val="0E2841"/>
                </a:solidFill>
                <a:latin typeface="Arial"/>
              </a:rPr>
              <a:t>.</a:t>
            </a:r>
          </a:p>
          <a:p>
            <a:pPr algn="l" marL="228600" indent="-228600">
              <a:lnSpc>
                <a:spcPct val="104000"/>
              </a:lnSpc>
              <a:spcBef>
                <a:spcPts val="400"/>
              </a:spcBef>
              <a:spcAft>
                <a:spcPts val="200"/>
              </a:spcAft>
              <a:buClr>
                <a:srgbClr val="156082"/>
              </a:buClr>
              <a:buFont typeface="Arial"/>
              <a:buChar char="▪"/>
            </a:pPr>
            <a:r>
              <a:rPr b="0" sz="1200">
                <a:solidFill>
                  <a:srgbClr val="0E2841"/>
                </a:solidFill>
                <a:latin typeface="Arial"/>
              </a:rPr>
              <a:t>Aggressive climbs to 2.68×: its low π(b) = 0.35 makes the bar easy to clear once routing is band-aware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Limitations  ·  RQ1 and RQ2</a:t>
            </a:r>
          </a:p>
        </p:txBody>
      </p:sp>
      <p:sp>
        <p:nvSpPr>
          <p:cNvPr id="3" name="TextBox 2"/>
          <p:cNvSpPr txBox="1"/>
          <p:nvPr/>
        </p:nvSpPr>
        <p:spPr>
          <a:xfrm>
            <a:off x="502920" y="1463040"/>
            <a:ext cx="8138160" cy="301752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1" sz="1350">
                <a:solidFill>
                  <a:srgbClr val="156082"/>
                </a:solidFill>
                <a:latin typeface="Arial"/>
              </a:rPr>
              <a:t>RQ1, observational nature: </a:t>
            </a:r>
            <a:r>
              <a:rPr b="0" sz="1350">
                <a:solidFill>
                  <a:srgbClr val="0E2841"/>
                </a:solidFill>
                <a:latin typeface="Arial"/>
              </a:rPr>
              <a:t>the coherence premium is associational. Unobserved confounders such as financial literacy, advisor channel, account constraints, and prior portfolio are not ruled out</a:t>
            </a:r>
          </a:p>
          <a:p>
            <a:pPr algn="l" marL="228600" indent="-228600">
              <a:lnSpc>
                <a:spcPct val="104000"/>
              </a:lnSpc>
              <a:spcBef>
                <a:spcPts val="400"/>
              </a:spcBef>
              <a:spcAft>
                <a:spcPts val="200"/>
              </a:spcAft>
              <a:buClr>
                <a:srgbClr val="156082"/>
              </a:buClr>
              <a:buFont typeface="Arial"/>
              <a:buChar char="▪"/>
            </a:pPr>
            <a:r>
              <a:rPr b="1" sz="1350">
                <a:solidFill>
                  <a:srgbClr val="156082"/>
                </a:solidFill>
                <a:latin typeface="Arial"/>
              </a:rPr>
              <a:t>RQ1, asset-band assignment: </a:t>
            </a:r>
            <a:r>
              <a:rPr b="0" sz="1350">
                <a:solidFill>
                  <a:srgbClr val="0E2841"/>
                </a:solidFill>
                <a:latin typeface="Arial"/>
              </a:rPr>
              <a:t>bands come from a hierarchical heuristic, not an external classification, so any mislabelling (especially the stock volatility step) propagates into every coherence number</a:t>
            </a:r>
          </a:p>
          <a:p>
            <a:pPr algn="l" marL="228600" indent="-228600">
              <a:lnSpc>
                <a:spcPct val="104000"/>
              </a:lnSpc>
              <a:spcBef>
                <a:spcPts val="400"/>
              </a:spcBef>
              <a:spcAft>
                <a:spcPts val="200"/>
              </a:spcAft>
              <a:buClr>
                <a:srgbClr val="156082"/>
              </a:buClr>
              <a:buFont typeface="Arial"/>
              <a:buChar char="▪"/>
            </a:pPr>
            <a:r>
              <a:rPr b="1" sz="1350">
                <a:solidFill>
                  <a:srgbClr val="E97132"/>
                </a:solidFill>
                <a:latin typeface="Arial"/>
              </a:rPr>
              <a:t>RQ2, single operating point: </a:t>
            </a:r>
            <a:r>
              <a:rPr b="0" sz="1350">
                <a:solidFill>
                  <a:srgbClr val="0E2841"/>
                </a:solidFill>
                <a:latin typeface="Arial"/>
              </a:rPr>
              <a:t>each baseline is audited only at its primary-metric optimum, not swept across the full grid</a:t>
            </a:r>
          </a:p>
          <a:p>
            <a:pPr algn="l" marL="228600" indent="-228600">
              <a:lnSpc>
                <a:spcPct val="104000"/>
              </a:lnSpc>
              <a:spcBef>
                <a:spcPts val="400"/>
              </a:spcBef>
              <a:spcAft>
                <a:spcPts val="200"/>
              </a:spcAft>
              <a:buClr>
                <a:srgbClr val="156082"/>
              </a:buClr>
              <a:buFont typeface="Arial"/>
              <a:buChar char="▪"/>
            </a:pPr>
            <a:r>
              <a:rPr b="1" sz="1350">
                <a:solidFill>
                  <a:srgbClr val="E97132"/>
                </a:solidFill>
                <a:latin typeface="Arial"/>
              </a:rPr>
              <a:t>RQ2, baseline-relative reading: </a:t>
            </a:r>
            <a:r>
              <a:rPr b="0" sz="1350">
                <a:solidFill>
                  <a:srgbClr val="0E2841"/>
                </a:solidFill>
                <a:latin typeface="Arial"/>
              </a:rPr>
              <a:t>per-band lift must be read against its π(b), since low-π(b) bands such as Aggressive clear the bar more easily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Limitations  ·  RQ3</a:t>
            </a:r>
          </a:p>
        </p:txBody>
      </p:sp>
      <p:sp>
        <p:nvSpPr>
          <p:cNvPr id="3" name="TextBox 2"/>
          <p:cNvSpPr txBox="1"/>
          <p:nvPr/>
        </p:nvSpPr>
        <p:spPr>
          <a:xfrm>
            <a:off x="502920" y="1463040"/>
            <a:ext cx="8138160" cy="274320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1" sz="1400">
                <a:solidFill>
                  <a:srgbClr val="1E7A34"/>
                </a:solidFill>
                <a:latin typeface="Arial"/>
              </a:rPr>
              <a:t>Single backbone and operating point: </a:t>
            </a:r>
            <a:r>
              <a:rPr b="0" sz="1400">
                <a:solidFill>
                  <a:srgbClr val="0E2841"/>
                </a:solidFill>
                <a:latin typeface="Arial"/>
              </a:rPr>
              <a:t>the intervention extends only LightGCN and reports a single λ=1 Pareto point on inherited best-trial hyperparameters, rather than re-tuning end-to-end</a:t>
            </a:r>
          </a:p>
          <a:p>
            <a:pPr algn="l" marL="502920" indent="-228600">
              <a:lnSpc>
                <a:spcPct val="104000"/>
              </a:lnSpc>
              <a:spcBef>
                <a:spcPts val="400"/>
              </a:spcBef>
              <a:spcAft>
                <a:spcPts val="200"/>
              </a:spcAft>
              <a:buClr>
                <a:srgbClr val="156082"/>
              </a:buClr>
              <a:buFont typeface="Arial"/>
              <a:buChar char="–"/>
            </a:pPr>
            <a:r>
              <a:rPr b="0" sz="1300">
                <a:solidFill>
                  <a:srgbClr val="0E2841"/>
                </a:solidFill>
                <a:latin typeface="Arial"/>
              </a:rPr>
              <a:t>So the coherence gains are a lower bound and the nDCG and Recall costs an upper bound on a full frontier sweep</a:t>
            </a:r>
          </a:p>
          <a:p>
            <a:pPr algn="l" marL="228600" indent="-228600">
              <a:lnSpc>
                <a:spcPct val="104000"/>
              </a:lnSpc>
              <a:spcBef>
                <a:spcPts val="400"/>
              </a:spcBef>
              <a:spcAft>
                <a:spcPts val="200"/>
              </a:spcAft>
              <a:buClr>
                <a:srgbClr val="156082"/>
              </a:buClr>
              <a:buFont typeface="Arial"/>
              <a:buChar char="▪"/>
            </a:pPr>
            <a:r>
              <a:rPr b="1" sz="1400">
                <a:solidFill>
                  <a:srgbClr val="1E7A34"/>
                </a:solidFill>
                <a:latin typeface="Arial"/>
              </a:rPr>
              <a:t>Regrouping leakage and tautology: </a:t>
            </a:r>
            <a:r>
              <a:rPr b="0" sz="1400">
                <a:solidFill>
                  <a:srgbClr val="0E2841"/>
                </a:solidFill>
                <a:latin typeface="Arial"/>
              </a:rPr>
              <a:t>revealed bands use each customer's full Buy history, so they carry look-ahead relative to each split, and the regrouped PC@10 gain is partly guaranteed by construction</a:t>
            </a:r>
          </a:p>
          <a:p>
            <a:pPr algn="l" marL="502920" indent="-228600">
              <a:lnSpc>
                <a:spcPct val="104000"/>
              </a:lnSpc>
              <a:spcBef>
                <a:spcPts val="400"/>
              </a:spcBef>
              <a:spcAft>
                <a:spcPts val="200"/>
              </a:spcAft>
              <a:buClr>
                <a:srgbClr val="156082"/>
              </a:buClr>
              <a:buFont typeface="Arial"/>
              <a:buChar char="–"/>
            </a:pPr>
            <a:r>
              <a:rPr b="0" sz="1300">
                <a:solidFill>
                  <a:srgbClr val="0E2841"/>
                </a:solidFill>
                <a:latin typeface="Arial"/>
              </a:rPr>
              <a:t>The trustworthy signal is the simultaneous nDCG, Recall, and ROI gains, none of which is defined relative to the band</a:t>
            </a:r>
          </a:p>
        </p:txBody>
      </p:sp>
      <p:sp>
        <p:nvSpPr>
          <p:cNvPr id="4" name="Rounded Rectangle 3"/>
          <p:cNvSpPr/>
          <p:nvPr/>
        </p:nvSpPr>
        <p:spPr>
          <a:xfrm>
            <a:off x="502920" y="4224528"/>
            <a:ext cx="8138160" cy="438912"/>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1" sz="1250">
                <a:solidFill>
                  <a:srgbClr val="FFFFFF"/>
                </a:solidFill>
                <a:latin typeface="Arial"/>
              </a:rPr>
              <a:t>A per-split regrouping variant using training-window Buys only is left as future 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Future work</a:t>
            </a:r>
          </a:p>
        </p:txBody>
      </p:sp>
      <p:sp>
        <p:nvSpPr>
          <p:cNvPr id="3" name="TextBox 2"/>
          <p:cNvSpPr txBox="1"/>
          <p:nvPr/>
        </p:nvSpPr>
        <p:spPr>
          <a:xfrm>
            <a:off x="502920" y="1463040"/>
            <a:ext cx="8138160" cy="301752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1" sz="1350">
                <a:solidFill>
                  <a:srgbClr val="E97132"/>
                </a:solidFill>
                <a:latin typeface="Arial"/>
              </a:rPr>
              <a:t>Causal identification: </a:t>
            </a:r>
            <a:r>
              <a:rPr b="0" sz="1350">
                <a:solidFill>
                  <a:srgbClr val="0E2841"/>
                </a:solidFill>
                <a:latin typeface="Arial"/>
              </a:rPr>
              <a:t>instrumental variables or difference-in-differences across a regulatory boundary, also testing the 2018 transition hypothesis</a:t>
            </a:r>
          </a:p>
          <a:p>
            <a:pPr algn="l" marL="228600" indent="-228600">
              <a:lnSpc>
                <a:spcPct val="104000"/>
              </a:lnSpc>
              <a:spcBef>
                <a:spcPts val="400"/>
              </a:spcBef>
              <a:spcAft>
                <a:spcPts val="200"/>
              </a:spcAft>
              <a:buClr>
                <a:srgbClr val="156082"/>
              </a:buClr>
              <a:buFont typeface="Arial"/>
              <a:buChar char="▪"/>
            </a:pPr>
            <a:r>
              <a:rPr b="1" sz="1350">
                <a:solidFill>
                  <a:srgbClr val="E97132"/>
                </a:solidFill>
                <a:latin typeface="Arial"/>
              </a:rPr>
              <a:t>Metric calibration: </a:t>
            </a:r>
            <a:r>
              <a:rPr b="0" sz="1350">
                <a:solidFill>
                  <a:srgbClr val="0E2841"/>
                </a:solidFill>
                <a:latin typeface="Arial"/>
              </a:rPr>
              <a:t>data-driven tolerance instead of a fixed d ≤ 1, and band assignment validated against external MiFID II classifications</a:t>
            </a:r>
          </a:p>
          <a:p>
            <a:pPr algn="l" marL="228600" indent="-228600">
              <a:lnSpc>
                <a:spcPct val="104000"/>
              </a:lnSpc>
              <a:spcBef>
                <a:spcPts val="400"/>
              </a:spcBef>
              <a:spcAft>
                <a:spcPts val="200"/>
              </a:spcAft>
              <a:buClr>
                <a:srgbClr val="156082"/>
              </a:buClr>
              <a:buFont typeface="Arial"/>
              <a:buChar char="▪"/>
            </a:pPr>
            <a:r>
              <a:rPr b="1" sz="1350">
                <a:solidFill>
                  <a:srgbClr val="E97132"/>
                </a:solidFill>
                <a:latin typeface="Arial"/>
              </a:rPr>
              <a:t>Broader interventions: </a:t>
            </a:r>
            <a:r>
              <a:rPr b="0" sz="1350">
                <a:solidFill>
                  <a:srgbClr val="0E2841"/>
                </a:solidFill>
                <a:latin typeface="Arial"/>
              </a:rPr>
              <a:t>apply stratification and the margin to sequential, transformer, and content-based recommenders, with a full Pareto sweep</a:t>
            </a:r>
          </a:p>
          <a:p>
            <a:pPr algn="l" marL="228600" indent="-228600">
              <a:lnSpc>
                <a:spcPct val="104000"/>
              </a:lnSpc>
              <a:spcBef>
                <a:spcPts val="400"/>
              </a:spcBef>
              <a:spcAft>
                <a:spcPts val="200"/>
              </a:spcAft>
              <a:buClr>
                <a:srgbClr val="156082"/>
              </a:buClr>
              <a:buFont typeface="Arial"/>
              <a:buChar char="▪"/>
            </a:pPr>
            <a:r>
              <a:rPr b="1" sz="1350">
                <a:solidFill>
                  <a:srgbClr val="E97132"/>
                </a:solidFill>
                <a:latin typeface="Arial"/>
              </a:rPr>
              <a:t>Online evaluation: </a:t>
            </a:r>
            <a:r>
              <a:rPr b="0" sz="1350">
                <a:solidFill>
                  <a:srgbClr val="0E2841"/>
                </a:solidFill>
                <a:latin typeface="Arial"/>
              </a:rPr>
              <a:t>bridge realised return on executed Buys and forward return on recommended slates via off-policy or online tests, across jurisdictions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000">
                <a:solidFill>
                  <a:srgbClr val="0E2841"/>
                </a:solidFill>
                <a:latin typeface="Arial"/>
              </a:rPr>
              <a:t>Conclusion</a:t>
            </a:r>
          </a:p>
        </p:txBody>
      </p:sp>
      <p:sp>
        <p:nvSpPr>
          <p:cNvPr id="3" name="Rounded Rectangle 2"/>
          <p:cNvSpPr/>
          <p:nvPr/>
        </p:nvSpPr>
        <p:spPr>
          <a:xfrm>
            <a:off x="502920" y="1371600"/>
            <a:ext cx="8138160" cy="749808"/>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0" sz="1350">
                <a:solidFill>
                  <a:srgbClr val="FFFFFF"/>
                </a:solidFill>
                <a:latin typeface="Arial"/>
              </a:rPr>
              <a:t>Regulatory coherence and economic return are </a:t>
            </a:r>
            <a:r>
              <a:rPr b="1" sz="1350">
                <a:solidFill>
                  <a:srgbClr val="FFFFFF"/>
                </a:solidFill>
                <a:latin typeface="Arial"/>
              </a:rPr>
              <a:t>not in structural conflict</a:t>
            </a:r>
            <a:r>
              <a:rPr b="0" sz="1350">
                <a:solidFill>
                  <a:srgbClr val="FFFFFF"/>
                </a:solidFill>
                <a:latin typeface="Arial"/>
              </a:rPr>
              <a:t> on FAR-Trans: coherence is an architectural choice, not a post-hoc tradeoff.</a:t>
            </a:r>
          </a:p>
        </p:txBody>
      </p:sp>
      <p:sp>
        <p:nvSpPr>
          <p:cNvPr id="4" name="TextBox 3"/>
          <p:cNvSpPr txBox="1"/>
          <p:nvPr/>
        </p:nvSpPr>
        <p:spPr>
          <a:xfrm>
            <a:off x="502920" y="2286000"/>
            <a:ext cx="8138160" cy="1828800"/>
          </a:xfrm>
          <a:prstGeom prst="rect">
            <a:avLst/>
          </a:prstGeom>
          <a:noFill/>
        </p:spPr>
        <p:txBody>
          <a:bodyPr wrap="square" anchor="t" lIns="36576" rIns="36576" tIns="18288" bIns="18288">
            <a:spAutoFit/>
          </a:bodyPr>
          <a:lstStyle/>
          <a:p>
            <a:pPr algn="l" marL="228600" indent="-228600">
              <a:lnSpc>
                <a:spcPct val="104000"/>
              </a:lnSpc>
              <a:spcBef>
                <a:spcPts val="400"/>
              </a:spcBef>
              <a:spcAft>
                <a:spcPts val="200"/>
              </a:spcAft>
              <a:buClr>
                <a:srgbClr val="156082"/>
              </a:buClr>
              <a:buFont typeface="Arial"/>
              <a:buChar char="▪"/>
            </a:pPr>
            <a:r>
              <a:rPr b="1" sz="1300">
                <a:solidFill>
                  <a:srgbClr val="156082"/>
                </a:solidFill>
                <a:latin typeface="Arial"/>
              </a:rPr>
              <a:t>RQ1</a:t>
            </a:r>
            <a:r>
              <a:rPr b="0" sz="1300">
                <a:solidFill>
                  <a:srgbClr val="0E2841"/>
                </a:solidFill>
                <a:latin typeface="Arial"/>
              </a:rPr>
              <a:t>: discordance is a structural customer-level trait, and coherent Buys earn a significant return premium</a:t>
            </a:r>
          </a:p>
          <a:p>
            <a:pPr algn="l" marL="228600" indent="-228600">
              <a:lnSpc>
                <a:spcPct val="104000"/>
              </a:lnSpc>
              <a:spcBef>
                <a:spcPts val="400"/>
              </a:spcBef>
              <a:spcAft>
                <a:spcPts val="200"/>
              </a:spcAft>
              <a:buClr>
                <a:srgbClr val="156082"/>
              </a:buClr>
              <a:buFont typeface="Arial"/>
              <a:buChar char="▪"/>
            </a:pPr>
            <a:r>
              <a:rPr b="1" sz="1300">
                <a:solidFill>
                  <a:srgbClr val="E97132"/>
                </a:solidFill>
                <a:latin typeface="Arial"/>
              </a:rPr>
              <a:t>RQ2</a:t>
            </a:r>
            <a:r>
              <a:rPr b="0" sz="1300">
                <a:solidFill>
                  <a:srgbClr val="0E2841"/>
                </a:solidFill>
                <a:latin typeface="Arial"/>
              </a:rPr>
              <a:t>: both FAR-Trans baselines under-serve specific declared bands in ways the aggregate metrics hide</a:t>
            </a:r>
          </a:p>
          <a:p>
            <a:pPr algn="l" marL="228600" indent="-228600">
              <a:lnSpc>
                <a:spcPct val="104000"/>
              </a:lnSpc>
              <a:spcBef>
                <a:spcPts val="400"/>
              </a:spcBef>
              <a:spcAft>
                <a:spcPts val="200"/>
              </a:spcAft>
              <a:buClr>
                <a:srgbClr val="156082"/>
              </a:buClr>
              <a:buFont typeface="Arial"/>
              <a:buChar char="▪"/>
            </a:pPr>
            <a:r>
              <a:rPr b="1" sz="1300">
                <a:solidFill>
                  <a:srgbClr val="1E7A34"/>
                </a:solidFill>
                <a:latin typeface="Arial"/>
              </a:rPr>
              <a:t>RQ3</a:t>
            </a:r>
            <a:r>
              <a:rPr b="0" sz="1300">
                <a:solidFill>
                  <a:srgbClr val="0E2841"/>
                </a:solidFill>
                <a:latin typeface="Arial"/>
              </a:rPr>
              <a:t>: stratification with regrouping lifts PC@10 to 0.949 while also improving nDCG and Recall, at no ROI cost</a:t>
            </a:r>
          </a:p>
        </p:txBody>
      </p:sp>
      <p:sp>
        <p:nvSpPr>
          <p:cNvPr id="5" name="Rounded Rectangle 4"/>
          <p:cNvSpPr/>
          <p:nvPr/>
        </p:nvSpPr>
        <p:spPr>
          <a:xfrm>
            <a:off x="502920" y="4114800"/>
            <a:ext cx="8138160" cy="548640"/>
          </a:xfrm>
          <a:prstGeom prst="roundRect">
            <a:avLst>
              <a:gd name="adj" fmla="val 12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l">
              <a:lnSpc>
                <a:spcPct val="100000"/>
              </a:lnSpc>
              <a:buNone/>
            </a:pPr>
            <a:r>
              <a:rPr b="1" sz="1300">
                <a:solidFill>
                  <a:srgbClr val="FFFFFF"/>
                </a:solidFill>
                <a:latin typeface="Arial"/>
              </a:rPr>
              <a:t>Regulatory suitability can be encoded as a training-time objective, not a filtering step.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b="1" sz="3000">
                <a:solidFill>
                  <a:srgbClr val="0E2841"/>
                </a:solidFill>
                <a:latin typeface="Arial"/>
              </a:rPr>
              <a:t>Thank you</a:t>
            </a:r>
          </a:p>
        </p:txBody>
      </p:sp>
      <p:sp>
        <p:nvSpPr>
          <p:cNvPr id="3" name="Subtitle 2"/>
          <p:cNvSpPr>
            <a:spLocks noGrp="1"/>
          </p:cNvSpPr>
          <p:nvPr>
            <p:ph type="subTitle" idx="1"/>
          </p:nvPr>
        </p:nvSpPr>
        <p:spPr/>
        <p:txBody>
          <a:bodyPr wrap="square"/>
          <a:lstStyle/>
          <a:p>
            <a:pPr algn="ctr">
              <a:spcAft>
                <a:spcPts val="600"/>
              </a:spcAft>
              <a:buNone/>
            </a:pPr>
            <a:r>
              <a:rPr b="0" sz="1300">
                <a:solidFill>
                  <a:srgbClr val="0E2841"/>
                </a:solidFill>
                <a:latin typeface="Arial"/>
              </a:rPr>
              <a:t>Code, configuration grids, and evaluation artefacts:</a:t>
            </a:r>
          </a:p>
          <a:p>
            <a:pPr algn="ctr">
              <a:spcAft>
                <a:spcPts val="600"/>
              </a:spcAft>
              <a:buNone/>
            </a:pPr>
            <a:r>
              <a:rPr b="1" sz="1400">
                <a:solidFill>
                  <a:srgbClr val="156082"/>
                </a:solidFill>
                <a:latin typeface="Arial"/>
              </a:rPr>
              <a:t>github.com/Samthesimpsons/SMU-Capstone</a:t>
            </a:r>
          </a:p>
          <a:p>
            <a:pPr algn="ctr">
              <a:spcAft>
                <a:spcPts val="600"/>
              </a:spcAft>
              <a:buNone/>
            </a:pPr>
            <a:r>
              <a:rPr b="0" sz="1100">
                <a:solidFill>
                  <a:srgbClr val="5A5A5A"/>
                </a:solidFill>
                <a:latin typeface="Arial"/>
              </a:rPr>
              <a:t>Samuel Sim Wei Xuan  ·  samuel.sim.2024@msc.smu.edu.sg</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5233</Words>
  <Application>Microsoft Office PowerPoint</Application>
  <PresentationFormat>On-screen Show (16:9)</PresentationFormat>
  <Paragraphs>187</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Calibri</vt:lpstr>
      <vt:lpstr>Play</vt:lpstr>
      <vt:lpstr>Arial</vt:lpstr>
      <vt:lpstr>Office Theme</vt:lpstr>
      <vt:lpstr>Aligning Financial Asset Recommendations with Investor Risk Profiles via Profile Coherence</vt:lpstr>
      <vt:lpstr>The regulatory gap in Financial Asset Recommendation</vt:lpstr>
      <vt:lpstr>Setting and dataset</vt:lpstr>
      <vt:lpstr>Research questions: a diagnostic-to-remedy chain</vt:lpstr>
      <vt:lpstr>Related work and positioning</vt:lpstr>
      <vt:lpstr>The Profile Coherence metric (PC@k)</vt:lpstr>
      <vt:lpstr>Asset risk band assignment</vt:lpstr>
      <vt:lpstr>Resulting asset universe and π(b) baselines</vt:lpstr>
      <vt:lpstr>Temporal split protocol</vt:lpstr>
      <vt:lpstr>Baseline hyperparameter grids</vt:lpstr>
      <vt:lpstr>RQ1 part 1: transaction-level prevalence and the per-band U-shape</vt:lpstr>
      <vt:lpstr>RQ1 part 2: customer-level structure and temporal stability</vt:lpstr>
      <vt:lpstr>RQ2 headline: coherent Buys earn more</vt:lpstr>
      <vt:lpstr>RQ2: full coefficient table</vt:lpstr>
      <vt:lpstr>RQ3: existing baselines under-serve specific bands</vt:lpstr>
      <vt:lpstr>Why extend LightGCN and not Random Forest?</vt:lpstr>
      <vt:lpstr>PC-LightGCN architecture</vt:lpstr>
      <vt:lpstr>RQ4 headline: closing the gap</vt:lpstr>
      <vt:lpstr>Per-band recovery under PC-LightGCN</vt:lpstr>
      <vt:lpstr>Limitations and future work</vt:lpstr>
      <vt:lpstr>Conclusion and contributions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Samuel Sim</cp:lastModifiedBy>
  <cp:revision>2</cp:revision>
  <dcterms:modified xsi:type="dcterms:W3CDTF">2026-05-31T14:52:07Z</dcterms:modified>
</cp:coreProperties>
</file>