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4"/>
  </p:notesMasterIdLst>
  <p:handoutMasterIdLst>
    <p:handoutMasterId r:id="rId35"/>
  </p:handoutMasterIdLst>
  <p:sldIdLst>
    <p:sldId id="256" r:id="rId2"/>
    <p:sldId id="257" r:id="rId3"/>
    <p:sldId id="258" r:id="rId4"/>
    <p:sldId id="263" r:id="rId5"/>
    <p:sldId id="305" r:id="rId6"/>
    <p:sldId id="307" r:id="rId7"/>
    <p:sldId id="260" r:id="rId8"/>
    <p:sldId id="265" r:id="rId9"/>
    <p:sldId id="266" r:id="rId10"/>
    <p:sldId id="269" r:id="rId11"/>
    <p:sldId id="272" r:id="rId12"/>
    <p:sldId id="273" r:id="rId13"/>
    <p:sldId id="276" r:id="rId14"/>
    <p:sldId id="310" r:id="rId15"/>
    <p:sldId id="311" r:id="rId16"/>
    <p:sldId id="308" r:id="rId17"/>
    <p:sldId id="278" r:id="rId18"/>
    <p:sldId id="279" r:id="rId19"/>
    <p:sldId id="282" r:id="rId20"/>
    <p:sldId id="285" r:id="rId21"/>
    <p:sldId id="283" r:id="rId22"/>
    <p:sldId id="287" r:id="rId23"/>
    <p:sldId id="288" r:id="rId24"/>
    <p:sldId id="289" r:id="rId25"/>
    <p:sldId id="295" r:id="rId26"/>
    <p:sldId id="291" r:id="rId27"/>
    <p:sldId id="297" r:id="rId28"/>
    <p:sldId id="298" r:id="rId29"/>
    <p:sldId id="300" r:id="rId30"/>
    <p:sldId id="301" r:id="rId31"/>
    <p:sldId id="302" r:id="rId32"/>
    <p:sldId id="303" r:id="rId3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6"/>
    </p:embeddedFont>
    <p:embeddedFont>
      <p:font typeface="Play" panose="020B0604020202020204" charset="0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Title" id="{CCD770D5-EB03-4C30-B8C3-5DDE48A2CE67}">
          <p14:sldIdLst>
            <p14:sldId id="256"/>
          </p14:sldIdLst>
        </p14:section>
        <p14:section name="Introduction" id="{5DCE38E6-734D-44AD-AB17-BCA344A78DF2}">
          <p14:sldIdLst>
            <p14:sldId id="257"/>
            <p14:sldId id="258"/>
            <p14:sldId id="263"/>
            <p14:sldId id="305"/>
            <p14:sldId id="307"/>
            <p14:sldId id="260"/>
          </p14:sldIdLst>
        </p14:section>
        <p14:section name="Analytical Study" id="{8065F342-6DB2-429F-AD3C-45C76140A577}">
          <p14:sldIdLst>
            <p14:sldId id="265"/>
            <p14:sldId id="266"/>
            <p14:sldId id="269"/>
            <p14:sldId id="272"/>
            <p14:sldId id="273"/>
          </p14:sldIdLst>
        </p14:section>
        <p14:section name="Methodology" id="{7694989F-F2C8-449A-B6B1-3F1BBED4E16D}">
          <p14:sldIdLst>
            <p14:sldId id="276"/>
            <p14:sldId id="310"/>
            <p14:sldId id="311"/>
            <p14:sldId id="308"/>
            <p14:sldId id="278"/>
            <p14:sldId id="279"/>
          </p14:sldIdLst>
        </p14:section>
        <p14:section name="Experimental Setup" id="{F38E2082-6B8B-4B53-9820-FCB13FA54525}">
          <p14:sldIdLst>
            <p14:sldId id="282"/>
            <p14:sldId id="285"/>
            <p14:sldId id="283"/>
            <p14:sldId id="287"/>
          </p14:sldIdLst>
        </p14:section>
        <p14:section name="Results" id="{1CD4AB61-8244-4959-B3F5-E9BC3851EBBE}">
          <p14:sldIdLst>
            <p14:sldId id="288"/>
            <p14:sldId id="289"/>
            <p14:sldId id="295"/>
            <p14:sldId id="291"/>
          </p14:sldIdLst>
        </p14:section>
        <p14:section name="Conclusion" id="{8B0F6DDA-CC68-4B6B-87C2-51FBAE6101F7}">
          <p14:sldIdLst>
            <p14:sldId id="297"/>
            <p14:sldId id="298"/>
            <p14:sldId id="300"/>
            <p14:sldId id="301"/>
          </p14:sldIdLst>
        </p14:section>
        <p14:section name="Appendix" id="{6B0C326C-7B81-40D3-9C3A-BC6160B48E7F}">
          <p14:sldIdLst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90BF"/>
    <a:srgbClr val="7ACBBB"/>
    <a:srgbClr val="A1D9B7"/>
    <a:srgbClr val="A9DDB6"/>
    <a:srgbClr val="1E7EB7"/>
    <a:srgbClr val="234FA1"/>
    <a:srgbClr val="091E5B"/>
    <a:srgbClr val="84CFBA"/>
    <a:srgbClr val="94D5B8"/>
    <a:srgbClr val="8BD1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3" autoAdjust="0"/>
    <p:restoredTop sz="82353" autoAdjust="0"/>
  </p:normalViewPr>
  <p:slideViewPr>
    <p:cSldViewPr snapToGrid="0">
      <p:cViewPr varScale="1">
        <p:scale>
          <a:sx n="182" d="100"/>
          <a:sy n="182" d="100"/>
        </p:scale>
        <p:origin x="1152" y="1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6" d="100"/>
          <a:sy n="106" d="100"/>
        </p:scale>
        <p:origin x="4245" y="5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DCC23E-2445-8927-9D31-EFE409D3E0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4729C-C9ED-3513-1AEF-159C7C56D0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84A861-0892-45E9-A6FF-42AA72AD79D6}" type="datetimeFigureOut">
              <a:rPr lang="en-SG" smtClean="0"/>
              <a:t>30/6/2026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F6FFB-0EEF-6E09-9A5D-A5462A8773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0A69C-82A5-2C96-A5C0-8ADD11750A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9557BD-F81B-4A99-9A73-0863D2076FB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85515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88568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83426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68426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sz="1100" dirty="0">
                <a:solidFill>
                  <a:srgbClr val="202020"/>
                </a:solidFill>
              </a:rPr>
              <a:t>Closes the gap left by proprietary or simulated datasets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b="0" i="0" u="none" strike="noStrike" cap="none" dirty="0">
                <a:solidFill>
                  <a:schemeClr val="tx1"/>
                </a:solidFill>
                <a:latin typeface="Arial"/>
                <a:ea typeface="Inter" pitchFamily="34" charset="-122"/>
                <a:cs typeface="Inter" pitchFamily="34" charset="-120"/>
                <a:sym typeface="Arial"/>
              </a:rPr>
              <a:t>FAR-Trans links customer risk bands, transactions and asset price histories, enabling a joint study of accuracy, returns and suitability.</a:t>
            </a:r>
            <a:endParaRPr lang="en-US" sz="11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GB" sz="1100" dirty="0">
              <a:solidFill>
                <a:srgbClr val="202020"/>
              </a:solidFill>
            </a:endParaRPr>
          </a:p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51089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sz="1500" b="0" dirty="0">
                <a:solidFill>
                  <a:srgbClr val="0E2841"/>
                </a:solidFill>
                <a:latin typeface="Arial"/>
              </a:rPr>
              <a:t>LightGCN</a:t>
            </a:r>
            <a:r>
              <a:rPr lang="en-SG" sz="1500" b="0" dirty="0">
                <a:solidFill>
                  <a:srgbClr val="202020"/>
                </a:solidFill>
                <a:latin typeface="Arial"/>
              </a:rPr>
              <a:t>: graph collaborative filter over the user–item bipartite graph, </a:t>
            </a:r>
            <a:r>
              <a:rPr lang="en-SG" sz="1500" b="0" dirty="0">
                <a:solidFill>
                  <a:srgbClr val="0E2841"/>
                </a:solidFill>
                <a:latin typeface="Arial"/>
              </a:rPr>
              <a:t>strongest ranking</a:t>
            </a:r>
            <a:r>
              <a:rPr lang="en-SG" sz="1500" b="0" dirty="0">
                <a:solidFill>
                  <a:srgbClr val="202020"/>
                </a:solidFill>
                <a:latin typeface="Arial"/>
              </a:rPr>
              <a:t> model (</a:t>
            </a:r>
            <a:r>
              <a:rPr lang="en-SG" sz="1500" b="0" dirty="0" err="1">
                <a:solidFill>
                  <a:srgbClr val="202020"/>
                </a:solidFill>
                <a:latin typeface="Arial"/>
              </a:rPr>
              <a:t>nDCG</a:t>
            </a:r>
            <a:r>
              <a:rPr lang="en-SG" sz="1500" b="0" dirty="0">
                <a:solidFill>
                  <a:srgbClr val="202020"/>
                </a:solidFill>
                <a:latin typeface="Arial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sz="1500" b="0" dirty="0">
                <a:solidFill>
                  <a:srgbClr val="0E2841"/>
                </a:solidFill>
                <a:latin typeface="Arial"/>
              </a:rPr>
              <a:t>Random Forest</a:t>
            </a:r>
            <a:r>
              <a:rPr lang="en-SG" sz="1500" b="0" dirty="0">
                <a:solidFill>
                  <a:srgbClr val="202020"/>
                </a:solidFill>
                <a:latin typeface="Arial"/>
              </a:rPr>
              <a:t>: tree ensemble over tabular customer/asset features, </a:t>
            </a:r>
            <a:r>
              <a:rPr lang="en-SG" sz="1500" b="0" dirty="0">
                <a:solidFill>
                  <a:srgbClr val="0E2841"/>
                </a:solidFill>
                <a:latin typeface="Arial"/>
              </a:rPr>
              <a:t>strongest returns</a:t>
            </a:r>
            <a:r>
              <a:rPr lang="en-SG" sz="1500" b="0" dirty="0">
                <a:solidFill>
                  <a:srgbClr val="202020"/>
                </a:solidFill>
                <a:latin typeface="Arial"/>
              </a:rPr>
              <a:t> model (ROI)</a:t>
            </a:r>
          </a:p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7629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GB" sz="1100" b="0" dirty="0">
                <a:solidFill>
                  <a:srgbClr val="0E2841"/>
                </a:solidFill>
                <a:latin typeface="Arial"/>
              </a:rPr>
              <a:t>Step 1: subcategory metadata.</a:t>
            </a:r>
            <a:r>
              <a:rPr lang="en-GB" sz="1100" b="0" dirty="0">
                <a:solidFill>
                  <a:srgbClr val="202020"/>
                </a:solidFill>
                <a:latin typeface="Arial"/>
              </a:rPr>
              <a:t> Mutual funds: Money-Market to Conservative, Bond to Income, Balanced to Balanced, Equity/Large-Cap to Aggressive. Bonds by issuer: Government to Conservative, Corporate to Income, else Income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GB" sz="1100" b="0" dirty="0">
                <a:solidFill>
                  <a:srgbClr val="0E2841"/>
                </a:solidFill>
                <a:latin typeface="Arial"/>
              </a:rPr>
              <a:t>Step 2: volatility quartiles.</a:t>
            </a:r>
            <a:r>
              <a:rPr lang="en-GB" sz="1100" b="0" dirty="0">
                <a:solidFill>
                  <a:srgbClr val="202020"/>
                </a:solidFill>
                <a:latin typeface="Arial"/>
              </a:rPr>
              <a:t> Untagged assets (mostly stocks): annualised SD of daily log-returns over a trailing 252-day window, bucketed into 4 bands by stock-calibrated quartiles (q₁, q₂, q₃)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GB" sz="1100" b="0" dirty="0">
                <a:solidFill>
                  <a:srgbClr val="0E2841"/>
                </a:solidFill>
                <a:latin typeface="Arial"/>
              </a:rPr>
              <a:t>Step 3: residual default.</a:t>
            </a:r>
            <a:r>
              <a:rPr lang="en-GB" sz="1100" b="0" dirty="0">
                <a:solidFill>
                  <a:srgbClr val="202020"/>
                </a:solidFill>
                <a:latin typeface="Arial"/>
              </a:rPr>
              <a:t> Anything left to Balanced</a:t>
            </a:r>
          </a:p>
        </p:txBody>
      </p:sp>
    </p:spTree>
    <p:extLst>
      <p:ext uri="{BB962C8B-B14F-4D97-AF65-F5344CB8AC3E}">
        <p14:creationId xmlns:p14="http://schemas.microsoft.com/office/powerpoint/2010/main" val="354476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Hartigan's dip test: the max distance between the empirical CDF and the best-fit unimodal CDF</a:t>
            </a:r>
          </a:p>
          <a:p>
            <a:r>
              <a:rPr lang="en-GB" dirty="0"/>
              <a:t>Empirical CDF is just the fraction of customers whose discordant share ≤ x</a:t>
            </a:r>
          </a:p>
          <a:p>
            <a:r>
              <a:rPr lang="en-GB" dirty="0"/>
              <a:t>A high D / low p rejects unimodality</a:t>
            </a:r>
          </a:p>
          <a:p>
            <a:r>
              <a:rPr lang="en-GB" dirty="0"/>
              <a:t>Our D = 0.086, p &lt; 10⁻¹⁵ confirms the discordant-share distribution is not a single bump with noise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73407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83252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On </a:t>
            </a:r>
            <a:r>
              <a:rPr lang="en-SG" sz="1100" b="1" dirty="0">
                <a:solidFill>
                  <a:srgbClr val="0E2841"/>
                </a:solidFill>
                <a:latin typeface="Arial"/>
              </a:rPr>
              <a:t>208,029</a:t>
            </a:r>
            <a:r>
              <a:rPr lang="en-SG" sz="1100" b="0" dirty="0">
                <a:solidFill>
                  <a:srgbClr val="202020"/>
                </a:solidFill>
                <a:latin typeface="Arial"/>
              </a:rPr>
              <a:t> priced buys</a:t>
            </a:r>
          </a:p>
          <a:p>
            <a:r>
              <a:rPr lang="en-SG" sz="1100" b="0" dirty="0">
                <a:solidFill>
                  <a:srgbClr val="202020"/>
                </a:solidFill>
                <a:latin typeface="Arial"/>
              </a:rPr>
              <a:t>For each term, we need to hold </a:t>
            </a:r>
            <a:r>
              <a:rPr lang="en-GB" sz="1100" dirty="0"/>
              <a:t>other covariates fixed</a:t>
            </a:r>
            <a:endParaRPr lang="en-SG" sz="1100" b="0" dirty="0">
              <a:solidFill>
                <a:srgbClr val="202020"/>
              </a:solidFill>
              <a:latin typeface="Arial"/>
            </a:endParaRPr>
          </a:p>
          <a:p>
            <a:pPr lvl="1"/>
            <a:r>
              <a:rPr lang="en-SG" sz="1100" b="0" dirty="0">
                <a:solidFill>
                  <a:srgbClr val="202020"/>
                </a:solidFill>
                <a:latin typeface="Arial"/>
              </a:rPr>
              <a:t>Year effect all significant</a:t>
            </a:r>
          </a:p>
          <a:p>
            <a:pPr lvl="1"/>
            <a:r>
              <a:rPr lang="en-SG" sz="1100" b="0" dirty="0">
                <a:solidFill>
                  <a:srgbClr val="202020"/>
                </a:solidFill>
                <a:latin typeface="Arial"/>
              </a:rPr>
              <a:t>Customer type all not significant</a:t>
            </a:r>
          </a:p>
        </p:txBody>
      </p:sp>
    </p:spTree>
    <p:extLst>
      <p:ext uri="{BB962C8B-B14F-4D97-AF65-F5344CB8AC3E}">
        <p14:creationId xmlns:p14="http://schemas.microsoft.com/office/powerpoint/2010/main" val="1347602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3FB90-8EE1-E51A-8612-A3006AA4F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E5ECE-51EC-0A40-72EB-787F32020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C57710-622E-1929-FA29-0FFC0F028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100" b="0" dirty="0">
                <a:solidFill>
                  <a:srgbClr val="202020"/>
                </a:solidFill>
                <a:latin typeface="Arial"/>
              </a:rPr>
              <a:t>Top ranking accuracy model: </a:t>
            </a:r>
            <a:r>
              <a:rPr lang="en-GB" sz="1100" b="0" dirty="0" err="1">
                <a:solidFill>
                  <a:srgbClr val="202020"/>
                </a:solidFill>
                <a:latin typeface="Arial"/>
              </a:rPr>
              <a:t>LightGCN</a:t>
            </a:r>
            <a:endParaRPr lang="en-GB" sz="1100" b="0" dirty="0">
              <a:solidFill>
                <a:srgbClr val="202020"/>
              </a:solidFill>
              <a:latin typeface="Arial"/>
            </a:endParaRPr>
          </a:p>
          <a:p>
            <a:r>
              <a:rPr lang="en-GB" sz="1100" b="0" dirty="0">
                <a:solidFill>
                  <a:srgbClr val="202020"/>
                </a:solidFill>
                <a:latin typeface="Arial"/>
              </a:rPr>
              <a:t>Top return model: Random Forest carries no customer-level signal to segment, so not extended</a:t>
            </a:r>
          </a:p>
        </p:txBody>
      </p:sp>
    </p:spTree>
    <p:extLst>
      <p:ext uri="{BB962C8B-B14F-4D97-AF65-F5344CB8AC3E}">
        <p14:creationId xmlns:p14="http://schemas.microsoft.com/office/powerpoint/2010/main" val="7120945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BCA9A-30E8-7B9F-2283-28AF53580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065ED-6681-7F78-3831-EFC6AA2DC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6EE615-0903-F0A4-0AB8-ED342E02A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GB" sz="1100" b="0" dirty="0">
              <a:solidFill>
                <a:srgbClr val="20202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20061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41B01-44C0-973F-DEB6-A11231AE5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7E2AE9-CFF4-5CE2-3B06-7CF240120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1AB0FA-873F-9DC8-A357-93F2D6811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100" b="0" dirty="0">
                <a:solidFill>
                  <a:srgbClr val="202020"/>
                </a:solidFill>
                <a:latin typeface="Arial"/>
              </a:rPr>
              <a:t>We use this BPR loss as it is differentiable (surrogate loss) compared to </a:t>
            </a:r>
            <a:r>
              <a:rPr lang="en-GB" sz="1100" b="0" dirty="0" err="1">
                <a:solidFill>
                  <a:srgbClr val="202020"/>
                </a:solidFill>
                <a:latin typeface="Arial"/>
              </a:rPr>
              <a:t>nDCG</a:t>
            </a:r>
            <a:r>
              <a:rPr lang="en-GB" sz="1100" b="0" dirty="0">
                <a:solidFill>
                  <a:srgbClr val="202020"/>
                </a:solidFill>
                <a:latin typeface="Arial"/>
              </a:rPr>
              <a:t> which is non-differentiable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86858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674286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err="1"/>
              <a:t>Softplus</a:t>
            </a:r>
            <a:r>
              <a:rPr lang="en-SG" dirty="0"/>
              <a:t> is just smooth version of </a:t>
            </a:r>
            <a:r>
              <a:rPr lang="en-SG" dirty="0" err="1"/>
              <a:t>ReLU</a:t>
            </a:r>
            <a:r>
              <a:rPr lang="en-SG" dirty="0"/>
              <a:t> </a:t>
            </a:r>
          </a:p>
          <a:p>
            <a:r>
              <a:rPr lang="en-GB" dirty="0"/>
              <a:t>Bands are ordinal, so the median is the scale-correct, outlier-robust summary that returns a real band</a:t>
            </a:r>
          </a:p>
          <a:p>
            <a:r>
              <a:rPr lang="en-GB" dirty="0"/>
              <a:t>Rounding ties down keeps the bias conservative, the safe direction under MiFID II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82355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627621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Following the original FAR-trans paper split</a:t>
            </a:r>
          </a:p>
        </p:txBody>
      </p:sp>
    </p:spTree>
    <p:extLst>
      <p:ext uri="{BB962C8B-B14F-4D97-AF65-F5344CB8AC3E}">
        <p14:creationId xmlns:p14="http://schemas.microsoft.com/office/powerpoint/2010/main" val="18759966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298759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b="0" dirty="0">
                <a:solidFill>
                  <a:srgbClr val="202020"/>
                </a:solidFill>
                <a:latin typeface="Arial"/>
              </a:rPr>
              <a:t>Only one intervention beats the </a:t>
            </a:r>
            <a:r>
              <a:rPr lang="en-GB" b="0" dirty="0" err="1">
                <a:solidFill>
                  <a:srgbClr val="202020"/>
                </a:solidFill>
                <a:latin typeface="Arial"/>
              </a:rPr>
              <a:t>LightGCN</a:t>
            </a:r>
            <a:r>
              <a:rPr lang="en-GB" b="0" dirty="0">
                <a:solidFill>
                  <a:srgbClr val="202020"/>
                </a:solidFill>
                <a:latin typeface="Arial"/>
              </a:rPr>
              <a:t> baseline overall, highest balance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562760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491666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Both approaches clear the random baseline for all bands</a:t>
            </a:r>
          </a:p>
          <a:p>
            <a:r>
              <a:rPr lang="en-GB" dirty="0"/>
              <a:t>Best is with both implemented but recall at the cost of lower accuracy compared to just regrouping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73547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65801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574570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961611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96937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800"/>
              <a:buFont typeface="Arial"/>
              <a:buNone/>
              <a:defRPr sz="38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00206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SG"/>
              <a:t>github.com/Samthesimpsons/Risk-Based-Segmentation-for-FAR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800"/>
              <a:buFont typeface="Arial"/>
              <a:buNone/>
              <a:defRPr sz="38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00206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SG"/>
              <a:t>github.com/Samthesimpsons/Risk-Based-Segmentation-for-FAR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4401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3769A-75CA-A068-D878-A2394AF7D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26830"/>
            <a:ext cx="7886700" cy="5412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BA3A03-D095-203F-98BC-2272FB2446B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8E21F-7EE7-9836-9F73-5C4D4F4057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 sz="800" i="1"/>
            </a:lvl1pPr>
          </a:lstStyle>
          <a:p>
            <a:r>
              <a:rPr lang="en-SG"/>
              <a:t>github.com/Samthesimpsons/Risk-Based-Segmentation-for-FAR</a:t>
            </a:r>
            <a:endParaRPr lang="en-SG" sz="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129DD4-C35A-F96F-4DC8-FF1C95CDE4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6" name="Google Shape;58;p9">
            <a:extLst>
              <a:ext uri="{FF2B5EF4-FFF2-40B4-BE49-F238E27FC236}">
                <a16:creationId xmlns:a16="http://schemas.microsoft.com/office/drawing/2014/main" id="{65E63A31-3A41-37BD-E8AF-724EAD48107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8650" y="1363955"/>
            <a:ext cx="7886700" cy="303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318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629841" y="740568"/>
            <a:ext cx="2949300" cy="80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1">
                <a:latin typeface="+mj-l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 dirty="0"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2"/>
          </p:nvPr>
        </p:nvSpPr>
        <p:spPr>
          <a:xfrm>
            <a:off x="629841" y="1623646"/>
            <a:ext cx="2949300" cy="277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SG"/>
              <a:t>github.com/Samthesimpsons/Risk-Based-Segmentation-for-FAR</a:t>
            </a: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userDrawn="1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629841" y="740568"/>
            <a:ext cx="2949300" cy="80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1">
                <a:latin typeface="+mj-l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1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66" name="Google Shape;66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SG"/>
              <a:t>github.com/Samthesimpsons/Risk-Based-Segmentation-for-FAR</a:t>
            </a:r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" name="Google Shape;58;p9">
            <a:extLst>
              <a:ext uri="{FF2B5EF4-FFF2-40B4-BE49-F238E27FC236}">
                <a16:creationId xmlns:a16="http://schemas.microsoft.com/office/drawing/2014/main" id="{D3C5BA6B-0163-B42D-92BF-6C035280FB45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629841" y="1623646"/>
            <a:ext cx="2949300" cy="277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SG"/>
              <a:t>github.com/Samthesimpsons/Risk-Based-Segmentation-for-FAR</a:t>
            </a:r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4110038" y="47625"/>
            <a:ext cx="940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GB" sz="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SMU Classification: Restricted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0" r:id="rId3"/>
    <p:sldLayoutId id="2147483655" r:id="rId4"/>
    <p:sldLayoutId id="2147483656" r:id="rId5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9.svg"/><Relationship Id="rId7" Type="http://schemas.openxmlformats.org/officeDocument/2006/relationships/image" Target="../media/image16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0.sv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10.svg"/><Relationship Id="rId10" Type="http://schemas.openxmlformats.org/officeDocument/2006/relationships/image" Target="../media/image25.png"/><Relationship Id="rId4" Type="http://schemas.openxmlformats.org/officeDocument/2006/relationships/image" Target="../media/image9.svg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11" Type="http://schemas.openxmlformats.org/officeDocument/2006/relationships/image" Target="../media/image32.png"/><Relationship Id="rId5" Type="http://schemas.openxmlformats.org/officeDocument/2006/relationships/image" Target="../media/image10.svg"/><Relationship Id="rId10" Type="http://schemas.openxmlformats.org/officeDocument/2006/relationships/image" Target="../media/image25.png"/><Relationship Id="rId4" Type="http://schemas.openxmlformats.org/officeDocument/2006/relationships/image" Target="../media/image9.svg"/><Relationship Id="rId9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5449" y="898796"/>
            <a:ext cx="7153102" cy="17907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sz="2400" b="1" dirty="0">
                <a:latin typeface="+mj-lt"/>
              </a:rPr>
              <a:t>Risk-Based Segmentation for</a:t>
            </a:r>
            <a:br>
              <a:rPr lang="en-SG" sz="2400" dirty="0">
                <a:latin typeface="+mj-lt"/>
              </a:rPr>
            </a:br>
            <a:r>
              <a:rPr sz="2400" b="1" dirty="0">
                <a:latin typeface="+mj-lt"/>
              </a:rPr>
              <a:t>Financial Asset</a:t>
            </a:r>
            <a:r>
              <a:rPr lang="en-SG" sz="2400" b="1" dirty="0">
                <a:latin typeface="+mj-lt"/>
              </a:rPr>
              <a:t> </a:t>
            </a:r>
            <a:r>
              <a:rPr sz="2400" b="1" dirty="0">
                <a:latin typeface="+mj-lt"/>
              </a:rPr>
              <a:t>Recommendation</a:t>
            </a:r>
            <a:endParaRPr sz="2400" b="1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689496"/>
            <a:ext cx="6858000" cy="1555208"/>
          </a:xfrm>
        </p:spPr>
        <p:txBody>
          <a:bodyPr>
            <a:normAutofit/>
          </a:bodyPr>
          <a:lstStyle/>
          <a:p>
            <a:r>
              <a:rPr lang="en-SG" sz="1400" b="1" dirty="0">
                <a:solidFill>
                  <a:schemeClr val="tx1"/>
                </a:solidFill>
                <a:latin typeface="+mj-lt"/>
              </a:rPr>
              <a:t>Balancing Return, Accuracy and Risk Suitability</a:t>
            </a:r>
          </a:p>
          <a:p>
            <a:endParaRPr lang="en-SG" sz="1400" b="1" dirty="0">
              <a:latin typeface="+mj-lt"/>
            </a:endParaRPr>
          </a:p>
          <a:p>
            <a:r>
              <a:rPr sz="1200" b="1" dirty="0">
                <a:latin typeface="+mj-lt"/>
              </a:rPr>
              <a:t>Samuel Sim</a:t>
            </a:r>
            <a:endParaRPr lang="en-SG" sz="1200" b="1" dirty="0">
              <a:latin typeface="+mj-lt"/>
            </a:endParaRPr>
          </a:p>
          <a:p>
            <a:r>
              <a:rPr lang="en-SG" sz="1200" dirty="0">
                <a:latin typeface="+mj-lt"/>
              </a:rPr>
              <a:t>Master of Science</a:t>
            </a:r>
            <a:r>
              <a:rPr sz="1200" dirty="0">
                <a:latin typeface="+mj-lt"/>
              </a:rPr>
              <a:t> in Computing (Capstone)</a:t>
            </a:r>
          </a:p>
          <a:p>
            <a:r>
              <a:rPr sz="1200" dirty="0">
                <a:latin typeface="+mj-lt"/>
              </a:rPr>
              <a:t>samuel.sim.2024@msc.smu.edu.sg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SG" b="1" dirty="0">
                <a:latin typeface="+mj-lt"/>
              </a:rPr>
              <a:t>01 </a:t>
            </a:r>
            <a:r>
              <a:rPr b="1" dirty="0">
                <a:latin typeface="+mj-lt"/>
              </a:rP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1800" dirty="0">
                <a:latin typeface="+mj-lt"/>
              </a:rPr>
              <a:t>Financial Asset 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 dirty="0">
                <a:solidFill>
                  <a:srgbClr val="156082"/>
                </a:solidFill>
              </a:rPr>
              <a:t>What is Financial Asset Recommendation (FAR)?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F370F-E9E0-9185-E296-301863E3777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77733"/>
            <a:ext cx="3086100" cy="273900"/>
          </a:xfrm>
        </p:spPr>
        <p:txBody>
          <a:bodyPr/>
          <a:lstStyle/>
          <a:p>
            <a:r>
              <a:rPr lang="en-SG" dirty="0">
                <a:latin typeface="+mj-lt"/>
              </a:rPr>
              <a:t>github.com/</a:t>
            </a:r>
            <a:r>
              <a:rPr lang="en-SG" dirty="0" err="1">
                <a:latin typeface="+mj-lt"/>
              </a:rPr>
              <a:t>Samthesimpsons</a:t>
            </a:r>
            <a:r>
              <a:rPr lang="en-SG" dirty="0">
                <a:latin typeface="+mj-lt"/>
              </a:rPr>
              <a:t>/Risk-Based-Segmentation-for-FAR</a:t>
            </a: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EE03BCFC-F466-0F44-9D6E-F4705A3B1629}"/>
              </a:ext>
            </a:extLst>
          </p:cNvPr>
          <p:cNvSpPr/>
          <p:nvPr/>
        </p:nvSpPr>
        <p:spPr>
          <a:xfrm>
            <a:off x="685800" y="1458377"/>
            <a:ext cx="2545645" cy="1143436"/>
          </a:xfrm>
          <a:prstGeom prst="roundRect">
            <a:avLst>
              <a:gd name="adj" fmla="val 722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SG" sz="16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5F3D015-7D12-D319-91B3-4CC2D2F6DE5A}"/>
              </a:ext>
            </a:extLst>
          </p:cNvPr>
          <p:cNvSpPr/>
          <p:nvPr/>
        </p:nvSpPr>
        <p:spPr>
          <a:xfrm>
            <a:off x="685800" y="1458377"/>
            <a:ext cx="55795" cy="1143436"/>
          </a:xfrm>
          <a:prstGeom prst="rect">
            <a:avLst/>
          </a:prstGeom>
          <a:solidFill>
            <a:schemeClr val="accent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 sz="160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9AA846F-E446-C9C4-2D49-0BC8E4778841}"/>
              </a:ext>
            </a:extLst>
          </p:cNvPr>
          <p:cNvSpPr/>
          <p:nvPr/>
        </p:nvSpPr>
        <p:spPr>
          <a:xfrm>
            <a:off x="839236" y="1597823"/>
            <a:ext cx="2266671" cy="2371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+mj-lt"/>
                <a:ea typeface="Inter Display" pitchFamily="34" charset="-122"/>
                <a:cs typeface="Inter Display" pitchFamily="34" charset="-120"/>
              </a:rPr>
              <a:t>Recommendation task</a:t>
            </a:r>
            <a:endParaRPr lang="en-US" sz="12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9830951D-272C-C9C8-E845-B17029D3FEDA}"/>
              </a:ext>
            </a:extLst>
          </p:cNvPr>
          <p:cNvSpPr/>
          <p:nvPr/>
        </p:nvSpPr>
        <p:spPr>
          <a:xfrm>
            <a:off x="839236" y="1911623"/>
            <a:ext cx="2252722" cy="5674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+mj-lt"/>
                <a:ea typeface="Inter" pitchFamily="34" charset="-122"/>
                <a:cs typeface="Inter" pitchFamily="34" charset="-120"/>
              </a:rPr>
              <a:t>Ranking financial products for an investor based on observed preferences and market context.</a:t>
            </a:r>
            <a:endParaRPr lang="en-US" sz="10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9B4FFAE3-74CD-6954-A1D9-23249331F2A5}"/>
              </a:ext>
            </a:extLst>
          </p:cNvPr>
          <p:cNvSpPr/>
          <p:nvPr/>
        </p:nvSpPr>
        <p:spPr>
          <a:xfrm>
            <a:off x="3454625" y="1458377"/>
            <a:ext cx="2545645" cy="1143436"/>
          </a:xfrm>
          <a:prstGeom prst="roundRect">
            <a:avLst>
              <a:gd name="adj" fmla="val 5367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SG" sz="16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1BB7C114-707F-2D21-B5CB-C0D2A5594DC4}"/>
              </a:ext>
            </a:extLst>
          </p:cNvPr>
          <p:cNvSpPr/>
          <p:nvPr/>
        </p:nvSpPr>
        <p:spPr>
          <a:xfrm>
            <a:off x="3454625" y="1458377"/>
            <a:ext cx="55795" cy="1143436"/>
          </a:xfrm>
          <a:prstGeom prst="rect">
            <a:avLst/>
          </a:prstGeom>
          <a:solidFill>
            <a:schemeClr val="accent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 sz="160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A9C4B338-C7D4-F97F-C8C6-4C94E452A1BF}"/>
              </a:ext>
            </a:extLst>
          </p:cNvPr>
          <p:cNvSpPr/>
          <p:nvPr/>
        </p:nvSpPr>
        <p:spPr>
          <a:xfrm>
            <a:off x="3608061" y="1597823"/>
            <a:ext cx="2266671" cy="2371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+mj-lt"/>
                <a:ea typeface="Inter Display" pitchFamily="34" charset="-122"/>
                <a:cs typeface="Inter Display" pitchFamily="34" charset="-120"/>
              </a:rPr>
              <a:t>Investor-side signals</a:t>
            </a:r>
            <a:endParaRPr lang="en-US" sz="12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EE31D0C2-BF25-4179-B08D-F49C19C3670A}"/>
              </a:ext>
            </a:extLst>
          </p:cNvPr>
          <p:cNvSpPr/>
          <p:nvPr/>
        </p:nvSpPr>
        <p:spPr>
          <a:xfrm>
            <a:off x="3608061" y="1911623"/>
            <a:ext cx="2252722" cy="5674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+mj-lt"/>
                <a:ea typeface="Inter" pitchFamily="34" charset="-122"/>
                <a:cs typeface="Inter" pitchFamily="34" charset="-120"/>
              </a:rPr>
              <a:t>Past transactions, declared risk tolerance, customer segment, capacity, channel, and behavioral history.</a:t>
            </a:r>
            <a:endParaRPr lang="en-US" sz="10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73C58D6B-D516-BF05-A232-EEE438A1A1A1}"/>
              </a:ext>
            </a:extLst>
          </p:cNvPr>
          <p:cNvSpPr/>
          <p:nvPr/>
        </p:nvSpPr>
        <p:spPr>
          <a:xfrm>
            <a:off x="6223451" y="1458377"/>
            <a:ext cx="2545645" cy="1143436"/>
          </a:xfrm>
          <a:prstGeom prst="roundRect">
            <a:avLst>
              <a:gd name="adj" fmla="val 722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SG" sz="16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0" name="Shape 20">
            <a:extLst>
              <a:ext uri="{FF2B5EF4-FFF2-40B4-BE49-F238E27FC236}">
                <a16:creationId xmlns:a16="http://schemas.microsoft.com/office/drawing/2014/main" id="{149C5097-CD31-2788-8FBD-92DA74311B13}"/>
              </a:ext>
            </a:extLst>
          </p:cNvPr>
          <p:cNvSpPr/>
          <p:nvPr/>
        </p:nvSpPr>
        <p:spPr>
          <a:xfrm>
            <a:off x="6223451" y="1458377"/>
            <a:ext cx="55795" cy="1143436"/>
          </a:xfrm>
          <a:prstGeom prst="rect">
            <a:avLst/>
          </a:prstGeom>
          <a:solidFill>
            <a:schemeClr val="accent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 sz="160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74148879-6EA6-2143-FFDC-D279E5A3511A}"/>
              </a:ext>
            </a:extLst>
          </p:cNvPr>
          <p:cNvSpPr/>
          <p:nvPr/>
        </p:nvSpPr>
        <p:spPr>
          <a:xfrm>
            <a:off x="6376887" y="1597823"/>
            <a:ext cx="2266671" cy="2371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+mj-lt"/>
                <a:ea typeface="Inter Display" pitchFamily="34" charset="-122"/>
                <a:cs typeface="Inter Display" pitchFamily="34" charset="-120"/>
              </a:rPr>
              <a:t>Market-side signals</a:t>
            </a:r>
            <a:endParaRPr lang="en-US" sz="12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0736FC75-FB5E-246A-9E82-CD6FC396A409}"/>
              </a:ext>
            </a:extLst>
          </p:cNvPr>
          <p:cNvSpPr/>
          <p:nvPr/>
        </p:nvSpPr>
        <p:spPr>
          <a:xfrm>
            <a:off x="6376887" y="1911623"/>
            <a:ext cx="2252722" cy="5674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+mj-lt"/>
                <a:ea typeface="Inter" pitchFamily="34" charset="-122"/>
                <a:cs typeface="Inter" pitchFamily="34" charset="-120"/>
              </a:rPr>
              <a:t>Asset prices, returns, volatility, inflation, category, sub-category, and market identifiers.</a:t>
            </a:r>
            <a:endParaRPr lang="en-US" sz="1000" dirty="0">
              <a:solidFill>
                <a:schemeClr val="bg2"/>
              </a:solidFill>
              <a:latin typeface="+mj-lt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A8C64D9-5E65-DE50-5DB7-CDCF4CD26E59}"/>
              </a:ext>
            </a:extLst>
          </p:cNvPr>
          <p:cNvGrpSpPr/>
          <p:nvPr/>
        </p:nvGrpSpPr>
        <p:grpSpPr>
          <a:xfrm>
            <a:off x="685800" y="2847588"/>
            <a:ext cx="8083296" cy="979177"/>
            <a:chOff x="685800" y="2847588"/>
            <a:chExt cx="8083296" cy="979177"/>
          </a:xfrm>
        </p:grpSpPr>
        <p:sp>
          <p:nvSpPr>
            <p:cNvPr id="36" name="Shape 23">
              <a:extLst>
                <a:ext uri="{FF2B5EF4-FFF2-40B4-BE49-F238E27FC236}">
                  <a16:creationId xmlns:a16="http://schemas.microsoft.com/office/drawing/2014/main" id="{A7C25964-B136-E4B8-5A58-C812298FE468}"/>
                </a:ext>
              </a:extLst>
            </p:cNvPr>
            <p:cNvSpPr/>
            <p:nvPr/>
          </p:nvSpPr>
          <p:spPr>
            <a:xfrm>
              <a:off x="685800" y="2847588"/>
              <a:ext cx="8083296" cy="979177"/>
            </a:xfrm>
            <a:prstGeom prst="roundRect">
              <a:avLst/>
            </a:prstGeom>
            <a:solidFill>
              <a:srgbClr val="08284A"/>
            </a:solidFill>
            <a:ln w="7620">
              <a:solidFill>
                <a:srgbClr val="08284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SG" sz="1600">
                <a:latin typeface="+mj-lt"/>
              </a:endParaRPr>
            </a:p>
          </p:txBody>
        </p:sp>
        <p:sp>
          <p:nvSpPr>
            <p:cNvPr id="40" name="Text 25">
              <a:extLst>
                <a:ext uri="{FF2B5EF4-FFF2-40B4-BE49-F238E27FC236}">
                  <a16:creationId xmlns:a16="http://schemas.microsoft.com/office/drawing/2014/main" id="{1280CFBA-BE6B-D4B5-54EA-D66804E43C18}"/>
                </a:ext>
              </a:extLst>
            </p:cNvPr>
            <p:cNvSpPr/>
            <p:nvPr/>
          </p:nvSpPr>
          <p:spPr>
            <a:xfrm>
              <a:off x="895212" y="3094609"/>
              <a:ext cx="7748346" cy="485134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>
                <a:spcBef>
                  <a:spcPts val="200"/>
                </a:spcBef>
                <a:spcAft>
                  <a:spcPts val="600"/>
                </a:spcAft>
              </a:pPr>
              <a:r>
                <a:rPr lang="en-US" sz="1000" b="1" dirty="0">
                  <a:solidFill>
                    <a:srgbClr val="FFFFFF"/>
                  </a:solidFill>
                  <a:latin typeface="+mj-lt"/>
                  <a:ea typeface="Inter Display" pitchFamily="34" charset="-122"/>
                  <a:cs typeface="Inter Display" pitchFamily="34" charset="-120"/>
                </a:rPr>
                <a:t>Risk suitability constraint</a:t>
              </a:r>
              <a:endParaRPr lang="en-US" sz="1000" dirty="0">
                <a:solidFill>
                  <a:srgbClr val="E2E8F0"/>
                </a:solidFill>
                <a:latin typeface="+mj-lt"/>
                <a:ea typeface="Inter" pitchFamily="34" charset="-122"/>
                <a:cs typeface="Inter" pitchFamily="34" charset="-120"/>
              </a:endParaRPr>
            </a:p>
            <a:p>
              <a:pPr marL="0" indent="0">
                <a:spcBef>
                  <a:spcPts val="200"/>
                </a:spcBef>
                <a:spcAft>
                  <a:spcPts val="600"/>
                </a:spcAft>
                <a:buNone/>
              </a:pPr>
              <a:r>
                <a:rPr lang="en-US" sz="1000" dirty="0">
                  <a:solidFill>
                    <a:srgbClr val="E2E8F0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Markets in Financial Instruments Directive II (MiFID II), an EU regulation that requires a suitability check before recommendation. </a:t>
              </a:r>
            </a:p>
            <a:p>
              <a:pPr marL="0" indent="0">
                <a:spcBef>
                  <a:spcPts val="200"/>
                </a:spcBef>
                <a:spcAft>
                  <a:spcPts val="600"/>
                </a:spcAft>
                <a:buNone/>
              </a:pPr>
              <a:r>
                <a:rPr lang="en-US" sz="1000" dirty="0">
                  <a:solidFill>
                    <a:srgbClr val="E2E8F0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Product risk should align with the customer's declared risk band.</a:t>
              </a:r>
              <a:endParaRPr lang="en-US" sz="1000" dirty="0">
                <a:latin typeface="+mj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b="1" dirty="0">
                <a:solidFill>
                  <a:srgbClr val="156082"/>
                </a:solidFill>
              </a:rPr>
              <a:t>1</a:t>
            </a:r>
            <a:r>
              <a:rPr lang="en-SG" sz="2000" b="1" baseline="30000" dirty="0">
                <a:solidFill>
                  <a:srgbClr val="156082"/>
                </a:solidFill>
              </a:rPr>
              <a:t>st</a:t>
            </a:r>
            <a:r>
              <a:rPr lang="en-SG" sz="2000" b="1" dirty="0">
                <a:solidFill>
                  <a:srgbClr val="156082"/>
                </a:solidFill>
              </a:rPr>
              <a:t> open </a:t>
            </a:r>
            <a:r>
              <a:rPr lang="en-SG" sz="2000" dirty="0">
                <a:solidFill>
                  <a:srgbClr val="156082"/>
                </a:solidFill>
              </a:rPr>
              <a:t>p</a:t>
            </a:r>
            <a:r>
              <a:rPr lang="en-SG" sz="2000" b="1" dirty="0">
                <a:solidFill>
                  <a:srgbClr val="156082"/>
                </a:solidFill>
              </a:rPr>
              <a:t>ublic </a:t>
            </a:r>
            <a:r>
              <a:rPr lang="en-SG" sz="2000" dirty="0">
                <a:solidFill>
                  <a:srgbClr val="156082"/>
                </a:solidFill>
              </a:rPr>
              <a:t>d</a:t>
            </a:r>
            <a:r>
              <a:rPr lang="en-SG" sz="2000" b="1" dirty="0">
                <a:solidFill>
                  <a:srgbClr val="156082"/>
                </a:solidFill>
              </a:rPr>
              <a:t>ataset:</a:t>
            </a:r>
            <a:r>
              <a:rPr sz="2000" b="1" dirty="0">
                <a:solidFill>
                  <a:srgbClr val="156082"/>
                </a:solidFill>
              </a:rPr>
              <a:t> FAR-Trans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43297-7880-C1BA-E6E3-3D2FB77A6C3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 dirty="0">
                <a:latin typeface="+mj-lt"/>
              </a:rPr>
              <a:t>github.com/</a:t>
            </a:r>
            <a:r>
              <a:rPr lang="en-SG" dirty="0" err="1">
                <a:latin typeface="+mj-lt"/>
              </a:rPr>
              <a:t>Samthesimpsons</a:t>
            </a:r>
            <a:r>
              <a:rPr lang="en-SG" dirty="0">
                <a:latin typeface="+mj-lt"/>
              </a:rPr>
              <a:t>/Risk-Based-Segmentation-for-FAR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BFD57D-C608-4206-A957-E3AE9F8FB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035987"/>
              </p:ext>
            </p:extLst>
          </p:nvPr>
        </p:nvGraphicFramePr>
        <p:xfrm>
          <a:off x="502918" y="2154593"/>
          <a:ext cx="8178800" cy="1245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080">
                  <a:extLst>
                    <a:ext uri="{9D8B030D-6E8A-4147-A177-3AD203B41FA5}">
                      <a16:colId xmlns:a16="http://schemas.microsoft.com/office/drawing/2014/main" val="3612331248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2337650652"/>
                    </a:ext>
                  </a:extLst>
                </a:gridCol>
                <a:gridCol w="932180">
                  <a:extLst>
                    <a:ext uri="{9D8B030D-6E8A-4147-A177-3AD203B41FA5}">
                      <a16:colId xmlns:a16="http://schemas.microsoft.com/office/drawing/2014/main" val="586071066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592355887"/>
                    </a:ext>
                  </a:extLst>
                </a:gridCol>
                <a:gridCol w="1033780">
                  <a:extLst>
                    <a:ext uri="{9D8B030D-6E8A-4147-A177-3AD203B41FA5}">
                      <a16:colId xmlns:a16="http://schemas.microsoft.com/office/drawing/2014/main" val="217498722"/>
                    </a:ext>
                  </a:extLst>
                </a:gridCol>
                <a:gridCol w="481330">
                  <a:extLst>
                    <a:ext uri="{9D8B030D-6E8A-4147-A177-3AD203B41FA5}">
                      <a16:colId xmlns:a16="http://schemas.microsoft.com/office/drawing/2014/main" val="4198576758"/>
                    </a:ext>
                  </a:extLst>
                </a:gridCol>
                <a:gridCol w="798830">
                  <a:extLst>
                    <a:ext uri="{9D8B030D-6E8A-4147-A177-3AD203B41FA5}">
                      <a16:colId xmlns:a16="http://schemas.microsoft.com/office/drawing/2014/main" val="2358049171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3755187017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3828871949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3455840503"/>
                    </a:ext>
                  </a:extLst>
                </a:gridCol>
              </a:tblGrid>
              <a:tr h="249067">
                <a:tc>
                  <a:txBody>
                    <a:bodyPr/>
                    <a:lstStyle/>
                    <a:p>
                      <a:r>
                        <a:rPr lang="en-GB" sz="900" dirty="0"/>
                        <a:t>Customer ID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Customer Type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solidFill>
                            <a:schemeClr val="bg1"/>
                          </a:solidFill>
                        </a:rPr>
                        <a:t>Risk level</a:t>
                      </a:r>
                      <a:endParaRPr lang="en-SG" sz="9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Capacity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ISIN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Type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Date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Value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Units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Channel</a:t>
                      </a:r>
                      <a:endParaRPr lang="en-SG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172683"/>
                  </a:ext>
                </a:extLst>
              </a:tr>
              <a:tr h="249067">
                <a:tc>
                  <a:txBody>
                    <a:bodyPr/>
                    <a:lstStyle/>
                    <a:p>
                      <a:r>
                        <a:rPr lang="en-SG" sz="900" dirty="0"/>
                        <a:t>73D…534D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b="0" dirty="0">
                          <a:solidFill>
                            <a:schemeClr val="tx1"/>
                          </a:solidFill>
                        </a:rPr>
                        <a:t>Conservative</a:t>
                      </a:r>
                      <a:endParaRPr lang="en-SG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Less than 30k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GRS260333000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Buy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2018-01-02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47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4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Branch</a:t>
                      </a:r>
                      <a:endParaRPr lang="en-SG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152782"/>
                  </a:ext>
                </a:extLst>
              </a:tr>
              <a:tr h="249067">
                <a:tc>
                  <a:txBody>
                    <a:bodyPr/>
                    <a:lstStyle/>
                    <a:p>
                      <a:r>
                        <a:rPr lang="en-SG" sz="900" dirty="0"/>
                        <a:t>2AF…44B2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b="0" dirty="0">
                          <a:solidFill>
                            <a:schemeClr val="tx1"/>
                          </a:solidFill>
                        </a:rPr>
                        <a:t>Income</a:t>
                      </a:r>
                      <a:endParaRPr lang="en-SG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Less than 30k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GRS343313003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Buy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2021-07-12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1876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7000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Branch</a:t>
                      </a:r>
                      <a:endParaRPr lang="en-SG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401253"/>
                  </a:ext>
                </a:extLst>
              </a:tr>
              <a:tr h="249067">
                <a:tc>
                  <a:txBody>
                    <a:bodyPr/>
                    <a:lstStyle/>
                    <a:p>
                      <a:r>
                        <a:rPr lang="en-SG" sz="900" dirty="0"/>
                        <a:t>6F8…71BC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Premium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b="0" dirty="0">
                          <a:solidFill>
                            <a:schemeClr val="tx1"/>
                          </a:solidFill>
                        </a:rPr>
                        <a:t>Balanced</a:t>
                      </a:r>
                      <a:endParaRPr lang="en-SG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30k to 80k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GRS343313003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Buy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2018-01-02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1869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1600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Internet Banking</a:t>
                      </a:r>
                      <a:endParaRPr lang="en-SG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692009"/>
                  </a:ext>
                </a:extLst>
              </a:tr>
              <a:tr h="249067">
                <a:tc>
                  <a:txBody>
                    <a:bodyPr/>
                    <a:lstStyle/>
                    <a:p>
                      <a:r>
                        <a:rPr lang="en-SG" sz="900" dirty="0"/>
                        <a:t>8C9…43BB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Premium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b="0" dirty="0">
                          <a:solidFill>
                            <a:schemeClr val="tx1"/>
                          </a:solidFill>
                        </a:rPr>
                        <a:t>Aggressive</a:t>
                      </a:r>
                      <a:endParaRPr lang="en-SG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80k to 300k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GRS298343005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Buy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2022-09-22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500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80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Phone Banking</a:t>
                      </a:r>
                      <a:endParaRPr lang="en-SG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86458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4BA2B00-B177-456A-1A2C-3953B91606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47799"/>
              </p:ext>
            </p:extLst>
          </p:nvPr>
        </p:nvGraphicFramePr>
        <p:xfrm>
          <a:off x="502919" y="3626395"/>
          <a:ext cx="8178799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458">
                  <a:extLst>
                    <a:ext uri="{9D8B030D-6E8A-4147-A177-3AD203B41FA5}">
                      <a16:colId xmlns:a16="http://schemas.microsoft.com/office/drawing/2014/main" val="3612331248"/>
                    </a:ext>
                  </a:extLst>
                </a:gridCol>
                <a:gridCol w="2277922">
                  <a:extLst>
                    <a:ext uri="{9D8B030D-6E8A-4147-A177-3AD203B41FA5}">
                      <a16:colId xmlns:a16="http://schemas.microsoft.com/office/drawing/2014/main" val="2337650652"/>
                    </a:ext>
                  </a:extLst>
                </a:gridCol>
                <a:gridCol w="796363">
                  <a:extLst>
                    <a:ext uri="{9D8B030D-6E8A-4147-A177-3AD203B41FA5}">
                      <a16:colId xmlns:a16="http://schemas.microsoft.com/office/drawing/2014/main" val="586071066"/>
                    </a:ext>
                  </a:extLst>
                </a:gridCol>
                <a:gridCol w="1334186">
                  <a:extLst>
                    <a:ext uri="{9D8B030D-6E8A-4147-A177-3AD203B41FA5}">
                      <a16:colId xmlns:a16="http://schemas.microsoft.com/office/drawing/2014/main" val="2592355887"/>
                    </a:ext>
                  </a:extLst>
                </a:gridCol>
                <a:gridCol w="658859">
                  <a:extLst>
                    <a:ext uri="{9D8B030D-6E8A-4147-A177-3AD203B41FA5}">
                      <a16:colId xmlns:a16="http://schemas.microsoft.com/office/drawing/2014/main" val="217498722"/>
                    </a:ext>
                  </a:extLst>
                </a:gridCol>
                <a:gridCol w="897069">
                  <a:extLst>
                    <a:ext uri="{9D8B030D-6E8A-4147-A177-3AD203B41FA5}">
                      <a16:colId xmlns:a16="http://schemas.microsoft.com/office/drawing/2014/main" val="4198576758"/>
                    </a:ext>
                  </a:extLst>
                </a:gridCol>
                <a:gridCol w="1053942">
                  <a:extLst>
                    <a:ext uri="{9D8B030D-6E8A-4147-A177-3AD203B41FA5}">
                      <a16:colId xmlns:a16="http://schemas.microsoft.com/office/drawing/2014/main" val="2358049171"/>
                    </a:ext>
                  </a:extLst>
                </a:gridCol>
              </a:tblGrid>
              <a:tr h="182723">
                <a:tc>
                  <a:txBody>
                    <a:bodyPr/>
                    <a:lstStyle/>
                    <a:p>
                      <a:r>
                        <a:rPr lang="en-GB" sz="900" dirty="0"/>
                        <a:t>ISIN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Asset Name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Category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Sub-category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Market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Date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Closing Price</a:t>
                      </a:r>
                      <a:endParaRPr lang="en-SG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172683"/>
                  </a:ext>
                </a:extLst>
              </a:tr>
              <a:tr h="199334">
                <a:tc>
                  <a:txBody>
                    <a:bodyPr/>
                    <a:lstStyle/>
                    <a:p>
                      <a:r>
                        <a:rPr lang="en-SG" sz="900" dirty="0"/>
                        <a:t>CH0198251305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Coca-Cola Hellenic Bottling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Stock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Large Cap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XATH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2022-11-29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23.240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152782"/>
                  </a:ext>
                </a:extLst>
              </a:tr>
              <a:tr h="199334">
                <a:tc>
                  <a:txBody>
                    <a:bodyPr/>
                    <a:lstStyle/>
                    <a:p>
                      <a:r>
                        <a:rPr lang="en-SG" sz="900" dirty="0"/>
                        <a:t>AU3CB0237881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Apple Inc.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Bond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Corporate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XETR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2020-05-27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67.893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401253"/>
                  </a:ext>
                </a:extLst>
              </a:tr>
              <a:tr h="199334">
                <a:tc>
                  <a:txBody>
                    <a:bodyPr/>
                    <a:lstStyle/>
                    <a:p>
                      <a:r>
                        <a:rPr lang="en-SG" sz="900" dirty="0"/>
                        <a:t>DE0005933956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iShares Core EURO STOXX 50 ETF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MTF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XETR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2022-11-29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39.660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692009"/>
                  </a:ext>
                </a:extLst>
              </a:tr>
            </a:tbl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0F31452-75FE-0546-4BE5-02984E960C98}"/>
              </a:ext>
            </a:extLst>
          </p:cNvPr>
          <p:cNvSpPr txBox="1">
            <a:spLocks/>
          </p:cNvSpPr>
          <p:nvPr/>
        </p:nvSpPr>
        <p:spPr>
          <a:xfrm>
            <a:off x="630936" y="1417320"/>
            <a:ext cx="7882127" cy="771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GB" dirty="0">
                <a:solidFill>
                  <a:srgbClr val="202020"/>
                </a:solidFill>
                <a:latin typeface="+mj-lt"/>
              </a:rPr>
              <a:t>Consisting of </a:t>
            </a:r>
            <a:r>
              <a:rPr lang="en-GB" b="1" dirty="0">
                <a:solidFill>
                  <a:srgbClr val="202020"/>
                </a:solidFill>
                <a:latin typeface="+mj-lt"/>
              </a:rPr>
              <a:t>29,090</a:t>
            </a:r>
            <a:r>
              <a:rPr lang="en-GB" dirty="0">
                <a:solidFill>
                  <a:srgbClr val="202020"/>
                </a:solidFill>
                <a:latin typeface="+mj-lt"/>
              </a:rPr>
              <a:t> customers and </a:t>
            </a:r>
            <a:r>
              <a:rPr lang="en-GB" b="1" dirty="0">
                <a:solidFill>
                  <a:srgbClr val="202020"/>
                </a:solidFill>
                <a:latin typeface="+mj-lt"/>
              </a:rPr>
              <a:t>806</a:t>
            </a:r>
            <a:r>
              <a:rPr lang="en-GB" dirty="0">
                <a:solidFill>
                  <a:srgbClr val="202020"/>
                </a:solidFill>
                <a:latin typeface="+mj-lt"/>
              </a:rPr>
              <a:t> assets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GB" dirty="0">
                <a:solidFill>
                  <a:srgbClr val="202020"/>
                </a:solidFill>
                <a:latin typeface="+mj-lt"/>
              </a:rPr>
              <a:t>Collected from a large EU institution between Jan 2018 and Nov 2022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22F55-0891-CC89-7A58-A635743EA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E7E5A-A35E-EB3B-92CF-1789D243F65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972102" cy="1248762"/>
          </a:xfrm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dirty="0">
                <a:solidFill>
                  <a:srgbClr val="0E2841"/>
                </a:solidFill>
                <a:latin typeface="+mj-lt"/>
              </a:rPr>
              <a:t>Benchmarked against 11 machine learning approaches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dirty="0">
                <a:solidFill>
                  <a:srgbClr val="0E2841"/>
                </a:solidFill>
                <a:latin typeface="+mj-lt"/>
              </a:rPr>
              <a:t>Evaluated on </a:t>
            </a:r>
            <a:r>
              <a:rPr lang="en-SG" b="1" dirty="0">
                <a:solidFill>
                  <a:srgbClr val="0E2841"/>
                </a:solidFill>
                <a:latin typeface="+mj-lt"/>
              </a:rPr>
              <a:t>(1) ranking accuracy </a:t>
            </a:r>
            <a:r>
              <a:rPr lang="en-SG" dirty="0">
                <a:solidFill>
                  <a:srgbClr val="0E2841"/>
                </a:solidFill>
                <a:latin typeface="+mj-lt"/>
              </a:rPr>
              <a:t>and (2) realised return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dirty="0">
                <a:solidFill>
                  <a:srgbClr val="0E2841"/>
                </a:solidFill>
                <a:latin typeface="+mj-lt"/>
              </a:rPr>
              <a:t>For ranking accuracy, </a:t>
            </a:r>
            <a:r>
              <a:rPr lang="en-SG" b="1" dirty="0">
                <a:solidFill>
                  <a:srgbClr val="0E2841"/>
                </a:solidFill>
                <a:latin typeface="+mj-lt"/>
              </a:rPr>
              <a:t>Normalized Discounted Gain (nDCG@10) </a:t>
            </a:r>
            <a:r>
              <a:rPr lang="en-SG" dirty="0">
                <a:solidFill>
                  <a:srgbClr val="0E2841"/>
                </a:solidFill>
                <a:latin typeface="+mj-lt"/>
              </a:rPr>
              <a:t>was used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AB8D7CEA-EF04-E2C5-EA68-B97272D90FD6}"/>
              </a:ext>
            </a:extLst>
          </p:cNvPr>
          <p:cNvGrpSpPr/>
          <p:nvPr/>
        </p:nvGrpSpPr>
        <p:grpSpPr>
          <a:xfrm>
            <a:off x="1179079" y="2372815"/>
            <a:ext cx="6299030" cy="1773067"/>
            <a:chOff x="580818" y="2620993"/>
            <a:chExt cx="7882127" cy="177306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82086D4-E663-0D4E-F7FB-9CA4790ECDE1}"/>
                    </a:ext>
                  </a:extLst>
                </p:cNvPr>
                <p:cNvSpPr txBox="1"/>
                <p:nvPr/>
              </p:nvSpPr>
              <p:spPr>
                <a:xfrm>
                  <a:off x="580818" y="3710283"/>
                  <a:ext cx="7882127" cy="683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GB" sz="1200" b="0" i="0" smtClean="0">
                            <a:latin typeface="+mj-lt"/>
                          </a:rPr>
                          <m:t>nDCG</m:t>
                        </m:r>
                        <m:r>
                          <m:rPr>
                            <m:nor/>
                          </m:rPr>
                          <a:rPr lang="en-GB" sz="1200" b="0" i="0" smtClean="0">
                            <a:latin typeface="+mj-lt"/>
                          </a:rPr>
                          <m:t>@</m:t>
                        </m:r>
                        <m:r>
                          <m:rPr>
                            <m:nor/>
                          </m:rPr>
                          <a:rPr lang="en-GB" sz="1200" b="0" i="0" smtClean="0">
                            <a:latin typeface="+mj-lt"/>
                          </a:rPr>
                          <m:t>10 </m:t>
                        </m:r>
                        <m:r>
                          <a:rPr lang="en-GB" sz="1200" b="0" i="1" smtClean="0">
                            <a:latin typeface="+mj-lt"/>
                          </a:rPr>
                          <m:t>=</m:t>
                        </m:r>
                        <m:f>
                          <m:fPr>
                            <m:ctrlP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</m:ctrlPr>
                          </m:fPr>
                          <m:num>
                            <m:r>
                              <a:rPr lang="en-GB" sz="1200" b="0" i="1" smtClean="0">
                                <a:latin typeface="+mj-lt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en-GB" sz="1200" b="0" i="1" smtClean="0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+mj-lt"/>
                                  </a:rPr>
                                </m:ctrlPr>
                              </m:fPr>
                              <m:num>
                                <m:r>
                                  <a:rPr lang="en-SG" sz="1200" b="0" i="1" smtClean="0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+mj-lt"/>
                                  </a:rPr>
                                  <m:t>0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en-GB" sz="1200" b="0" i="1" smtClean="0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+mj-lt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GB" sz="1200" b="0" i="1" smtClean="0">
                                            <a:solidFill>
                                              <a:schemeClr val="tx2">
                                                <a:lumMod val="75000"/>
                                              </a:schemeClr>
                                            </a:solidFill>
                                            <a:latin typeface="+mj-lt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1200" b="0" i="0" smtClean="0">
                                            <a:solidFill>
                                              <a:schemeClr val="tx2">
                                                <a:lumMod val="75000"/>
                                              </a:schemeClr>
                                            </a:solidFill>
                                            <a:latin typeface="+mj-lt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GB" sz="1200" b="0" i="1" smtClean="0">
                                            <a:solidFill>
                                              <a:schemeClr val="tx2">
                                                <a:lumMod val="75000"/>
                                              </a:schemeClr>
                                            </a:solidFill>
                                            <a:latin typeface="+mj-lt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GB" sz="1200" b="0" i="1" smtClean="0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+mj-lt"/>
                                      </a:rPr>
                                      <m:t>1</m:t>
                                    </m:r>
                                    <m:r>
                                      <a:rPr lang="en-GB" sz="1200" b="0" i="1" smtClean="0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+mj-lt"/>
                                      </a:rPr>
                                      <m:t>+</m:t>
                                    </m:r>
                                    <m:r>
                                      <a:rPr lang="en-GB" sz="1200" b="0" i="1" smtClean="0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+mj-lt"/>
                                      </a:rPr>
                                      <m:t>1</m:t>
                                    </m:r>
                                  </m:e>
                                </m:func>
                              </m:den>
                            </m:f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GB" sz="1200" i="1" smtClean="0">
                                    <a:solidFill>
                                      <a:schemeClr val="accent6"/>
                                    </a:solidFill>
                                    <a:latin typeface="+mj-lt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solidFill>
                                      <a:schemeClr val="accent6"/>
                                    </a:solidFill>
                                    <a:latin typeface="+mj-lt"/>
                                  </a:rPr>
                                  <m:t>1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+mj-lt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GB" sz="1200" i="1">
                                            <a:solidFill>
                                              <a:schemeClr val="accent6"/>
                                            </a:solidFill>
                                            <a:latin typeface="+mj-lt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1200">
                                            <a:solidFill>
                                              <a:schemeClr val="accent6"/>
                                            </a:solidFill>
                                            <a:latin typeface="+mj-lt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GB" sz="1200" i="1">
                                            <a:solidFill>
                                              <a:schemeClr val="accent6"/>
                                            </a:solidFill>
                                            <a:latin typeface="+mj-lt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+mj-lt"/>
                                      </a:rPr>
                                      <m:t>1</m:t>
                                    </m:r>
                                    <m: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+mj-lt"/>
                                      </a:rPr>
                                      <m:t>+</m:t>
                                    </m:r>
                                    <m:r>
                                      <a:rPr lang="en-GB" sz="1200" b="0" i="1" smtClean="0">
                                        <a:solidFill>
                                          <a:schemeClr val="accent6"/>
                                        </a:solidFill>
                                        <a:latin typeface="+mj-lt"/>
                                      </a:rPr>
                                      <m:t>2</m:t>
                                    </m:r>
                                  </m:e>
                                </m:func>
                              </m:den>
                            </m:f>
                            <m:r>
                              <a:rPr lang="en-GB" sz="1200" b="0" i="1" smtClean="0">
                                <a:latin typeface="+mj-lt"/>
                              </a:rPr>
                              <m:t>+…+</m:t>
                            </m:r>
                            <m:f>
                              <m:fPr>
                                <m:ctrlPr>
                                  <a:rPr lang="en-GB" sz="1200" i="1" smtClean="0">
                                    <a:solidFill>
                                      <a:schemeClr val="accent6"/>
                                    </a:solidFill>
                                    <a:latin typeface="+mj-lt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solidFill>
                                      <a:schemeClr val="accent6"/>
                                    </a:solidFill>
                                    <a:latin typeface="+mj-lt"/>
                                  </a:rPr>
                                  <m:t>1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+mj-lt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GB" sz="1200" i="1">
                                            <a:solidFill>
                                              <a:schemeClr val="accent6"/>
                                            </a:solidFill>
                                            <a:latin typeface="+mj-lt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1200">
                                            <a:solidFill>
                                              <a:schemeClr val="accent6"/>
                                            </a:solidFill>
                                            <a:latin typeface="+mj-lt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GB" sz="1200" i="1">
                                            <a:solidFill>
                                              <a:schemeClr val="accent6"/>
                                            </a:solidFill>
                                            <a:latin typeface="+mj-lt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+mj-lt"/>
                                      </a:rPr>
                                      <m:t>1</m:t>
                                    </m:r>
                                    <m: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+mj-lt"/>
                                      </a:rPr>
                                      <m:t>+</m:t>
                                    </m:r>
                                    <m:r>
                                      <a:rPr lang="en-GB" sz="1200" b="0" i="1" smtClean="0">
                                        <a:solidFill>
                                          <a:schemeClr val="accent6"/>
                                        </a:solidFill>
                                        <a:latin typeface="+mj-lt"/>
                                      </a:rPr>
                                      <m:t>9</m:t>
                                    </m:r>
                                  </m:e>
                                </m:func>
                              </m:den>
                            </m:f>
                            <m:r>
                              <a:rPr lang="en-GB" sz="1200" b="0" i="1" smtClean="0">
                                <a:latin typeface="+mj-lt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GB" sz="1200" i="1" smtClean="0">
                                    <a:solidFill>
                                      <a:schemeClr val="accent6"/>
                                    </a:solidFill>
                                    <a:latin typeface="+mj-lt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solidFill>
                                      <a:schemeClr val="accent6"/>
                                    </a:solidFill>
                                    <a:latin typeface="+mj-lt"/>
                                  </a:rPr>
                                  <m:t>1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+mj-lt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GB" sz="1200" i="1">
                                            <a:solidFill>
                                              <a:schemeClr val="accent6"/>
                                            </a:solidFill>
                                            <a:latin typeface="+mj-lt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1200">
                                            <a:solidFill>
                                              <a:schemeClr val="accent6"/>
                                            </a:solidFill>
                                            <a:latin typeface="+mj-lt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GB" sz="1200" i="1">
                                            <a:solidFill>
                                              <a:schemeClr val="accent6"/>
                                            </a:solidFill>
                                            <a:latin typeface="+mj-lt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+mj-lt"/>
                                      </a:rPr>
                                      <m:t>1</m:t>
                                    </m:r>
                                    <m: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+mj-lt"/>
                                      </a:rPr>
                                      <m:t>+</m:t>
                                    </m:r>
                                    <m: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+mj-lt"/>
                                      </a:rPr>
                                      <m:t>10</m:t>
                                    </m:r>
                                  </m:e>
                                </m:func>
                              </m:den>
                            </m:f>
                          </m:num>
                          <m:den>
                            <m:f>
                              <m:fPr>
                                <m:ctrlPr>
                                  <a:rPr lang="en-GB" sz="1200" i="1">
                                    <a:solidFill>
                                      <a:schemeClr val="accent6"/>
                                    </a:solidFill>
                                    <a:latin typeface="+mj-lt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solidFill>
                                      <a:schemeClr val="accent6"/>
                                    </a:solidFill>
                                    <a:latin typeface="+mj-lt"/>
                                  </a:rPr>
                                  <m:t>1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+mj-lt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GB" sz="1200" i="1">
                                            <a:solidFill>
                                              <a:schemeClr val="accent6"/>
                                            </a:solidFill>
                                            <a:latin typeface="+mj-lt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1200">
                                            <a:solidFill>
                                              <a:schemeClr val="accent6"/>
                                            </a:solidFill>
                                            <a:latin typeface="+mj-lt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GB" sz="1200" i="1">
                                            <a:solidFill>
                                              <a:schemeClr val="accent6"/>
                                            </a:solidFill>
                                            <a:latin typeface="+mj-lt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+mj-lt"/>
                                      </a:rPr>
                                      <m:t>1</m:t>
                                    </m:r>
                                    <m: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+mj-lt"/>
                                      </a:rPr>
                                      <m:t>+</m:t>
                                    </m:r>
                                    <m:r>
                                      <a:rPr lang="en-SG" sz="1200" b="0" i="1" smtClean="0">
                                        <a:solidFill>
                                          <a:schemeClr val="accent6"/>
                                        </a:solidFill>
                                        <a:latin typeface="+mj-lt"/>
                                      </a:rPr>
                                      <m:t>1</m:t>
                                    </m:r>
                                  </m:e>
                                </m:func>
                              </m:den>
                            </m:f>
                            <m:r>
                              <a:rPr lang="en-GB" sz="1200" i="1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GB" sz="1200" i="1">
                                    <a:solidFill>
                                      <a:schemeClr val="accent6"/>
                                    </a:solidFill>
                                    <a:latin typeface="+mj-lt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solidFill>
                                      <a:schemeClr val="accent6"/>
                                    </a:solidFill>
                                    <a:latin typeface="+mj-lt"/>
                                  </a:rPr>
                                  <m:t>1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+mj-lt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GB" sz="1200" i="1">
                                            <a:solidFill>
                                              <a:schemeClr val="accent6"/>
                                            </a:solidFill>
                                            <a:latin typeface="+mj-lt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1200">
                                            <a:solidFill>
                                              <a:schemeClr val="accent6"/>
                                            </a:solidFill>
                                            <a:latin typeface="+mj-lt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GB" sz="1200" i="1">
                                            <a:solidFill>
                                              <a:schemeClr val="accent6"/>
                                            </a:solidFill>
                                            <a:latin typeface="+mj-lt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+mj-lt"/>
                                      </a:rPr>
                                      <m:t>1</m:t>
                                    </m:r>
                                    <m: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+mj-lt"/>
                                      </a:rPr>
                                      <m:t>+</m:t>
                                    </m:r>
                                    <m: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+mj-lt"/>
                                      </a:rPr>
                                      <m:t>2</m:t>
                                    </m:r>
                                  </m:e>
                                </m:func>
                              </m:den>
                            </m:f>
                            <m:r>
                              <a:rPr lang="en-GB" sz="1200" i="1">
                                <a:latin typeface="+mj-lt"/>
                              </a:rPr>
                              <m:t>+…+</m:t>
                            </m:r>
                            <m:f>
                              <m:fPr>
                                <m:ctrlPr>
                                  <a:rPr lang="en-GB" sz="1200" i="1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+mj-lt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+mj-lt"/>
                                  </a:rPr>
                                  <m:t>0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en-GB" sz="1200" i="1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+mj-lt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GB" sz="1200" i="1">
                                            <a:solidFill>
                                              <a:schemeClr val="tx2">
                                                <a:lumMod val="75000"/>
                                              </a:schemeClr>
                                            </a:solidFill>
                                            <a:latin typeface="+mj-lt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1200">
                                            <a:solidFill>
                                              <a:schemeClr val="tx2">
                                                <a:lumMod val="75000"/>
                                              </a:schemeClr>
                                            </a:solidFill>
                                            <a:latin typeface="+mj-lt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GB" sz="1200" i="1">
                                            <a:solidFill>
                                              <a:schemeClr val="tx2">
                                                <a:lumMod val="75000"/>
                                              </a:schemeClr>
                                            </a:solidFill>
                                            <a:latin typeface="+mj-lt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GB" sz="1200" i="1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+mj-lt"/>
                                      </a:rPr>
                                      <m:t>1</m:t>
                                    </m:r>
                                    <m:r>
                                      <a:rPr lang="en-GB" sz="1200" i="1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+mj-lt"/>
                                      </a:rPr>
                                      <m:t>+</m:t>
                                    </m:r>
                                    <m:r>
                                      <a:rPr lang="en-SG" sz="1200" b="0" i="1" smtClean="0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+mj-lt"/>
                                      </a:rPr>
                                      <m:t>9</m:t>
                                    </m:r>
                                  </m:e>
                                </m:func>
                              </m:den>
                            </m:f>
                            <m:r>
                              <a:rPr lang="en-GB" sz="1200" i="1">
                                <a:latin typeface="+mj-lt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GB" sz="1200" i="1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+mj-lt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+mj-lt"/>
                                  </a:rPr>
                                  <m:t>0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en-GB" sz="1200" i="1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+mj-lt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GB" sz="1200" i="1">
                                            <a:solidFill>
                                              <a:schemeClr val="tx2">
                                                <a:lumMod val="75000"/>
                                              </a:schemeClr>
                                            </a:solidFill>
                                            <a:latin typeface="+mj-lt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1200">
                                            <a:solidFill>
                                              <a:schemeClr val="tx2">
                                                <a:lumMod val="75000"/>
                                              </a:schemeClr>
                                            </a:solidFill>
                                            <a:latin typeface="+mj-lt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GB" sz="1200" i="1">
                                            <a:solidFill>
                                              <a:schemeClr val="tx2">
                                                <a:lumMod val="75000"/>
                                              </a:schemeClr>
                                            </a:solidFill>
                                            <a:latin typeface="+mj-lt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GB" sz="1200" i="1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+mj-lt"/>
                                      </a:rPr>
                                      <m:t>1</m:t>
                                    </m:r>
                                    <m:r>
                                      <a:rPr lang="en-GB" sz="1200" i="1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+mj-lt"/>
                                      </a:rPr>
                                      <m:t>+</m:t>
                                    </m:r>
                                    <m:r>
                                      <a:rPr lang="en-GB" sz="1200" i="1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+mj-lt"/>
                                      </a:rPr>
                                      <m:t>10</m:t>
                                    </m:r>
                                  </m:e>
                                </m:func>
                              </m:den>
                            </m:f>
                          </m:den>
                        </m:f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+mj-lt"/>
                          </a:rPr>
                          <m:t>=</m:t>
                        </m:r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+mj-lt"/>
                          </a:rPr>
                          <m:t>0</m:t>
                        </m:r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+mj-lt"/>
                          </a:rPr>
                          <m:t>.</m:t>
                        </m:r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+mj-lt"/>
                          </a:rPr>
                          <m:t>681</m:t>
                        </m:r>
                      </m:oMath>
                    </m:oMathPara>
                  </a14:m>
                  <a:endParaRPr lang="en-SG" sz="1200" dirty="0">
                    <a:latin typeface="+mj-lt"/>
                  </a:endParaRPr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82086D4-E663-0D4E-F7FB-9CA4790ECD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0818" y="3710283"/>
                  <a:ext cx="7882127" cy="683777"/>
                </a:xfrm>
                <a:prstGeom prst="rect">
                  <a:avLst/>
                </a:prstGeom>
                <a:blipFill>
                  <a:blip r:embed="rId2"/>
                  <a:stretch>
                    <a:fillRect b="-893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D22DE90D-696A-5E47-8A29-51B245512314}"/>
                </a:ext>
              </a:extLst>
            </p:cNvPr>
            <p:cNvGrpSpPr/>
            <p:nvPr/>
          </p:nvGrpSpPr>
          <p:grpSpPr>
            <a:xfrm>
              <a:off x="707739" y="2620993"/>
              <a:ext cx="7005931" cy="951065"/>
              <a:chOff x="134862" y="2548656"/>
              <a:chExt cx="7005931" cy="951065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9494828B-3F40-BE5C-D2A2-72216B5F8BB0}"/>
                  </a:ext>
                </a:extLst>
              </p:cNvPr>
              <p:cNvSpPr/>
              <p:nvPr/>
            </p:nvSpPr>
            <p:spPr>
              <a:xfrm>
                <a:off x="2060153" y="2909886"/>
                <a:ext cx="422313" cy="248975"/>
              </a:xfrm>
              <a:prstGeom prst="rect">
                <a:avLst/>
              </a:prstGeom>
              <a:solidFill>
                <a:schemeClr val="tx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4ACF0284-ED0A-E8A2-BAD9-820331F95D28}"/>
                  </a:ext>
                </a:extLst>
              </p:cNvPr>
              <p:cNvSpPr/>
              <p:nvPr/>
            </p:nvSpPr>
            <p:spPr>
              <a:xfrm>
                <a:off x="2571009" y="2909886"/>
                <a:ext cx="422313" cy="24897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FCB37FA5-215A-D095-461F-AB5990B85683}"/>
                  </a:ext>
                </a:extLst>
              </p:cNvPr>
              <p:cNvSpPr/>
              <p:nvPr/>
            </p:nvSpPr>
            <p:spPr>
              <a:xfrm>
                <a:off x="3081865" y="2909886"/>
                <a:ext cx="422313" cy="248975"/>
              </a:xfrm>
              <a:prstGeom prst="rect">
                <a:avLst/>
              </a:prstGeom>
              <a:solidFill>
                <a:schemeClr val="tx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26D58055-FAE0-3DC2-C666-405023B796FD}"/>
                  </a:ext>
                </a:extLst>
              </p:cNvPr>
              <p:cNvSpPr/>
              <p:nvPr/>
            </p:nvSpPr>
            <p:spPr>
              <a:xfrm>
                <a:off x="3592721" y="2909886"/>
                <a:ext cx="422313" cy="24897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F8B64B45-92E6-1A24-3FD0-6EE84992E381}"/>
                  </a:ext>
                </a:extLst>
              </p:cNvPr>
              <p:cNvSpPr/>
              <p:nvPr/>
            </p:nvSpPr>
            <p:spPr>
              <a:xfrm>
                <a:off x="4103577" y="2909886"/>
                <a:ext cx="422313" cy="248975"/>
              </a:xfrm>
              <a:prstGeom prst="rect">
                <a:avLst/>
              </a:prstGeom>
              <a:solidFill>
                <a:schemeClr val="tx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8DA53106-7F6E-2CBE-8C57-ACEC35DC61BE}"/>
                  </a:ext>
                </a:extLst>
              </p:cNvPr>
              <p:cNvSpPr/>
              <p:nvPr/>
            </p:nvSpPr>
            <p:spPr>
              <a:xfrm>
                <a:off x="4614433" y="2909886"/>
                <a:ext cx="422313" cy="24897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9E3690FA-4661-F4D5-8D2E-D494B7AFD046}"/>
                  </a:ext>
                </a:extLst>
              </p:cNvPr>
              <p:cNvSpPr/>
              <p:nvPr/>
            </p:nvSpPr>
            <p:spPr>
              <a:xfrm>
                <a:off x="5125289" y="2909886"/>
                <a:ext cx="422313" cy="248975"/>
              </a:xfrm>
              <a:prstGeom prst="rect">
                <a:avLst/>
              </a:prstGeom>
              <a:solidFill>
                <a:schemeClr val="tx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9B582C22-4A95-B80B-18B9-7DC5CB8A830B}"/>
                  </a:ext>
                </a:extLst>
              </p:cNvPr>
              <p:cNvSpPr/>
              <p:nvPr/>
            </p:nvSpPr>
            <p:spPr>
              <a:xfrm>
                <a:off x="5636145" y="2909886"/>
                <a:ext cx="422313" cy="248975"/>
              </a:xfrm>
              <a:prstGeom prst="rect">
                <a:avLst/>
              </a:prstGeom>
              <a:solidFill>
                <a:schemeClr val="tx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1976D7E2-B6B3-31A4-D014-78E80C3C23AE}"/>
                  </a:ext>
                </a:extLst>
              </p:cNvPr>
              <p:cNvSpPr/>
              <p:nvPr/>
            </p:nvSpPr>
            <p:spPr>
              <a:xfrm>
                <a:off x="6147001" y="2909886"/>
                <a:ext cx="422313" cy="24897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456D91FD-A21E-0CEE-FE28-B231EA7B7093}"/>
                  </a:ext>
                </a:extLst>
              </p:cNvPr>
              <p:cNvSpPr/>
              <p:nvPr/>
            </p:nvSpPr>
            <p:spPr>
              <a:xfrm>
                <a:off x="6657855" y="2909886"/>
                <a:ext cx="422313" cy="24897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C086D9D-81AD-1970-DCDF-4F3EAF185438}"/>
                  </a:ext>
                </a:extLst>
              </p:cNvPr>
              <p:cNvSpPr txBox="1"/>
              <p:nvPr/>
            </p:nvSpPr>
            <p:spPr>
              <a:xfrm>
                <a:off x="824633" y="2880484"/>
                <a:ext cx="11347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SG" sz="1200" dirty="0">
                    <a:latin typeface="+mj-lt"/>
                  </a:rPr>
                  <a:t>Predicted: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B8BEAAB-B250-BC2A-4A07-D74B32084D70}"/>
                  </a:ext>
                </a:extLst>
              </p:cNvPr>
              <p:cNvSpPr txBox="1"/>
              <p:nvPr/>
            </p:nvSpPr>
            <p:spPr>
              <a:xfrm>
                <a:off x="134862" y="3220501"/>
                <a:ext cx="18245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SG" sz="1200" dirty="0">
                    <a:latin typeface="+mj-lt"/>
                  </a:rPr>
                  <a:t>Reordered (ideal):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987F826-7E9F-EFC5-F2D4-422F8E096251}"/>
                  </a:ext>
                </a:extLst>
              </p:cNvPr>
              <p:cNvSpPr/>
              <p:nvPr/>
            </p:nvSpPr>
            <p:spPr>
              <a:xfrm>
                <a:off x="4616478" y="3250746"/>
                <a:ext cx="422313" cy="248975"/>
              </a:xfrm>
              <a:prstGeom prst="rect">
                <a:avLst/>
              </a:prstGeom>
              <a:solidFill>
                <a:schemeClr val="tx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C1AB1ED7-E07A-AECD-E55F-250A6CA7E6AB}"/>
                  </a:ext>
                </a:extLst>
              </p:cNvPr>
              <p:cNvSpPr/>
              <p:nvPr/>
            </p:nvSpPr>
            <p:spPr>
              <a:xfrm>
                <a:off x="2571418" y="3250746"/>
                <a:ext cx="422313" cy="24897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D7CDA2B1-25EE-DBD0-B9BA-54E1344227EA}"/>
                  </a:ext>
                </a:extLst>
              </p:cNvPr>
              <p:cNvSpPr/>
              <p:nvPr/>
            </p:nvSpPr>
            <p:spPr>
              <a:xfrm>
                <a:off x="5127743" y="3250746"/>
                <a:ext cx="422313" cy="248975"/>
              </a:xfrm>
              <a:prstGeom prst="rect">
                <a:avLst/>
              </a:prstGeom>
              <a:solidFill>
                <a:schemeClr val="tx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EA00FFBF-DA53-215A-BA6C-EAE203E302CD}"/>
                  </a:ext>
                </a:extLst>
              </p:cNvPr>
              <p:cNvSpPr/>
              <p:nvPr/>
            </p:nvSpPr>
            <p:spPr>
              <a:xfrm>
                <a:off x="3082683" y="3250746"/>
                <a:ext cx="422313" cy="24897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AF304B37-8D7F-76F5-C283-706F360FA91A}"/>
                  </a:ext>
                </a:extLst>
              </p:cNvPr>
              <p:cNvSpPr/>
              <p:nvPr/>
            </p:nvSpPr>
            <p:spPr>
              <a:xfrm>
                <a:off x="5639008" y="3250746"/>
                <a:ext cx="422313" cy="248975"/>
              </a:xfrm>
              <a:prstGeom prst="rect">
                <a:avLst/>
              </a:prstGeom>
              <a:solidFill>
                <a:schemeClr val="tx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4BE35C5E-D8FC-90B5-8628-996B9B2C7C27}"/>
                  </a:ext>
                </a:extLst>
              </p:cNvPr>
              <p:cNvSpPr/>
              <p:nvPr/>
            </p:nvSpPr>
            <p:spPr>
              <a:xfrm>
                <a:off x="3593948" y="3250746"/>
                <a:ext cx="422313" cy="24897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FFD9EBF5-9CD2-4902-A996-C06F07C3A716}"/>
                  </a:ext>
                </a:extLst>
              </p:cNvPr>
              <p:cNvSpPr/>
              <p:nvPr/>
            </p:nvSpPr>
            <p:spPr>
              <a:xfrm>
                <a:off x="6150273" y="3250746"/>
                <a:ext cx="422313" cy="248975"/>
              </a:xfrm>
              <a:prstGeom prst="rect">
                <a:avLst/>
              </a:prstGeom>
              <a:solidFill>
                <a:schemeClr val="tx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D9AF923F-F373-7885-0424-4D69EFC630C0}"/>
                  </a:ext>
                </a:extLst>
              </p:cNvPr>
              <p:cNvSpPr/>
              <p:nvPr/>
            </p:nvSpPr>
            <p:spPr>
              <a:xfrm>
                <a:off x="6661534" y="3250746"/>
                <a:ext cx="422313" cy="248975"/>
              </a:xfrm>
              <a:prstGeom prst="rect">
                <a:avLst/>
              </a:prstGeom>
              <a:solidFill>
                <a:schemeClr val="tx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BB9FEFB6-B8FE-7E48-D107-DEE76C93E71E}"/>
                  </a:ext>
                </a:extLst>
              </p:cNvPr>
              <p:cNvSpPr/>
              <p:nvPr/>
            </p:nvSpPr>
            <p:spPr>
              <a:xfrm>
                <a:off x="2060153" y="3250746"/>
                <a:ext cx="422313" cy="24897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9CD5D6F5-6B1C-88D0-3D73-E794425E62E4}"/>
                  </a:ext>
                </a:extLst>
              </p:cNvPr>
              <p:cNvSpPr/>
              <p:nvPr/>
            </p:nvSpPr>
            <p:spPr>
              <a:xfrm>
                <a:off x="4105213" y="3250746"/>
                <a:ext cx="422313" cy="24897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ACFB3858-0B38-1FF6-3A8B-7983F02243F9}"/>
                  </a:ext>
                </a:extLst>
              </p:cNvPr>
              <p:cNvSpPr/>
              <p:nvPr/>
            </p:nvSpPr>
            <p:spPr>
              <a:xfrm>
                <a:off x="2060153" y="2548656"/>
                <a:ext cx="422313" cy="462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1200" dirty="0">
                    <a:solidFill>
                      <a:schemeClr val="tx1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95526F33-3062-795E-2223-90FC42CB12BA}"/>
                  </a:ext>
                </a:extLst>
              </p:cNvPr>
              <p:cNvSpPr/>
              <p:nvPr/>
            </p:nvSpPr>
            <p:spPr>
              <a:xfrm>
                <a:off x="2571009" y="2548656"/>
                <a:ext cx="422313" cy="462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1200" dirty="0">
                    <a:solidFill>
                      <a:schemeClr val="tx1"/>
                    </a:solidFill>
                    <a:latin typeface="+mj-lt"/>
                  </a:rPr>
                  <a:t>2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7203A5D2-380A-7904-9E09-B590384FA5C8}"/>
                  </a:ext>
                </a:extLst>
              </p:cNvPr>
              <p:cNvSpPr/>
              <p:nvPr/>
            </p:nvSpPr>
            <p:spPr>
              <a:xfrm>
                <a:off x="3081865" y="2548656"/>
                <a:ext cx="422313" cy="462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1200" dirty="0">
                    <a:solidFill>
                      <a:schemeClr val="tx1"/>
                    </a:solidFill>
                    <a:latin typeface="+mj-lt"/>
                  </a:rPr>
                  <a:t>3</a:t>
                </a: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335A8F72-9FAD-48B0-BA01-672829AC475E}"/>
                  </a:ext>
                </a:extLst>
              </p:cNvPr>
              <p:cNvSpPr/>
              <p:nvPr/>
            </p:nvSpPr>
            <p:spPr>
              <a:xfrm>
                <a:off x="3592721" y="2548656"/>
                <a:ext cx="422313" cy="462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1200" dirty="0">
                    <a:solidFill>
                      <a:schemeClr val="tx1"/>
                    </a:solidFill>
                    <a:latin typeface="+mj-lt"/>
                  </a:rPr>
                  <a:t>4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B236FD4C-9396-09DB-7854-B9CD0A11D2AF}"/>
                  </a:ext>
                </a:extLst>
              </p:cNvPr>
              <p:cNvSpPr/>
              <p:nvPr/>
            </p:nvSpPr>
            <p:spPr>
              <a:xfrm>
                <a:off x="4103577" y="2548656"/>
                <a:ext cx="422313" cy="462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1200" dirty="0">
                    <a:solidFill>
                      <a:schemeClr val="tx1"/>
                    </a:solidFill>
                    <a:latin typeface="+mj-lt"/>
                  </a:rPr>
                  <a:t>5</a:t>
                </a: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C32F1A3D-29CC-A483-188A-A4CA29574BA3}"/>
                  </a:ext>
                </a:extLst>
              </p:cNvPr>
              <p:cNvSpPr/>
              <p:nvPr/>
            </p:nvSpPr>
            <p:spPr>
              <a:xfrm>
                <a:off x="4614433" y="2548656"/>
                <a:ext cx="422313" cy="462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1200" dirty="0">
                    <a:solidFill>
                      <a:schemeClr val="tx1"/>
                    </a:solidFill>
                    <a:latin typeface="+mj-lt"/>
                  </a:rPr>
                  <a:t>6</a:t>
                </a: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E5A29D8F-D1D7-32F8-009C-3A88A1E9D415}"/>
                  </a:ext>
                </a:extLst>
              </p:cNvPr>
              <p:cNvSpPr/>
              <p:nvPr/>
            </p:nvSpPr>
            <p:spPr>
              <a:xfrm>
                <a:off x="5125289" y="2548656"/>
                <a:ext cx="422313" cy="462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1200" dirty="0">
                    <a:solidFill>
                      <a:schemeClr val="tx1"/>
                    </a:solidFill>
                    <a:latin typeface="+mj-lt"/>
                  </a:rPr>
                  <a:t>7</a:t>
                </a: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BDDAE659-430C-73CC-FA7D-480673A4694F}"/>
                  </a:ext>
                </a:extLst>
              </p:cNvPr>
              <p:cNvSpPr/>
              <p:nvPr/>
            </p:nvSpPr>
            <p:spPr>
              <a:xfrm>
                <a:off x="5636145" y="2548656"/>
                <a:ext cx="422313" cy="462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1200" dirty="0">
                    <a:solidFill>
                      <a:schemeClr val="tx1"/>
                    </a:solidFill>
                    <a:latin typeface="+mj-lt"/>
                  </a:rPr>
                  <a:t>8</a:t>
                </a: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7999BB06-A737-C587-EE2D-A5E0C9479FC8}"/>
                  </a:ext>
                </a:extLst>
              </p:cNvPr>
              <p:cNvSpPr/>
              <p:nvPr/>
            </p:nvSpPr>
            <p:spPr>
              <a:xfrm>
                <a:off x="6147001" y="2548656"/>
                <a:ext cx="422313" cy="462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1200" dirty="0">
                    <a:solidFill>
                      <a:schemeClr val="tx1"/>
                    </a:solidFill>
                    <a:latin typeface="+mj-lt"/>
                  </a:rPr>
                  <a:t>9</a:t>
                </a: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387FA08F-ACD0-7E5B-7056-A98DCDF97120}"/>
                  </a:ext>
                </a:extLst>
              </p:cNvPr>
              <p:cNvSpPr/>
              <p:nvPr/>
            </p:nvSpPr>
            <p:spPr>
              <a:xfrm>
                <a:off x="6597227" y="2556449"/>
                <a:ext cx="543566" cy="462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1200" dirty="0">
                    <a:solidFill>
                      <a:schemeClr val="tx1"/>
                    </a:solidFill>
                    <a:latin typeface="+mj-lt"/>
                  </a:rPr>
                  <a:t>10</a:t>
                </a: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8CD7AC5-0BDA-1064-4DA4-C64A168A0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dirty="0">
                <a:solidFill>
                  <a:srgbClr val="156082"/>
                </a:solidFill>
              </a:rPr>
              <a:t>The FAR-Trans benchmarking</a:t>
            </a:r>
            <a:endParaRPr sz="2000" b="1" dirty="0">
              <a:solidFill>
                <a:srgbClr val="15608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15AA8-81FE-97A9-60BF-CC74A9A11B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 dirty="0">
                <a:latin typeface="+mj-lt"/>
              </a:rPr>
              <a:t>github.com/</a:t>
            </a:r>
            <a:r>
              <a:rPr lang="en-SG" dirty="0" err="1">
                <a:latin typeface="+mj-lt"/>
              </a:rPr>
              <a:t>Samthesimpsons</a:t>
            </a:r>
            <a:r>
              <a:rPr lang="en-SG" dirty="0">
                <a:latin typeface="+mj-lt"/>
              </a:rPr>
              <a:t>/Risk-Based-Segmentation-for-FAR</a:t>
            </a:r>
          </a:p>
        </p:txBody>
      </p:sp>
    </p:spTree>
    <p:extLst>
      <p:ext uri="{BB962C8B-B14F-4D97-AF65-F5344CB8AC3E}">
        <p14:creationId xmlns:p14="http://schemas.microsoft.com/office/powerpoint/2010/main" val="169625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7FA86-BCA6-2035-5FFA-35F53267B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F91F343-41FD-A9CE-D076-F2A66C2778FA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630936" y="1417319"/>
                <a:ext cx="7882127" cy="2794848"/>
              </a:xfrm>
            </p:spPr>
            <p:txBody>
              <a:bodyPr wrap="square">
                <a:normAutofit/>
              </a:bodyPr>
              <a:lstStyle/>
              <a:p>
                <a:pPr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SG" dirty="0">
                    <a:solidFill>
                      <a:srgbClr val="0E2841"/>
                    </a:solidFill>
                    <a:latin typeface="+mj-lt"/>
                  </a:rPr>
                  <a:t>Benchmarked against 11 machine learning approaches</a:t>
                </a:r>
              </a:p>
              <a:p>
                <a:pPr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SG" dirty="0">
                    <a:solidFill>
                      <a:srgbClr val="0E2841"/>
                    </a:solidFill>
                    <a:latin typeface="+mj-lt"/>
                  </a:rPr>
                  <a:t>Evaluated on (1) ranking accuracy and </a:t>
                </a:r>
                <a:r>
                  <a:rPr lang="en-SG" b="1" dirty="0">
                    <a:solidFill>
                      <a:srgbClr val="0E2841"/>
                    </a:solidFill>
                    <a:latin typeface="+mj-lt"/>
                  </a:rPr>
                  <a:t>(2) realised return</a:t>
                </a:r>
              </a:p>
              <a:p>
                <a:pPr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SG" dirty="0">
                    <a:solidFill>
                      <a:srgbClr val="0E2841"/>
                    </a:solidFill>
                    <a:latin typeface="+mj-lt"/>
                  </a:rPr>
                  <a:t>For realised return, </a:t>
                </a:r>
                <a:r>
                  <a:rPr lang="en-SG" b="1" dirty="0">
                    <a:solidFill>
                      <a:srgbClr val="0E2841"/>
                    </a:solidFill>
                    <a:latin typeface="+mj-lt"/>
                  </a:rPr>
                  <a:t>Return on Investment (ROI) </a:t>
                </a:r>
                <a:r>
                  <a:rPr lang="en-SG" dirty="0">
                    <a:solidFill>
                      <a:srgbClr val="0E2841"/>
                    </a:solidFill>
                    <a:latin typeface="+mj-lt"/>
                  </a:rPr>
                  <a:t>was used</a:t>
                </a:r>
              </a:p>
              <a:p>
                <a:pPr>
                  <a:spcBef>
                    <a:spcPts val="200"/>
                  </a:spcBef>
                  <a:spcAft>
                    <a:spcPts val="600"/>
                  </a:spcAft>
                </a:pPr>
                <a:endParaRPr lang="en-SG" dirty="0">
                  <a:solidFill>
                    <a:srgbClr val="0E2841"/>
                  </a:solidFill>
                  <a:latin typeface="+mj-lt"/>
                </a:endParaRPr>
              </a:p>
              <a:p>
                <a:pPr marL="228600" indent="0">
                  <a:spcBef>
                    <a:spcPts val="2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>
                          <a:latin typeface="+mj-lt"/>
                        </a:rPr>
                        <m:t>𝑅𝑂</m:t>
                      </m:r>
                      <m:sSub>
                        <m:sSubPr>
                          <m:ctrlPr>
                            <a:rPr lang="en-SG" i="1">
                              <a:latin typeface="+mj-lt"/>
                            </a:rPr>
                          </m:ctrlPr>
                        </m:sSubPr>
                        <m:e>
                          <m:r>
                            <a:rPr lang="en-SG" i="1">
                              <a:latin typeface="+mj-lt"/>
                            </a:rPr>
                            <m:t>𝐼</m:t>
                          </m:r>
                        </m:e>
                        <m:sub>
                          <m:r>
                            <a:rPr lang="en-SG" i="1">
                              <a:latin typeface="+mj-lt"/>
                            </a:rPr>
                            <m:t>𝑚𝑜𝑛𝑡</m:t>
                          </m:r>
                          <m:r>
                            <a:rPr lang="en-SG" i="1">
                              <a:latin typeface="+mj-lt"/>
                            </a:rPr>
                            <m:t>h</m:t>
                          </m:r>
                        </m:sub>
                      </m:sSub>
                      <m:r>
                        <a:rPr lang="en-SG" i="1">
                          <a:latin typeface="+mj-lt"/>
                        </a:rPr>
                        <m:t>=</m:t>
                      </m:r>
                      <m:sSup>
                        <m:sSupPr>
                          <m:ctrlPr>
                            <a:rPr lang="en-SG" i="1">
                              <a:latin typeface="+mj-lt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SG" i="1">
                                  <a:latin typeface="+mj-lt"/>
                                </a:rPr>
                              </m:ctrlPr>
                            </m:dPr>
                            <m:e>
                              <m:r>
                                <a:rPr lang="en-SG" i="1">
                                  <a:latin typeface="+mj-lt"/>
                                </a:rPr>
                                <m:t>1</m:t>
                              </m:r>
                              <m:r>
                                <a:rPr lang="en-SG" i="1">
                                  <a:latin typeface="+mj-lt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SG" i="1">
                                      <a:latin typeface="+mj-lt"/>
                                    </a:rPr>
                                  </m:ctrlPr>
                                </m:fPr>
                                <m:num>
                                  <m:r>
                                    <a:rPr lang="en-SG" i="1">
                                      <a:latin typeface="+mj-lt"/>
                                    </a:rPr>
                                    <m:t>𝑃𝑟𝑖𝑐</m:t>
                                  </m:r>
                                  <m:sSub>
                                    <m:sSubPr>
                                      <m:ctrlPr>
                                        <a:rPr lang="en-SG" i="1">
                                          <a:latin typeface="+mj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i="1">
                                          <a:latin typeface="+mj-lt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SG" i="1">
                                          <a:latin typeface="+mj-lt"/>
                                        </a:rPr>
                                        <m:t>𝑒𝑛𝑑</m:t>
                                      </m:r>
                                      <m:r>
                                        <a:rPr lang="en-SG" i="1">
                                          <a:latin typeface="+mj-lt"/>
                                        </a:rPr>
                                        <m:t> </m:t>
                                      </m:r>
                                    </m:sub>
                                  </m:sSub>
                                  <m:r>
                                    <a:rPr lang="en-SG" i="1">
                                      <a:latin typeface="+mj-lt"/>
                                    </a:rPr>
                                    <m:t> −</m:t>
                                  </m:r>
                                  <m:r>
                                    <a:rPr lang="en-SG" i="1">
                                      <a:latin typeface="+mj-lt"/>
                                    </a:rPr>
                                    <m:t>𝑃𝑟𝑖𝑐</m:t>
                                  </m:r>
                                  <m:sSub>
                                    <m:sSubPr>
                                      <m:ctrlPr>
                                        <a:rPr lang="en-SG" i="1">
                                          <a:latin typeface="+mj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i="1">
                                          <a:latin typeface="+mj-lt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SG" i="1">
                                          <a:latin typeface="+mj-lt"/>
                                        </a:rPr>
                                        <m:t>𝑠𝑡𝑎𝑟𝑡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SG" i="1">
                                      <a:latin typeface="+mj-lt"/>
                                    </a:rPr>
                                    <m:t>𝑃𝑟𝑖𝑐</m:t>
                                  </m:r>
                                  <m:sSub>
                                    <m:sSubPr>
                                      <m:ctrlPr>
                                        <a:rPr lang="en-SG" i="1">
                                          <a:latin typeface="+mj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i="1">
                                          <a:latin typeface="+mj-lt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SG" i="1">
                                          <a:latin typeface="+mj-lt"/>
                                        </a:rPr>
                                        <m:t>𝑠𝑡𝑎𝑟𝑡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SG" i="1">
                                  <a:latin typeface="+mj-lt"/>
                                </a:rPr>
                              </m:ctrlPr>
                            </m:fPr>
                            <m:num>
                              <m:r>
                                <a:rPr lang="en-SG" i="1">
                                  <a:latin typeface="+mj-lt"/>
                                </a:rPr>
                                <m:t>30</m:t>
                              </m:r>
                            </m:num>
                            <m:den>
                              <m:r>
                                <a:rPr lang="en-GB" i="1" smtClean="0">
                                  <a:latin typeface="+mj-lt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SG" i="1">
                                  <a:latin typeface="+mj-lt"/>
                                </a:rPr>
                                <m:t>166</m:t>
                              </m:r>
                              <m:r>
                                <a:rPr lang="en-GB" b="0" i="1" smtClean="0">
                                  <a:latin typeface="+mj-lt"/>
                                </a:rPr>
                                <m:t> (</m:t>
                              </m:r>
                              <m:r>
                                <a:rPr lang="en-GB" b="0" i="1" smtClean="0">
                                  <a:latin typeface="+mj-lt"/>
                                </a:rPr>
                                <m:t>5</m:t>
                              </m:r>
                              <m:r>
                                <a:rPr lang="en-GB" b="0" i="1" smtClean="0">
                                  <a:latin typeface="+mj-lt"/>
                                </a:rPr>
                                <m:t>.</m:t>
                              </m:r>
                              <m:r>
                                <a:rPr lang="en-GB" b="0" i="1" smtClean="0">
                                  <a:latin typeface="+mj-lt"/>
                                </a:rPr>
                                <m:t>5</m:t>
                              </m:r>
                              <m:r>
                                <a:rPr lang="en-GB" b="0" i="1" smtClean="0">
                                  <a:latin typeface="+mj-lt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+mj-lt"/>
                                </a:rPr>
                                <m:t>𝑚𝑜𝑛𝑡</m:t>
                              </m:r>
                              <m:r>
                                <a:rPr lang="en-GB" b="0" i="1" smtClean="0">
                                  <a:latin typeface="+mj-lt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+mj-lt"/>
                                </a:rPr>
                                <m:t>𝑠</m:t>
                              </m:r>
                              <m:r>
                                <a:rPr lang="en-GB" b="0" i="1" smtClean="0">
                                  <a:latin typeface="+mj-lt"/>
                                </a:rPr>
                                <m:t> )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>
                  <a:latin typeface="+mj-lt"/>
                </a:endParaRPr>
              </a:p>
              <a:p>
                <a:pPr marL="228600" indent="0">
                  <a:spcBef>
                    <a:spcPts val="200"/>
                  </a:spcBef>
                  <a:spcAft>
                    <a:spcPts val="600"/>
                  </a:spcAft>
                  <a:buNone/>
                </a:pPr>
                <a:br>
                  <a:rPr lang="en-GB" dirty="0">
                    <a:latin typeface="+mj-lt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>
                          <a:latin typeface="+mj-lt"/>
                        </a:rPr>
                        <m:t>𝑅𝑂𝐼</m:t>
                      </m:r>
                      <m:r>
                        <a:rPr lang="en-SG" i="1">
                          <a:latin typeface="+mj-lt"/>
                        </a:rPr>
                        <m:t>@</m:t>
                      </m:r>
                      <m:r>
                        <a:rPr lang="en-SG" i="1">
                          <a:latin typeface="+mj-lt"/>
                        </a:rPr>
                        <m:t>10</m:t>
                      </m:r>
                      <m:r>
                        <a:rPr lang="en-SG" i="1">
                          <a:latin typeface="+mj-lt"/>
                        </a:rPr>
                        <m:t>=</m:t>
                      </m:r>
                      <m:f>
                        <m:fPr>
                          <m:ctrlPr>
                            <a:rPr lang="en-SG" i="1">
                              <a:latin typeface="+mj-lt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SG" i="1">
                                  <a:latin typeface="+mj-lt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SG" i="1">
                                      <a:latin typeface="+mj-lt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SG" i="1">
                                      <a:latin typeface="+mj-lt"/>
                                    </a:rPr>
                                    <m:t>𝑎</m:t>
                                  </m:r>
                                  <m:r>
                                    <a:rPr lang="en-SG" i="1">
                                      <a:latin typeface="+mj-lt"/>
                                    </a:rPr>
                                    <m:t>𝑠𝑠𝑒𝑡</m:t>
                                  </m:r>
                                  <m:r>
                                    <a:rPr lang="en-SG" i="1">
                                      <a:latin typeface="+mj-lt"/>
                                    </a:rPr>
                                    <m:t>,   </m:t>
                                  </m:r>
                                  <m:r>
                                    <a:rPr lang="en-SG" i="1">
                                      <a:latin typeface="+mj-lt"/>
                                    </a:rPr>
                                    <m:t>𝑖</m:t>
                                  </m:r>
                                  <m:r>
                                    <a:rPr lang="en-SG" i="1">
                                      <a:latin typeface="+mj-lt"/>
                                    </a:rPr>
                                    <m:t>=</m:t>
                                  </m:r>
                                  <m:r>
                                    <a:rPr lang="en-SG" i="1">
                                      <a:latin typeface="+mj-lt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SG" i="1">
                                      <a:latin typeface="+mj-lt"/>
                                    </a:rPr>
                                    <m:t>10</m:t>
                                  </m:r>
                                </m:sup>
                                <m:e>
                                  <m:r>
                                    <a:rPr lang="en-SG" i="1">
                                      <a:latin typeface="+mj-lt"/>
                                    </a:rPr>
                                    <m:t>𝑅𝑂</m:t>
                                  </m:r>
                                  <m:sSub>
                                    <m:sSubPr>
                                      <m:ctrlPr>
                                        <a:rPr lang="en-SG" i="1">
                                          <a:latin typeface="+mj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i="1">
                                          <a:latin typeface="+mj-lt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SG" i="1">
                                          <a:latin typeface="+mj-lt"/>
                                        </a:rPr>
                                        <m:t>𝑚𝑜𝑛𝑡</m:t>
                                      </m:r>
                                      <m:r>
                                        <a:rPr lang="en-SG" i="1">
                                          <a:latin typeface="+mj-lt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num>
                        <m:den>
                          <m:r>
                            <a:rPr lang="en-SG" i="1">
                              <a:latin typeface="+mj-lt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SG" dirty="0">
                  <a:latin typeface="+mj-lt"/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F91F343-41FD-A9CE-D076-F2A66C2778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630936" y="1417319"/>
                <a:ext cx="7882127" cy="2794848"/>
              </a:xfrm>
              <a:blipFill>
                <a:blip r:embed="rId3"/>
                <a:stretch>
                  <a:fillRect t="-43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E36BD14-5BCB-F9EC-B9BC-D59BC6590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dirty="0">
                <a:solidFill>
                  <a:srgbClr val="156082"/>
                </a:solidFill>
              </a:rPr>
              <a:t>The FAR-Trans benchmarking</a:t>
            </a:r>
            <a:endParaRPr sz="2000" b="1" dirty="0">
              <a:solidFill>
                <a:srgbClr val="15608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CA594-31AB-3835-90D9-F1E561586EB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 dirty="0">
                <a:latin typeface="+mj-lt"/>
              </a:rPr>
              <a:t>github.com/</a:t>
            </a:r>
            <a:r>
              <a:rPr lang="en-SG" dirty="0" err="1">
                <a:latin typeface="+mj-lt"/>
              </a:rPr>
              <a:t>Samthesimpsons</a:t>
            </a:r>
            <a:r>
              <a:rPr lang="en-SG" dirty="0">
                <a:latin typeface="+mj-lt"/>
              </a:rPr>
              <a:t>/Risk-Based-Segmentation-for-FAR</a:t>
            </a:r>
          </a:p>
        </p:txBody>
      </p:sp>
    </p:spTree>
    <p:extLst>
      <p:ext uri="{BB962C8B-B14F-4D97-AF65-F5344CB8AC3E}">
        <p14:creationId xmlns:p14="http://schemas.microsoft.com/office/powerpoint/2010/main" val="2184141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dirty="0">
                <a:solidFill>
                  <a:srgbClr val="156082"/>
                </a:solidFill>
              </a:rPr>
              <a:t>Filling in the missing gap of risk suitability</a:t>
            </a:r>
            <a:endParaRPr sz="2000" b="1" dirty="0">
              <a:solidFill>
                <a:srgbClr val="15608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556D6-7EC0-7A6B-6974-5B3AA3D937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>
                <a:latin typeface="+mj-lt"/>
              </a:rPr>
              <a:t>github.com/Samthesimpsons/Risk-Based-Segmentation-for-FAR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D03445-E7FF-CB50-6438-61C382CF9229}"/>
              </a:ext>
            </a:extLst>
          </p:cNvPr>
          <p:cNvSpPr txBox="1"/>
          <p:nvPr/>
        </p:nvSpPr>
        <p:spPr>
          <a:xfrm>
            <a:off x="2135996" y="4551819"/>
            <a:ext cx="51280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800" i="1" dirty="0">
                <a:latin typeface="+mj-lt"/>
              </a:rPr>
              <a:t>[1] Sakurai et al., Risk-Aware Utility Re-Ranking for Financial Asset Recommendation (RURA), WSDM '26</a:t>
            </a:r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541EAC93-36EE-5F7C-1191-7E8A73F3FE5F}"/>
              </a:ext>
            </a:extLst>
          </p:cNvPr>
          <p:cNvSpPr/>
          <p:nvPr/>
        </p:nvSpPr>
        <p:spPr>
          <a:xfrm>
            <a:off x="685800" y="1559357"/>
            <a:ext cx="3757223" cy="867335"/>
          </a:xfrm>
          <a:prstGeom prst="roundRect">
            <a:avLst>
              <a:gd name="adj" fmla="val 7881"/>
            </a:avLst>
          </a:prstGeom>
          <a:solidFill>
            <a:schemeClr val="bg1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SG" sz="1600">
              <a:latin typeface="+mj-lt"/>
            </a:endParaRPr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EAB28FB0-7733-3158-9CC6-8C5694A3C0AA}"/>
              </a:ext>
            </a:extLst>
          </p:cNvPr>
          <p:cNvSpPr/>
          <p:nvPr/>
        </p:nvSpPr>
        <p:spPr>
          <a:xfrm>
            <a:off x="685800" y="1559357"/>
            <a:ext cx="56183" cy="86733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SG" sz="1600">
              <a:latin typeface="+mj-lt"/>
            </a:endParaRP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7A9432D6-3E26-7858-A4F6-8A21EA669526}"/>
              </a:ext>
            </a:extLst>
          </p:cNvPr>
          <p:cNvSpPr/>
          <p:nvPr/>
        </p:nvSpPr>
        <p:spPr>
          <a:xfrm>
            <a:off x="840303" y="1677630"/>
            <a:ext cx="3476309" cy="220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+mj-lt"/>
                <a:ea typeface="Inter Display" pitchFamily="34" charset="-122"/>
                <a:cs typeface="Inter Display" pitchFamily="34" charset="-120"/>
              </a:rPr>
              <a:t>Current gap</a:t>
            </a:r>
            <a:endParaRPr lang="en-US" sz="12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450CC985-3AAD-5572-F243-4EFAB9C6633A}"/>
              </a:ext>
            </a:extLst>
          </p:cNvPr>
          <p:cNvSpPr/>
          <p:nvPr/>
        </p:nvSpPr>
        <p:spPr>
          <a:xfrm>
            <a:off x="840303" y="1949483"/>
            <a:ext cx="3462263" cy="3311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latin typeface="+mj-lt"/>
                <a:ea typeface="Inter" pitchFamily="34" charset="-122"/>
                <a:cs typeface="Inter" pitchFamily="34" charset="-120"/>
              </a:rPr>
              <a:t>Risk suitability is not evaluated in the original FAR-Trans benchmarking.</a:t>
            </a:r>
            <a:endParaRPr lang="en-US" sz="1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5DDAE487-D952-D74A-6E1E-31438FEAF2AE}"/>
              </a:ext>
            </a:extLst>
          </p:cNvPr>
          <p:cNvSpPr/>
          <p:nvPr/>
        </p:nvSpPr>
        <p:spPr>
          <a:xfrm>
            <a:off x="4688822" y="1559357"/>
            <a:ext cx="3967908" cy="867335"/>
          </a:xfrm>
          <a:prstGeom prst="roundRect">
            <a:avLst>
              <a:gd name="adj" fmla="val 10810"/>
            </a:avLst>
          </a:prstGeom>
          <a:solidFill>
            <a:schemeClr val="bg1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SG" sz="1600">
              <a:latin typeface="+mj-lt"/>
            </a:endParaRPr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057FD75A-A39E-62EA-9645-0BA9FE7E2970}"/>
              </a:ext>
            </a:extLst>
          </p:cNvPr>
          <p:cNvSpPr/>
          <p:nvPr/>
        </p:nvSpPr>
        <p:spPr>
          <a:xfrm>
            <a:off x="4688822" y="1559357"/>
            <a:ext cx="56183" cy="86733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SG" sz="1600">
              <a:latin typeface="+mj-lt"/>
            </a:endParaRPr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5748C770-C0CA-A9D2-C50E-4A0E25DD9310}"/>
              </a:ext>
            </a:extLst>
          </p:cNvPr>
          <p:cNvSpPr/>
          <p:nvPr/>
        </p:nvSpPr>
        <p:spPr>
          <a:xfrm>
            <a:off x="4843325" y="1677630"/>
            <a:ext cx="3686994" cy="220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+mj-lt"/>
                <a:ea typeface="Inter Display" pitchFamily="34" charset="-122"/>
                <a:cs typeface="Inter Display" pitchFamily="34" charset="-120"/>
              </a:rPr>
              <a:t>Existing work</a:t>
            </a:r>
            <a:endParaRPr lang="en-US" sz="12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4244DCA7-DAC4-F07E-8A64-469AE2622A57}"/>
              </a:ext>
            </a:extLst>
          </p:cNvPr>
          <p:cNvSpPr/>
          <p:nvPr/>
        </p:nvSpPr>
        <p:spPr>
          <a:xfrm>
            <a:off x="4843325" y="1949483"/>
            <a:ext cx="3672949" cy="3311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latin typeface="+mj-lt"/>
                <a:ea typeface="Inter" pitchFamily="34" charset="-122"/>
                <a:cs typeface="Inter" pitchFamily="34" charset="-120"/>
              </a:rPr>
              <a:t>Post-hoc re-ranking</a:t>
            </a:r>
            <a:r>
              <a:rPr lang="en-SG" sz="1000" i="1" dirty="0">
                <a:latin typeface="+mj-lt"/>
              </a:rPr>
              <a:t> </a:t>
            </a:r>
            <a:r>
              <a:rPr lang="en-SG" sz="1000" i="1" baseline="30000" dirty="0">
                <a:latin typeface="+mj-lt"/>
              </a:rPr>
              <a:t>[1]</a:t>
            </a:r>
            <a:r>
              <a:rPr lang="en-US" sz="1000" dirty="0">
                <a:solidFill>
                  <a:schemeClr val="tx1"/>
                </a:solidFill>
                <a:latin typeface="+mj-lt"/>
                <a:ea typeface="Inter" pitchFamily="34" charset="-122"/>
                <a:cs typeface="Inter" pitchFamily="34" charset="-120"/>
              </a:rPr>
              <a:t> adjusts recommendations for risk after model scoring.</a:t>
            </a:r>
            <a:endParaRPr lang="en-US" sz="1000"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080B4C7-BE34-AEF5-C892-D54C5791565A}"/>
              </a:ext>
            </a:extLst>
          </p:cNvPr>
          <p:cNvGrpSpPr/>
          <p:nvPr/>
        </p:nvGrpSpPr>
        <p:grpSpPr>
          <a:xfrm>
            <a:off x="685800" y="2579327"/>
            <a:ext cx="7970930" cy="1548024"/>
            <a:chOff x="685800" y="2579327"/>
            <a:chExt cx="7970930" cy="1548024"/>
          </a:xfrm>
        </p:grpSpPr>
        <p:sp>
          <p:nvSpPr>
            <p:cNvPr id="40" name="Text 19">
              <a:extLst>
                <a:ext uri="{FF2B5EF4-FFF2-40B4-BE49-F238E27FC236}">
                  <a16:creationId xmlns:a16="http://schemas.microsoft.com/office/drawing/2014/main" id="{90F8D706-1207-85D2-68BA-AD09261F2D4E}"/>
                </a:ext>
              </a:extLst>
            </p:cNvPr>
            <p:cNvSpPr/>
            <p:nvPr/>
          </p:nvSpPr>
          <p:spPr>
            <a:xfrm>
              <a:off x="685800" y="2579327"/>
              <a:ext cx="2247311" cy="1892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j-lt"/>
                  <a:ea typeface="Inter Display" pitchFamily="34" charset="-122"/>
                  <a:cs typeface="Inter Display" pitchFamily="34" charset="-120"/>
                </a:rPr>
                <a:t>Three contributions</a:t>
              </a:r>
              <a:endParaRPr lang="en-US" sz="12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42" name="Shape 20">
              <a:extLst>
                <a:ext uri="{FF2B5EF4-FFF2-40B4-BE49-F238E27FC236}">
                  <a16:creationId xmlns:a16="http://schemas.microsoft.com/office/drawing/2014/main" id="{1D7F34BB-4576-93AF-D804-7E611BEDC568}"/>
                </a:ext>
              </a:extLst>
            </p:cNvPr>
            <p:cNvSpPr/>
            <p:nvPr/>
          </p:nvSpPr>
          <p:spPr>
            <a:xfrm>
              <a:off x="756028" y="2913082"/>
              <a:ext cx="2493110" cy="1110451"/>
            </a:xfrm>
            <a:prstGeom prst="roundRect">
              <a:avLst/>
            </a:prstGeom>
            <a:solidFill>
              <a:srgbClr val="FFFFFF"/>
            </a:solidFill>
            <a:ln w="7620">
              <a:solidFill>
                <a:srgbClr val="D9E2EC"/>
              </a:solidFill>
              <a:prstDash val="solid"/>
            </a:ln>
          </p:spPr>
          <p:txBody>
            <a:bodyPr/>
            <a:lstStyle/>
            <a:p>
              <a:endParaRPr lang="en-SG" sz="1600">
                <a:latin typeface="+mj-lt"/>
              </a:endParaRPr>
            </a:p>
          </p:txBody>
        </p:sp>
        <p:sp>
          <p:nvSpPr>
            <p:cNvPr id="44" name="Shape 22">
              <a:extLst>
                <a:ext uri="{FF2B5EF4-FFF2-40B4-BE49-F238E27FC236}">
                  <a16:creationId xmlns:a16="http://schemas.microsoft.com/office/drawing/2014/main" id="{9ED839FB-5819-5C80-EAB6-99F0281E2F5B}"/>
                </a:ext>
              </a:extLst>
            </p:cNvPr>
            <p:cNvSpPr/>
            <p:nvPr/>
          </p:nvSpPr>
          <p:spPr>
            <a:xfrm>
              <a:off x="871741" y="3031354"/>
              <a:ext cx="259561" cy="25231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C8951D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SG" sz="1600">
                <a:latin typeface="+mj-lt"/>
              </a:endParaRPr>
            </a:p>
          </p:txBody>
        </p:sp>
        <p:sp>
          <p:nvSpPr>
            <p:cNvPr id="46" name="Text 23">
              <a:extLst>
                <a:ext uri="{FF2B5EF4-FFF2-40B4-BE49-F238E27FC236}">
                  <a16:creationId xmlns:a16="http://schemas.microsoft.com/office/drawing/2014/main" id="{287FF82B-FB2C-5BEA-22AB-58CDF2D3A8F1}"/>
                </a:ext>
              </a:extLst>
            </p:cNvPr>
            <p:cNvSpPr/>
            <p:nvPr/>
          </p:nvSpPr>
          <p:spPr>
            <a:xfrm>
              <a:off x="871741" y="3103482"/>
              <a:ext cx="259561" cy="946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1</a:t>
              </a:r>
              <a:endParaRPr lang="en-US" sz="1100" dirty="0">
                <a:latin typeface="+mj-lt"/>
              </a:endParaRPr>
            </a:p>
          </p:txBody>
        </p:sp>
        <p:sp>
          <p:nvSpPr>
            <p:cNvPr id="48" name="Text 24">
              <a:extLst>
                <a:ext uri="{FF2B5EF4-FFF2-40B4-BE49-F238E27FC236}">
                  <a16:creationId xmlns:a16="http://schemas.microsoft.com/office/drawing/2014/main" id="{F237C624-C2D7-ACD6-4FEE-ACA7B8C135FA}"/>
                </a:ext>
              </a:extLst>
            </p:cNvPr>
            <p:cNvSpPr/>
            <p:nvPr/>
          </p:nvSpPr>
          <p:spPr>
            <a:xfrm>
              <a:off x="1203872" y="3031354"/>
              <a:ext cx="1991426" cy="220776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accent1"/>
                  </a:solidFill>
                  <a:latin typeface="+mj-lt"/>
                  <a:ea typeface="Inter Display" pitchFamily="34" charset="-122"/>
                  <a:cs typeface="Inter Display" pitchFamily="34" charset="-120"/>
                </a:rPr>
                <a:t>Analytical study</a:t>
              </a:r>
              <a:endParaRPr lang="en-US" sz="1200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50" name="Text 25">
              <a:extLst>
                <a:ext uri="{FF2B5EF4-FFF2-40B4-BE49-F238E27FC236}">
                  <a16:creationId xmlns:a16="http://schemas.microsoft.com/office/drawing/2014/main" id="{D9745EB4-337D-4FFE-ECDC-BB7B1F7E7F98}"/>
                </a:ext>
              </a:extLst>
            </p:cNvPr>
            <p:cNvSpPr/>
            <p:nvPr/>
          </p:nvSpPr>
          <p:spPr>
            <a:xfrm>
              <a:off x="910531" y="3346749"/>
              <a:ext cx="2198151" cy="78060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solidFill>
                    <a:schemeClr val="tx1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Measure discordance: mismatch of transacted asset risk band to customer risk band.</a:t>
              </a:r>
              <a:endParaRPr lang="en-US" sz="1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52" name="Shape 26">
              <a:extLst>
                <a:ext uri="{FF2B5EF4-FFF2-40B4-BE49-F238E27FC236}">
                  <a16:creationId xmlns:a16="http://schemas.microsoft.com/office/drawing/2014/main" id="{62630887-AD9F-04AE-0F7F-FFF24D93A35A}"/>
                </a:ext>
              </a:extLst>
            </p:cNvPr>
            <p:cNvSpPr/>
            <p:nvPr/>
          </p:nvSpPr>
          <p:spPr>
            <a:xfrm>
              <a:off x="3459824" y="2913082"/>
              <a:ext cx="2493110" cy="1110451"/>
            </a:xfrm>
            <a:prstGeom prst="roundRect">
              <a:avLst/>
            </a:prstGeom>
            <a:solidFill>
              <a:srgbClr val="FFFFFF"/>
            </a:solidFill>
            <a:ln w="7620">
              <a:solidFill>
                <a:srgbClr val="D9E2EC"/>
              </a:solidFill>
              <a:prstDash val="solid"/>
            </a:ln>
          </p:spPr>
          <p:txBody>
            <a:bodyPr/>
            <a:lstStyle/>
            <a:p>
              <a:endParaRPr lang="en-SG" sz="1600">
                <a:latin typeface="+mj-lt"/>
              </a:endParaRPr>
            </a:p>
          </p:txBody>
        </p:sp>
        <p:sp>
          <p:nvSpPr>
            <p:cNvPr id="54" name="Shape 28">
              <a:extLst>
                <a:ext uri="{FF2B5EF4-FFF2-40B4-BE49-F238E27FC236}">
                  <a16:creationId xmlns:a16="http://schemas.microsoft.com/office/drawing/2014/main" id="{F3D188CA-39B2-BB0E-00E8-B4BE044B300E}"/>
                </a:ext>
              </a:extLst>
            </p:cNvPr>
            <p:cNvSpPr/>
            <p:nvPr/>
          </p:nvSpPr>
          <p:spPr>
            <a:xfrm>
              <a:off x="3575536" y="3031354"/>
              <a:ext cx="259561" cy="25231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006D7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SG" sz="1600">
                <a:latin typeface="+mj-lt"/>
              </a:endParaRPr>
            </a:p>
          </p:txBody>
        </p:sp>
        <p:sp>
          <p:nvSpPr>
            <p:cNvPr id="56" name="Text 29">
              <a:extLst>
                <a:ext uri="{FF2B5EF4-FFF2-40B4-BE49-F238E27FC236}">
                  <a16:creationId xmlns:a16="http://schemas.microsoft.com/office/drawing/2014/main" id="{E71CB1D6-7CEC-3752-7D1F-EEC54F58CC9A}"/>
                </a:ext>
              </a:extLst>
            </p:cNvPr>
            <p:cNvSpPr/>
            <p:nvPr/>
          </p:nvSpPr>
          <p:spPr>
            <a:xfrm>
              <a:off x="3575536" y="3103482"/>
              <a:ext cx="259561" cy="946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2</a:t>
              </a:r>
              <a:endParaRPr lang="en-US" sz="1100" dirty="0">
                <a:latin typeface="+mj-lt"/>
              </a:endParaRPr>
            </a:p>
          </p:txBody>
        </p:sp>
        <p:sp>
          <p:nvSpPr>
            <p:cNvPr id="58" name="Text 30">
              <a:extLst>
                <a:ext uri="{FF2B5EF4-FFF2-40B4-BE49-F238E27FC236}">
                  <a16:creationId xmlns:a16="http://schemas.microsoft.com/office/drawing/2014/main" id="{01CF9B65-6E34-7D8E-B321-D8D23C5DC9E5}"/>
                </a:ext>
              </a:extLst>
            </p:cNvPr>
            <p:cNvSpPr/>
            <p:nvPr/>
          </p:nvSpPr>
          <p:spPr>
            <a:xfrm>
              <a:off x="3907667" y="3031354"/>
              <a:ext cx="1991426" cy="220776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accent1"/>
                  </a:solidFill>
                  <a:latin typeface="+mj-lt"/>
                  <a:ea typeface="Inter Display" pitchFamily="34" charset="-122"/>
                  <a:cs typeface="Inter Display" pitchFamily="34" charset="-120"/>
                </a:rPr>
                <a:t>Methodology</a:t>
              </a:r>
              <a:endParaRPr lang="en-US" sz="1200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60" name="Text 31">
              <a:extLst>
                <a:ext uri="{FF2B5EF4-FFF2-40B4-BE49-F238E27FC236}">
                  <a16:creationId xmlns:a16="http://schemas.microsoft.com/office/drawing/2014/main" id="{1403A1B9-3D24-D53D-78DC-134D19B4A1DF}"/>
                </a:ext>
              </a:extLst>
            </p:cNvPr>
            <p:cNvSpPr/>
            <p:nvPr/>
          </p:nvSpPr>
          <p:spPr>
            <a:xfrm>
              <a:off x="3614327" y="3346749"/>
              <a:ext cx="2198151" cy="78060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solidFill>
                    <a:schemeClr val="tx1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Risk-based segmentation with LightGCN modelling and two extensions.</a:t>
              </a:r>
              <a:endParaRPr lang="en-US" sz="1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62" name="Shape 32">
              <a:extLst>
                <a:ext uri="{FF2B5EF4-FFF2-40B4-BE49-F238E27FC236}">
                  <a16:creationId xmlns:a16="http://schemas.microsoft.com/office/drawing/2014/main" id="{270A6001-3036-FD5A-F7E0-5766A345B803}"/>
                </a:ext>
              </a:extLst>
            </p:cNvPr>
            <p:cNvSpPr/>
            <p:nvPr/>
          </p:nvSpPr>
          <p:spPr>
            <a:xfrm>
              <a:off x="6163620" y="2913082"/>
              <a:ext cx="2493110" cy="1110451"/>
            </a:xfrm>
            <a:prstGeom prst="roundRect">
              <a:avLst/>
            </a:prstGeom>
            <a:solidFill>
              <a:srgbClr val="FFFFFF"/>
            </a:solidFill>
            <a:ln w="7620">
              <a:solidFill>
                <a:srgbClr val="D9E2EC"/>
              </a:solidFill>
              <a:prstDash val="solid"/>
            </a:ln>
          </p:spPr>
          <p:txBody>
            <a:bodyPr/>
            <a:lstStyle/>
            <a:p>
              <a:endParaRPr lang="en-SG" sz="1600">
                <a:latin typeface="+mj-lt"/>
              </a:endParaRPr>
            </a:p>
          </p:txBody>
        </p:sp>
        <p:sp>
          <p:nvSpPr>
            <p:cNvPr id="64" name="Shape 34">
              <a:extLst>
                <a:ext uri="{FF2B5EF4-FFF2-40B4-BE49-F238E27FC236}">
                  <a16:creationId xmlns:a16="http://schemas.microsoft.com/office/drawing/2014/main" id="{0A7F37C8-7AE6-CD7C-DB6B-0199A45D0369}"/>
                </a:ext>
              </a:extLst>
            </p:cNvPr>
            <p:cNvSpPr/>
            <p:nvPr/>
          </p:nvSpPr>
          <p:spPr>
            <a:xfrm>
              <a:off x="6279332" y="3031354"/>
              <a:ext cx="259561" cy="25231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2F6FA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SG" sz="1600">
                <a:latin typeface="+mj-lt"/>
              </a:endParaRPr>
            </a:p>
          </p:txBody>
        </p:sp>
        <p:sp>
          <p:nvSpPr>
            <p:cNvPr id="66" name="Text 35">
              <a:extLst>
                <a:ext uri="{FF2B5EF4-FFF2-40B4-BE49-F238E27FC236}">
                  <a16:creationId xmlns:a16="http://schemas.microsoft.com/office/drawing/2014/main" id="{E0C4B2EF-3ECD-2EEC-E228-CBE8FAD2F237}"/>
                </a:ext>
              </a:extLst>
            </p:cNvPr>
            <p:cNvSpPr/>
            <p:nvPr/>
          </p:nvSpPr>
          <p:spPr>
            <a:xfrm>
              <a:off x="6279332" y="3103482"/>
              <a:ext cx="259561" cy="946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3</a:t>
              </a:r>
              <a:endParaRPr lang="en-US" sz="1100" dirty="0">
                <a:latin typeface="+mj-lt"/>
              </a:endParaRPr>
            </a:p>
          </p:txBody>
        </p:sp>
        <p:sp>
          <p:nvSpPr>
            <p:cNvPr id="68" name="Text 36">
              <a:extLst>
                <a:ext uri="{FF2B5EF4-FFF2-40B4-BE49-F238E27FC236}">
                  <a16:creationId xmlns:a16="http://schemas.microsoft.com/office/drawing/2014/main" id="{A58D781B-EDF5-58C4-0EAE-1D38C8CAF7A2}"/>
                </a:ext>
              </a:extLst>
            </p:cNvPr>
            <p:cNvSpPr/>
            <p:nvPr/>
          </p:nvSpPr>
          <p:spPr>
            <a:xfrm>
              <a:off x="6611463" y="3031354"/>
              <a:ext cx="1991426" cy="220776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accent1"/>
                  </a:solidFill>
                  <a:latin typeface="+mj-lt"/>
                  <a:ea typeface="Inter Display" pitchFamily="34" charset="-122"/>
                  <a:cs typeface="Inter Display" pitchFamily="34" charset="-120"/>
                </a:rPr>
                <a:t>Experimental study</a:t>
              </a:r>
              <a:endParaRPr lang="en-US" sz="1200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70" name="Text 37">
              <a:extLst>
                <a:ext uri="{FF2B5EF4-FFF2-40B4-BE49-F238E27FC236}">
                  <a16:creationId xmlns:a16="http://schemas.microsoft.com/office/drawing/2014/main" id="{91ADF765-9FB8-5771-4AD4-C65FADB18C88}"/>
                </a:ext>
              </a:extLst>
            </p:cNvPr>
            <p:cNvSpPr/>
            <p:nvPr/>
          </p:nvSpPr>
          <p:spPr>
            <a:xfrm>
              <a:off x="6318122" y="3346749"/>
              <a:ext cx="2198151" cy="78060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solidFill>
                    <a:schemeClr val="tx1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Ablation studies evaluated on ranking accuracy, returns and risk suitability.</a:t>
              </a:r>
              <a:endParaRPr lang="en-US" sz="1000" dirty="0">
                <a:solidFill>
                  <a:schemeClr val="tx1"/>
                </a:solidFill>
                <a:latin typeface="+mj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SG" b="1" dirty="0">
                <a:latin typeface="+mj-lt"/>
              </a:rPr>
              <a:t>02 </a:t>
            </a:r>
            <a:r>
              <a:rPr b="1" dirty="0">
                <a:latin typeface="+mj-lt"/>
              </a:rPr>
              <a:t>Analytical </a:t>
            </a:r>
            <a:r>
              <a:rPr lang="en-SG" b="1" dirty="0">
                <a:latin typeface="+mj-lt"/>
              </a:rPr>
              <a:t>Study</a:t>
            </a:r>
            <a:endParaRPr b="1" dirty="0">
              <a:latin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1800" dirty="0">
                <a:latin typeface="+mj-lt"/>
              </a:rPr>
              <a:t>FAR-Trans Dataset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b="1" dirty="0">
                <a:solidFill>
                  <a:srgbClr val="156082"/>
                </a:solidFill>
              </a:rPr>
              <a:t>Measuring risk </a:t>
            </a:r>
            <a:r>
              <a:rPr lang="en-SG" sz="2000" dirty="0">
                <a:solidFill>
                  <a:srgbClr val="156082"/>
                </a:solidFill>
              </a:rPr>
              <a:t>s</a:t>
            </a:r>
            <a:r>
              <a:rPr lang="en-SG" sz="2000" b="1" dirty="0">
                <a:solidFill>
                  <a:srgbClr val="156082"/>
                </a:solidFill>
              </a:rPr>
              <a:t>uitability via Profile Coherence</a:t>
            </a:r>
            <a:endParaRPr sz="2000" b="1" dirty="0">
              <a:solidFill>
                <a:srgbClr val="15608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type="body" idx="2"/>
              </p:nvPr>
            </p:nvSpPr>
            <p:spPr>
              <a:xfrm>
                <a:off x="502920" y="1325880"/>
                <a:ext cx="8138160" cy="3347720"/>
              </a:xfrm>
            </p:spPr>
            <p:txBody>
              <a:bodyPr wrap="square"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SG" dirty="0">
                    <a:solidFill>
                      <a:srgbClr val="0E2841"/>
                    </a:solidFill>
                    <a:latin typeface="+mj-lt"/>
                  </a:rPr>
                  <a:t>For customers, use existing customer’s risk band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+mj-lt"/>
                          </a:rPr>
                        </m:ctrlPr>
                      </m:sSubPr>
                      <m:e>
                        <m:r>
                          <a:rPr lang="ar-AE" i="1">
                            <a:latin typeface="+mj-lt"/>
                          </a:rPr>
                          <m:t>𝑏</m:t>
                        </m:r>
                      </m:e>
                      <m:sub>
                        <m:r>
                          <a:rPr lang="ar-AE" i="1">
                            <a:latin typeface="+mj-lt"/>
                          </a:rPr>
                          <m:t>𝑖</m:t>
                        </m:r>
                      </m:sub>
                    </m:sSub>
                    <m:r>
                      <a:rPr lang="ar-AE" b="0" i="1" smtClean="0">
                        <a:latin typeface="+mj-lt"/>
                      </a:rPr>
                      <m:t>)</m:t>
                    </m:r>
                    <m:r>
                      <a:rPr lang="en-SG" b="0" i="1" smtClean="0">
                        <a:latin typeface="+mj-lt"/>
                      </a:rPr>
                      <m:t> </m:t>
                    </m:r>
                  </m:oMath>
                </a14:m>
                <a:r>
                  <a:rPr lang="en-SG" dirty="0">
                    <a:solidFill>
                      <a:srgbClr val="0E2841"/>
                    </a:solidFill>
                    <a:latin typeface="+mj-lt"/>
                  </a:rPr>
                  <a:t>mapped to an ordinal scale</a:t>
                </a:r>
                <a:r>
                  <a:rPr lang="ar-AE" dirty="0">
                    <a:solidFill>
                      <a:srgbClr val="0E2841"/>
                    </a:solidFill>
                    <a:latin typeface="+mj-lt"/>
                  </a:rPr>
                  <a:t>: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endParaRPr lang="en-SG" dirty="0">
                  <a:solidFill>
                    <a:srgbClr val="202020"/>
                  </a:solidFill>
                  <a:latin typeface="+mj-lt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endParaRPr lang="en-SG" dirty="0">
                  <a:solidFill>
                    <a:srgbClr val="202020"/>
                  </a:solidFill>
                  <a:latin typeface="+mj-lt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SG" dirty="0">
                    <a:solidFill>
                      <a:srgbClr val="202020"/>
                    </a:solidFill>
                    <a:latin typeface="+mj-lt"/>
                  </a:rPr>
                  <a:t>For </a:t>
                </a:r>
                <a:r>
                  <a:rPr lang="en-SG" dirty="0">
                    <a:solidFill>
                      <a:srgbClr val="0E2841"/>
                    </a:solidFill>
                    <a:latin typeface="+mj-lt"/>
                  </a:rPr>
                  <a:t>assets,</a:t>
                </a:r>
                <a:r>
                  <a:rPr lang="en-SG" dirty="0">
                    <a:solidFill>
                      <a:srgbClr val="202020"/>
                    </a:solidFill>
                    <a:latin typeface="+mj-lt"/>
                  </a:rPr>
                  <a:t> </a:t>
                </a:r>
                <a:r>
                  <a:rPr lang="en-SG" b="0" dirty="0">
                    <a:solidFill>
                      <a:srgbClr val="202020"/>
                    </a:solidFill>
                    <a:latin typeface="+mj-lt"/>
                  </a:rPr>
                  <a:t>we apply a </a:t>
                </a:r>
                <a:r>
                  <a:rPr lang="en-SG" dirty="0">
                    <a:solidFill>
                      <a:srgbClr val="0E2841"/>
                    </a:solidFill>
                    <a:latin typeface="+mj-lt"/>
                  </a:rPr>
                  <a:t>3-step hierarchical heuristic</a:t>
                </a:r>
                <a:r>
                  <a:rPr lang="en-SG" dirty="0">
                    <a:solidFill>
                      <a:srgbClr val="202020"/>
                    </a:solidFill>
                    <a:latin typeface="+mj-lt"/>
                  </a:rPr>
                  <a:t> to map each asset to a band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+mj-lt"/>
                          </a:rPr>
                        </m:ctrlPr>
                      </m:sSubPr>
                      <m:e>
                        <m:r>
                          <a:rPr lang="en-SG" i="1">
                            <a:latin typeface="+mj-lt"/>
                          </a:rPr>
                          <m:t>𝑏</m:t>
                        </m:r>
                      </m:e>
                      <m:sub>
                        <m:r>
                          <a:rPr lang="en-SG" i="1">
                            <a:latin typeface="+mj-lt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SG" dirty="0">
                    <a:solidFill>
                      <a:srgbClr val="202020"/>
                    </a:solidFill>
                    <a:latin typeface="+mj-lt"/>
                  </a:rPr>
                  <a:t>)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SG" dirty="0">
                    <a:solidFill>
                      <a:srgbClr val="202020"/>
                    </a:solidFill>
                    <a:latin typeface="+mj-lt"/>
                  </a:rPr>
                  <a:t>For a given customer (</a:t>
                </a:r>
                <a14:m>
                  <m:oMath xmlns:m="http://schemas.openxmlformats.org/officeDocument/2006/math">
                    <m:r>
                      <a:rPr lang="en-SG" i="1" smtClean="0">
                        <a:latin typeface="+mj-lt"/>
                      </a:rPr>
                      <m:t>𝑢</m:t>
                    </m:r>
                  </m:oMath>
                </a14:m>
                <a:r>
                  <a:rPr lang="en-SG" dirty="0">
                    <a:solidFill>
                      <a:srgbClr val="202020"/>
                    </a:solidFill>
                    <a:latin typeface="+mj-lt"/>
                  </a:rPr>
                  <a:t>) and purchased/recommended asset (</a:t>
                </a:r>
                <a14:m>
                  <m:oMath xmlns:m="http://schemas.openxmlformats.org/officeDocument/2006/math">
                    <m:r>
                      <a:rPr lang="en-SG" i="1">
                        <a:latin typeface="+mj-lt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SG" dirty="0">
                    <a:solidFill>
                      <a:srgbClr val="202020"/>
                    </a:solidFill>
                    <a:latin typeface="+mj-lt"/>
                  </a:rPr>
                  <a:t>):</a:t>
                </a:r>
              </a:p>
              <a:p>
                <a:pPr marL="228600" inden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SG">
                          <a:latin typeface="+mj-lt"/>
                        </a:rPr>
                        <m:t>Pairwise</m:t>
                      </m:r>
                      <m:r>
                        <m:rPr>
                          <m:nor/>
                        </m:rPr>
                        <a:rPr lang="en-SG">
                          <a:latin typeface="+mj-lt"/>
                        </a:rPr>
                        <m:t> </m:t>
                      </m:r>
                      <m:r>
                        <m:rPr>
                          <m:nor/>
                        </m:rPr>
                        <a:rPr lang="en-SG">
                          <a:latin typeface="+mj-lt"/>
                        </a:rPr>
                        <m:t>discordance</m:t>
                      </m:r>
                      <m:r>
                        <m:rPr>
                          <m:nor/>
                        </m:rPr>
                        <a:rPr lang="en-SG">
                          <a:latin typeface="+mj-lt"/>
                        </a:rPr>
                        <m:t>, </m:t>
                      </m:r>
                      <m:r>
                        <a:rPr lang="en-SG" i="1">
                          <a:latin typeface="+mj-lt"/>
                        </a:rPr>
                        <m:t>𝑑</m:t>
                      </m:r>
                      <m:d>
                        <m:dPr>
                          <m:ctrlPr>
                            <a:rPr lang="en-SG" i="1">
                              <a:latin typeface="+mj-lt"/>
                            </a:rPr>
                          </m:ctrlPr>
                        </m:dPr>
                        <m:e>
                          <m:r>
                            <a:rPr lang="en-SG" i="1">
                              <a:latin typeface="+mj-lt"/>
                            </a:rPr>
                            <m:t>𝑢</m:t>
                          </m:r>
                          <m:r>
                            <a:rPr lang="en-SG" i="1">
                              <a:latin typeface="+mj-lt"/>
                            </a:rPr>
                            <m:t>,</m:t>
                          </m:r>
                          <m:r>
                            <a:rPr lang="en-SG" i="1">
                              <a:latin typeface="+mj-lt"/>
                            </a:rPr>
                            <m:t>𝑖</m:t>
                          </m:r>
                        </m:e>
                      </m:d>
                      <m:r>
                        <a:rPr lang="en-SG" i="1">
                          <a:latin typeface="+mj-lt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SG" i="1">
                              <a:latin typeface="+mj-lt"/>
                            </a:rPr>
                          </m:ctrlPr>
                        </m:dPr>
                        <m:e>
                          <m:r>
                            <a:rPr lang="en-SG" i="1">
                              <a:latin typeface="+mj-lt"/>
                            </a:rPr>
                            <m:t> </m:t>
                          </m:r>
                          <m:sSub>
                            <m:sSubPr>
                              <m:ctrlPr>
                                <a:rPr lang="en-SG" i="1">
                                  <a:latin typeface="+mj-lt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latin typeface="+mj-lt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SG" i="1">
                                  <a:latin typeface="+mj-lt"/>
                                </a:rPr>
                                <m:t>𝑢</m:t>
                              </m:r>
                            </m:sub>
                          </m:sSub>
                          <m:r>
                            <a:rPr lang="en-SG" i="1">
                              <a:latin typeface="+mj-lt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SG" i="1">
                                  <a:latin typeface="+mj-lt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latin typeface="+mj-lt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SG" i="1">
                                  <a:latin typeface="+mj-lt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SG" i="1">
                          <a:latin typeface="+mj-lt"/>
                          <a:ea typeface="Cambria Math" panose="02040503050406030204" pitchFamily="18" charset="0"/>
                        </a:rPr>
                        <m:t>∈{</m:t>
                      </m:r>
                      <m:r>
                        <a:rPr lang="en-SG" i="1">
                          <a:latin typeface="+mj-lt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SG" i="1">
                          <a:latin typeface="+mj-lt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SG" i="1">
                          <a:latin typeface="+mj-lt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SG" i="1">
                          <a:latin typeface="+mj-lt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SG" i="1">
                          <a:latin typeface="+mj-lt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SG" i="1">
                          <a:latin typeface="+mj-lt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SG" i="1">
                          <a:latin typeface="+mj-lt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SG" i="1">
                          <a:latin typeface="+mj-lt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SG" dirty="0">
                  <a:latin typeface="+mj-lt"/>
                </a:endParaRPr>
              </a:p>
              <a:p>
                <a:pPr marL="228600" inden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SG">
                          <a:latin typeface="+mj-lt"/>
                        </a:rPr>
                        <m:t>Coherent</m:t>
                      </m:r>
                      <m:r>
                        <m:rPr>
                          <m:nor/>
                        </m:rPr>
                        <a:rPr lang="en-SG">
                          <a:latin typeface="+mj-lt"/>
                        </a:rPr>
                        <m:t> </m:t>
                      </m:r>
                      <m:r>
                        <m:rPr>
                          <m:nor/>
                        </m:rPr>
                        <a:rPr lang="en-SG">
                          <a:latin typeface="+mj-lt"/>
                        </a:rPr>
                        <m:t>pair</m:t>
                      </m:r>
                      <m:r>
                        <a:rPr lang="en-SG" i="1">
                          <a:latin typeface="+mj-lt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en-SG" i="1">
                          <a:latin typeface="+mj-lt"/>
                          <a:ea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SG" i="1">
                          <a:latin typeface="+mj-lt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SG" i="1" smtClean="0">
                          <a:latin typeface="+mj-lt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SG" dirty="0">
                  <a:solidFill>
                    <a:srgbClr val="202020"/>
                  </a:solidFill>
                  <a:latin typeface="+mj-lt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GB" dirty="0">
                    <a:solidFill>
                      <a:srgbClr val="0E2841"/>
                    </a:solidFill>
                    <a:latin typeface="+mj-lt"/>
                  </a:rPr>
                  <a:t>±1 tolerance is an </a:t>
                </a:r>
                <a:r>
                  <a:rPr lang="en-GB" dirty="0">
                    <a:solidFill>
                      <a:srgbClr val="202020"/>
                    </a:solidFill>
                    <a:latin typeface="+mj-lt"/>
                  </a:rPr>
                  <a:t>allowance for borderline suitability</a:t>
                </a:r>
                <a:endParaRPr lang="en-SG" dirty="0">
                  <a:solidFill>
                    <a:srgbClr val="202020"/>
                  </a:solidFill>
                  <a:latin typeface="+mj-lt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SG" dirty="0">
                    <a:solidFill>
                      <a:srgbClr val="202020"/>
                    </a:solidFill>
                    <a:latin typeface="+mj-lt"/>
                  </a:rPr>
                  <a:t>Following this, </a:t>
                </a:r>
                <a:r>
                  <a:rPr lang="en-SG" b="1" dirty="0">
                    <a:solidFill>
                      <a:srgbClr val="202020"/>
                    </a:solidFill>
                    <a:latin typeface="+mj-lt"/>
                  </a:rPr>
                  <a:t>Profile Coherence </a:t>
                </a:r>
                <a:r>
                  <a:rPr lang="en-SG" dirty="0">
                    <a:solidFill>
                      <a:srgbClr val="202020"/>
                    </a:solidFill>
                    <a:latin typeface="+mj-lt"/>
                  </a:rPr>
                  <a:t>metric</a:t>
                </a:r>
                <a:r>
                  <a:rPr lang="en-SG" b="1" dirty="0">
                    <a:solidFill>
                      <a:srgbClr val="202020"/>
                    </a:solidFill>
                    <a:latin typeface="+mj-lt"/>
                  </a:rPr>
                  <a:t> </a:t>
                </a:r>
                <a:r>
                  <a:rPr lang="en-SG" dirty="0">
                    <a:solidFill>
                      <a:srgbClr val="202020"/>
                    </a:solidFill>
                    <a:latin typeface="+mj-lt"/>
                  </a:rPr>
                  <a:t>defined as:</a:t>
                </a:r>
              </a:p>
              <a:p>
                <a:pPr marL="228600" inden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SG" i="1">
                          <a:latin typeface="+mj-lt"/>
                        </a:rPr>
                        <m:t>P</m:t>
                      </m:r>
                      <m:r>
                        <a:rPr lang="en-SG" i="1">
                          <a:latin typeface="+mj-lt"/>
                        </a:rPr>
                        <m:t>𝐶</m:t>
                      </m:r>
                      <m:r>
                        <a:rPr lang="en-SG" i="1">
                          <a:latin typeface="+mj-lt"/>
                        </a:rPr>
                        <m:t>@</m:t>
                      </m:r>
                      <m:r>
                        <a:rPr lang="en-SG" i="1">
                          <a:latin typeface="+mj-lt"/>
                        </a:rPr>
                        <m:t>𝑘</m:t>
                      </m:r>
                      <m:d>
                        <m:dPr>
                          <m:ctrlPr>
                            <a:rPr lang="en-SG" i="1">
                              <a:latin typeface="+mj-lt"/>
                            </a:rPr>
                          </m:ctrlPr>
                        </m:dPr>
                        <m:e>
                          <m:r>
                            <a:rPr lang="en-SG" i="1">
                              <a:latin typeface="+mj-lt"/>
                            </a:rPr>
                            <m:t>𝑢</m:t>
                          </m:r>
                        </m:e>
                      </m:d>
                      <m:r>
                        <a:rPr lang="en-SG" i="1">
                          <a:latin typeface="+mj-lt"/>
                        </a:rPr>
                        <m:t>=</m:t>
                      </m:r>
                      <m:f>
                        <m:fPr>
                          <m:ctrlPr>
                            <a:rPr lang="en-SG" i="1">
                              <a:latin typeface="+mj-lt"/>
                            </a:rPr>
                          </m:ctrlPr>
                        </m:fPr>
                        <m:num>
                          <m:r>
                            <a:rPr lang="en-SG" i="1">
                              <a:latin typeface="+mj-lt"/>
                            </a:rPr>
                            <m:t>1</m:t>
                          </m:r>
                        </m:num>
                        <m:den>
                          <m:r>
                            <a:rPr lang="en-SG" i="1">
                              <a:latin typeface="+mj-lt"/>
                            </a:rPr>
                            <m:t>𝑘</m:t>
                          </m:r>
                        </m:den>
                      </m:f>
                      <m:r>
                        <a:rPr lang="en-SG" i="1">
                          <a:latin typeface="+mj-lt"/>
                        </a:rPr>
                        <m:t>(</m:t>
                      </m:r>
                      <m:r>
                        <m:rPr>
                          <m:nor/>
                        </m:rPr>
                        <a:rPr lang="en-SG">
                          <a:latin typeface="+mj-lt"/>
                        </a:rPr>
                        <m:t>Number</m:t>
                      </m:r>
                      <m:r>
                        <m:rPr>
                          <m:nor/>
                        </m:rPr>
                        <a:rPr lang="en-SG">
                          <a:latin typeface="+mj-lt"/>
                        </a:rPr>
                        <m:t> </m:t>
                      </m:r>
                      <m:r>
                        <m:rPr>
                          <m:nor/>
                        </m:rPr>
                        <a:rPr lang="en-SG">
                          <a:latin typeface="+mj-lt"/>
                        </a:rPr>
                        <m:t>of</m:t>
                      </m:r>
                      <m:r>
                        <m:rPr>
                          <m:nor/>
                        </m:rPr>
                        <a:rPr lang="en-SG">
                          <a:latin typeface="+mj-lt"/>
                        </a:rPr>
                        <m:t> </m:t>
                      </m:r>
                      <m:r>
                        <m:rPr>
                          <m:nor/>
                        </m:rPr>
                        <a:rPr lang="en-SG">
                          <a:latin typeface="+mj-lt"/>
                        </a:rPr>
                        <m:t>coherent</m:t>
                      </m:r>
                      <m:r>
                        <m:rPr>
                          <m:nor/>
                        </m:rPr>
                        <a:rPr lang="en-SG">
                          <a:latin typeface="+mj-lt"/>
                        </a:rPr>
                        <m:t> </m:t>
                      </m:r>
                      <m:r>
                        <m:rPr>
                          <m:nor/>
                        </m:rPr>
                        <a:rPr lang="en-SG">
                          <a:latin typeface="+mj-lt"/>
                        </a:rPr>
                        <m:t>pairs</m:t>
                      </m:r>
                      <m:r>
                        <a:rPr lang="en-SG" i="1">
                          <a:latin typeface="+mj-lt"/>
                        </a:rPr>
                        <m:t>:</m:t>
                      </m:r>
                      <m:r>
                        <a:rPr lang="en-SG" i="1">
                          <a:latin typeface="+mj-lt"/>
                        </a:rPr>
                        <m:t>𝑑</m:t>
                      </m:r>
                      <m:d>
                        <m:dPr>
                          <m:ctrlPr>
                            <a:rPr lang="en-SG" i="1">
                              <a:latin typeface="+mj-lt"/>
                            </a:rPr>
                          </m:ctrlPr>
                        </m:dPr>
                        <m:e>
                          <m:r>
                            <a:rPr lang="en-SG" i="1">
                              <a:latin typeface="+mj-lt"/>
                            </a:rPr>
                            <m:t>𝑢</m:t>
                          </m:r>
                          <m:r>
                            <a:rPr lang="en-SG" i="1">
                              <a:latin typeface="+mj-lt"/>
                            </a:rPr>
                            <m:t>,</m:t>
                          </m:r>
                          <m:r>
                            <a:rPr lang="en-SG" i="1">
                              <a:latin typeface="+mj-lt"/>
                            </a:rPr>
                            <m:t>𝑖</m:t>
                          </m:r>
                        </m:e>
                      </m:d>
                      <m:r>
                        <a:rPr lang="en-SG" i="1">
                          <a:latin typeface="+mj-lt"/>
                        </a:rPr>
                        <m:t>≤</m:t>
                      </m:r>
                      <m:r>
                        <a:rPr lang="en-SG" i="1">
                          <a:latin typeface="+mj-lt"/>
                        </a:rPr>
                        <m:t>1</m:t>
                      </m:r>
                      <m:r>
                        <a:rPr lang="en-SG" i="1">
                          <a:latin typeface="+mj-lt"/>
                        </a:rPr>
                        <m:t>)</m:t>
                      </m:r>
                    </m:oMath>
                  </m:oMathPara>
                </a14:m>
                <a:endParaRPr lang="en-SG" dirty="0">
                  <a:latin typeface="+mj-lt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endParaRPr lang="en-SG" dirty="0">
                  <a:solidFill>
                    <a:srgbClr val="202020"/>
                  </a:solidFill>
                  <a:latin typeface="+mj-lt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endParaRPr lang="en-SG" dirty="0">
                  <a:solidFill>
                    <a:srgbClr val="20202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502920" y="1325880"/>
                <a:ext cx="8138160" cy="334772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B0231-C5F0-C8D0-AD04-F0F9AE1809B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 dirty="0">
                <a:latin typeface="+mj-lt"/>
              </a:rPr>
              <a:t>github.com/</a:t>
            </a:r>
            <a:r>
              <a:rPr lang="en-SG" dirty="0" err="1">
                <a:latin typeface="+mj-lt"/>
              </a:rPr>
              <a:t>Samthesimpsons</a:t>
            </a:r>
            <a:r>
              <a:rPr lang="en-SG" dirty="0">
                <a:latin typeface="+mj-lt"/>
              </a:rPr>
              <a:t>/Risk-Based-Segmentation-for-FAR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50145C6-281A-7AD4-9971-DB3CB679C368}"/>
              </a:ext>
            </a:extLst>
          </p:cNvPr>
          <p:cNvGrpSpPr/>
          <p:nvPr/>
        </p:nvGrpSpPr>
        <p:grpSpPr>
          <a:xfrm>
            <a:off x="1047929" y="1689807"/>
            <a:ext cx="4315968" cy="433108"/>
            <a:chOff x="744292" y="1515303"/>
            <a:chExt cx="4315968" cy="433108"/>
          </a:xfrm>
        </p:grpSpPr>
        <p:sp>
          <p:nvSpPr>
            <p:cNvPr id="14" name="Shape 13">
              <a:extLst>
                <a:ext uri="{FF2B5EF4-FFF2-40B4-BE49-F238E27FC236}">
                  <a16:creationId xmlns:a16="http://schemas.microsoft.com/office/drawing/2014/main" id="{F8863392-05B4-3B97-FF38-61F4DB0DBEEA}"/>
                </a:ext>
              </a:extLst>
            </p:cNvPr>
            <p:cNvSpPr/>
            <p:nvPr/>
          </p:nvSpPr>
          <p:spPr>
            <a:xfrm>
              <a:off x="744292" y="1515303"/>
              <a:ext cx="996696" cy="433108"/>
            </a:xfrm>
            <a:prstGeom prst="roundRect">
              <a:avLst/>
            </a:prstGeom>
            <a:solidFill>
              <a:srgbClr val="2EA44F"/>
            </a:solidFill>
            <a:ln w="7620">
              <a:solidFill>
                <a:srgbClr val="2EA44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SG">
                <a:latin typeface="+mj-lt"/>
              </a:endParaRPr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12CBA6DE-789D-AA29-9668-4CE9C1F80E2D}"/>
                </a:ext>
              </a:extLst>
            </p:cNvPr>
            <p:cNvSpPr/>
            <p:nvPr/>
          </p:nvSpPr>
          <p:spPr>
            <a:xfrm>
              <a:off x="817444" y="1566974"/>
              <a:ext cx="2743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+mj-lt"/>
                  <a:ea typeface="Inter Display" pitchFamily="34" charset="-122"/>
                  <a:cs typeface="Inter Display" pitchFamily="34" charset="-120"/>
                </a:rPr>
                <a:t>0 to</a:t>
              </a:r>
              <a:endParaRPr lang="en-US" sz="1000" dirty="0">
                <a:latin typeface="+mj-lt"/>
              </a:endParaRPr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06B29774-820E-AAE0-5BDE-604926DBDC63}"/>
                </a:ext>
              </a:extLst>
            </p:cNvPr>
            <p:cNvSpPr/>
            <p:nvPr/>
          </p:nvSpPr>
          <p:spPr>
            <a:xfrm>
              <a:off x="799156" y="1743759"/>
              <a:ext cx="8869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Conservative</a:t>
              </a:r>
              <a:endParaRPr lang="en-US" sz="800" dirty="0">
                <a:latin typeface="+mj-lt"/>
              </a:endParaRPr>
            </a:p>
          </p:txBody>
        </p:sp>
        <p:sp>
          <p:nvSpPr>
            <p:cNvPr id="20" name="Shape 16">
              <a:extLst>
                <a:ext uri="{FF2B5EF4-FFF2-40B4-BE49-F238E27FC236}">
                  <a16:creationId xmlns:a16="http://schemas.microsoft.com/office/drawing/2014/main" id="{21A0F28A-F55B-7CC9-EF13-0BB09437F0B1}"/>
                </a:ext>
              </a:extLst>
            </p:cNvPr>
            <p:cNvSpPr/>
            <p:nvPr/>
          </p:nvSpPr>
          <p:spPr>
            <a:xfrm>
              <a:off x="1850716" y="1515303"/>
              <a:ext cx="996696" cy="433108"/>
            </a:xfrm>
            <a:prstGeom prst="roundRect">
              <a:avLst/>
            </a:prstGeom>
            <a:solidFill>
              <a:srgbClr val="F2B84B"/>
            </a:solidFill>
            <a:ln w="7620">
              <a:solidFill>
                <a:srgbClr val="F2B84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SG">
                <a:latin typeface="+mj-lt"/>
              </a:endParaRPr>
            </a:p>
          </p:txBody>
        </p:sp>
        <p:sp>
          <p:nvSpPr>
            <p:cNvPr id="22" name="Text 17">
              <a:extLst>
                <a:ext uri="{FF2B5EF4-FFF2-40B4-BE49-F238E27FC236}">
                  <a16:creationId xmlns:a16="http://schemas.microsoft.com/office/drawing/2014/main" id="{42B5FAE9-7FA8-9B9E-1897-54E258E5923B}"/>
                </a:ext>
              </a:extLst>
            </p:cNvPr>
            <p:cNvSpPr/>
            <p:nvPr/>
          </p:nvSpPr>
          <p:spPr>
            <a:xfrm>
              <a:off x="1923868" y="1566974"/>
              <a:ext cx="2743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+mj-lt"/>
                  <a:ea typeface="Inter Display" pitchFamily="34" charset="-122"/>
                  <a:cs typeface="Inter Display" pitchFamily="34" charset="-120"/>
                </a:rPr>
                <a:t>1 to</a:t>
              </a:r>
              <a:endParaRPr lang="en-US" sz="1000" dirty="0">
                <a:latin typeface="+mj-lt"/>
              </a:endParaRPr>
            </a:p>
          </p:txBody>
        </p:sp>
        <p:sp>
          <p:nvSpPr>
            <p:cNvPr id="24" name="Text 18">
              <a:extLst>
                <a:ext uri="{FF2B5EF4-FFF2-40B4-BE49-F238E27FC236}">
                  <a16:creationId xmlns:a16="http://schemas.microsoft.com/office/drawing/2014/main" id="{D06120AC-0A67-78A1-118A-FD2E1F3E1F49}"/>
                </a:ext>
              </a:extLst>
            </p:cNvPr>
            <p:cNvSpPr/>
            <p:nvPr/>
          </p:nvSpPr>
          <p:spPr>
            <a:xfrm>
              <a:off x="1905580" y="1743759"/>
              <a:ext cx="8869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Income</a:t>
              </a:r>
              <a:endParaRPr lang="en-US" sz="800" dirty="0">
                <a:latin typeface="+mj-lt"/>
              </a:endParaRPr>
            </a:p>
          </p:txBody>
        </p:sp>
        <p:sp>
          <p:nvSpPr>
            <p:cNvPr id="26" name="Shape 19">
              <a:extLst>
                <a:ext uri="{FF2B5EF4-FFF2-40B4-BE49-F238E27FC236}">
                  <a16:creationId xmlns:a16="http://schemas.microsoft.com/office/drawing/2014/main" id="{40DFE1CF-CFA6-EEEE-2906-CA121B5D65CD}"/>
                </a:ext>
              </a:extLst>
            </p:cNvPr>
            <p:cNvSpPr/>
            <p:nvPr/>
          </p:nvSpPr>
          <p:spPr>
            <a:xfrm>
              <a:off x="2957140" y="1515303"/>
              <a:ext cx="996696" cy="433108"/>
            </a:xfrm>
            <a:prstGeom prst="roundRect">
              <a:avLst/>
            </a:prstGeom>
            <a:solidFill>
              <a:srgbClr val="F59E0B"/>
            </a:solidFill>
            <a:ln w="7620">
              <a:solidFill>
                <a:srgbClr val="F59E0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SG">
                <a:latin typeface="+mj-lt"/>
              </a:endParaRPr>
            </a:p>
          </p:txBody>
        </p:sp>
        <p:sp>
          <p:nvSpPr>
            <p:cNvPr id="28" name="Text 20">
              <a:extLst>
                <a:ext uri="{FF2B5EF4-FFF2-40B4-BE49-F238E27FC236}">
                  <a16:creationId xmlns:a16="http://schemas.microsoft.com/office/drawing/2014/main" id="{B42D6F22-8AD6-C856-279D-BCD16CE88C44}"/>
                </a:ext>
              </a:extLst>
            </p:cNvPr>
            <p:cNvSpPr/>
            <p:nvPr/>
          </p:nvSpPr>
          <p:spPr>
            <a:xfrm>
              <a:off x="3030292" y="1566974"/>
              <a:ext cx="2743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+mj-lt"/>
                  <a:ea typeface="Inter Display" pitchFamily="34" charset="-122"/>
                  <a:cs typeface="Inter Display" pitchFamily="34" charset="-120"/>
                </a:rPr>
                <a:t>2 to</a:t>
              </a:r>
              <a:endParaRPr lang="en-US" sz="1000" dirty="0">
                <a:latin typeface="+mj-lt"/>
              </a:endParaRPr>
            </a:p>
          </p:txBody>
        </p:sp>
        <p:sp>
          <p:nvSpPr>
            <p:cNvPr id="30" name="Text 21">
              <a:extLst>
                <a:ext uri="{FF2B5EF4-FFF2-40B4-BE49-F238E27FC236}">
                  <a16:creationId xmlns:a16="http://schemas.microsoft.com/office/drawing/2014/main" id="{9F1D4CE2-43FF-68BA-D33F-A237211B23E1}"/>
                </a:ext>
              </a:extLst>
            </p:cNvPr>
            <p:cNvSpPr/>
            <p:nvPr/>
          </p:nvSpPr>
          <p:spPr>
            <a:xfrm>
              <a:off x="3012004" y="1743759"/>
              <a:ext cx="8869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Balanced</a:t>
              </a:r>
              <a:endParaRPr lang="en-US" sz="800" dirty="0">
                <a:latin typeface="+mj-lt"/>
              </a:endParaRPr>
            </a:p>
          </p:txBody>
        </p:sp>
        <p:sp>
          <p:nvSpPr>
            <p:cNvPr id="32" name="Shape 22">
              <a:extLst>
                <a:ext uri="{FF2B5EF4-FFF2-40B4-BE49-F238E27FC236}">
                  <a16:creationId xmlns:a16="http://schemas.microsoft.com/office/drawing/2014/main" id="{6D9B28BC-1608-FB81-710C-F695158BA83D}"/>
                </a:ext>
              </a:extLst>
            </p:cNvPr>
            <p:cNvSpPr/>
            <p:nvPr/>
          </p:nvSpPr>
          <p:spPr>
            <a:xfrm>
              <a:off x="4063564" y="1515303"/>
              <a:ext cx="996696" cy="433108"/>
            </a:xfrm>
            <a:prstGeom prst="roundRect">
              <a:avLst/>
            </a:prstGeom>
            <a:solidFill>
              <a:srgbClr val="D65B4A"/>
            </a:solidFill>
            <a:ln w="7620">
              <a:solidFill>
                <a:srgbClr val="D65B4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SG">
                <a:latin typeface="+mj-lt"/>
              </a:endParaRPr>
            </a:p>
          </p:txBody>
        </p:sp>
        <p:sp>
          <p:nvSpPr>
            <p:cNvPr id="34" name="Text 23">
              <a:extLst>
                <a:ext uri="{FF2B5EF4-FFF2-40B4-BE49-F238E27FC236}">
                  <a16:creationId xmlns:a16="http://schemas.microsoft.com/office/drawing/2014/main" id="{C1743ACA-B1C8-1634-E7A8-8FEE37471ECC}"/>
                </a:ext>
              </a:extLst>
            </p:cNvPr>
            <p:cNvSpPr/>
            <p:nvPr/>
          </p:nvSpPr>
          <p:spPr>
            <a:xfrm>
              <a:off x="4136716" y="1566974"/>
              <a:ext cx="2743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+mj-lt"/>
                  <a:ea typeface="Inter Display" pitchFamily="34" charset="-122"/>
                  <a:cs typeface="Inter Display" pitchFamily="34" charset="-120"/>
                </a:rPr>
                <a:t>3 to</a:t>
              </a:r>
              <a:endParaRPr lang="en-US" sz="1000" dirty="0">
                <a:latin typeface="+mj-lt"/>
              </a:endParaRPr>
            </a:p>
          </p:txBody>
        </p:sp>
        <p:sp>
          <p:nvSpPr>
            <p:cNvPr id="36" name="Text 24">
              <a:extLst>
                <a:ext uri="{FF2B5EF4-FFF2-40B4-BE49-F238E27FC236}">
                  <a16:creationId xmlns:a16="http://schemas.microsoft.com/office/drawing/2014/main" id="{C000A3E3-80BA-369F-171C-6FA2FCD4E9B9}"/>
                </a:ext>
              </a:extLst>
            </p:cNvPr>
            <p:cNvSpPr/>
            <p:nvPr/>
          </p:nvSpPr>
          <p:spPr>
            <a:xfrm>
              <a:off x="4118428" y="1743759"/>
              <a:ext cx="8869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Aggressive</a:t>
              </a:r>
              <a:endParaRPr lang="en-US" sz="800" dirty="0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 dirty="0">
                <a:solidFill>
                  <a:srgbClr val="156082"/>
                </a:solidFill>
              </a:rPr>
              <a:t>Discordance is prevalent</a:t>
            </a:r>
            <a:r>
              <a:rPr lang="en-SG" sz="2000" b="1" dirty="0">
                <a:solidFill>
                  <a:srgbClr val="156082"/>
                </a:solidFill>
              </a:rPr>
              <a:t> </a:t>
            </a:r>
            <a:r>
              <a:rPr lang="en-GB" sz="2000" dirty="0">
                <a:solidFill>
                  <a:srgbClr val="156082"/>
                </a:solidFill>
              </a:rPr>
              <a:t>and it is a customer-level trait</a:t>
            </a:r>
            <a:endParaRPr sz="2000" b="1" dirty="0">
              <a:solidFill>
                <a:srgbClr val="156082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12165-9E5D-094E-F3AC-AB81D53FB7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>
                <a:latin typeface="+mj-lt"/>
              </a:rPr>
              <a:t>github.com/Samthesimpsons/Risk-Based-Segmentation-for-FAR</a:t>
            </a:r>
          </a:p>
        </p:txBody>
      </p:sp>
      <p:pic>
        <p:nvPicPr>
          <p:cNvPr id="9" name="Picture 8" descr="self_discordance.png">
            <a:extLst>
              <a:ext uri="{FF2B5EF4-FFF2-40B4-BE49-F238E27FC236}">
                <a16:creationId xmlns:a16="http://schemas.microsoft.com/office/drawing/2014/main" id="{1AE00C0E-945A-6E90-4BE9-4FAE7EEAF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095" y="1790769"/>
            <a:ext cx="4493809" cy="25201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FA0D524-0E32-D5AA-DEDA-3F9E58703C5A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502920" y="1325880"/>
                <a:ext cx="8138160" cy="2194560"/>
              </a:xfrm>
            </p:spPr>
            <p:txBody>
              <a:bodyPr wrap="square">
                <a:normAutofit/>
              </a:bodyPr>
              <a:lstStyle/>
              <a:p>
                <a:pPr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GB" dirty="0">
                    <a:solidFill>
                      <a:srgbClr val="0E2841"/>
                    </a:solidFill>
                    <a:latin typeface="+mj-lt"/>
                  </a:rPr>
                  <a:t>Additionally, a Hartigan's dip test of </a:t>
                </a:r>
                <a14:m>
                  <m:oMath xmlns:m="http://schemas.openxmlformats.org/officeDocument/2006/math">
                    <m:r>
                      <a:rPr lang="en-SG" b="0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SG" b="0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b="0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</a:rPr>
                      <m:t>𝑣𝑎𝑙𝑢𝑒</m:t>
                    </m:r>
                    <m:r>
                      <a:rPr lang="en-GB" i="1" dirty="0" smtClean="0">
                        <a:solidFill>
                          <a:srgbClr val="0E2841"/>
                        </a:solidFill>
                        <a:latin typeface="+mj-lt"/>
                      </a:rPr>
                      <m:t>&lt;</m:t>
                    </m:r>
                    <m:r>
                      <a:rPr lang="en-GB" i="1" dirty="0" smtClean="0">
                        <a:solidFill>
                          <a:srgbClr val="0E2841"/>
                        </a:solidFill>
                        <a:latin typeface="+mj-lt"/>
                      </a:rPr>
                      <m:t>10</m:t>
                    </m:r>
                    <m:r>
                      <a:rPr lang="en-GB" i="1" dirty="0" smtClean="0">
                        <a:solidFill>
                          <a:srgbClr val="0E2841"/>
                        </a:solidFill>
                        <a:latin typeface="+mj-lt"/>
                      </a:rPr>
                      <m:t>⁻</m:t>
                    </m:r>
                    <m:r>
                      <a:rPr lang="en-GB" i="1" dirty="0" smtClean="0">
                        <a:solidFill>
                          <a:srgbClr val="0E2841"/>
                        </a:solidFill>
                        <a:latin typeface="+mj-lt"/>
                      </a:rPr>
                      <m:t>¹⁵</m:t>
                    </m:r>
                    <m:r>
                      <a:rPr lang="en-GB" i="1" dirty="0" smtClean="0">
                        <a:solidFill>
                          <a:srgbClr val="0E2841"/>
                        </a:solidFill>
                        <a:latin typeface="+mj-lt"/>
                      </a:rPr>
                      <m:t> </m:t>
                    </m:r>
                  </m:oMath>
                </a14:m>
                <a:r>
                  <a:rPr lang="en-GB" dirty="0">
                    <a:solidFill>
                      <a:srgbClr val="0E2841"/>
                    </a:solidFill>
                    <a:latin typeface="+mj-lt"/>
                  </a:rPr>
                  <a:t>rejects unimodality</a:t>
                </a:r>
                <a:endParaRPr lang="en-SG" dirty="0">
                  <a:solidFill>
                    <a:srgbClr val="202020"/>
                  </a:solidFill>
                  <a:latin typeface="+mj-lt"/>
                </a:endParaRPr>
              </a:p>
              <a:p>
                <a:pPr>
                  <a:spcBef>
                    <a:spcPts val="200"/>
                  </a:spcBef>
                  <a:spcAft>
                    <a:spcPts val="600"/>
                  </a:spcAft>
                </a:pPr>
                <a:endParaRPr lang="en-SG" dirty="0">
                  <a:solidFill>
                    <a:srgbClr val="20202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FA0D524-0E32-D5AA-DEDA-3F9E58703C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502920" y="1325880"/>
                <a:ext cx="8138160" cy="2194560"/>
              </a:xfrm>
              <a:blipFill>
                <a:blip r:embed="rId4"/>
                <a:stretch>
                  <a:fillRect t="-55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dirty="0">
                <a:solidFill>
                  <a:srgbClr val="156082"/>
                </a:solidFill>
              </a:rPr>
              <a:t>Discordance is not</a:t>
            </a:r>
            <a:r>
              <a:rPr sz="2000" b="1" dirty="0">
                <a:solidFill>
                  <a:srgbClr val="156082"/>
                </a:solidFill>
              </a:rPr>
              <a:t> a single-year artefact</a:t>
            </a:r>
          </a:p>
        </p:txBody>
      </p:sp>
      <p:pic>
        <p:nvPicPr>
          <p:cNvPr id="4" name="Picture 3" descr="yearly_discord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601" y="2035829"/>
            <a:ext cx="4580797" cy="253069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08E04-226E-8626-1514-1B070233C8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>
                <a:latin typeface="+mj-lt"/>
              </a:rPr>
              <a:t>github.com/Samthesimpsons/Risk-Based-Segmentation-for-FAR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F3B52A8-3E61-FF61-E5F8-7F615345C72D}"/>
              </a:ext>
            </a:extLst>
          </p:cNvPr>
          <p:cNvSpPr txBox="1">
            <a:spLocks/>
          </p:cNvSpPr>
          <p:nvPr/>
        </p:nvSpPr>
        <p:spPr>
          <a:xfrm>
            <a:off x="502920" y="1325880"/>
            <a:ext cx="81381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GB" dirty="0">
                <a:solidFill>
                  <a:srgbClr val="0E2841"/>
                </a:solidFill>
                <a:latin typeface="+mj-lt"/>
              </a:rPr>
              <a:t>MiFID II took force 2018-01-03, the exact start of FAR-Trans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GB" dirty="0">
                <a:solidFill>
                  <a:srgbClr val="0E2841"/>
                </a:solidFill>
                <a:latin typeface="+mj-lt"/>
              </a:rPr>
              <a:t>Higher 2018 value hypothesized to be a transition-effect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endParaRPr lang="en-GB" dirty="0">
              <a:solidFill>
                <a:srgbClr val="0E2841"/>
              </a:solidFill>
              <a:latin typeface="+mj-lt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endParaRPr lang="en-SG" dirty="0">
              <a:solidFill>
                <a:srgbClr val="202020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b="1" dirty="0">
                <a:solidFill>
                  <a:srgbClr val="156082"/>
                </a:solidFill>
              </a:rPr>
              <a:t>Regression study</a:t>
            </a:r>
            <a:endParaRPr sz="2000" b="1" dirty="0">
              <a:solidFill>
                <a:srgbClr val="15608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type="body" idx="2"/>
              </p:nvPr>
            </p:nvSpPr>
            <p:spPr>
              <a:xfrm>
                <a:off x="502920" y="1325879"/>
                <a:ext cx="8138160" cy="3441383"/>
              </a:xfrm>
            </p:spPr>
            <p:txBody>
              <a:bodyPr wrap="square"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GB" b="0" dirty="0">
                    <a:solidFill>
                      <a:srgbClr val="202020"/>
                    </a:solidFill>
                    <a:latin typeface="+mj-lt"/>
                  </a:rPr>
                  <a:t>Transaction-level </a:t>
                </a:r>
                <a:r>
                  <a:rPr lang="en-GB" b="1" dirty="0">
                    <a:solidFill>
                      <a:srgbClr val="0E2841"/>
                    </a:solidFill>
                    <a:latin typeface="+mj-lt"/>
                  </a:rPr>
                  <a:t>OLS</a:t>
                </a:r>
                <a:r>
                  <a:rPr lang="en-GB" b="0" dirty="0">
                    <a:solidFill>
                      <a:srgbClr val="202020"/>
                    </a:solidFill>
                    <a:latin typeface="+mj-lt"/>
                  </a:rPr>
                  <a:t> with </a:t>
                </a:r>
                <a:r>
                  <a:rPr lang="en-GB" dirty="0">
                    <a:solidFill>
                      <a:srgbClr val="202020"/>
                    </a:solidFill>
                    <a:latin typeface="+mj-lt"/>
                  </a:rPr>
                  <a:t>2-</a:t>
                </a:r>
                <a:r>
                  <a:rPr lang="en-GB" b="0" dirty="0">
                    <a:solidFill>
                      <a:srgbClr val="202020"/>
                    </a:solidFill>
                    <a:latin typeface="+mj-lt"/>
                  </a:rPr>
                  <a:t>sided </a:t>
                </a:r>
                <a:r>
                  <a:rPr lang="en-GB" dirty="0">
                    <a:latin typeface="+mj-lt"/>
                  </a:rPr>
                  <a:t>hypothesis test (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+mj-lt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b="0" i="1" smtClean="0">
                        <a:latin typeface="+mj-lt"/>
                        <a:ea typeface="Cambria Math" panose="02040503050406030204" pitchFamily="18" charset="0"/>
                      </a:rPr>
                      <m:t>=</m:t>
                    </m:r>
                    <m:r>
                      <a:rPr lang="en-SG" b="0" i="1" smtClean="0">
                        <a:latin typeface="+mj-lt"/>
                        <a:ea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n-GB" dirty="0">
                    <a:latin typeface="+mj-lt"/>
                  </a:rPr>
                  <a:t>), clustered at customer level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GB" dirty="0">
                    <a:latin typeface="+mj-lt"/>
                  </a:rPr>
                  <a:t>For each term,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b="0" i="1" dirty="0" smtClean="0">
                            <a:latin typeface="+mj-lt"/>
                          </a:rPr>
                        </m:ctrlPr>
                      </m:sSubPr>
                      <m:e>
                        <m:r>
                          <a:rPr lang="en-SG" b="0" i="1" dirty="0" smtClean="0">
                            <a:latin typeface="+mj-lt"/>
                          </a:rPr>
                          <m:t>𝐻</m:t>
                        </m:r>
                      </m:e>
                      <m:sub>
                        <m:r>
                          <a:rPr lang="en-SG" b="0" i="1" dirty="0" smtClean="0">
                            <a:latin typeface="+mj-lt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>
                    <a:latin typeface="+mj-lt"/>
                  </a:rPr>
                  <a:t>(coefficient = 0) implies no conditional effect on the realised return</a:t>
                </a:r>
              </a:p>
              <a:p>
                <a:pPr marL="971550" lvl="1" indent="-28575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GB" sz="1200" dirty="0">
                  <a:latin typeface="+mj-lt"/>
                </a:endParaRPr>
              </a:p>
              <a:p>
                <a:pPr marL="971550" lvl="1" indent="-28575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GB" sz="1200" dirty="0">
                  <a:latin typeface="+mj-lt"/>
                </a:endParaRPr>
              </a:p>
              <a:p>
                <a:pPr marL="971550" lvl="1" indent="-28575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GB" sz="1200" dirty="0">
                  <a:latin typeface="+mj-lt"/>
                </a:endParaRPr>
              </a:p>
              <a:p>
                <a:pPr marL="685800" lvl="1" inden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endParaRPr lang="en-GB" sz="1200" dirty="0">
                  <a:latin typeface="+mj-lt"/>
                </a:endParaRPr>
              </a:p>
              <a:p>
                <a:pPr marL="514350" indent="-28575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GB" dirty="0">
                    <a:solidFill>
                      <a:srgbClr val="202020"/>
                    </a:solidFill>
                    <a:latin typeface="+mj-lt"/>
                  </a:rPr>
                  <a:t>Raw return gap (difference between coherent and discoherent buys): +3.31 pp</a:t>
                </a:r>
              </a:p>
              <a:p>
                <a:pPr marL="514350" indent="-28575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+mj-lt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+mj-lt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SG" i="1">
                            <a:latin typeface="+mj-lt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b="0" i="1" smtClean="0">
                        <a:latin typeface="+mj-lt"/>
                        <a:ea typeface="Cambria Math" panose="02040503050406030204" pitchFamily="18" charset="0"/>
                      </a:rPr>
                      <m:t>=0.0294</m:t>
                    </m:r>
                  </m:oMath>
                </a14:m>
                <a:r>
                  <a:rPr lang="en-GB" dirty="0">
                    <a:solidFill>
                      <a:srgbClr val="202020"/>
                    </a:solidFill>
                    <a:latin typeface="+mj-lt"/>
                  </a:rPr>
                  <a:t>: Implies controls absorb only ~11% of the raw gap</a:t>
                </a:r>
              </a:p>
              <a:p>
                <a:pPr marL="514350" indent="-28575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solidFill>
                              <a:srgbClr val="0E2841"/>
                            </a:solidFill>
                            <a:latin typeface="+mj-lt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rgbClr val="0E2841"/>
                            </a:solidFill>
                            <a:latin typeface="+mj-lt"/>
                          </a:rPr>
                          <m:t>𝑝</m:t>
                        </m:r>
                      </m:e>
                      <m:sub>
                        <m:r>
                          <a:rPr lang="en-SG" b="0" i="1" dirty="0" smtClean="0">
                            <a:solidFill>
                              <a:srgbClr val="0E2841"/>
                            </a:solidFill>
                            <a:latin typeface="+mj-lt"/>
                          </a:rPr>
                          <m:t>𝑐𝑜h𝑒𝑟𝑒𝑛𝑐𝑒</m:t>
                        </m:r>
                      </m:sub>
                    </m:sSub>
                    <m:r>
                      <a:rPr lang="en-GB" b="0" i="1" dirty="0" smtClean="0">
                        <a:solidFill>
                          <a:srgbClr val="0E2841"/>
                        </a:solidFill>
                        <a:latin typeface="+mj-lt"/>
                      </a:rPr>
                      <m:t> = </m:t>
                    </m:r>
                    <m:r>
                      <a:rPr lang="en-GB" b="0" i="1" dirty="0">
                        <a:solidFill>
                          <a:srgbClr val="0E2841"/>
                        </a:solidFill>
                        <a:latin typeface="+mj-lt"/>
                      </a:rPr>
                      <m:t>2.3×</m:t>
                    </m:r>
                    <m:sSup>
                      <m:sSupPr>
                        <m:ctrlPr>
                          <a:rPr lang="en-GB" b="0" i="1" dirty="0">
                            <a:solidFill>
                              <a:srgbClr val="0E2841"/>
                            </a:solidFill>
                            <a:latin typeface="+mj-lt"/>
                          </a:rPr>
                        </m:ctrlPr>
                      </m:sSupPr>
                      <m:e>
                        <m:r>
                          <a:rPr lang="en-GB" b="0" i="1" dirty="0">
                            <a:solidFill>
                              <a:srgbClr val="0E2841"/>
                            </a:solidFill>
                            <a:latin typeface="+mj-lt"/>
                          </a:rPr>
                          <m:t>10</m:t>
                        </m:r>
                      </m:e>
                      <m:sup>
                        <m:r>
                          <a:rPr lang="en-GB" b="0" i="1" dirty="0">
                            <a:solidFill>
                              <a:srgbClr val="0E2841"/>
                            </a:solidFill>
                            <a:latin typeface="+mj-lt"/>
                          </a:rPr>
                          <m:t>−13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rgbClr val="202020"/>
                    </a:solidFill>
                    <a:latin typeface="+mj-lt"/>
                  </a:rPr>
                  <a:t>, hence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 dirty="0">
                            <a:latin typeface="+mj-lt"/>
                          </a:rPr>
                        </m:ctrlPr>
                      </m:sSubPr>
                      <m:e>
                        <m:r>
                          <a:rPr lang="en-SG" i="1" dirty="0">
                            <a:latin typeface="+mj-lt"/>
                          </a:rPr>
                          <m:t>𝐻</m:t>
                        </m:r>
                      </m:e>
                      <m:sub>
                        <m:r>
                          <a:rPr lang="en-SG" i="1" dirty="0">
                            <a:latin typeface="+mj-lt"/>
                          </a:rPr>
                          <m:t>0</m:t>
                        </m:r>
                      </m:sub>
                    </m:sSub>
                  </m:oMath>
                </a14:m>
                <a:endParaRPr lang="en-GB" b="1" dirty="0">
                  <a:solidFill>
                    <a:srgbClr val="156082"/>
                  </a:solidFill>
                  <a:latin typeface="+mj-lt"/>
                </a:endParaRPr>
              </a:p>
              <a:p>
                <a:pPr marL="228600" inden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buNone/>
                </a:pPr>
                <a:endParaRPr b="0" dirty="0">
                  <a:solidFill>
                    <a:srgbClr val="20202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502920" y="1325879"/>
                <a:ext cx="8138160" cy="344138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1AFF36-32C6-6036-BC39-4540982FD4D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>
                <a:latin typeface="+mj-lt"/>
              </a:rPr>
              <a:t>github.com/Samthesimpsons/Risk-Based-Segmentation-for-FAR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BAAF96B-0190-E1A1-B8CF-C02F9CB21434}"/>
              </a:ext>
            </a:extLst>
          </p:cNvPr>
          <p:cNvGrpSpPr/>
          <p:nvPr/>
        </p:nvGrpSpPr>
        <p:grpSpPr>
          <a:xfrm>
            <a:off x="1692687" y="2094470"/>
            <a:ext cx="5623159" cy="869869"/>
            <a:chOff x="2013774" y="2389123"/>
            <a:chExt cx="5623159" cy="8698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7F87817-58B0-99CC-06AA-481C523B0233}"/>
                    </a:ext>
                  </a:extLst>
                </p:cNvPr>
                <p:cNvSpPr txBox="1"/>
                <p:nvPr/>
              </p:nvSpPr>
              <p:spPr>
                <a:xfrm>
                  <a:off x="2013774" y="2389123"/>
                  <a:ext cx="5623159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SG" sz="1200" b="0" i="1" smtClean="0">
                            <a:latin typeface="+mj-lt"/>
                          </a:rPr>
                          <m:t>𝑅𝑒𝑎𝑙𝑖𝑠𝑒𝑑</m:t>
                        </m:r>
                        <m:r>
                          <a:rPr lang="en-SG" sz="1200" b="0" i="1" smtClean="0">
                            <a:latin typeface="+mj-lt"/>
                          </a:rPr>
                          <m:t> </m:t>
                        </m:r>
                        <m:r>
                          <a:rPr lang="en-SG" sz="1200" b="0" i="1" smtClean="0">
                            <a:latin typeface="+mj-lt"/>
                          </a:rPr>
                          <m:t>𝑟𝑒𝑡𝑢𝑟𝑛</m:t>
                        </m:r>
                        <m:r>
                          <a:rPr lang="en-SG" sz="1200" b="0" i="1" smtClean="0">
                            <a:latin typeface="+mj-lt"/>
                          </a:rPr>
                          <m:t> (6 </m:t>
                        </m:r>
                        <m:r>
                          <m:rPr>
                            <m:nor/>
                          </m:rPr>
                          <a:rPr lang="en-SG" sz="1200" b="0" i="0" smtClean="0">
                            <a:latin typeface="+mj-lt"/>
                          </a:rPr>
                          <m:t>months</m:t>
                        </m:r>
                        <m:r>
                          <a:rPr lang="en-SG" sz="1200" b="0" i="1" smtClean="0">
                            <a:latin typeface="+mj-lt"/>
                          </a:rPr>
                          <m:t>) ~ </m:t>
                        </m:r>
                        <m:sSub>
                          <m:sSubPr>
                            <m:ctrlPr>
                              <a:rPr lang="en-SG" sz="1200" b="0" i="1" smtClean="0">
                                <a:latin typeface="+mj-lt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1200" b="0" i="1" smtClean="0">
                                <a:latin typeface="+mj-lt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G" sz="1200" b="0" i="1" smtClean="0">
                                <a:latin typeface="+mj-lt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SG" sz="1200" b="0" i="1" smtClean="0">
                            <a:latin typeface="+mj-lt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SG" sz="1200" i="1">
                                <a:latin typeface="+mj-lt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1200" i="1">
                                <a:latin typeface="+mj-lt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G" sz="1200" i="1">
                                <a:latin typeface="+mj-lt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SG" sz="1200" i="1">
                            <a:latin typeface="+mj-lt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SG" sz="1200" i="1">
                            <a:latin typeface="+mj-lt"/>
                            <a:ea typeface="Cambria Math" panose="02040503050406030204" pitchFamily="18" charset="0"/>
                          </a:rPr>
                          <m:t>𝑐𝑜h𝑒𝑟𝑒𝑛𝑡</m:t>
                        </m:r>
                        <m:r>
                          <a:rPr lang="en-SG" sz="1200" b="0" i="1" smtClean="0">
                            <a:latin typeface="+mj-lt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SG" sz="1200" i="1">
                                <a:latin typeface="+mj-lt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1200" i="1">
                                <a:latin typeface="+mj-lt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G" sz="1200" i="1">
                                <a:latin typeface="+mj-lt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SG" sz="1200" i="1">
                            <a:latin typeface="+mj-lt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SG" sz="1200" i="1">
                            <a:latin typeface="+mj-lt"/>
                            <a:ea typeface="Cambria Math" panose="02040503050406030204" pitchFamily="18" charset="0"/>
                          </a:rPr>
                          <m:t>𝑣𝑜𝑙𝑎𝑡𝑖𝑙𝑖𝑡</m:t>
                        </m:r>
                        <m:sSub>
                          <m:sSubPr>
                            <m:ctrlPr>
                              <a:rPr lang="en-SG" sz="1200" i="1">
                                <a:latin typeface="+mj-lt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1200" i="1">
                                <a:latin typeface="+mj-lt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SG" sz="1200" i="1">
                                <a:latin typeface="+mj-lt"/>
                                <a:ea typeface="Cambria Math" panose="02040503050406030204" pitchFamily="18" charset="0"/>
                              </a:rPr>
                              <m:t>𝑎𝑠𝑠𝑒𝑡</m:t>
                            </m:r>
                          </m:sub>
                        </m:sSub>
                        <m:r>
                          <a:rPr lang="en-SG" sz="1200" i="1">
                            <a:latin typeface="+mj-lt"/>
                            <a:ea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SG" sz="1200" dirty="0">
                    <a:latin typeface="+mj-lt"/>
                  </a:endParaRPr>
                </a:p>
                <a:p>
                  <a:endParaRPr lang="en-SG" sz="1200" b="1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7F87817-58B0-99CC-06AA-481C523B02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3774" y="2389123"/>
                  <a:ext cx="5623159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085" t="-1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19F8891-3010-4A2C-0ABD-B951CAF77FCE}"/>
                    </a:ext>
                  </a:extLst>
                </p:cNvPr>
                <p:cNvSpPr txBox="1"/>
                <p:nvPr/>
              </p:nvSpPr>
              <p:spPr>
                <a:xfrm>
                  <a:off x="4106756" y="2649931"/>
                  <a:ext cx="2324100" cy="3048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SG" sz="1200" b="0" i="1" smtClean="0">
                            <a:latin typeface="+mj-lt"/>
                            <a:ea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SG" sz="1200" b="0" i="1" smtClean="0">
                                <a:latin typeface="+mj-lt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sz="1200" b="0" i="1" smtClean="0">
                                <a:latin typeface="+mj-lt"/>
                                <a:ea typeface="Cambria Math" panose="02040503050406030204" pitchFamily="18" charset="0"/>
                              </a:rPr>
                              <m:t>𝑐𝑢𝑠𝑡𝑜𝑚𝑒</m:t>
                            </m:r>
                            <m:sSub>
                              <m:sSubPr>
                                <m:ctrlPr>
                                  <a:rPr lang="en-SG" sz="1200" b="0" i="1" smtClean="0">
                                    <a:latin typeface="+mj-lt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1200" b="0" i="1" smtClean="0">
                                    <a:latin typeface="+mj-lt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SG" sz="1200" b="0" i="1" smtClean="0">
                                    <a:latin typeface="+mj-lt"/>
                                    <a:ea typeface="Cambria Math" panose="02040503050406030204" pitchFamily="18" charset="0"/>
                                  </a:rPr>
                                  <m:t>𝑡𝑦𝑝𝑒</m:t>
                                </m:r>
                              </m:sub>
                            </m:sSub>
                          </m:e>
                        </m:d>
                        <m:r>
                          <a:rPr lang="en-SG" sz="1200" b="0" i="1" smtClean="0">
                            <a:latin typeface="+mj-lt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SG" sz="1200" b="0" i="1" smtClean="0">
                            <a:latin typeface="+mj-lt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SG" sz="1200" i="1">
                            <a:latin typeface="+mj-lt"/>
                            <a:ea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SG" sz="1200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19F8891-3010-4A2C-0ABD-B951CAF77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6756" y="2649931"/>
                  <a:ext cx="2324100" cy="304827"/>
                </a:xfrm>
                <a:prstGeom prst="rect">
                  <a:avLst/>
                </a:prstGeom>
                <a:blipFill>
                  <a:blip r:embed="rId5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8F32BBD-8187-593E-DFCB-616AE6E18A01}"/>
                    </a:ext>
                  </a:extLst>
                </p:cNvPr>
                <p:cNvSpPr txBox="1"/>
                <p:nvPr/>
              </p:nvSpPr>
              <p:spPr>
                <a:xfrm>
                  <a:off x="4115222" y="2981993"/>
                  <a:ext cx="2307167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SG" sz="1200" b="0" i="1" smtClean="0">
                            <a:latin typeface="+mj-lt"/>
                            <a:ea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SG" sz="1200" b="0" i="1" smtClean="0">
                                <a:latin typeface="+mj-lt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sz="1200" b="0" i="1" smtClean="0">
                                <a:latin typeface="+mj-lt"/>
                                <a:ea typeface="Cambria Math" panose="02040503050406030204" pitchFamily="18" charset="0"/>
                              </a:rPr>
                              <m:t>𝑦𝑒𝑎𝑟</m:t>
                            </m:r>
                          </m:e>
                        </m:d>
                        <m:r>
                          <a:rPr lang="en-SG" sz="1200" i="1">
                            <a:latin typeface="+mj-lt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SG" sz="1200" i="1">
                            <a:latin typeface="+mj-lt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SG" sz="1200" b="0" i="1" smtClean="0">
                            <a:latin typeface="+mj-lt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SG" sz="1200" b="0" i="1" smtClean="0">
                            <a:latin typeface="+mj-lt"/>
                            <a:ea typeface="Cambria Math" panose="02040503050406030204" pitchFamily="18" charset="0"/>
                          </a:rPr>
                          <m:t>𝜀</m:t>
                        </m:r>
                      </m:oMath>
                    </m:oMathPara>
                  </a14:m>
                  <a:endParaRPr lang="en-SG" sz="1200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8F32BBD-8187-593E-DFCB-616AE6E18A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5222" y="2981993"/>
                  <a:ext cx="2307167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SG" b="1" dirty="0"/>
              <a:t>03 </a:t>
            </a:r>
            <a:r>
              <a:rPr b="1" dirty="0"/>
              <a:t>Methodology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SG" sz="1800" dirty="0"/>
              <a:t>Risk-based Segmentation </a:t>
            </a:r>
            <a:r>
              <a:rPr lang="en-SG" sz="1800" dirty="0" err="1"/>
              <a:t>Modeling</a:t>
            </a:r>
            <a:endParaRPr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9F76D-5B17-72DD-0C6B-90085D92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76913-596A-C358-42CD-FA5FB8613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>
            <a:normAutofit/>
          </a:bodyPr>
          <a:lstStyle/>
          <a:p>
            <a:r>
              <a:rPr lang="en-SG" sz="2000" b="1" dirty="0">
                <a:solidFill>
                  <a:srgbClr val="156082"/>
                </a:solidFill>
              </a:rPr>
              <a:t>LightGCN Models recommendations as a bipartite </a:t>
            </a:r>
            <a:r>
              <a:rPr lang="en-SG" sz="2000" dirty="0">
                <a:solidFill>
                  <a:srgbClr val="156082"/>
                </a:solidFill>
              </a:rPr>
              <a:t>g</a:t>
            </a:r>
            <a:r>
              <a:rPr lang="en-SG" sz="2000" b="1" dirty="0">
                <a:solidFill>
                  <a:srgbClr val="156082"/>
                </a:solidFill>
              </a:rPr>
              <a:t>raph</a:t>
            </a:r>
            <a:endParaRPr sz="2000" b="1" dirty="0">
              <a:solidFill>
                <a:srgbClr val="15608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F84B2-A494-D745-1164-9FCE4402226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 dirty="0">
                <a:latin typeface="+mj-lt"/>
              </a:rPr>
              <a:t>github.com/</a:t>
            </a:r>
            <a:r>
              <a:rPr lang="en-SG" dirty="0" err="1">
                <a:latin typeface="+mj-lt"/>
              </a:rPr>
              <a:t>Samthesimpsons</a:t>
            </a:r>
            <a:r>
              <a:rPr lang="en-SG" dirty="0">
                <a:latin typeface="+mj-lt"/>
              </a:rPr>
              <a:t>/Risk-Based-Segmentation-for-FAR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EA094ED-2510-DC29-3878-A590FD65DB05}"/>
              </a:ext>
            </a:extLst>
          </p:cNvPr>
          <p:cNvGrpSpPr/>
          <p:nvPr/>
        </p:nvGrpSpPr>
        <p:grpSpPr>
          <a:xfrm>
            <a:off x="1018354" y="1316736"/>
            <a:ext cx="2550053" cy="2090830"/>
            <a:chOff x="991310" y="1673701"/>
            <a:chExt cx="2550053" cy="209083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4369CB3-E70B-8BBC-8E06-8839A95C0A80}"/>
                </a:ext>
              </a:extLst>
            </p:cNvPr>
            <p:cNvGrpSpPr/>
            <p:nvPr/>
          </p:nvGrpSpPr>
          <p:grpSpPr>
            <a:xfrm>
              <a:off x="1312002" y="2061049"/>
              <a:ext cx="264237" cy="264237"/>
              <a:chOff x="754056" y="2101530"/>
              <a:chExt cx="264237" cy="264237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FEE34CE-CB93-F257-CC81-DF4EA7E14B74}"/>
                  </a:ext>
                </a:extLst>
              </p:cNvPr>
              <p:cNvSpPr/>
              <p:nvPr/>
            </p:nvSpPr>
            <p:spPr>
              <a:xfrm>
                <a:off x="754056" y="2101530"/>
                <a:ext cx="264237" cy="264237"/>
              </a:xfrm>
              <a:prstGeom prst="ellipse">
                <a:avLst/>
              </a:prstGeom>
              <a:noFill/>
              <a:ln w="12700">
                <a:solidFill>
                  <a:srgbClr val="156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>
                  <a:latin typeface="+mj-lt"/>
                </a:endParaRPr>
              </a:p>
            </p:txBody>
          </p:sp>
          <p:pic>
            <p:nvPicPr>
              <p:cNvPr id="14" name="Graphic 13" descr="User with solid fill">
                <a:extLst>
                  <a:ext uri="{FF2B5EF4-FFF2-40B4-BE49-F238E27FC236}">
                    <a16:creationId xmlns:a16="http://schemas.microsoft.com/office/drawing/2014/main" id="{6831296B-3F88-0942-3D14-3CBB281DBC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419" y="2116893"/>
                <a:ext cx="233511" cy="233511"/>
              </a:xfrm>
              <a:prstGeom prst="rect">
                <a:avLst/>
              </a:prstGeom>
            </p:spPr>
          </p:pic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3651EEF-AF21-892A-DBFE-A5AEC442AECD}"/>
                </a:ext>
              </a:extLst>
            </p:cNvPr>
            <p:cNvGrpSpPr/>
            <p:nvPr/>
          </p:nvGrpSpPr>
          <p:grpSpPr>
            <a:xfrm>
              <a:off x="1312002" y="2498542"/>
              <a:ext cx="264237" cy="264237"/>
              <a:chOff x="754056" y="2101530"/>
              <a:chExt cx="264237" cy="264237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88592D1-9C19-8E3E-475D-AE83967A4DB4}"/>
                  </a:ext>
                </a:extLst>
              </p:cNvPr>
              <p:cNvSpPr/>
              <p:nvPr/>
            </p:nvSpPr>
            <p:spPr>
              <a:xfrm>
                <a:off x="754056" y="2101530"/>
                <a:ext cx="264237" cy="264237"/>
              </a:xfrm>
              <a:prstGeom prst="ellipse">
                <a:avLst/>
              </a:prstGeom>
              <a:noFill/>
              <a:ln w="12700">
                <a:solidFill>
                  <a:srgbClr val="156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>
                  <a:latin typeface="+mj-lt"/>
                </a:endParaRPr>
              </a:p>
            </p:txBody>
          </p:sp>
          <p:pic>
            <p:nvPicPr>
              <p:cNvPr id="18" name="Graphic 17" descr="User with solid fill">
                <a:extLst>
                  <a:ext uri="{FF2B5EF4-FFF2-40B4-BE49-F238E27FC236}">
                    <a16:creationId xmlns:a16="http://schemas.microsoft.com/office/drawing/2014/main" id="{C61D551F-82EB-3D74-85C3-4B03EF502D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419" y="2116893"/>
                <a:ext cx="233511" cy="233511"/>
              </a:xfrm>
              <a:prstGeom prst="rect">
                <a:avLst/>
              </a:prstGeom>
            </p:spPr>
          </p:pic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5D2C59C-4FC0-4987-C29A-4F5EE8486D7A}"/>
                </a:ext>
              </a:extLst>
            </p:cNvPr>
            <p:cNvGrpSpPr/>
            <p:nvPr/>
          </p:nvGrpSpPr>
          <p:grpSpPr>
            <a:xfrm>
              <a:off x="1312002" y="2936035"/>
              <a:ext cx="264237" cy="264237"/>
              <a:chOff x="754056" y="2101530"/>
              <a:chExt cx="264237" cy="264237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B92D223-9202-4205-533B-719533FFB665}"/>
                  </a:ext>
                </a:extLst>
              </p:cNvPr>
              <p:cNvSpPr/>
              <p:nvPr/>
            </p:nvSpPr>
            <p:spPr>
              <a:xfrm>
                <a:off x="754056" y="2101530"/>
                <a:ext cx="264237" cy="264237"/>
              </a:xfrm>
              <a:prstGeom prst="ellipse">
                <a:avLst/>
              </a:prstGeom>
              <a:noFill/>
              <a:ln w="12700">
                <a:solidFill>
                  <a:srgbClr val="156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>
                  <a:latin typeface="+mj-lt"/>
                </a:endParaRPr>
              </a:p>
            </p:txBody>
          </p:sp>
          <p:pic>
            <p:nvPicPr>
              <p:cNvPr id="21" name="Graphic 20" descr="User with solid fill">
                <a:extLst>
                  <a:ext uri="{FF2B5EF4-FFF2-40B4-BE49-F238E27FC236}">
                    <a16:creationId xmlns:a16="http://schemas.microsoft.com/office/drawing/2014/main" id="{EF882859-6C9B-D6CF-FBF0-E137D533BB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419" y="2116893"/>
                <a:ext cx="233511" cy="233511"/>
              </a:xfrm>
              <a:prstGeom prst="rect">
                <a:avLst/>
              </a:prstGeom>
            </p:spPr>
          </p:pic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A88A023-D060-D8A5-5ADC-2E86A827C7F9}"/>
                </a:ext>
              </a:extLst>
            </p:cNvPr>
            <p:cNvGrpSpPr/>
            <p:nvPr/>
          </p:nvGrpSpPr>
          <p:grpSpPr>
            <a:xfrm>
              <a:off x="2968415" y="1928930"/>
              <a:ext cx="264237" cy="264237"/>
              <a:chOff x="754056" y="2101530"/>
              <a:chExt cx="264237" cy="264237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BC8416B-6A86-9FE9-FC4F-3A568678D2C6}"/>
                  </a:ext>
                </a:extLst>
              </p:cNvPr>
              <p:cNvSpPr/>
              <p:nvPr/>
            </p:nvSpPr>
            <p:spPr>
              <a:xfrm>
                <a:off x="754056" y="2101530"/>
                <a:ext cx="264237" cy="264237"/>
              </a:xfrm>
              <a:prstGeom prst="ellipse">
                <a:avLst/>
              </a:prstGeom>
              <a:noFill/>
              <a:ln w="12700">
                <a:solidFill>
                  <a:srgbClr val="C6921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>
                  <a:latin typeface="+mj-lt"/>
                </a:endParaRPr>
              </a:p>
            </p:txBody>
          </p:sp>
          <p:pic>
            <p:nvPicPr>
              <p:cNvPr id="24" name="Graphic 23" descr="Document with solid fill">
                <a:extLst>
                  <a:ext uri="{FF2B5EF4-FFF2-40B4-BE49-F238E27FC236}">
                    <a16:creationId xmlns:a16="http://schemas.microsoft.com/office/drawing/2014/main" id="{5B57D2AA-957F-4148-27CB-F53EBF264A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801791" y="2144111"/>
                <a:ext cx="179073" cy="179073"/>
              </a:xfrm>
              <a:prstGeom prst="rect">
                <a:avLst/>
              </a:prstGeom>
            </p:spPr>
          </p:pic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D96FE3E-54CF-29B0-B72E-0F1B29956F5B}"/>
                </a:ext>
              </a:extLst>
            </p:cNvPr>
            <p:cNvGrpSpPr/>
            <p:nvPr/>
          </p:nvGrpSpPr>
          <p:grpSpPr>
            <a:xfrm>
              <a:off x="2968415" y="2377380"/>
              <a:ext cx="264237" cy="264237"/>
              <a:chOff x="754056" y="2101530"/>
              <a:chExt cx="264237" cy="264237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7CF01A0-83BA-32CD-C8EA-6DCB29DD4E90}"/>
                  </a:ext>
                </a:extLst>
              </p:cNvPr>
              <p:cNvSpPr/>
              <p:nvPr/>
            </p:nvSpPr>
            <p:spPr>
              <a:xfrm>
                <a:off x="754056" y="2101530"/>
                <a:ext cx="264237" cy="264237"/>
              </a:xfrm>
              <a:prstGeom prst="ellipse">
                <a:avLst/>
              </a:prstGeom>
              <a:noFill/>
              <a:ln w="12700">
                <a:solidFill>
                  <a:srgbClr val="C6921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>
                  <a:latin typeface="+mj-lt"/>
                </a:endParaRPr>
              </a:p>
            </p:txBody>
          </p:sp>
          <p:pic>
            <p:nvPicPr>
              <p:cNvPr id="33" name="Graphic 32" descr="Document with solid fill">
                <a:extLst>
                  <a:ext uri="{FF2B5EF4-FFF2-40B4-BE49-F238E27FC236}">
                    <a16:creationId xmlns:a16="http://schemas.microsoft.com/office/drawing/2014/main" id="{43726554-4FB5-47C2-1D76-79C33D38DC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801791" y="2144111"/>
                <a:ext cx="179073" cy="179073"/>
              </a:xfrm>
              <a:prstGeom prst="rect">
                <a:avLst/>
              </a:prstGeom>
            </p:spPr>
          </p:pic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468A5BA-C0FC-1164-154D-14FB7646EDED}"/>
                </a:ext>
              </a:extLst>
            </p:cNvPr>
            <p:cNvGrpSpPr/>
            <p:nvPr/>
          </p:nvGrpSpPr>
          <p:grpSpPr>
            <a:xfrm>
              <a:off x="2968415" y="2807875"/>
              <a:ext cx="264237" cy="264237"/>
              <a:chOff x="754056" y="2101530"/>
              <a:chExt cx="264237" cy="264237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60D28464-61A7-6370-70A2-B9FA0B3BF224}"/>
                  </a:ext>
                </a:extLst>
              </p:cNvPr>
              <p:cNvSpPr/>
              <p:nvPr/>
            </p:nvSpPr>
            <p:spPr>
              <a:xfrm>
                <a:off x="754056" y="2101530"/>
                <a:ext cx="264237" cy="264237"/>
              </a:xfrm>
              <a:prstGeom prst="ellipse">
                <a:avLst/>
              </a:prstGeom>
              <a:noFill/>
              <a:ln w="12700">
                <a:solidFill>
                  <a:srgbClr val="C6921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>
                  <a:latin typeface="+mj-lt"/>
                </a:endParaRPr>
              </a:p>
            </p:txBody>
          </p:sp>
          <p:pic>
            <p:nvPicPr>
              <p:cNvPr id="39" name="Graphic 38" descr="Document with solid fill">
                <a:extLst>
                  <a:ext uri="{FF2B5EF4-FFF2-40B4-BE49-F238E27FC236}">
                    <a16:creationId xmlns:a16="http://schemas.microsoft.com/office/drawing/2014/main" id="{22D04983-AD0A-FAF7-AA9E-E8A0BBEC83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801791" y="2144111"/>
                <a:ext cx="179073" cy="179073"/>
              </a:xfrm>
              <a:prstGeom prst="rect">
                <a:avLst/>
              </a:prstGeom>
            </p:spPr>
          </p:pic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215EFEE-B9D7-C4C8-B20F-83395BBD6C70}"/>
                </a:ext>
              </a:extLst>
            </p:cNvPr>
            <p:cNvCxnSpPr>
              <a:cxnSpLocks/>
              <a:stCxn id="12" idx="6"/>
              <a:endCxn id="23" idx="2"/>
            </p:cNvCxnSpPr>
            <p:nvPr/>
          </p:nvCxnSpPr>
          <p:spPr>
            <a:xfrm flipV="1">
              <a:off x="1576239" y="2061049"/>
              <a:ext cx="1392176" cy="132119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854AB82-91F7-0C3F-3F04-0717AB02FDF6}"/>
                </a:ext>
              </a:extLst>
            </p:cNvPr>
            <p:cNvCxnSpPr>
              <a:cxnSpLocks/>
              <a:stCxn id="12" idx="6"/>
              <a:endCxn id="32" idx="2"/>
            </p:cNvCxnSpPr>
            <p:nvPr/>
          </p:nvCxnSpPr>
          <p:spPr>
            <a:xfrm>
              <a:off x="1576239" y="2193168"/>
              <a:ext cx="1392176" cy="316331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130F0E6-2AE4-05AD-BE7F-CC0B090BE7A7}"/>
                </a:ext>
              </a:extLst>
            </p:cNvPr>
            <p:cNvCxnSpPr>
              <a:cxnSpLocks/>
              <a:stCxn id="12" idx="6"/>
              <a:endCxn id="38" idx="2"/>
            </p:cNvCxnSpPr>
            <p:nvPr/>
          </p:nvCxnSpPr>
          <p:spPr>
            <a:xfrm>
              <a:off x="1576239" y="2193168"/>
              <a:ext cx="1392176" cy="746826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D786A6E-7484-6E5D-3DB8-44473F1477C2}"/>
                </a:ext>
              </a:extLst>
            </p:cNvPr>
            <p:cNvCxnSpPr>
              <a:cxnSpLocks/>
              <a:stCxn id="17" idx="6"/>
              <a:endCxn id="23" idx="2"/>
            </p:cNvCxnSpPr>
            <p:nvPr/>
          </p:nvCxnSpPr>
          <p:spPr>
            <a:xfrm flipV="1">
              <a:off x="1576239" y="2061049"/>
              <a:ext cx="1392176" cy="56961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B60D770-3281-0E4C-0B05-AD430F8466D6}"/>
                </a:ext>
              </a:extLst>
            </p:cNvPr>
            <p:cNvCxnSpPr>
              <a:cxnSpLocks/>
              <a:stCxn id="20" idx="6"/>
              <a:endCxn id="38" idx="2"/>
            </p:cNvCxnSpPr>
            <p:nvPr/>
          </p:nvCxnSpPr>
          <p:spPr>
            <a:xfrm flipV="1">
              <a:off x="1576239" y="2939994"/>
              <a:ext cx="1392176" cy="12816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9440F76-BE39-3DEA-A0A2-D9E91E9EB9FB}"/>
                </a:ext>
              </a:extLst>
            </p:cNvPr>
            <p:cNvSpPr txBox="1"/>
            <p:nvPr/>
          </p:nvSpPr>
          <p:spPr>
            <a:xfrm>
              <a:off x="1064575" y="1804113"/>
              <a:ext cx="75909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00" dirty="0">
                  <a:solidFill>
                    <a:srgbClr val="156082"/>
                  </a:solidFill>
                  <a:latin typeface="+mj-lt"/>
                </a:rPr>
                <a:t>Users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CA21833-90C9-1310-21AF-212A996D423A}"/>
                </a:ext>
              </a:extLst>
            </p:cNvPr>
            <p:cNvSpPr txBox="1"/>
            <p:nvPr/>
          </p:nvSpPr>
          <p:spPr>
            <a:xfrm>
              <a:off x="2720988" y="1673701"/>
              <a:ext cx="75909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00" dirty="0">
                  <a:solidFill>
                    <a:srgbClr val="C69213"/>
                  </a:solidFill>
                  <a:latin typeface="+mj-lt"/>
                </a:rPr>
                <a:t>Assets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77F5A32-5501-F7B5-DD19-84158D66A94D}"/>
                </a:ext>
              </a:extLst>
            </p:cNvPr>
            <p:cNvSpPr txBox="1"/>
            <p:nvPr/>
          </p:nvSpPr>
          <p:spPr>
            <a:xfrm>
              <a:off x="1054146" y="3242392"/>
              <a:ext cx="75909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00" dirty="0">
                  <a:solidFill>
                    <a:srgbClr val="156082"/>
                  </a:solidFill>
                  <a:latin typeface="+mj-lt"/>
                </a:rPr>
                <a:t>…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080A0B3-6AF2-6CC0-626E-97C9E1457E66}"/>
                </a:ext>
              </a:extLst>
            </p:cNvPr>
            <p:cNvSpPr txBox="1"/>
            <p:nvPr/>
          </p:nvSpPr>
          <p:spPr>
            <a:xfrm>
              <a:off x="2763157" y="3518310"/>
              <a:ext cx="75909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00" dirty="0">
                  <a:solidFill>
                    <a:srgbClr val="C69213"/>
                  </a:solidFill>
                  <a:latin typeface="+mj-lt"/>
                </a:rPr>
                <a:t>…</a:t>
              </a:r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B8FC6CB6-9735-3956-4D2E-F484D66D917F}"/>
                </a:ext>
              </a:extLst>
            </p:cNvPr>
            <p:cNvGrpSpPr/>
            <p:nvPr/>
          </p:nvGrpSpPr>
          <p:grpSpPr>
            <a:xfrm>
              <a:off x="2975523" y="3235332"/>
              <a:ext cx="264237" cy="264237"/>
              <a:chOff x="754056" y="2101530"/>
              <a:chExt cx="264237" cy="264237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AEEC8F2E-351B-F8B2-581D-E3E88A699D54}"/>
                  </a:ext>
                </a:extLst>
              </p:cNvPr>
              <p:cNvSpPr/>
              <p:nvPr/>
            </p:nvSpPr>
            <p:spPr>
              <a:xfrm>
                <a:off x="754056" y="2101530"/>
                <a:ext cx="264237" cy="264237"/>
              </a:xfrm>
              <a:prstGeom prst="ellipse">
                <a:avLst/>
              </a:prstGeom>
              <a:noFill/>
              <a:ln w="12700">
                <a:solidFill>
                  <a:srgbClr val="C6921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>
                  <a:latin typeface="+mj-lt"/>
                </a:endParaRPr>
              </a:p>
            </p:txBody>
          </p:sp>
          <p:pic>
            <p:nvPicPr>
              <p:cNvPr id="78" name="Graphic 77" descr="Document with solid fill">
                <a:extLst>
                  <a:ext uri="{FF2B5EF4-FFF2-40B4-BE49-F238E27FC236}">
                    <a16:creationId xmlns:a16="http://schemas.microsoft.com/office/drawing/2014/main" id="{9F5BF7DC-BD6A-DFBA-15FA-8EBB82994A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801791" y="2144111"/>
                <a:ext cx="179073" cy="179073"/>
              </a:xfrm>
              <a:prstGeom prst="rect">
                <a:avLst/>
              </a:prstGeom>
            </p:spPr>
          </p:pic>
        </p:grp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A75FD829-BD51-1FDE-E6FA-19601BE27A35}"/>
                </a:ext>
              </a:extLst>
            </p:cNvPr>
            <p:cNvCxnSpPr>
              <a:cxnSpLocks/>
              <a:stCxn id="17" idx="6"/>
              <a:endCxn id="77" idx="2"/>
            </p:cNvCxnSpPr>
            <p:nvPr/>
          </p:nvCxnSpPr>
          <p:spPr>
            <a:xfrm>
              <a:off x="1576239" y="2630661"/>
              <a:ext cx="1399284" cy="73679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3521258C-3633-4D19-DC9D-37E1B0350FCD}"/>
                    </a:ext>
                  </a:extLst>
                </p:cNvPr>
                <p:cNvSpPr txBox="1"/>
                <p:nvPr/>
              </p:nvSpPr>
              <p:spPr>
                <a:xfrm>
                  <a:off x="991310" y="2502202"/>
                  <a:ext cx="312188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  <m:t>𝑢</m:t>
                            </m:r>
                          </m:e>
                          <m:sub>
                            <m: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1000" b="0" i="1" dirty="0">
                    <a:solidFill>
                      <a:srgbClr val="156082"/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3521258C-3633-4D19-DC9D-37E1B0350F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310" y="2502202"/>
                  <a:ext cx="312188" cy="24622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0ACAA995-DE1F-27DE-2B36-B336E954422C}"/>
                    </a:ext>
                  </a:extLst>
                </p:cNvPr>
                <p:cNvSpPr txBox="1"/>
                <p:nvPr/>
              </p:nvSpPr>
              <p:spPr>
                <a:xfrm>
                  <a:off x="991310" y="2948585"/>
                  <a:ext cx="312188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  <m:t>𝑢</m:t>
                            </m:r>
                          </m:e>
                          <m:sub>
                            <m: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1000" b="0" i="1" dirty="0">
                    <a:solidFill>
                      <a:srgbClr val="156082"/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0ACAA995-DE1F-27DE-2B36-B336E95442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310" y="2948585"/>
                  <a:ext cx="312188" cy="24622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B21917E7-67AD-B500-EE89-D9DA22188259}"/>
                    </a:ext>
                  </a:extLst>
                </p:cNvPr>
                <p:cNvSpPr txBox="1"/>
                <p:nvPr/>
              </p:nvSpPr>
              <p:spPr>
                <a:xfrm>
                  <a:off x="3229175" y="1904779"/>
                  <a:ext cx="305964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1000" b="0" i="1" dirty="0">
                    <a:solidFill>
                      <a:srgbClr val="C69213"/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B21917E7-67AD-B500-EE89-D9DA221882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9175" y="1904779"/>
                  <a:ext cx="305964" cy="24622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C5903E22-2F9B-CA57-62F5-3087E2724432}"/>
                    </a:ext>
                  </a:extLst>
                </p:cNvPr>
                <p:cNvSpPr txBox="1"/>
                <p:nvPr/>
              </p:nvSpPr>
              <p:spPr>
                <a:xfrm>
                  <a:off x="3229175" y="2336925"/>
                  <a:ext cx="312188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1000" b="0" i="1" dirty="0">
                    <a:solidFill>
                      <a:srgbClr val="C69213"/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C5903E22-2F9B-CA57-62F5-3087E27244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9175" y="2336925"/>
                  <a:ext cx="312188" cy="24622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4EF1CD94-4E86-4204-6CC7-71A551608586}"/>
                    </a:ext>
                  </a:extLst>
                </p:cNvPr>
                <p:cNvSpPr txBox="1"/>
                <p:nvPr/>
              </p:nvSpPr>
              <p:spPr>
                <a:xfrm>
                  <a:off x="3229175" y="2783308"/>
                  <a:ext cx="312188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1000" b="0" i="1" dirty="0">
                    <a:solidFill>
                      <a:srgbClr val="C69213"/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4EF1CD94-4E86-4204-6CC7-71A5516085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9175" y="2783308"/>
                  <a:ext cx="312188" cy="24622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6313D921-6F70-DF1A-FF7C-5F94F5FC5B3D}"/>
                    </a:ext>
                  </a:extLst>
                </p:cNvPr>
                <p:cNvSpPr txBox="1"/>
                <p:nvPr/>
              </p:nvSpPr>
              <p:spPr>
                <a:xfrm>
                  <a:off x="3222950" y="3203037"/>
                  <a:ext cx="312188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GB" sz="1000" b="0" i="1" dirty="0">
                    <a:solidFill>
                      <a:srgbClr val="C69213"/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6313D921-6F70-DF1A-FF7C-5F94F5FC5B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50" y="3203037"/>
                  <a:ext cx="312188" cy="24622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3B06AC9-8D84-4868-7798-E8C6F2BEA4DD}"/>
                    </a:ext>
                  </a:extLst>
                </p:cNvPr>
                <p:cNvSpPr txBox="1"/>
                <p:nvPr/>
              </p:nvSpPr>
              <p:spPr>
                <a:xfrm>
                  <a:off x="991310" y="2045752"/>
                  <a:ext cx="312188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  <m:t>𝑢</m:t>
                            </m:r>
                          </m:e>
                          <m:sub>
                            <m: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1000" b="0" i="1" dirty="0">
                    <a:solidFill>
                      <a:srgbClr val="156082"/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3B06AC9-8D84-4868-7798-E8C6F2BEA4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310" y="2045752"/>
                  <a:ext cx="312188" cy="2462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5ABF8E4-0F86-F90B-3D5F-830395C1D3A1}"/>
                </a:ext>
              </a:extLst>
            </p:cNvPr>
            <p:cNvSpPr txBox="1"/>
            <p:nvPr/>
          </p:nvSpPr>
          <p:spPr>
            <a:xfrm>
              <a:off x="1676550" y="3077858"/>
              <a:ext cx="101502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000" dirty="0">
                  <a:solidFill>
                    <a:schemeClr val="tx2">
                      <a:lumMod val="50000"/>
                    </a:schemeClr>
                  </a:solidFill>
                  <a:latin typeface="+mj-lt"/>
                </a:rPr>
                <a:t>Positive</a:t>
              </a:r>
            </a:p>
            <a:p>
              <a:pPr algn="ctr"/>
              <a:r>
                <a:rPr lang="en-GB" sz="1000" dirty="0">
                  <a:solidFill>
                    <a:schemeClr val="tx2">
                      <a:lumMod val="50000"/>
                    </a:schemeClr>
                  </a:solidFill>
                  <a:latin typeface="+mj-lt"/>
                </a:rPr>
                <a:t>Interactions</a:t>
              </a:r>
              <a:endParaRPr lang="en-SG" sz="1000" dirty="0">
                <a:solidFill>
                  <a:schemeClr val="tx2">
                    <a:lumMod val="50000"/>
                  </a:schemeClr>
                </a:solidFill>
                <a:latin typeface="+mj-lt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BAB444-8C59-9DD3-FC8D-6B57470C4A86}"/>
                  </a:ext>
                </a:extLst>
              </p:cNvPr>
              <p:cNvSpPr txBox="1"/>
              <p:nvPr/>
            </p:nvSpPr>
            <p:spPr>
              <a:xfrm>
                <a:off x="3955824" y="1316736"/>
                <a:ext cx="4734041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200" b="0" i="1" smtClean="0">
                        <a:solidFill>
                          <a:schemeClr val="tx1"/>
                        </a:solidFill>
                        <a:latin typeface="+mj-lt"/>
                      </a:rPr>
                      <m:t>𝑢</m:t>
                    </m:r>
                    <m:r>
                      <a:rPr lang="en-GB" sz="1200" b="0" i="1" smtClean="0">
                        <a:solidFill>
                          <a:schemeClr val="tx1"/>
                        </a:solidFill>
                        <a:latin typeface="+mj-lt"/>
                      </a:rPr>
                      <m:t>, </m:t>
                    </m:r>
                    <m:r>
                      <a:rPr lang="en-GB" sz="1200" b="0" i="1" smtClean="0">
                        <a:solidFill>
                          <a:schemeClr val="tx1"/>
                        </a:solidFill>
                        <a:latin typeface="+mj-lt"/>
                      </a:rPr>
                      <m:t>𝑣</m:t>
                    </m:r>
                  </m:oMath>
                </a14:m>
                <a:r>
                  <a:rPr lang="en-GB" sz="1200" dirty="0">
                    <a:solidFill>
                      <a:schemeClr val="tx1"/>
                    </a:solidFill>
                    <a:latin typeface="+mj-lt"/>
                  </a:rPr>
                  <a:t>: embeddings of size/dimension </a:t>
                </a:r>
                <a14:m>
                  <m:oMath xmlns:m="http://schemas.openxmlformats.org/officeDocument/2006/math">
                    <m:r>
                      <a:rPr lang="en-GB" sz="1200" i="1" dirty="0" smtClean="0">
                        <a:solidFill>
                          <a:schemeClr val="tx1"/>
                        </a:solidFill>
                        <a:latin typeface="+mj-lt"/>
                      </a:rPr>
                      <m:t>𝐷</m:t>
                    </m:r>
                  </m:oMath>
                </a14:m>
                <a:endParaRPr lang="en-GB" sz="1200" dirty="0">
                  <a:solidFill>
                    <a:schemeClr val="tx1"/>
                  </a:solidFill>
                  <a:latin typeface="+mj-lt"/>
                </a:endParaRPr>
              </a:p>
              <a:p>
                <a:pPr marL="171450" indent="-171450"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1200" dirty="0" err="1">
                    <a:solidFill>
                      <a:schemeClr val="tx1"/>
                    </a:solidFill>
                    <a:latin typeface="+mj-lt"/>
                  </a:rPr>
                  <a:t>LightGCN</a:t>
                </a:r>
                <a:r>
                  <a:rPr lang="en-GB" sz="1200" dirty="0">
                    <a:solidFill>
                      <a:schemeClr val="tx1"/>
                    </a:solidFill>
                    <a:latin typeface="+mj-lt"/>
                  </a:rPr>
                  <a:t> learns </a:t>
                </a:r>
                <a:r>
                  <a:rPr lang="en-GB" sz="1200" b="1" dirty="0">
                    <a:solidFill>
                      <a:schemeClr val="tx1"/>
                    </a:solidFill>
                    <a:latin typeface="+mj-lt"/>
                  </a:rPr>
                  <a:t>embeddings</a:t>
                </a:r>
                <a:r>
                  <a:rPr lang="en-GB" sz="1200" dirty="0">
                    <a:solidFill>
                      <a:schemeClr val="tx1"/>
                    </a:solidFill>
                    <a:latin typeface="+mj-lt"/>
                  </a:rPr>
                  <a:t> for every user and asset</a:t>
                </a:r>
              </a:p>
              <a:p>
                <a:pPr marL="171450" indent="-171450"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1200" dirty="0">
                    <a:solidFill>
                      <a:schemeClr val="tx1"/>
                    </a:solidFill>
                    <a:latin typeface="+mj-lt"/>
                  </a:rPr>
                  <a:t>In a training set, every user has its own set of positive interactions (transacted with that asset)</a:t>
                </a:r>
              </a:p>
              <a:p>
                <a:pPr>
                  <a:spcBef>
                    <a:spcPts val="200"/>
                  </a:spcBef>
                  <a:spcAft>
                    <a:spcPts val="600"/>
                  </a:spcAft>
                </a:pPr>
                <a:endParaRPr lang="en-GB" sz="12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BAB444-8C59-9DD3-FC8D-6B57470C4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824" y="1316736"/>
                <a:ext cx="4734041" cy="1323439"/>
              </a:xfrm>
              <a:prstGeom prst="rect">
                <a:avLst/>
              </a:prstGeom>
              <a:blipFill>
                <a:blip r:embed="rId12"/>
                <a:stretch>
                  <a:fillRect t="-46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3404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3D58E-83FE-5851-0178-79D96C375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A3F35-A0A4-1B59-B973-80B6B32F0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b="1" dirty="0">
                <a:solidFill>
                  <a:srgbClr val="156082"/>
                </a:solidFill>
              </a:rPr>
              <a:t>Forward propagation learns embeddings from neighbours</a:t>
            </a:r>
            <a:endParaRPr sz="2000" b="1" dirty="0">
              <a:solidFill>
                <a:srgbClr val="15608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46E30-A99A-4CF5-3695-975E8038BA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 dirty="0">
                <a:latin typeface="+mj-lt"/>
              </a:rPr>
              <a:t>github.com/</a:t>
            </a:r>
            <a:r>
              <a:rPr lang="en-SG" dirty="0" err="1">
                <a:latin typeface="+mj-lt"/>
              </a:rPr>
              <a:t>Samthesimpsons</a:t>
            </a:r>
            <a:r>
              <a:rPr lang="en-SG" dirty="0">
                <a:latin typeface="+mj-lt"/>
              </a:rPr>
              <a:t>/Risk-Based-Segmentation-for-FAR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112723E-6CF8-21E0-55C6-BE4986A15846}"/>
                  </a:ext>
                </a:extLst>
              </p:cNvPr>
              <p:cNvSpPr txBox="1"/>
              <p:nvPr/>
            </p:nvSpPr>
            <p:spPr>
              <a:xfrm>
                <a:off x="3955824" y="1316736"/>
                <a:ext cx="4734041" cy="31234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GB" sz="1200" b="1" dirty="0">
                    <a:solidFill>
                      <a:schemeClr val="tx1"/>
                    </a:solidFill>
                    <a:latin typeface="+mj-lt"/>
                  </a:rPr>
                  <a:t>At step </a:t>
                </a:r>
                <a14:m>
                  <m:oMath xmlns:m="http://schemas.openxmlformats.org/officeDocument/2006/math">
                    <m:r>
                      <a:rPr lang="en-GB" sz="1200" b="1" i="1" dirty="0">
                        <a:solidFill>
                          <a:schemeClr val="tx1"/>
                        </a:solidFill>
                        <a:latin typeface="+mj-lt"/>
                      </a:rPr>
                      <m:t>𝒌</m:t>
                    </m:r>
                  </m:oMath>
                </a14:m>
                <a:r>
                  <a:rPr lang="en-GB" sz="1200" b="1" dirty="0">
                    <a:solidFill>
                      <a:schemeClr val="tx1"/>
                    </a:solidFill>
                    <a:latin typeface="+mj-lt"/>
                  </a:rPr>
                  <a:t> of a training iteration:</a:t>
                </a:r>
              </a:p>
              <a:p>
                <a:pPr marL="171450" indent="-171450"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1200" dirty="0">
                    <a:solidFill>
                      <a:schemeClr val="tx1"/>
                    </a:solidFill>
                    <a:latin typeface="+mj-lt"/>
                  </a:rPr>
                  <a:t>A user embedding: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SG" sz="1200" i="1" dirty="0">
                            <a:solidFill>
                              <a:schemeClr val="tx1"/>
                            </a:solidFill>
                            <a:latin typeface="+mj-lt"/>
                          </a:rPr>
                        </m:ctrlPr>
                      </m:sSubSupPr>
                      <m:e>
                        <m:r>
                          <a:rPr lang="en-SG" sz="1200" i="1" dirty="0">
                            <a:solidFill>
                              <a:schemeClr val="tx1"/>
                            </a:solidFill>
                            <a:latin typeface="+mj-lt"/>
                          </a:rPr>
                          <m:t>𝑢</m:t>
                        </m:r>
                      </m:e>
                      <m:sub>
                        <m:r>
                          <a:rPr lang="en-SG" sz="1200" i="1" dirty="0">
                            <a:solidFill>
                              <a:schemeClr val="tx1"/>
                            </a:solidFill>
                            <a:latin typeface="+mj-lt"/>
                          </a:rPr>
                          <m:t>𝑖</m:t>
                        </m:r>
                      </m:sub>
                      <m:sup>
                        <m:r>
                          <a:rPr lang="en-SG" sz="1200" i="1" dirty="0">
                            <a:solidFill>
                              <a:schemeClr val="tx1"/>
                            </a:solidFill>
                            <a:latin typeface="+mj-lt"/>
                          </a:rPr>
                          <m:t>𝑡</m:t>
                        </m:r>
                        <m:r>
                          <a:rPr lang="en-SG" sz="1200" i="1" dirty="0">
                            <a:solidFill>
                              <a:schemeClr val="tx1"/>
                            </a:solidFill>
                            <a:latin typeface="+mj-lt"/>
                          </a:rPr>
                          <m:t>=</m:t>
                        </m:r>
                        <m:r>
                          <a:rPr lang="en-SG" sz="1200" i="1" dirty="0">
                            <a:solidFill>
                              <a:schemeClr val="tx1"/>
                            </a:solidFill>
                            <a:latin typeface="+mj-lt"/>
                          </a:rPr>
                          <m:t>𝑘</m:t>
                        </m:r>
                      </m:sup>
                    </m:sSubSup>
                    <m:r>
                      <a:rPr lang="en-GB" sz="1200" i="1" dirty="0">
                        <a:solidFill>
                          <a:schemeClr val="tx1"/>
                        </a:solidFill>
                        <a:latin typeface="+mj-lt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GB" sz="1200" i="1" dirty="0">
                            <a:solidFill>
                              <a:schemeClr val="tx1"/>
                            </a:solidFill>
                            <a:latin typeface="+mj-lt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SG" sz="1200" i="1" dirty="0">
                            <a:solidFill>
                              <a:schemeClr val="tx1"/>
                            </a:solidFill>
                            <a:latin typeface="+mj-lt"/>
                          </a:rPr>
                          <m:t>𝑗</m:t>
                        </m:r>
                        <m:r>
                          <a:rPr lang="en-SG" sz="1200" i="1" dirty="0">
                            <a:solidFill>
                              <a:schemeClr val="tx1"/>
                            </a:solidFill>
                            <a:latin typeface="+mj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SG" sz="1200" dirty="0">
                            <a:solidFill>
                              <a:schemeClr val="tx1"/>
                            </a:solidFill>
                            <a:latin typeface="+mj-lt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GB" sz="1200" b="0" i="1" dirty="0" smtClean="0">
                            <a:solidFill>
                              <a:schemeClr val="tx1"/>
                            </a:solidFill>
                            <a:latin typeface="+mj-lt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GB" sz="1200" b="0" i="1" dirty="0" smtClean="0">
                            <a:solidFill>
                              <a:schemeClr val="tx1"/>
                            </a:solidFill>
                            <a:latin typeface="+mj-lt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sz="1200" b="0" i="1" dirty="0" smtClean="0">
                            <a:solidFill>
                              <a:schemeClr val="tx1"/>
                            </a:solidFill>
                            <a:latin typeface="+mj-lt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GB" sz="1200" b="0" i="1" dirty="0" smtClean="0">
                            <a:solidFill>
                              <a:schemeClr val="tx1"/>
                            </a:solidFill>
                            <a:latin typeface="+mj-lt"/>
                            <a:ea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SG" sz="1200" b="0" i="1" dirty="0" smtClean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</m:ctrlPr>
                          </m:sSubSupPr>
                          <m:e>
                            <m:f>
                              <m:fPr>
                                <m:ctrlPr>
                                  <a:rPr lang="en-SG" sz="1200" i="1" dirty="0">
                                    <a:solidFill>
                                      <a:schemeClr val="tx1"/>
                                    </a:solidFill>
                                    <a:latin typeface="+mj-lt"/>
                                  </a:rPr>
                                </m:ctrlPr>
                              </m:fPr>
                              <m:num>
                                <m:r>
                                  <a:rPr lang="en-SG" sz="1200" i="1" dirty="0">
                                    <a:solidFill>
                                      <a:schemeClr val="tx1"/>
                                    </a:solidFill>
                                    <a:latin typeface="+mj-lt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GB" sz="1200" i="1" dirty="0" smtClean="0">
                                        <a:solidFill>
                                          <a:schemeClr val="tx1"/>
                                        </a:solidFill>
                                        <a:latin typeface="+mj-lt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+mj-lt"/>
                                      </a:rPr>
                                      <m:t>𝑁</m:t>
                                    </m:r>
                                    <m:d>
                                      <m:dPr>
                                        <m:ctrlPr>
                                          <a:rPr lang="en-GB" sz="12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+mj-lt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12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+mj-lt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  <m:r>
                                      <a:rPr lang="en-GB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+mj-lt"/>
                                      </a:rPr>
                                      <m:t>𝑁</m:t>
                                    </m:r>
                                    <m:r>
                                      <a:rPr lang="en-GB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+mj-lt"/>
                                      </a:rPr>
                                      <m:t>(</m:t>
                                    </m:r>
                                    <m:r>
                                      <a:rPr lang="en-GB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+mj-lt"/>
                                      </a:rPr>
                                      <m:t>𝑈</m:t>
                                    </m:r>
                                    <m:r>
                                      <a:rPr lang="en-GB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+mj-lt"/>
                                      </a:rPr>
                                      <m:t>)</m:t>
                                    </m:r>
                                  </m:e>
                                </m:rad>
                              </m:den>
                            </m:f>
                            <m:r>
                              <a:rPr lang="en-SG" sz="1200" i="1" dirty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𝑣</m:t>
                            </m:r>
                          </m:e>
                          <m:sub>
                            <m:r>
                              <a:rPr lang="en-SG" sz="1200" i="1" dirty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𝑗</m:t>
                            </m:r>
                          </m:sub>
                          <m:sup>
                            <m:r>
                              <a:rPr lang="en-SG" sz="1200" b="0" i="1" dirty="0" smtClean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𝑡</m:t>
                            </m:r>
                            <m:r>
                              <a:rPr lang="en-SG" sz="1200" b="0" i="1" dirty="0" smtClean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=</m:t>
                            </m:r>
                            <m:r>
                              <a:rPr lang="en-SG" sz="1200" b="0" i="1" dirty="0" smtClean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𝑘</m:t>
                            </m:r>
                            <m:r>
                              <a:rPr lang="en-SG" sz="1200" b="0" i="1" dirty="0" smtClean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−</m:t>
                            </m:r>
                            <m:r>
                              <a:rPr lang="en-SG" sz="1200" b="0" i="1" dirty="0" smtClean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1</m:t>
                            </m:r>
                          </m:sup>
                        </m:sSubSup>
                      </m:e>
                    </m:nary>
                  </m:oMath>
                </a14:m>
                <a:endParaRPr lang="en-GB" sz="1200" dirty="0">
                  <a:solidFill>
                    <a:schemeClr val="tx1"/>
                  </a:solidFill>
                  <a:latin typeface="+mj-lt"/>
                </a:endParaRPr>
              </a:p>
              <a:p>
                <a:pPr marL="171450" indent="-171450"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1200" dirty="0">
                    <a:solidFill>
                      <a:schemeClr val="tx1"/>
                    </a:solidFill>
                    <a:latin typeface="+mj-lt"/>
                  </a:rPr>
                  <a:t>An asset embedding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SG" sz="1200" i="1" dirty="0">
                            <a:solidFill>
                              <a:schemeClr val="tx1"/>
                            </a:solidFill>
                            <a:latin typeface="+mj-lt"/>
                          </a:rPr>
                        </m:ctrlPr>
                      </m:sSubSupPr>
                      <m:e>
                        <m:r>
                          <a:rPr lang="en-GB" sz="1200" b="0" i="1" dirty="0" smtClean="0">
                            <a:solidFill>
                              <a:schemeClr val="tx1"/>
                            </a:solidFill>
                            <a:latin typeface="+mj-lt"/>
                          </a:rPr>
                          <m:t>𝑣</m:t>
                        </m:r>
                      </m:e>
                      <m:sub>
                        <m:r>
                          <a:rPr lang="en-GB" sz="1200" b="0" i="1" dirty="0" smtClean="0">
                            <a:solidFill>
                              <a:schemeClr val="tx1"/>
                            </a:solidFill>
                            <a:latin typeface="+mj-lt"/>
                          </a:rPr>
                          <m:t>𝑗</m:t>
                        </m:r>
                      </m:sub>
                      <m:sup>
                        <m:r>
                          <a:rPr lang="en-SG" sz="1200" i="1" dirty="0">
                            <a:solidFill>
                              <a:schemeClr val="tx1"/>
                            </a:solidFill>
                            <a:latin typeface="+mj-lt"/>
                          </a:rPr>
                          <m:t>𝑡</m:t>
                        </m:r>
                        <m:r>
                          <a:rPr lang="en-SG" sz="1200" i="1" dirty="0">
                            <a:solidFill>
                              <a:schemeClr val="tx1"/>
                            </a:solidFill>
                            <a:latin typeface="+mj-lt"/>
                          </a:rPr>
                          <m:t>=</m:t>
                        </m:r>
                        <m:r>
                          <a:rPr lang="en-SG" sz="1200" i="1" dirty="0">
                            <a:solidFill>
                              <a:schemeClr val="tx1"/>
                            </a:solidFill>
                            <a:latin typeface="+mj-lt"/>
                          </a:rPr>
                          <m:t>𝑘</m:t>
                        </m:r>
                      </m:sup>
                    </m:sSubSup>
                    <m:r>
                      <a:rPr lang="en-GB" sz="1200" i="1" dirty="0">
                        <a:solidFill>
                          <a:schemeClr val="tx1"/>
                        </a:solidFill>
                        <a:latin typeface="+mj-lt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GB" sz="1200" i="1" dirty="0">
                            <a:solidFill>
                              <a:schemeClr val="tx1"/>
                            </a:solidFill>
                            <a:latin typeface="+mj-lt"/>
                          </a:rPr>
                        </m:ctrlPr>
                      </m:naryPr>
                      <m:sub>
                        <m:r>
                          <m:rPr>
                            <m:brk m:alnAt="1"/>
                          </m:rPr>
                          <a:rPr lang="en-GB" sz="1200" b="0" i="1" dirty="0" smtClean="0">
                            <a:solidFill>
                              <a:schemeClr val="tx1"/>
                            </a:solidFill>
                            <a:latin typeface="+mj-lt"/>
                          </a:rPr>
                          <m:t>𝑖</m:t>
                        </m:r>
                        <m:r>
                          <a:rPr lang="en-GB" sz="1200" b="0" i="1" dirty="0" smtClean="0">
                            <a:solidFill>
                              <a:schemeClr val="tx1"/>
                            </a:solidFill>
                            <a:latin typeface="+mj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SG" sz="1200" dirty="0">
                            <a:solidFill>
                              <a:schemeClr val="tx1"/>
                            </a:solidFill>
                            <a:latin typeface="+mj-lt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GB" sz="1200" i="1" dirty="0">
                            <a:solidFill>
                              <a:schemeClr val="tx1"/>
                            </a:solidFill>
                            <a:latin typeface="+mj-lt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GB" sz="1200" i="1" dirty="0">
                            <a:solidFill>
                              <a:schemeClr val="tx1"/>
                            </a:solidFill>
                            <a:latin typeface="+mj-lt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sz="1200" b="0" i="1" dirty="0" smtClean="0">
                            <a:solidFill>
                              <a:schemeClr val="tx1"/>
                            </a:solidFill>
                            <a:latin typeface="+mj-lt"/>
                            <a:ea typeface="Cambria Math" panose="02040503050406030204" pitchFamily="18" charset="0"/>
                          </a:rPr>
                          <m:t>𝑈</m:t>
                        </m:r>
                        <m:r>
                          <a:rPr lang="en-GB" sz="1200" i="1" dirty="0">
                            <a:solidFill>
                              <a:schemeClr val="tx1"/>
                            </a:solidFill>
                            <a:latin typeface="+mj-lt"/>
                            <a:ea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SG" sz="1200" i="1" dirty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</m:ctrlPr>
                          </m:sSubSupPr>
                          <m:e>
                            <m:f>
                              <m:fPr>
                                <m:ctrlPr>
                                  <a:rPr lang="en-SG" sz="1200" i="1" dirty="0">
                                    <a:solidFill>
                                      <a:schemeClr val="tx1"/>
                                    </a:solidFill>
                                    <a:latin typeface="+mj-lt"/>
                                  </a:rPr>
                                </m:ctrlPr>
                              </m:fPr>
                              <m:num>
                                <m:r>
                                  <a:rPr lang="en-SG" sz="1200" i="1" dirty="0">
                                    <a:solidFill>
                                      <a:schemeClr val="tx1"/>
                                    </a:solidFill>
                                    <a:latin typeface="+mj-lt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GB" sz="1200" i="1" dirty="0">
                                        <a:solidFill>
                                          <a:schemeClr val="tx1"/>
                                        </a:solidFill>
                                        <a:latin typeface="+mj-lt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200" i="1" dirty="0">
                                        <a:solidFill>
                                          <a:schemeClr val="tx1"/>
                                        </a:solidFill>
                                        <a:latin typeface="+mj-lt"/>
                                      </a:rPr>
                                      <m:t>𝑁</m:t>
                                    </m:r>
                                    <m:d>
                                      <m:dPr>
                                        <m:ctrlPr>
                                          <a:rPr lang="en-GB" sz="1200" i="1" dirty="0">
                                            <a:solidFill>
                                              <a:schemeClr val="tx1"/>
                                            </a:solidFill>
                                            <a:latin typeface="+mj-lt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1200" i="1" dirty="0">
                                            <a:solidFill>
                                              <a:schemeClr val="tx1"/>
                                            </a:solidFill>
                                            <a:latin typeface="+mj-lt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  <m:r>
                                      <a:rPr lang="en-GB" sz="1200" i="1" dirty="0">
                                        <a:solidFill>
                                          <a:schemeClr val="tx1"/>
                                        </a:solidFill>
                                        <a:latin typeface="+mj-lt"/>
                                      </a:rPr>
                                      <m:t>𝑁</m:t>
                                    </m:r>
                                    <m:r>
                                      <a:rPr lang="en-GB" sz="1200" i="1" dirty="0">
                                        <a:solidFill>
                                          <a:schemeClr val="tx1"/>
                                        </a:solidFill>
                                        <a:latin typeface="+mj-lt"/>
                                      </a:rPr>
                                      <m:t>(</m:t>
                                    </m:r>
                                    <m:r>
                                      <a:rPr lang="en-GB" sz="1200" i="1" dirty="0">
                                        <a:solidFill>
                                          <a:schemeClr val="tx1"/>
                                        </a:solidFill>
                                        <a:latin typeface="+mj-lt"/>
                                      </a:rPr>
                                      <m:t>𝑈</m:t>
                                    </m:r>
                                    <m:r>
                                      <a:rPr lang="en-GB" sz="1200" i="1" dirty="0">
                                        <a:solidFill>
                                          <a:schemeClr val="tx1"/>
                                        </a:solidFill>
                                        <a:latin typeface="+mj-lt"/>
                                      </a:rPr>
                                      <m:t>)</m:t>
                                    </m:r>
                                  </m:e>
                                </m:rad>
                              </m:den>
                            </m:f>
                            <m:r>
                              <a:rPr lang="en-GB" sz="1200" b="0" i="1" dirty="0" smtClean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𝑢</m:t>
                            </m:r>
                          </m:e>
                          <m:sub>
                            <m:r>
                              <a:rPr lang="en-GB" sz="1200" b="0" i="1" dirty="0" smtClean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𝑖</m:t>
                            </m:r>
                          </m:sub>
                          <m:sup>
                            <m:r>
                              <a:rPr lang="en-SG" sz="1200" i="1" dirty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𝑡</m:t>
                            </m:r>
                            <m:r>
                              <a:rPr lang="en-SG" sz="1200" i="1" dirty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=</m:t>
                            </m:r>
                            <m:r>
                              <a:rPr lang="en-SG" sz="1200" i="1" dirty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𝑘</m:t>
                            </m:r>
                            <m:r>
                              <a:rPr lang="en-SG" sz="1200" i="1" dirty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−</m:t>
                            </m:r>
                            <m:r>
                              <a:rPr lang="en-SG" sz="1200" i="1" dirty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1</m:t>
                            </m:r>
                          </m:sup>
                        </m:sSubSup>
                      </m:e>
                    </m:nary>
                  </m:oMath>
                </a14:m>
                <a:endParaRPr lang="en-GB" sz="1200" dirty="0">
                  <a:solidFill>
                    <a:schemeClr val="tx1"/>
                  </a:solidFill>
                  <a:latin typeface="+mj-lt"/>
                </a:endParaRPr>
              </a:p>
              <a:p>
                <a:pPr marL="171450" indent="-171450"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200" i="1">
                        <a:solidFill>
                          <a:schemeClr val="tx1"/>
                        </a:solidFill>
                        <a:latin typeface="+mj-lt"/>
                      </a:rPr>
                      <m:t>𝑁</m:t>
                    </m:r>
                    <m:r>
                      <a:rPr lang="en-GB" sz="1200" i="1">
                        <a:solidFill>
                          <a:schemeClr val="tx1"/>
                        </a:solidFill>
                        <a:latin typeface="+mj-lt"/>
                      </a:rPr>
                      <m:t>(</m:t>
                    </m:r>
                    <m:r>
                      <a:rPr lang="en-GB" sz="1200" i="1">
                        <a:solidFill>
                          <a:schemeClr val="tx1"/>
                        </a:solidFill>
                        <a:latin typeface="+mj-lt"/>
                      </a:rPr>
                      <m:t>𝑉</m:t>
                    </m:r>
                    <m:r>
                      <a:rPr lang="en-GB" sz="1200" i="1">
                        <a:solidFill>
                          <a:schemeClr val="tx1"/>
                        </a:solidFill>
                        <a:latin typeface="+mj-lt"/>
                      </a:rPr>
                      <m:t>)</m:t>
                    </m:r>
                  </m:oMath>
                </a14:m>
                <a:r>
                  <a:rPr lang="en-GB" sz="1200" dirty="0">
                    <a:solidFill>
                      <a:schemeClr val="tx1"/>
                    </a:solidFill>
                    <a:latin typeface="+mj-lt"/>
                  </a:rPr>
                  <a:t> is the number of assets the user transacted with</a:t>
                </a:r>
              </a:p>
              <a:p>
                <a:pPr marL="171450" indent="-171450"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200" i="1">
                        <a:solidFill>
                          <a:schemeClr val="tx1"/>
                        </a:solidFill>
                        <a:latin typeface="+mj-lt"/>
                      </a:rPr>
                      <m:t>𝑁</m:t>
                    </m:r>
                    <m:r>
                      <a:rPr lang="en-GB" sz="1200" i="1">
                        <a:solidFill>
                          <a:schemeClr val="tx1"/>
                        </a:solidFill>
                        <a:latin typeface="+mj-lt"/>
                      </a:rPr>
                      <m:t>(</m:t>
                    </m:r>
                    <m:r>
                      <a:rPr lang="en-GB" sz="1200" i="1">
                        <a:solidFill>
                          <a:schemeClr val="tx1"/>
                        </a:solidFill>
                        <a:latin typeface="+mj-lt"/>
                      </a:rPr>
                      <m:t>𝑈</m:t>
                    </m:r>
                    <m:r>
                      <a:rPr lang="en-GB" sz="1200" i="1">
                        <a:solidFill>
                          <a:schemeClr val="tx1"/>
                        </a:solidFill>
                        <a:latin typeface="+mj-lt"/>
                      </a:rPr>
                      <m:t>)</m:t>
                    </m:r>
                  </m:oMath>
                </a14:m>
                <a:r>
                  <a:rPr lang="en-GB" sz="1200" dirty="0">
                    <a:solidFill>
                      <a:schemeClr val="tx1"/>
                    </a:solidFill>
                    <a:latin typeface="+mj-lt"/>
                  </a:rPr>
                  <a:t> is the number of users the asset transacted with</a:t>
                </a:r>
              </a:p>
              <a:p>
                <a:pPr marL="171450" indent="-171450"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1200" dirty="0">
                    <a:solidFill>
                      <a:schemeClr val="tx1"/>
                    </a:solidFill>
                    <a:latin typeface="+mj-lt"/>
                  </a:rPr>
                  <a:t>Compute all embeddings from the previous step's values</a:t>
                </a:r>
              </a:p>
              <a:p>
                <a:pPr>
                  <a:spcBef>
                    <a:spcPts val="200"/>
                  </a:spcBef>
                  <a:spcAft>
                    <a:spcPts val="600"/>
                  </a:spcAft>
                </a:pPr>
                <a:endParaRPr lang="en-GB" sz="12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GB" sz="1200" b="1" dirty="0">
                    <a:solidFill>
                      <a:schemeClr val="tx1"/>
                    </a:solidFill>
                    <a:latin typeface="+mj-lt"/>
                  </a:rPr>
                  <a:t>Final respective embedding:</a:t>
                </a:r>
              </a:p>
              <a:p>
                <a:pPr marL="171450" indent="-171450"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1200" dirty="0">
                    <a:solidFill>
                      <a:schemeClr val="tx1"/>
                    </a:solidFill>
                    <a:latin typeface="+mj-lt"/>
                  </a:rPr>
                  <a:t>Average value across all steps</a:t>
                </a:r>
              </a:p>
              <a:p>
                <a:pPr marL="171450" indent="-171450"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1200" dirty="0">
                    <a:solidFill>
                      <a:schemeClr val="tx1"/>
                    </a:solidFill>
                    <a:latin typeface="+mj-lt"/>
                  </a:rPr>
                  <a:t>Pairwise score: </a:t>
                </a:r>
                <a14:m>
                  <m:oMath xmlns:m="http://schemas.openxmlformats.org/officeDocument/2006/math">
                    <m:r>
                      <a:rPr lang="en-SG" sz="1200" i="1" dirty="0">
                        <a:solidFill>
                          <a:schemeClr val="tx1"/>
                        </a:solidFill>
                        <a:latin typeface="+mj-lt"/>
                      </a:rPr>
                      <m:t>𝑠𝑐𝑜𝑟𝑒</m:t>
                    </m:r>
                    <m:d>
                      <m:dPr>
                        <m:ctrlPr>
                          <a:rPr lang="en-GB" sz="1200" i="1" dirty="0">
                            <a:solidFill>
                              <a:schemeClr val="tx1"/>
                            </a:solidFill>
                            <a:latin typeface="+mj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200" i="1" dirty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200" i="1" dirty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𝑢</m:t>
                            </m:r>
                          </m:e>
                          <m:sub>
                            <m:r>
                              <a:rPr lang="en-GB" sz="1200" i="1" dirty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𝑖</m:t>
                            </m:r>
                          </m:sub>
                        </m:sSub>
                        <m:r>
                          <a:rPr lang="en-GB" sz="1200" i="1" dirty="0">
                            <a:solidFill>
                              <a:schemeClr val="tx1"/>
                            </a:solidFill>
                            <a:latin typeface="+mj-lt"/>
                          </a:rPr>
                          <m:t>,</m:t>
                        </m:r>
                        <m:sSub>
                          <m:sSubPr>
                            <m:ctrlPr>
                              <a:rPr lang="en-GB" sz="1200" i="1" dirty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200" i="1" dirty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200" i="1" dirty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GB" sz="1200" i="1" dirty="0">
                        <a:solidFill>
                          <a:schemeClr val="tx1"/>
                        </a:solidFill>
                        <a:latin typeface="+mj-lt"/>
                      </a:rPr>
                      <m:t>=</m:t>
                    </m:r>
                    <m:sSub>
                      <m:sSubPr>
                        <m:ctrlPr>
                          <a:rPr lang="en-GB" sz="1200" i="1" dirty="0">
                            <a:solidFill>
                              <a:schemeClr val="tx1"/>
                            </a:solidFill>
                            <a:latin typeface="+mj-lt"/>
                          </a:rPr>
                        </m:ctrlPr>
                      </m:sSubPr>
                      <m:e>
                        <m:r>
                          <a:rPr lang="en-GB" sz="1200" i="1" dirty="0">
                            <a:solidFill>
                              <a:schemeClr val="tx1"/>
                            </a:solidFill>
                            <a:latin typeface="+mj-lt"/>
                          </a:rPr>
                          <m:t>𝑓</m:t>
                        </m:r>
                      </m:e>
                      <m:sub>
                        <m:r>
                          <a:rPr lang="en-GB" sz="1200" i="1" dirty="0">
                            <a:solidFill>
                              <a:schemeClr val="tx1"/>
                            </a:solidFill>
                            <a:latin typeface="+mj-lt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sz="1200" i="1" dirty="0">
                            <a:solidFill>
                              <a:schemeClr val="tx1"/>
                            </a:solidFill>
                            <a:latin typeface="+mj-lt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200" i="1" dirty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200" i="1" dirty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𝑢</m:t>
                            </m:r>
                          </m:e>
                          <m:sub>
                            <m:r>
                              <a:rPr lang="en-GB" sz="1200" i="1" dirty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𝑖</m:t>
                            </m:r>
                          </m:sub>
                        </m:sSub>
                        <m:r>
                          <a:rPr lang="en-GB" sz="1200" i="1" dirty="0">
                            <a:solidFill>
                              <a:schemeClr val="tx1"/>
                            </a:solidFill>
                            <a:latin typeface="+mj-lt"/>
                          </a:rPr>
                          <m:t>, </m:t>
                        </m:r>
                        <m:sSub>
                          <m:sSubPr>
                            <m:ctrlPr>
                              <a:rPr lang="en-GB" sz="1200" i="1" dirty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200" i="1" dirty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200" i="1" dirty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GB" sz="1200" i="1" dirty="0">
                        <a:solidFill>
                          <a:schemeClr val="tx1"/>
                        </a:solidFill>
                        <a:latin typeface="+mj-lt"/>
                      </a:rPr>
                      <m:t>=</m:t>
                    </m:r>
                    <m:sSub>
                      <m:sSubPr>
                        <m:ctrlPr>
                          <a:rPr lang="en-GB" sz="1200" i="1" dirty="0">
                            <a:solidFill>
                              <a:schemeClr val="tx1"/>
                            </a:solidFill>
                            <a:latin typeface="+mj-lt"/>
                          </a:rPr>
                        </m:ctrlPr>
                      </m:sSubPr>
                      <m:e>
                        <m:r>
                          <a:rPr lang="en-GB" sz="1200" i="1" dirty="0">
                            <a:solidFill>
                              <a:schemeClr val="tx1"/>
                            </a:solidFill>
                            <a:latin typeface="+mj-lt"/>
                          </a:rPr>
                          <m:t>𝑢</m:t>
                        </m:r>
                      </m:e>
                      <m:sub>
                        <m:r>
                          <a:rPr lang="en-GB" sz="1200" i="1" dirty="0">
                            <a:solidFill>
                              <a:schemeClr val="tx1"/>
                            </a:solidFill>
                            <a:latin typeface="+mj-lt"/>
                          </a:rPr>
                          <m:t>𝑖</m:t>
                        </m:r>
                      </m:sub>
                    </m:sSub>
                    <m:r>
                      <a:rPr lang="en-GB" sz="1200" i="1" dirty="0">
                        <a:solidFill>
                          <a:schemeClr val="tx1"/>
                        </a:solidFill>
                        <a:latin typeface="+mj-lt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GB" sz="1200" i="1" dirty="0">
                            <a:solidFill>
                              <a:schemeClr val="tx1"/>
                            </a:solidFill>
                            <a:latin typeface="+mj-lt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dirty="0">
                            <a:solidFill>
                              <a:schemeClr val="tx1"/>
                            </a:solidFill>
                            <a:latin typeface="+mj-lt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1200" i="1" dirty="0">
                            <a:solidFill>
                              <a:schemeClr val="tx1"/>
                            </a:solidFill>
                            <a:latin typeface="+mj-lt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GB" sz="12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112723E-6CF8-21E0-55C6-BE4986A15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824" y="1316736"/>
                <a:ext cx="4734041" cy="3123419"/>
              </a:xfrm>
              <a:prstGeom prst="rect">
                <a:avLst/>
              </a:prstGeom>
              <a:blipFill>
                <a:blip r:embed="rId3"/>
                <a:stretch>
                  <a:fillRect l="-129" t="-195" b="-19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9E2B67B9-8F1F-3AB0-F523-052E073A5175}"/>
              </a:ext>
            </a:extLst>
          </p:cNvPr>
          <p:cNvGrpSpPr/>
          <p:nvPr/>
        </p:nvGrpSpPr>
        <p:grpSpPr>
          <a:xfrm>
            <a:off x="1018354" y="1316736"/>
            <a:ext cx="2550053" cy="2090830"/>
            <a:chOff x="991310" y="1673701"/>
            <a:chExt cx="2550053" cy="209083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215D7DC-5F40-72AD-DD63-32249874B845}"/>
                </a:ext>
              </a:extLst>
            </p:cNvPr>
            <p:cNvGrpSpPr/>
            <p:nvPr/>
          </p:nvGrpSpPr>
          <p:grpSpPr>
            <a:xfrm>
              <a:off x="1312002" y="2061049"/>
              <a:ext cx="264237" cy="264237"/>
              <a:chOff x="754056" y="2101530"/>
              <a:chExt cx="264237" cy="264237"/>
            </a:xfrm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F5B90339-718D-9EE6-E075-B764453C3062}"/>
                  </a:ext>
                </a:extLst>
              </p:cNvPr>
              <p:cNvSpPr/>
              <p:nvPr/>
            </p:nvSpPr>
            <p:spPr>
              <a:xfrm>
                <a:off x="754056" y="2101530"/>
                <a:ext cx="264237" cy="264237"/>
              </a:xfrm>
              <a:prstGeom prst="ellipse">
                <a:avLst/>
              </a:prstGeom>
              <a:noFill/>
              <a:ln w="12700">
                <a:solidFill>
                  <a:srgbClr val="156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>
                  <a:latin typeface="+mj-lt"/>
                </a:endParaRPr>
              </a:p>
            </p:txBody>
          </p:sp>
          <p:pic>
            <p:nvPicPr>
              <p:cNvPr id="74" name="Graphic 73" descr="User with solid fill">
                <a:extLst>
                  <a:ext uri="{FF2B5EF4-FFF2-40B4-BE49-F238E27FC236}">
                    <a16:creationId xmlns:a16="http://schemas.microsoft.com/office/drawing/2014/main" id="{F37A39C9-5512-FA96-D860-05C5D7C8B9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69419" y="2116893"/>
                <a:ext cx="233511" cy="233511"/>
              </a:xfrm>
              <a:prstGeom prst="rect">
                <a:avLst/>
              </a:prstGeom>
            </p:spPr>
          </p:pic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00EA291-5F6C-A82B-E84F-483B168361D7}"/>
                </a:ext>
              </a:extLst>
            </p:cNvPr>
            <p:cNvGrpSpPr/>
            <p:nvPr/>
          </p:nvGrpSpPr>
          <p:grpSpPr>
            <a:xfrm>
              <a:off x="1312002" y="2498542"/>
              <a:ext cx="264237" cy="264237"/>
              <a:chOff x="754056" y="2101530"/>
              <a:chExt cx="264237" cy="264237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B370F87E-6960-D668-EABA-BDFB3B825ABD}"/>
                  </a:ext>
                </a:extLst>
              </p:cNvPr>
              <p:cNvSpPr/>
              <p:nvPr/>
            </p:nvSpPr>
            <p:spPr>
              <a:xfrm>
                <a:off x="754056" y="2101530"/>
                <a:ext cx="264237" cy="264237"/>
              </a:xfrm>
              <a:prstGeom prst="ellipse">
                <a:avLst/>
              </a:prstGeom>
              <a:noFill/>
              <a:ln w="12700">
                <a:solidFill>
                  <a:srgbClr val="156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>
                  <a:latin typeface="+mj-lt"/>
                </a:endParaRPr>
              </a:p>
            </p:txBody>
          </p:sp>
          <p:pic>
            <p:nvPicPr>
              <p:cNvPr id="72" name="Graphic 71" descr="User with solid fill">
                <a:extLst>
                  <a:ext uri="{FF2B5EF4-FFF2-40B4-BE49-F238E27FC236}">
                    <a16:creationId xmlns:a16="http://schemas.microsoft.com/office/drawing/2014/main" id="{EC5283E6-76D4-04C5-759B-D89257EA42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69419" y="2116893"/>
                <a:ext cx="233511" cy="233511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74502A6-066F-F4FA-42D0-946C9894E5D2}"/>
                </a:ext>
              </a:extLst>
            </p:cNvPr>
            <p:cNvGrpSpPr/>
            <p:nvPr/>
          </p:nvGrpSpPr>
          <p:grpSpPr>
            <a:xfrm>
              <a:off x="1312002" y="2936035"/>
              <a:ext cx="264237" cy="264237"/>
              <a:chOff x="754056" y="2101530"/>
              <a:chExt cx="264237" cy="264237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67B7266D-BE48-38D5-403F-85767948CD5F}"/>
                  </a:ext>
                </a:extLst>
              </p:cNvPr>
              <p:cNvSpPr/>
              <p:nvPr/>
            </p:nvSpPr>
            <p:spPr>
              <a:xfrm>
                <a:off x="754056" y="2101530"/>
                <a:ext cx="264237" cy="264237"/>
              </a:xfrm>
              <a:prstGeom prst="ellipse">
                <a:avLst/>
              </a:prstGeom>
              <a:noFill/>
              <a:ln w="12700">
                <a:solidFill>
                  <a:srgbClr val="156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>
                  <a:latin typeface="+mj-lt"/>
                </a:endParaRPr>
              </a:p>
            </p:txBody>
          </p:sp>
          <p:pic>
            <p:nvPicPr>
              <p:cNvPr id="70" name="Graphic 69" descr="User with solid fill">
                <a:extLst>
                  <a:ext uri="{FF2B5EF4-FFF2-40B4-BE49-F238E27FC236}">
                    <a16:creationId xmlns:a16="http://schemas.microsoft.com/office/drawing/2014/main" id="{7494AD24-D10E-E6A7-DA00-CD925F1068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69419" y="2116893"/>
                <a:ext cx="233511" cy="233511"/>
              </a:xfrm>
              <a:prstGeom prst="rect">
                <a:avLst/>
              </a:prstGeom>
            </p:spPr>
          </p:pic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53E835B-4E3D-CDDF-0CED-D32796CCF8D4}"/>
                </a:ext>
              </a:extLst>
            </p:cNvPr>
            <p:cNvGrpSpPr/>
            <p:nvPr/>
          </p:nvGrpSpPr>
          <p:grpSpPr>
            <a:xfrm>
              <a:off x="2968415" y="1928930"/>
              <a:ext cx="264237" cy="264237"/>
              <a:chOff x="754056" y="2101530"/>
              <a:chExt cx="264237" cy="264237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6B60691E-7FA2-01A4-F84A-0D97001A4CF6}"/>
                  </a:ext>
                </a:extLst>
              </p:cNvPr>
              <p:cNvSpPr/>
              <p:nvPr/>
            </p:nvSpPr>
            <p:spPr>
              <a:xfrm>
                <a:off x="754056" y="2101530"/>
                <a:ext cx="264237" cy="264237"/>
              </a:xfrm>
              <a:prstGeom prst="ellipse">
                <a:avLst/>
              </a:prstGeom>
              <a:noFill/>
              <a:ln w="12700">
                <a:solidFill>
                  <a:srgbClr val="C6921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>
                  <a:latin typeface="+mj-lt"/>
                </a:endParaRPr>
              </a:p>
            </p:txBody>
          </p:sp>
          <p:pic>
            <p:nvPicPr>
              <p:cNvPr id="67" name="Graphic 66" descr="Document with solid fill">
                <a:extLst>
                  <a:ext uri="{FF2B5EF4-FFF2-40B4-BE49-F238E27FC236}">
                    <a16:creationId xmlns:a16="http://schemas.microsoft.com/office/drawing/2014/main" id="{434E7C55-8EB5-90C6-2DDC-3ED0DAF107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801791" y="2144111"/>
                <a:ext cx="179073" cy="179073"/>
              </a:xfrm>
              <a:prstGeom prst="rect">
                <a:avLst/>
              </a:prstGeom>
            </p:spPr>
          </p:pic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F831C24-F44B-78A0-E120-29DBF3E63312}"/>
                </a:ext>
              </a:extLst>
            </p:cNvPr>
            <p:cNvGrpSpPr/>
            <p:nvPr/>
          </p:nvGrpSpPr>
          <p:grpSpPr>
            <a:xfrm>
              <a:off x="2968415" y="2377380"/>
              <a:ext cx="264237" cy="264237"/>
              <a:chOff x="754056" y="2101530"/>
              <a:chExt cx="264237" cy="264237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CE77F2D8-9DE0-8E05-242F-534A25FFCED5}"/>
                  </a:ext>
                </a:extLst>
              </p:cNvPr>
              <p:cNvSpPr/>
              <p:nvPr/>
            </p:nvSpPr>
            <p:spPr>
              <a:xfrm>
                <a:off x="754056" y="2101530"/>
                <a:ext cx="264237" cy="264237"/>
              </a:xfrm>
              <a:prstGeom prst="ellipse">
                <a:avLst/>
              </a:prstGeom>
              <a:noFill/>
              <a:ln w="12700">
                <a:solidFill>
                  <a:srgbClr val="C6921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>
                  <a:latin typeface="+mj-lt"/>
                </a:endParaRPr>
              </a:p>
            </p:txBody>
          </p:sp>
          <p:pic>
            <p:nvPicPr>
              <p:cNvPr id="63" name="Graphic 62" descr="Document with solid fill">
                <a:extLst>
                  <a:ext uri="{FF2B5EF4-FFF2-40B4-BE49-F238E27FC236}">
                    <a16:creationId xmlns:a16="http://schemas.microsoft.com/office/drawing/2014/main" id="{F0DBB601-AF83-0FDF-E72D-25C2E3A977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801791" y="2144111"/>
                <a:ext cx="179073" cy="179073"/>
              </a:xfrm>
              <a:prstGeom prst="rect">
                <a:avLst/>
              </a:prstGeom>
            </p:spPr>
          </p:pic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65675F2-92FF-C4A1-4B78-7840A080D077}"/>
                </a:ext>
              </a:extLst>
            </p:cNvPr>
            <p:cNvGrpSpPr/>
            <p:nvPr/>
          </p:nvGrpSpPr>
          <p:grpSpPr>
            <a:xfrm>
              <a:off x="2968415" y="2807875"/>
              <a:ext cx="264237" cy="264237"/>
              <a:chOff x="754056" y="2101530"/>
              <a:chExt cx="264237" cy="264237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9FE0A23F-DCF3-8D2D-21F3-56CC3C59ADC9}"/>
                  </a:ext>
                </a:extLst>
              </p:cNvPr>
              <p:cNvSpPr/>
              <p:nvPr/>
            </p:nvSpPr>
            <p:spPr>
              <a:xfrm>
                <a:off x="754056" y="2101530"/>
                <a:ext cx="264237" cy="264237"/>
              </a:xfrm>
              <a:prstGeom prst="ellipse">
                <a:avLst/>
              </a:prstGeom>
              <a:noFill/>
              <a:ln w="12700">
                <a:solidFill>
                  <a:srgbClr val="C6921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>
                  <a:latin typeface="+mj-lt"/>
                </a:endParaRPr>
              </a:p>
            </p:txBody>
          </p:sp>
          <p:pic>
            <p:nvPicPr>
              <p:cNvPr id="59" name="Graphic 58" descr="Document with solid fill">
                <a:extLst>
                  <a:ext uri="{FF2B5EF4-FFF2-40B4-BE49-F238E27FC236}">
                    <a16:creationId xmlns:a16="http://schemas.microsoft.com/office/drawing/2014/main" id="{A7EEF087-9716-DDBE-D279-74D4C6333C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801791" y="2144111"/>
                <a:ext cx="179073" cy="179073"/>
              </a:xfrm>
              <a:prstGeom prst="rect">
                <a:avLst/>
              </a:prstGeom>
            </p:spPr>
          </p:pic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09CA26C-39B2-77EE-3AB1-DB4F0DBC0FDC}"/>
                </a:ext>
              </a:extLst>
            </p:cNvPr>
            <p:cNvCxnSpPr>
              <a:cxnSpLocks/>
              <a:stCxn id="73" idx="6"/>
              <a:endCxn id="65" idx="2"/>
            </p:cNvCxnSpPr>
            <p:nvPr/>
          </p:nvCxnSpPr>
          <p:spPr>
            <a:xfrm flipV="1">
              <a:off x="1576239" y="2061049"/>
              <a:ext cx="1392176" cy="13211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6D6D69D-863A-7AE9-0397-6C2CD65B444E}"/>
                </a:ext>
              </a:extLst>
            </p:cNvPr>
            <p:cNvCxnSpPr>
              <a:cxnSpLocks/>
              <a:stCxn id="73" idx="6"/>
              <a:endCxn id="61" idx="2"/>
            </p:cNvCxnSpPr>
            <p:nvPr/>
          </p:nvCxnSpPr>
          <p:spPr>
            <a:xfrm>
              <a:off x="1576239" y="2193168"/>
              <a:ext cx="1392176" cy="31633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C064052-134A-E5D4-4BFF-E45439CE03C2}"/>
                </a:ext>
              </a:extLst>
            </p:cNvPr>
            <p:cNvCxnSpPr>
              <a:cxnSpLocks/>
              <a:stCxn id="73" idx="6"/>
              <a:endCxn id="58" idx="2"/>
            </p:cNvCxnSpPr>
            <p:nvPr/>
          </p:nvCxnSpPr>
          <p:spPr>
            <a:xfrm>
              <a:off x="1576239" y="2193168"/>
              <a:ext cx="1392176" cy="74682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219DD5D-BCC6-316B-01E2-3396D581AA6D}"/>
                </a:ext>
              </a:extLst>
            </p:cNvPr>
            <p:cNvCxnSpPr>
              <a:cxnSpLocks/>
              <a:stCxn id="71" idx="6"/>
              <a:endCxn id="65" idx="2"/>
            </p:cNvCxnSpPr>
            <p:nvPr/>
          </p:nvCxnSpPr>
          <p:spPr>
            <a:xfrm flipV="1">
              <a:off x="1576239" y="2061049"/>
              <a:ext cx="1392176" cy="56961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B95E4E9-701A-7BFA-3BA5-927F32A9DB7B}"/>
                </a:ext>
              </a:extLst>
            </p:cNvPr>
            <p:cNvCxnSpPr>
              <a:cxnSpLocks/>
              <a:stCxn id="69" idx="6"/>
              <a:endCxn id="58" idx="2"/>
            </p:cNvCxnSpPr>
            <p:nvPr/>
          </p:nvCxnSpPr>
          <p:spPr>
            <a:xfrm flipV="1">
              <a:off x="1576239" y="2939994"/>
              <a:ext cx="1392176" cy="12816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2D02BAC-C8E0-733B-3E85-CF2BA0CDD1B0}"/>
                </a:ext>
              </a:extLst>
            </p:cNvPr>
            <p:cNvSpPr txBox="1"/>
            <p:nvPr/>
          </p:nvSpPr>
          <p:spPr>
            <a:xfrm>
              <a:off x="1064575" y="1804113"/>
              <a:ext cx="75909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00" dirty="0">
                  <a:solidFill>
                    <a:srgbClr val="156082"/>
                  </a:solidFill>
                  <a:latin typeface="+mj-lt"/>
                </a:rPr>
                <a:t>Users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5DD931D-1EC1-A1DB-AABF-057040E4BC19}"/>
                </a:ext>
              </a:extLst>
            </p:cNvPr>
            <p:cNvSpPr txBox="1"/>
            <p:nvPr/>
          </p:nvSpPr>
          <p:spPr>
            <a:xfrm>
              <a:off x="2720988" y="1673701"/>
              <a:ext cx="75909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00" dirty="0">
                  <a:solidFill>
                    <a:srgbClr val="C69213"/>
                  </a:solidFill>
                  <a:latin typeface="+mj-lt"/>
                </a:rPr>
                <a:t>Assets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3714CF6-3FD0-BF70-80B4-7B411A7276A9}"/>
                </a:ext>
              </a:extLst>
            </p:cNvPr>
            <p:cNvSpPr txBox="1"/>
            <p:nvPr/>
          </p:nvSpPr>
          <p:spPr>
            <a:xfrm>
              <a:off x="1054146" y="3242392"/>
              <a:ext cx="75909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00" dirty="0">
                  <a:solidFill>
                    <a:srgbClr val="156082"/>
                  </a:solidFill>
                  <a:latin typeface="+mj-lt"/>
                </a:rPr>
                <a:t>…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09F508C-8D54-66FA-B8A1-5E10C129101C}"/>
                </a:ext>
              </a:extLst>
            </p:cNvPr>
            <p:cNvSpPr txBox="1"/>
            <p:nvPr/>
          </p:nvSpPr>
          <p:spPr>
            <a:xfrm>
              <a:off x="2763157" y="3518310"/>
              <a:ext cx="75909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00" dirty="0">
                  <a:solidFill>
                    <a:srgbClr val="C69213"/>
                  </a:solidFill>
                  <a:latin typeface="+mj-lt"/>
                </a:rPr>
                <a:t>…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EDABFF7-3CCF-5695-9E5D-8218155D2024}"/>
                </a:ext>
              </a:extLst>
            </p:cNvPr>
            <p:cNvGrpSpPr/>
            <p:nvPr/>
          </p:nvGrpSpPr>
          <p:grpSpPr>
            <a:xfrm>
              <a:off x="2975523" y="3235332"/>
              <a:ext cx="264237" cy="264237"/>
              <a:chOff x="754056" y="2101530"/>
              <a:chExt cx="264237" cy="264237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105E225-078C-E494-34B0-C50A271F1413}"/>
                  </a:ext>
                </a:extLst>
              </p:cNvPr>
              <p:cNvSpPr/>
              <p:nvPr/>
            </p:nvSpPr>
            <p:spPr>
              <a:xfrm>
                <a:off x="754056" y="2101530"/>
                <a:ext cx="264237" cy="264237"/>
              </a:xfrm>
              <a:prstGeom prst="ellipse">
                <a:avLst/>
              </a:prstGeom>
              <a:noFill/>
              <a:ln w="12700">
                <a:solidFill>
                  <a:srgbClr val="C6921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>
                  <a:latin typeface="+mj-lt"/>
                </a:endParaRPr>
              </a:p>
            </p:txBody>
          </p:sp>
          <p:pic>
            <p:nvPicPr>
              <p:cNvPr id="57" name="Graphic 56" descr="Document with solid fill">
                <a:extLst>
                  <a:ext uri="{FF2B5EF4-FFF2-40B4-BE49-F238E27FC236}">
                    <a16:creationId xmlns:a16="http://schemas.microsoft.com/office/drawing/2014/main" id="{AAE8DEEA-ED61-336A-271D-BA5250F40A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801791" y="2144111"/>
                <a:ext cx="179073" cy="179073"/>
              </a:xfrm>
              <a:prstGeom prst="rect">
                <a:avLst/>
              </a:prstGeom>
            </p:spPr>
          </p:pic>
        </p:grp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4776A3E-104D-0621-FF15-6EDBE7D3DC57}"/>
                </a:ext>
              </a:extLst>
            </p:cNvPr>
            <p:cNvCxnSpPr>
              <a:cxnSpLocks/>
              <a:stCxn id="71" idx="6"/>
              <a:endCxn id="56" idx="2"/>
            </p:cNvCxnSpPr>
            <p:nvPr/>
          </p:nvCxnSpPr>
          <p:spPr>
            <a:xfrm>
              <a:off x="1576239" y="2630661"/>
              <a:ext cx="1399284" cy="736790"/>
            </a:xfrm>
            <a:prstGeom prst="line">
              <a:avLst/>
            </a:prstGeom>
            <a:ln w="19050">
              <a:solidFill>
                <a:srgbClr val="196B2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9E6ACCB-6F0B-444E-6A7F-5BE65B98301D}"/>
                    </a:ext>
                  </a:extLst>
                </p:cNvPr>
                <p:cNvSpPr txBox="1"/>
                <p:nvPr/>
              </p:nvSpPr>
              <p:spPr>
                <a:xfrm>
                  <a:off x="991310" y="2502202"/>
                  <a:ext cx="312188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  <m:t>𝑢</m:t>
                            </m:r>
                          </m:e>
                          <m:sub>
                            <m: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1000" b="0" i="1" dirty="0">
                    <a:solidFill>
                      <a:srgbClr val="156082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9E6ACCB-6F0B-444E-6A7F-5BE65B9830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310" y="2502202"/>
                  <a:ext cx="312188" cy="24622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2DD8B1B-7A7A-DCE1-D82B-E6C2FA45246D}"/>
                    </a:ext>
                  </a:extLst>
                </p:cNvPr>
                <p:cNvSpPr txBox="1"/>
                <p:nvPr/>
              </p:nvSpPr>
              <p:spPr>
                <a:xfrm>
                  <a:off x="991310" y="2948585"/>
                  <a:ext cx="312188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  <m:t>𝑢</m:t>
                            </m:r>
                          </m:e>
                          <m:sub>
                            <m: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1000" b="0" i="1" dirty="0">
                    <a:solidFill>
                      <a:srgbClr val="156082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2DD8B1B-7A7A-DCE1-D82B-E6C2FA4524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310" y="2948585"/>
                  <a:ext cx="312188" cy="24622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81C723E7-BBA2-4B9C-8E9D-9947A69B1532}"/>
                    </a:ext>
                  </a:extLst>
                </p:cNvPr>
                <p:cNvSpPr txBox="1"/>
                <p:nvPr/>
              </p:nvSpPr>
              <p:spPr>
                <a:xfrm>
                  <a:off x="3229175" y="1904779"/>
                  <a:ext cx="305964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1000" b="0" i="1" dirty="0">
                    <a:solidFill>
                      <a:srgbClr val="C69213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81C723E7-BBA2-4B9C-8E9D-9947A69B1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9175" y="1904779"/>
                  <a:ext cx="305964" cy="24622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E38BB67-82A4-B14A-FB37-0407D3255CC8}"/>
                    </a:ext>
                  </a:extLst>
                </p:cNvPr>
                <p:cNvSpPr txBox="1"/>
                <p:nvPr/>
              </p:nvSpPr>
              <p:spPr>
                <a:xfrm>
                  <a:off x="3229175" y="2336925"/>
                  <a:ext cx="312188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1000" b="0" i="1" dirty="0">
                    <a:solidFill>
                      <a:srgbClr val="C69213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E38BB67-82A4-B14A-FB37-0407D3255C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9175" y="2336925"/>
                  <a:ext cx="312188" cy="24622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DF325D6-C08F-CD5E-B90D-369F317587E4}"/>
                    </a:ext>
                  </a:extLst>
                </p:cNvPr>
                <p:cNvSpPr txBox="1"/>
                <p:nvPr/>
              </p:nvSpPr>
              <p:spPr>
                <a:xfrm>
                  <a:off x="3229175" y="2783308"/>
                  <a:ext cx="312188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1000" b="0" i="1" dirty="0">
                    <a:solidFill>
                      <a:srgbClr val="C69213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DF325D6-C08F-CD5E-B90D-369F317587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9175" y="2783308"/>
                  <a:ext cx="312188" cy="24622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BE6DB71-CEB4-2668-F6A1-769EC0962D42}"/>
                    </a:ext>
                  </a:extLst>
                </p:cNvPr>
                <p:cNvSpPr txBox="1"/>
                <p:nvPr/>
              </p:nvSpPr>
              <p:spPr>
                <a:xfrm>
                  <a:off x="3222950" y="3203037"/>
                  <a:ext cx="312188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GB" sz="1000" b="0" i="1" dirty="0">
                    <a:solidFill>
                      <a:srgbClr val="C69213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BE6DB71-CEB4-2668-F6A1-769EC0962D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50" y="3203037"/>
                  <a:ext cx="312188" cy="2462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F28D9353-3294-B93F-07A5-A1758A8AE581}"/>
                    </a:ext>
                  </a:extLst>
                </p:cNvPr>
                <p:cNvSpPr txBox="1"/>
                <p:nvPr/>
              </p:nvSpPr>
              <p:spPr>
                <a:xfrm>
                  <a:off x="991310" y="2045752"/>
                  <a:ext cx="312188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  <m:t>𝑢</m:t>
                            </m:r>
                          </m:e>
                          <m:sub>
                            <m: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1000" b="0" i="1" dirty="0">
                    <a:solidFill>
                      <a:srgbClr val="156082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F28D9353-3294-B93F-07A5-A1758A8AE5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310" y="2045752"/>
                  <a:ext cx="312188" cy="24622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18055D1-7183-A1B7-0E81-E8B0EC8958B6}"/>
                </a:ext>
              </a:extLst>
            </p:cNvPr>
            <p:cNvSpPr txBox="1"/>
            <p:nvPr/>
          </p:nvSpPr>
          <p:spPr>
            <a:xfrm>
              <a:off x="1676550" y="3077858"/>
              <a:ext cx="101502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000" dirty="0">
                  <a:solidFill>
                    <a:schemeClr val="tx2">
                      <a:lumMod val="50000"/>
                    </a:schemeClr>
                  </a:solidFill>
                  <a:latin typeface="+mj-lt"/>
                </a:rPr>
                <a:t>Positive</a:t>
              </a:r>
            </a:p>
            <a:p>
              <a:pPr algn="ctr"/>
              <a:r>
                <a:rPr lang="en-GB" sz="1000" dirty="0">
                  <a:solidFill>
                    <a:schemeClr val="tx2">
                      <a:lumMod val="50000"/>
                    </a:schemeClr>
                  </a:solidFill>
                  <a:latin typeface="+mj-lt"/>
                </a:rPr>
                <a:t>Interactions</a:t>
              </a:r>
              <a:endParaRPr lang="en-SG" sz="1000" dirty="0">
                <a:solidFill>
                  <a:schemeClr val="tx2">
                    <a:lumMod val="50000"/>
                  </a:schemeClr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4469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96AAA-9CFB-AED1-BC59-DE3627DA5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A3019-3041-C78D-18F5-A1B5BE80C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dirty="0">
                <a:solidFill>
                  <a:srgbClr val="156082"/>
                </a:solidFill>
              </a:rPr>
              <a:t>Back propagation tunes model to prefer purchased assets</a:t>
            </a:r>
            <a:endParaRPr sz="2000" b="1" dirty="0">
              <a:solidFill>
                <a:srgbClr val="15608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7DB0C-B94E-E090-5878-D67670E7C1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 dirty="0">
                <a:latin typeface="+mj-lt"/>
              </a:rPr>
              <a:t>github.com/</a:t>
            </a:r>
            <a:r>
              <a:rPr lang="en-SG" dirty="0" err="1">
                <a:latin typeface="+mj-lt"/>
              </a:rPr>
              <a:t>Samthesimpsons</a:t>
            </a:r>
            <a:r>
              <a:rPr lang="en-SG" dirty="0">
                <a:latin typeface="+mj-lt"/>
              </a:rPr>
              <a:t>/Risk-Based-Segmentation-for-FAR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C79FC8-BF05-8CCF-09BE-70AE4A31F204}"/>
                  </a:ext>
                </a:extLst>
              </p:cNvPr>
              <p:cNvSpPr txBox="1"/>
              <p:nvPr/>
            </p:nvSpPr>
            <p:spPr>
              <a:xfrm>
                <a:off x="3955824" y="1316736"/>
                <a:ext cx="4734041" cy="3052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lvl="5" indent="-171450"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1200" dirty="0">
                    <a:solidFill>
                      <a:schemeClr val="tx1"/>
                    </a:solidFill>
                    <a:latin typeface="+mj-lt"/>
                  </a:rPr>
                  <a:t>Build a mini-batch (size </a:t>
                </a:r>
                <a14:m>
                  <m:oMath xmlns:m="http://schemas.openxmlformats.org/officeDocument/2006/math">
                    <m:r>
                      <a:rPr lang="en-GB" sz="1200" i="1" dirty="0" smtClean="0">
                        <a:solidFill>
                          <a:schemeClr val="tx1"/>
                        </a:solidFill>
                        <a:latin typeface="+mj-lt"/>
                      </a:rPr>
                      <m:t>𝐵</m:t>
                    </m:r>
                  </m:oMath>
                </a14:m>
                <a:r>
                  <a:rPr lang="en-GB" sz="1200" dirty="0">
                    <a:solidFill>
                      <a:schemeClr val="tx1"/>
                    </a:solidFill>
                    <a:latin typeface="+mj-lt"/>
                  </a:rPr>
                  <a:t>) of positive interactions</a:t>
                </a:r>
              </a:p>
              <a:p>
                <a:pPr marL="171450" lvl="5" indent="-171450"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1200" dirty="0">
                    <a:solidFill>
                      <a:schemeClr val="tx1"/>
                    </a:solidFill>
                    <a:latin typeface="+mj-lt"/>
                  </a:rPr>
                  <a:t>For each </a:t>
                </a:r>
                <a:r>
                  <a:rPr lang="en-GB" sz="1200" b="1" dirty="0">
                    <a:solidFill>
                      <a:schemeClr val="tx1"/>
                    </a:solidFill>
                    <a:latin typeface="+mj-lt"/>
                  </a:rPr>
                  <a:t>positive</a:t>
                </a:r>
                <a:r>
                  <a:rPr lang="en-GB" sz="1200" dirty="0">
                    <a:solidFill>
                      <a:schemeClr val="tx1"/>
                    </a:solidFill>
                    <a:latin typeface="+mj-lt"/>
                  </a:rPr>
                  <a:t> interaction, randomly sample a </a:t>
                </a:r>
                <a:r>
                  <a:rPr lang="en-GB" sz="1200" b="1" dirty="0">
                    <a:solidFill>
                      <a:schemeClr val="tx1"/>
                    </a:solidFill>
                    <a:latin typeface="+mj-lt"/>
                  </a:rPr>
                  <a:t>negative</a:t>
                </a:r>
                <a:r>
                  <a:rPr lang="en-GB" sz="1200" dirty="0">
                    <a:solidFill>
                      <a:schemeClr val="tx1"/>
                    </a:solidFill>
                    <a:latin typeface="+mj-lt"/>
                  </a:rPr>
                  <a:t> asset that the user has not transacted with in the training set</a:t>
                </a:r>
              </a:p>
              <a:p>
                <a:pPr lvl="5">
                  <a:spcBef>
                    <a:spcPts val="2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1200" b="0" i="0" dirty="0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Pairwise</m:t>
                      </m:r>
                      <m:r>
                        <m:rPr>
                          <m:nor/>
                        </m:rPr>
                        <a:rPr lang="en-GB" sz="1200" b="0" i="0" dirty="0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1200" b="0" i="0" dirty="0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probability</m:t>
                      </m:r>
                      <m:r>
                        <m:rPr>
                          <m:nor/>
                        </m:rPr>
                        <a:rPr lang="en-GB" sz="1200" b="0" i="0" dirty="0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200" b="0" i="1" dirty="0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GB" sz="1200" b="0" i="1" dirty="0" smtClean="0">
                              <a:solidFill>
                                <a:schemeClr val="tx1"/>
                              </a:solidFill>
                              <a:latin typeface="+mj-lt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dirty="0" smtClean="0">
                              <a:solidFill>
                                <a:schemeClr val="tx1"/>
                              </a:solidFill>
                              <a:latin typeface="+mj-lt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dirty="0" smtClean="0">
                              <a:solidFill>
                                <a:schemeClr val="tx1"/>
                              </a:solidFill>
                              <a:latin typeface="+mj-lt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200" b="0" i="1" dirty="0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200" i="1" dirty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GB" sz="1200" i="1" dirty="0">
                              <a:solidFill>
                                <a:schemeClr val="tx1"/>
                              </a:solidFill>
                              <a:latin typeface="+mj-lt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GB" sz="1200" i="1" dirty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</m:ctrlPr>
                            </m:sSubSupPr>
                            <m:e>
                              <m:r>
                                <a:rPr lang="en-GB" sz="1200" i="1" dirty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𝑠𝑐𝑜𝑟𝑒</m:t>
                              </m:r>
                            </m:e>
                            <m:sub>
                              <m:r>
                                <a:rPr lang="en-GB" sz="1200" i="1" dirty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200" i="1" dirty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+</m:t>
                              </m:r>
                            </m:sup>
                          </m:sSubSup>
                          <m:r>
                            <a:rPr lang="en-GB" sz="1200" i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m:t>−</m:t>
                          </m:r>
                          <m:r>
                            <a:rPr lang="en-GB" sz="1200" i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m:t>𝑠𝑐𝑜𝑟</m:t>
                          </m:r>
                          <m:sSubSup>
                            <m:sSubSupPr>
                              <m:ctrlPr>
                                <a:rPr lang="en-GB" sz="1200" i="1" dirty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</m:ctrlPr>
                            </m:sSubSupPr>
                            <m:e>
                              <m:r>
                                <a:rPr lang="en-GB" sz="1200" i="1" dirty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GB" sz="1200" i="1" dirty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200" i="1" dirty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−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SG" sz="1200" i="1" dirty="0">
                  <a:solidFill>
                    <a:schemeClr val="tx1"/>
                  </a:solidFill>
                  <a:latin typeface="+mj-lt"/>
                </a:endParaRPr>
              </a:p>
              <a:p>
                <a:pPr marL="171450" lvl="5" indent="-171450"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1200" dirty="0">
                    <a:solidFill>
                      <a:schemeClr val="tx1"/>
                    </a:solidFill>
                    <a:latin typeface="+mj-lt"/>
                  </a:rPr>
                  <a:t>Then the maximum likelihood: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subHide m:val="on"/>
                        <m:supHide m:val="on"/>
                        <m:ctrlPr>
                          <a:rPr lang="en-GB" sz="1200" b="0" i="1" smtClean="0">
                            <a:solidFill>
                              <a:schemeClr val="tx1"/>
                            </a:solidFill>
                            <a:latin typeface="+mj-lt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𝑝</m:t>
                            </m:r>
                          </m:e>
                          <m:sub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sz="1200" b="0" i="1" dirty="0">
                  <a:solidFill>
                    <a:schemeClr val="tx1"/>
                  </a:solidFill>
                  <a:latin typeface="+mj-lt"/>
                </a:endParaRPr>
              </a:p>
              <a:p>
                <a:pPr marL="171450" lvl="5" indent="-171450"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1200" b="0" dirty="0">
                    <a:solidFill>
                      <a:schemeClr val="tx1"/>
                    </a:solidFill>
                    <a:latin typeface="+mj-lt"/>
                  </a:rPr>
                  <a:t>Likewise, the maximum log-likelihood: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200" b="0" i="1" smtClean="0">
                            <a:solidFill>
                              <a:schemeClr val="tx1"/>
                            </a:solidFill>
                            <a:latin typeface="+mj-lt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 b="0" i="0" smtClean="0">
                            <a:solidFill>
                              <a:schemeClr val="tx1"/>
                            </a:solidFill>
                            <a:latin typeface="+mj-lt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</m:ctrlPr>
                          </m:dPr>
                          <m:e>
                            <m:nary>
                              <m:naryPr>
                                <m:chr m:val="∏"/>
                                <m:subHide m:val="on"/>
                                <m:supHide m:val="on"/>
                                <m:ctrlPr>
                                  <a:rPr lang="en-GB" sz="1200" i="1">
                                    <a:solidFill>
                                      <a:schemeClr val="tx1"/>
                                    </a:solidFill>
                                    <a:latin typeface="+mj-lt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n-GB" sz="1200" i="1">
                                        <a:solidFill>
                                          <a:schemeClr val="tx1"/>
                                        </a:solidFill>
                                        <a:latin typeface="+mj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i="1">
                                        <a:solidFill>
                                          <a:schemeClr val="tx1"/>
                                        </a:solidFill>
                                        <a:latin typeface="+mj-lt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GB" sz="1200" i="1">
                                        <a:solidFill>
                                          <a:schemeClr val="tx1"/>
                                        </a:solidFill>
                                        <a:latin typeface="+mj-lt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</m:func>
                    <m:r>
                      <a:rPr lang="en-GB" sz="1200" b="0" i="1" smtClean="0">
                        <a:solidFill>
                          <a:schemeClr val="tx1"/>
                        </a:solidFill>
                        <a:latin typeface="+mj-lt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GB" sz="1200" b="0" i="1" smtClean="0">
                            <a:solidFill>
                              <a:schemeClr val="tx1"/>
                            </a:solidFill>
                            <a:latin typeface="+mj-lt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200" b="0" i="0" smtClean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log</m:t>
                            </m:r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⁡(</m:t>
                            </m:r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𝑝</m:t>
                            </m:r>
                          </m:e>
                          <m:sub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𝑖</m:t>
                            </m:r>
                          </m:sub>
                        </m:sSub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+mj-lt"/>
                          </a:rPr>
                          <m:t>)</m:t>
                        </m:r>
                      </m:e>
                    </m:nary>
                    <m:r>
                      <a:rPr lang="en-GB" sz="1200" b="0" i="1" smtClean="0">
                        <a:solidFill>
                          <a:schemeClr val="tx1"/>
                        </a:solidFill>
                        <a:latin typeface="+mj-lt"/>
                      </a:rPr>
                      <m:t> </m:t>
                    </m:r>
                  </m:oMath>
                </a14:m>
                <a:endParaRPr lang="en-SG" sz="1200" b="0" i="1" dirty="0">
                  <a:solidFill>
                    <a:schemeClr val="tx1"/>
                  </a:solidFill>
                  <a:latin typeface="+mj-lt"/>
                </a:endParaRPr>
              </a:p>
              <a:p>
                <a:pPr marL="171450" lvl="5" indent="-171450"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1200" dirty="0">
                    <a:solidFill>
                      <a:schemeClr val="tx1"/>
                    </a:solidFill>
                    <a:latin typeface="+mj-lt"/>
                    <a:ea typeface="Cambria Math" panose="02040503050406030204" pitchFamily="18" charset="0"/>
                  </a:rPr>
                  <a:t>Converting to a loss function (BPR loss): </a:t>
                </a:r>
              </a:p>
              <a:p>
                <a:pPr lvl="5">
                  <a:spcBef>
                    <a:spcPts val="2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dirty="0" smtClean="0">
                              <a:solidFill>
                                <a:schemeClr val="tx1"/>
                              </a:solidFill>
                              <a:latin typeface="+mj-lt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solidFill>
                                <a:schemeClr val="tx1"/>
                              </a:solidFill>
                              <a:latin typeface="+mj-lt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solidFill>
                                <a:schemeClr val="tx1"/>
                              </a:solidFill>
                              <a:latin typeface="+mj-lt"/>
                              <a:ea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1200" b="0" i="1" dirty="0" smtClean="0">
                              <a:solidFill>
                                <a:schemeClr val="tx1"/>
                              </a:solidFill>
                              <a:latin typeface="+mj-lt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200" b="0" i="1" dirty="0" smtClean="0">
                              <a:solidFill>
                                <a:schemeClr val="tx1"/>
                              </a:solidFill>
                              <a:latin typeface="+mj-lt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200" b="0" i="1" dirty="0" smtClean="0">
                              <a:solidFill>
                                <a:schemeClr val="tx1"/>
                              </a:solidFill>
                              <a:latin typeface="+mj-lt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200" b="0" i="1" dirty="0" smtClean="0">
                              <a:solidFill>
                                <a:schemeClr val="tx1"/>
                              </a:solidFill>
                              <a:latin typeface="+mj-lt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func>
                            <m:funcPr>
                              <m:ctrlPr>
                                <a:rPr lang="en-GB" sz="1200" b="0" i="1" dirty="0" smtClean="0">
                                  <a:solidFill>
                                    <a:schemeClr val="tx1"/>
                                  </a:solidFill>
                                  <a:latin typeface="+mj-lt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200" b="0" i="0" dirty="0" smtClean="0">
                                  <a:solidFill>
                                    <a:schemeClr val="tx1"/>
                                  </a:solidFill>
                                  <a:latin typeface="+mj-lt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SG" sz="1200" b="0" i="1" dirty="0" smtClean="0">
                                  <a:solidFill>
                                    <a:schemeClr val="tx1"/>
                                  </a:solidFill>
                                  <a:latin typeface="+mj-lt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SG" sz="1200" b="0" i="1" dirty="0" smtClean="0">
                                      <a:solidFill>
                                        <a:schemeClr val="tx1"/>
                                      </a:solidFill>
                                      <a:latin typeface="+mj-lt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sz="1200" b="0" i="1" dirty="0" smtClean="0">
                                      <a:solidFill>
                                        <a:schemeClr val="tx1"/>
                                      </a:solidFill>
                                      <a:latin typeface="+mj-lt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SG" sz="1200" b="0" i="1" dirty="0" smtClean="0">
                                      <a:solidFill>
                                        <a:schemeClr val="tx1"/>
                                      </a:solidFill>
                                      <a:latin typeface="+mj-lt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SG" sz="1200" b="0" i="1" dirty="0" smtClean="0">
                                  <a:solidFill>
                                    <a:schemeClr val="tx1"/>
                                  </a:solidFill>
                                  <a:latin typeface="+mj-lt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GB" sz="1200" dirty="0">
                  <a:solidFill>
                    <a:schemeClr val="tx1"/>
                  </a:solidFill>
                  <a:latin typeface="+mj-lt"/>
                </a:endParaRPr>
              </a:p>
              <a:p>
                <a:pPr marL="171450" indent="-171450"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1200" dirty="0">
                    <a:solidFill>
                      <a:schemeClr val="tx1"/>
                    </a:solidFill>
                    <a:latin typeface="+mj-lt"/>
                  </a:rPr>
                  <a:t>Back propagate to update the user &amp; asset embedding weights</a:t>
                </a:r>
              </a:p>
              <a:p>
                <a:pPr marL="171450" indent="-171450"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1200" dirty="0">
                    <a:solidFill>
                      <a:schemeClr val="tx1"/>
                    </a:solidFill>
                    <a:latin typeface="+mj-lt"/>
                  </a:rPr>
                  <a:t>Continue with next mini-batch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C79FC8-BF05-8CCF-09BE-70AE4A31F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824" y="1316736"/>
                <a:ext cx="4734041" cy="3052502"/>
              </a:xfrm>
              <a:prstGeom prst="rect">
                <a:avLst/>
              </a:prstGeom>
              <a:blipFill>
                <a:blip r:embed="rId3"/>
                <a:stretch>
                  <a:fillRect t="-200" b="-39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3CF3875E-3214-ED7F-5BA6-0D78FAF4FB59}"/>
              </a:ext>
            </a:extLst>
          </p:cNvPr>
          <p:cNvGrpSpPr/>
          <p:nvPr/>
        </p:nvGrpSpPr>
        <p:grpSpPr>
          <a:xfrm>
            <a:off x="1018354" y="1316736"/>
            <a:ext cx="2550053" cy="2090830"/>
            <a:chOff x="991310" y="1673701"/>
            <a:chExt cx="2550053" cy="209083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09952E9-B3DB-D652-7CBD-7A8AF615100F}"/>
                </a:ext>
              </a:extLst>
            </p:cNvPr>
            <p:cNvGrpSpPr/>
            <p:nvPr/>
          </p:nvGrpSpPr>
          <p:grpSpPr>
            <a:xfrm>
              <a:off x="1312002" y="2061049"/>
              <a:ext cx="264237" cy="264237"/>
              <a:chOff x="754056" y="2101530"/>
              <a:chExt cx="264237" cy="264237"/>
            </a:xfrm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01ADC53B-9A01-AFAD-FA2E-12F1288AE45B}"/>
                  </a:ext>
                </a:extLst>
              </p:cNvPr>
              <p:cNvSpPr/>
              <p:nvPr/>
            </p:nvSpPr>
            <p:spPr>
              <a:xfrm>
                <a:off x="754056" y="2101530"/>
                <a:ext cx="264237" cy="264237"/>
              </a:xfrm>
              <a:prstGeom prst="ellipse">
                <a:avLst/>
              </a:prstGeom>
              <a:noFill/>
              <a:ln w="12700">
                <a:solidFill>
                  <a:srgbClr val="156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>
                  <a:latin typeface="+mj-lt"/>
                </a:endParaRPr>
              </a:p>
            </p:txBody>
          </p:sp>
          <p:pic>
            <p:nvPicPr>
              <p:cNvPr id="74" name="Graphic 73" descr="User with solid fill">
                <a:extLst>
                  <a:ext uri="{FF2B5EF4-FFF2-40B4-BE49-F238E27FC236}">
                    <a16:creationId xmlns:a16="http://schemas.microsoft.com/office/drawing/2014/main" id="{7AFC1178-4C6F-DA04-DC7E-2CBE32F7F0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69419" y="2116893"/>
                <a:ext cx="233511" cy="233511"/>
              </a:xfrm>
              <a:prstGeom prst="rect">
                <a:avLst/>
              </a:prstGeom>
            </p:spPr>
          </p:pic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D0699F0-6982-55AF-5C4E-8D87B1CE4DB2}"/>
                </a:ext>
              </a:extLst>
            </p:cNvPr>
            <p:cNvGrpSpPr/>
            <p:nvPr/>
          </p:nvGrpSpPr>
          <p:grpSpPr>
            <a:xfrm>
              <a:off x="1312002" y="2498542"/>
              <a:ext cx="264237" cy="264237"/>
              <a:chOff x="754056" y="2101530"/>
              <a:chExt cx="264237" cy="264237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D21BD638-74CA-BFA8-AF11-86A06FC69428}"/>
                  </a:ext>
                </a:extLst>
              </p:cNvPr>
              <p:cNvSpPr/>
              <p:nvPr/>
            </p:nvSpPr>
            <p:spPr>
              <a:xfrm>
                <a:off x="754056" y="2101530"/>
                <a:ext cx="264237" cy="264237"/>
              </a:xfrm>
              <a:prstGeom prst="ellipse">
                <a:avLst/>
              </a:prstGeom>
              <a:noFill/>
              <a:ln w="12700">
                <a:solidFill>
                  <a:srgbClr val="156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>
                  <a:latin typeface="+mj-lt"/>
                </a:endParaRPr>
              </a:p>
            </p:txBody>
          </p:sp>
          <p:pic>
            <p:nvPicPr>
              <p:cNvPr id="72" name="Graphic 71" descr="User with solid fill">
                <a:extLst>
                  <a:ext uri="{FF2B5EF4-FFF2-40B4-BE49-F238E27FC236}">
                    <a16:creationId xmlns:a16="http://schemas.microsoft.com/office/drawing/2014/main" id="{0372154A-371B-14A2-F0F4-59DB48AD2F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69419" y="2116893"/>
                <a:ext cx="233511" cy="233511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D8F51CD-E600-89D9-9830-D18CADEB7E77}"/>
                </a:ext>
              </a:extLst>
            </p:cNvPr>
            <p:cNvGrpSpPr/>
            <p:nvPr/>
          </p:nvGrpSpPr>
          <p:grpSpPr>
            <a:xfrm>
              <a:off x="1312002" y="2936035"/>
              <a:ext cx="264237" cy="264237"/>
              <a:chOff x="754056" y="2101530"/>
              <a:chExt cx="264237" cy="264237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2B8FA177-AE67-3F57-3911-2B6F8055C79E}"/>
                  </a:ext>
                </a:extLst>
              </p:cNvPr>
              <p:cNvSpPr/>
              <p:nvPr/>
            </p:nvSpPr>
            <p:spPr>
              <a:xfrm>
                <a:off x="754056" y="2101530"/>
                <a:ext cx="264237" cy="264237"/>
              </a:xfrm>
              <a:prstGeom prst="ellipse">
                <a:avLst/>
              </a:prstGeom>
              <a:noFill/>
              <a:ln w="12700">
                <a:solidFill>
                  <a:srgbClr val="156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>
                  <a:latin typeface="+mj-lt"/>
                </a:endParaRPr>
              </a:p>
            </p:txBody>
          </p:sp>
          <p:pic>
            <p:nvPicPr>
              <p:cNvPr id="70" name="Graphic 69" descr="User with solid fill">
                <a:extLst>
                  <a:ext uri="{FF2B5EF4-FFF2-40B4-BE49-F238E27FC236}">
                    <a16:creationId xmlns:a16="http://schemas.microsoft.com/office/drawing/2014/main" id="{1EE9FF87-6ACC-BE61-8CB4-E387CB43DA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69419" y="2116893"/>
                <a:ext cx="233511" cy="233511"/>
              </a:xfrm>
              <a:prstGeom prst="rect">
                <a:avLst/>
              </a:prstGeom>
            </p:spPr>
          </p:pic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5A2A7D9-4E3E-8620-2FCA-082ED3801F43}"/>
                </a:ext>
              </a:extLst>
            </p:cNvPr>
            <p:cNvGrpSpPr/>
            <p:nvPr/>
          </p:nvGrpSpPr>
          <p:grpSpPr>
            <a:xfrm>
              <a:off x="2968415" y="1928930"/>
              <a:ext cx="264237" cy="264237"/>
              <a:chOff x="754056" y="2101530"/>
              <a:chExt cx="264237" cy="264237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E180AC3B-2242-BF2C-9E25-ADB52FF6EC1B}"/>
                  </a:ext>
                </a:extLst>
              </p:cNvPr>
              <p:cNvSpPr/>
              <p:nvPr/>
            </p:nvSpPr>
            <p:spPr>
              <a:xfrm>
                <a:off x="754056" y="2101530"/>
                <a:ext cx="264237" cy="264237"/>
              </a:xfrm>
              <a:prstGeom prst="ellipse">
                <a:avLst/>
              </a:prstGeom>
              <a:noFill/>
              <a:ln w="12700">
                <a:solidFill>
                  <a:srgbClr val="C6921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>
                  <a:latin typeface="+mj-lt"/>
                </a:endParaRPr>
              </a:p>
            </p:txBody>
          </p:sp>
          <p:pic>
            <p:nvPicPr>
              <p:cNvPr id="67" name="Graphic 66" descr="Document with solid fill">
                <a:extLst>
                  <a:ext uri="{FF2B5EF4-FFF2-40B4-BE49-F238E27FC236}">
                    <a16:creationId xmlns:a16="http://schemas.microsoft.com/office/drawing/2014/main" id="{8817B8FD-9CC2-51BC-4B53-9A75D1B66C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801791" y="2144111"/>
                <a:ext cx="179073" cy="179073"/>
              </a:xfrm>
              <a:prstGeom prst="rect">
                <a:avLst/>
              </a:prstGeom>
            </p:spPr>
          </p:pic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8BB93DD-5867-C301-6B24-BECDA3F3F6E9}"/>
                </a:ext>
              </a:extLst>
            </p:cNvPr>
            <p:cNvGrpSpPr/>
            <p:nvPr/>
          </p:nvGrpSpPr>
          <p:grpSpPr>
            <a:xfrm>
              <a:off x="2968415" y="2377380"/>
              <a:ext cx="264237" cy="264237"/>
              <a:chOff x="754056" y="2101530"/>
              <a:chExt cx="264237" cy="264237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FF6042A9-E94A-F04B-A124-99DF038F6E21}"/>
                  </a:ext>
                </a:extLst>
              </p:cNvPr>
              <p:cNvSpPr/>
              <p:nvPr/>
            </p:nvSpPr>
            <p:spPr>
              <a:xfrm>
                <a:off x="754056" y="2101530"/>
                <a:ext cx="264237" cy="264237"/>
              </a:xfrm>
              <a:prstGeom prst="ellipse">
                <a:avLst/>
              </a:prstGeom>
              <a:noFill/>
              <a:ln w="12700">
                <a:solidFill>
                  <a:srgbClr val="C6921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>
                  <a:latin typeface="+mj-lt"/>
                </a:endParaRPr>
              </a:p>
            </p:txBody>
          </p:sp>
          <p:pic>
            <p:nvPicPr>
              <p:cNvPr id="63" name="Graphic 62" descr="Document with solid fill">
                <a:extLst>
                  <a:ext uri="{FF2B5EF4-FFF2-40B4-BE49-F238E27FC236}">
                    <a16:creationId xmlns:a16="http://schemas.microsoft.com/office/drawing/2014/main" id="{1A598045-F42D-32A1-2EA3-1116C89E8F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801791" y="2144111"/>
                <a:ext cx="179073" cy="179073"/>
              </a:xfrm>
              <a:prstGeom prst="rect">
                <a:avLst/>
              </a:prstGeom>
            </p:spPr>
          </p:pic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CA719F8-11D2-CD56-ED79-38A7B5BFCE8D}"/>
                </a:ext>
              </a:extLst>
            </p:cNvPr>
            <p:cNvGrpSpPr/>
            <p:nvPr/>
          </p:nvGrpSpPr>
          <p:grpSpPr>
            <a:xfrm>
              <a:off x="2968415" y="2807875"/>
              <a:ext cx="264237" cy="264237"/>
              <a:chOff x="754056" y="2101530"/>
              <a:chExt cx="264237" cy="264237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778D057A-721A-5D72-5C26-1F4013048B50}"/>
                  </a:ext>
                </a:extLst>
              </p:cNvPr>
              <p:cNvSpPr/>
              <p:nvPr/>
            </p:nvSpPr>
            <p:spPr>
              <a:xfrm>
                <a:off x="754056" y="2101530"/>
                <a:ext cx="264237" cy="264237"/>
              </a:xfrm>
              <a:prstGeom prst="ellipse">
                <a:avLst/>
              </a:prstGeom>
              <a:noFill/>
              <a:ln w="12700">
                <a:solidFill>
                  <a:srgbClr val="C6921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>
                  <a:latin typeface="+mj-lt"/>
                </a:endParaRPr>
              </a:p>
            </p:txBody>
          </p:sp>
          <p:pic>
            <p:nvPicPr>
              <p:cNvPr id="59" name="Graphic 58" descr="Document with solid fill">
                <a:extLst>
                  <a:ext uri="{FF2B5EF4-FFF2-40B4-BE49-F238E27FC236}">
                    <a16:creationId xmlns:a16="http://schemas.microsoft.com/office/drawing/2014/main" id="{9D644B2A-B414-F129-BA42-3C8B4040B0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801791" y="2144111"/>
                <a:ext cx="179073" cy="179073"/>
              </a:xfrm>
              <a:prstGeom prst="rect">
                <a:avLst/>
              </a:prstGeom>
            </p:spPr>
          </p:pic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2B4F177-72B4-CAEA-5A93-2FA55048A914}"/>
                </a:ext>
              </a:extLst>
            </p:cNvPr>
            <p:cNvCxnSpPr>
              <a:cxnSpLocks/>
              <a:stCxn id="73" idx="6"/>
              <a:endCxn id="65" idx="2"/>
            </p:cNvCxnSpPr>
            <p:nvPr/>
          </p:nvCxnSpPr>
          <p:spPr>
            <a:xfrm flipV="1">
              <a:off x="1576239" y="2061049"/>
              <a:ext cx="1392176" cy="132119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D0973-0B03-F092-CFC0-C8F641BAF2BF}"/>
                </a:ext>
              </a:extLst>
            </p:cNvPr>
            <p:cNvCxnSpPr>
              <a:cxnSpLocks/>
              <a:stCxn id="73" idx="6"/>
              <a:endCxn id="61" idx="2"/>
            </p:cNvCxnSpPr>
            <p:nvPr/>
          </p:nvCxnSpPr>
          <p:spPr>
            <a:xfrm>
              <a:off x="1576239" y="2193168"/>
              <a:ext cx="1392176" cy="316331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90DC1F7-814D-2F9B-9F71-2DE53460256C}"/>
                </a:ext>
              </a:extLst>
            </p:cNvPr>
            <p:cNvCxnSpPr>
              <a:cxnSpLocks/>
              <a:stCxn id="73" idx="6"/>
              <a:endCxn id="58" idx="2"/>
            </p:cNvCxnSpPr>
            <p:nvPr/>
          </p:nvCxnSpPr>
          <p:spPr>
            <a:xfrm>
              <a:off x="1576239" y="2193168"/>
              <a:ext cx="1392176" cy="746826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F313C4A-5B21-65AF-8264-0EB0B3E72ABD}"/>
                </a:ext>
              </a:extLst>
            </p:cNvPr>
            <p:cNvCxnSpPr>
              <a:cxnSpLocks/>
              <a:stCxn id="71" idx="6"/>
              <a:endCxn id="65" idx="2"/>
            </p:cNvCxnSpPr>
            <p:nvPr/>
          </p:nvCxnSpPr>
          <p:spPr>
            <a:xfrm flipV="1">
              <a:off x="1576239" y="2061049"/>
              <a:ext cx="1392176" cy="56961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CBEF7FA-6158-0CD1-3729-787872A11B00}"/>
                </a:ext>
              </a:extLst>
            </p:cNvPr>
            <p:cNvCxnSpPr>
              <a:cxnSpLocks/>
              <a:stCxn id="69" idx="6"/>
              <a:endCxn id="58" idx="2"/>
            </p:cNvCxnSpPr>
            <p:nvPr/>
          </p:nvCxnSpPr>
          <p:spPr>
            <a:xfrm flipV="1">
              <a:off x="1576239" y="2939994"/>
              <a:ext cx="1392176" cy="12816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D43D984-D95C-201E-4A19-2F4AAB802E86}"/>
                </a:ext>
              </a:extLst>
            </p:cNvPr>
            <p:cNvSpPr txBox="1"/>
            <p:nvPr/>
          </p:nvSpPr>
          <p:spPr>
            <a:xfrm>
              <a:off x="1064575" y="1804113"/>
              <a:ext cx="75909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00" dirty="0">
                  <a:solidFill>
                    <a:srgbClr val="156082"/>
                  </a:solidFill>
                  <a:latin typeface="+mj-lt"/>
                </a:rPr>
                <a:t>Users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4FF8A35-A24C-42BB-C2B1-2A93D2013245}"/>
                </a:ext>
              </a:extLst>
            </p:cNvPr>
            <p:cNvSpPr txBox="1"/>
            <p:nvPr/>
          </p:nvSpPr>
          <p:spPr>
            <a:xfrm>
              <a:off x="2720988" y="1673701"/>
              <a:ext cx="75909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00" dirty="0">
                  <a:solidFill>
                    <a:srgbClr val="C69213"/>
                  </a:solidFill>
                  <a:latin typeface="+mj-lt"/>
                </a:rPr>
                <a:t>Assets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44047BC-7E7D-CA6F-F824-A8ACAF7E2C34}"/>
                </a:ext>
              </a:extLst>
            </p:cNvPr>
            <p:cNvSpPr txBox="1"/>
            <p:nvPr/>
          </p:nvSpPr>
          <p:spPr>
            <a:xfrm>
              <a:off x="1054146" y="3242392"/>
              <a:ext cx="75909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00" dirty="0">
                  <a:solidFill>
                    <a:srgbClr val="156082"/>
                  </a:solidFill>
                  <a:latin typeface="+mj-lt"/>
                </a:rPr>
                <a:t>…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26BD1E8-A898-202F-742C-E49CF8BCCB5E}"/>
                </a:ext>
              </a:extLst>
            </p:cNvPr>
            <p:cNvSpPr txBox="1"/>
            <p:nvPr/>
          </p:nvSpPr>
          <p:spPr>
            <a:xfrm>
              <a:off x="2763157" y="3518310"/>
              <a:ext cx="75909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00" dirty="0">
                  <a:solidFill>
                    <a:srgbClr val="C69213"/>
                  </a:solidFill>
                  <a:latin typeface="+mj-lt"/>
                </a:rPr>
                <a:t>…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E3701D3A-AA9B-B885-2420-229EAA5E6F7C}"/>
                </a:ext>
              </a:extLst>
            </p:cNvPr>
            <p:cNvGrpSpPr/>
            <p:nvPr/>
          </p:nvGrpSpPr>
          <p:grpSpPr>
            <a:xfrm>
              <a:off x="2975523" y="3235332"/>
              <a:ext cx="264237" cy="264237"/>
              <a:chOff x="754056" y="2101530"/>
              <a:chExt cx="264237" cy="264237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D8871411-64CC-1278-1E13-0F7AF0FEE2ED}"/>
                  </a:ext>
                </a:extLst>
              </p:cNvPr>
              <p:cNvSpPr/>
              <p:nvPr/>
            </p:nvSpPr>
            <p:spPr>
              <a:xfrm>
                <a:off x="754056" y="2101530"/>
                <a:ext cx="264237" cy="264237"/>
              </a:xfrm>
              <a:prstGeom prst="ellipse">
                <a:avLst/>
              </a:prstGeom>
              <a:noFill/>
              <a:ln w="12700">
                <a:solidFill>
                  <a:srgbClr val="C6921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>
                  <a:latin typeface="+mj-lt"/>
                </a:endParaRPr>
              </a:p>
            </p:txBody>
          </p:sp>
          <p:pic>
            <p:nvPicPr>
              <p:cNvPr id="57" name="Graphic 56" descr="Document with solid fill">
                <a:extLst>
                  <a:ext uri="{FF2B5EF4-FFF2-40B4-BE49-F238E27FC236}">
                    <a16:creationId xmlns:a16="http://schemas.microsoft.com/office/drawing/2014/main" id="{27F81F6C-07CF-FFAD-7CE3-554A65A1CC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801791" y="2144111"/>
                <a:ext cx="179073" cy="179073"/>
              </a:xfrm>
              <a:prstGeom prst="rect">
                <a:avLst/>
              </a:prstGeom>
            </p:spPr>
          </p:pic>
        </p:grp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E2B41A3-36C1-FAA0-E3EC-D3BCBAAEC2EB}"/>
                </a:ext>
              </a:extLst>
            </p:cNvPr>
            <p:cNvCxnSpPr>
              <a:cxnSpLocks/>
              <a:stCxn id="71" idx="6"/>
              <a:endCxn id="56" idx="2"/>
            </p:cNvCxnSpPr>
            <p:nvPr/>
          </p:nvCxnSpPr>
          <p:spPr>
            <a:xfrm>
              <a:off x="1576239" y="2630661"/>
              <a:ext cx="1399284" cy="73679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B88D9A3-819E-1B77-E4AA-3F912228B774}"/>
                    </a:ext>
                  </a:extLst>
                </p:cNvPr>
                <p:cNvSpPr txBox="1"/>
                <p:nvPr/>
              </p:nvSpPr>
              <p:spPr>
                <a:xfrm>
                  <a:off x="991310" y="2502202"/>
                  <a:ext cx="312188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  <m:t>𝑢</m:t>
                            </m:r>
                          </m:e>
                          <m:sub>
                            <m: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1000" b="0" i="1" dirty="0">
                    <a:solidFill>
                      <a:srgbClr val="156082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B88D9A3-819E-1B77-E4AA-3F912228B7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310" y="2502202"/>
                  <a:ext cx="312188" cy="24622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4EB645B-639F-AC68-B87D-622BDE4584F0}"/>
                    </a:ext>
                  </a:extLst>
                </p:cNvPr>
                <p:cNvSpPr txBox="1"/>
                <p:nvPr/>
              </p:nvSpPr>
              <p:spPr>
                <a:xfrm>
                  <a:off x="991310" y="2948585"/>
                  <a:ext cx="312188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  <m:t>𝑢</m:t>
                            </m:r>
                          </m:e>
                          <m:sub>
                            <m: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1000" b="0" i="1" dirty="0">
                    <a:solidFill>
                      <a:srgbClr val="156082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4EB645B-639F-AC68-B87D-622BDE4584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310" y="2948585"/>
                  <a:ext cx="312188" cy="24622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4DEC443D-F4FA-6BA6-7C22-35BD9578786C}"/>
                    </a:ext>
                  </a:extLst>
                </p:cNvPr>
                <p:cNvSpPr txBox="1"/>
                <p:nvPr/>
              </p:nvSpPr>
              <p:spPr>
                <a:xfrm>
                  <a:off x="3229175" y="1904779"/>
                  <a:ext cx="305964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1000" b="0" i="1" dirty="0">
                    <a:solidFill>
                      <a:srgbClr val="C69213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4DEC443D-F4FA-6BA6-7C22-35BD957878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9175" y="1904779"/>
                  <a:ext cx="305964" cy="24622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3C3D316-85B7-A868-F355-333DBC02C8FF}"/>
                    </a:ext>
                  </a:extLst>
                </p:cNvPr>
                <p:cNvSpPr txBox="1"/>
                <p:nvPr/>
              </p:nvSpPr>
              <p:spPr>
                <a:xfrm>
                  <a:off x="3229175" y="2336925"/>
                  <a:ext cx="312188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1000" b="0" i="1" dirty="0">
                    <a:solidFill>
                      <a:srgbClr val="C69213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3C3D316-85B7-A868-F355-333DBC02C8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9175" y="2336925"/>
                  <a:ext cx="312188" cy="24622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D153C21-474C-A849-0182-3045BC9B3433}"/>
                    </a:ext>
                  </a:extLst>
                </p:cNvPr>
                <p:cNvSpPr txBox="1"/>
                <p:nvPr/>
              </p:nvSpPr>
              <p:spPr>
                <a:xfrm>
                  <a:off x="3229175" y="2783308"/>
                  <a:ext cx="312188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1000" b="0" i="1" dirty="0">
                    <a:solidFill>
                      <a:srgbClr val="C69213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D153C21-474C-A849-0182-3045BC9B34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9175" y="2783308"/>
                  <a:ext cx="312188" cy="24622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5F6304B5-AC3E-3D65-840F-C8EE1AD84170}"/>
                    </a:ext>
                  </a:extLst>
                </p:cNvPr>
                <p:cNvSpPr txBox="1"/>
                <p:nvPr/>
              </p:nvSpPr>
              <p:spPr>
                <a:xfrm>
                  <a:off x="3222950" y="3203037"/>
                  <a:ext cx="312188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000" b="0" i="1" dirty="0" smtClean="0">
                                <a:solidFill>
                                  <a:srgbClr val="C69213"/>
                                </a:solidFill>
                                <a:latin typeface="+mj-lt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GB" sz="1000" b="0" i="1" dirty="0">
                    <a:solidFill>
                      <a:srgbClr val="C69213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5F6304B5-AC3E-3D65-840F-C8EE1AD841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50" y="3203037"/>
                  <a:ext cx="312188" cy="2462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47DA8F17-DE01-A723-8C60-4B47FB1B64BE}"/>
                    </a:ext>
                  </a:extLst>
                </p:cNvPr>
                <p:cNvSpPr txBox="1"/>
                <p:nvPr/>
              </p:nvSpPr>
              <p:spPr>
                <a:xfrm>
                  <a:off x="991310" y="2045752"/>
                  <a:ext cx="312188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  <m:t>𝑢</m:t>
                            </m:r>
                          </m:e>
                          <m:sub>
                            <m:r>
                              <a:rPr lang="en-GB" sz="1000" b="0" i="1" dirty="0" smtClean="0">
                                <a:solidFill>
                                  <a:srgbClr val="156082"/>
                                </a:solidFill>
                                <a:latin typeface="+mj-lt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1000" b="0" i="1" dirty="0">
                    <a:solidFill>
                      <a:srgbClr val="156082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47DA8F17-DE01-A723-8C60-4B47FB1B64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310" y="2045752"/>
                  <a:ext cx="312188" cy="24622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CB7C399-B70E-91F6-5B9E-05F0CCC0EA8C}"/>
                </a:ext>
              </a:extLst>
            </p:cNvPr>
            <p:cNvSpPr txBox="1"/>
            <p:nvPr/>
          </p:nvSpPr>
          <p:spPr>
            <a:xfrm>
              <a:off x="1756352" y="1711806"/>
              <a:ext cx="101502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000" dirty="0">
                  <a:solidFill>
                    <a:schemeClr val="tx2">
                      <a:lumMod val="50000"/>
                    </a:schemeClr>
                  </a:solidFill>
                  <a:latin typeface="+mj-lt"/>
                </a:rPr>
                <a:t>Positive</a:t>
              </a:r>
            </a:p>
            <a:p>
              <a:pPr algn="ctr"/>
              <a:r>
                <a:rPr lang="en-GB" sz="1000" dirty="0">
                  <a:solidFill>
                    <a:schemeClr val="tx2">
                      <a:lumMod val="50000"/>
                    </a:schemeClr>
                  </a:solidFill>
                  <a:latin typeface="+mj-lt"/>
                </a:rPr>
                <a:t>Interactions</a:t>
              </a:r>
              <a:endParaRPr lang="en-SG" sz="1000" dirty="0">
                <a:solidFill>
                  <a:schemeClr val="tx2">
                    <a:lumMod val="50000"/>
                  </a:schemeClr>
                </a:solidFill>
                <a:latin typeface="+mj-lt"/>
              </a:endParaRPr>
            </a:p>
          </p:txBody>
        </p: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B8BAB96-A952-97B7-EC98-A5CEEB94D0BC}"/>
              </a:ext>
            </a:extLst>
          </p:cNvPr>
          <p:cNvCxnSpPr>
            <a:cxnSpLocks/>
            <a:stCxn id="69" idx="6"/>
            <a:endCxn id="56" idx="2"/>
          </p:cNvCxnSpPr>
          <p:nvPr/>
        </p:nvCxnSpPr>
        <p:spPr>
          <a:xfrm>
            <a:off x="1603283" y="2711189"/>
            <a:ext cx="1399284" cy="299297"/>
          </a:xfrm>
          <a:prstGeom prst="line">
            <a:avLst/>
          </a:prstGeom>
          <a:ln>
            <a:solidFill>
              <a:srgbClr val="F5ADAD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72F15A3-B860-9674-9B08-E80D99A1A786}"/>
              </a:ext>
            </a:extLst>
          </p:cNvPr>
          <p:cNvCxnSpPr>
            <a:cxnSpLocks/>
            <a:stCxn id="69" idx="6"/>
            <a:endCxn id="61" idx="2"/>
          </p:cNvCxnSpPr>
          <p:nvPr/>
        </p:nvCxnSpPr>
        <p:spPr>
          <a:xfrm flipV="1">
            <a:off x="1603283" y="2152534"/>
            <a:ext cx="1392176" cy="558655"/>
          </a:xfrm>
          <a:prstGeom prst="line">
            <a:avLst/>
          </a:prstGeom>
          <a:ln>
            <a:solidFill>
              <a:srgbClr val="F5ADAD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57771D1-E777-D447-0EED-D13B13FDC2FE}"/>
              </a:ext>
            </a:extLst>
          </p:cNvPr>
          <p:cNvCxnSpPr>
            <a:cxnSpLocks/>
            <a:stCxn id="69" idx="6"/>
            <a:endCxn id="65" idx="2"/>
          </p:cNvCxnSpPr>
          <p:nvPr/>
        </p:nvCxnSpPr>
        <p:spPr>
          <a:xfrm flipV="1">
            <a:off x="1603283" y="1704084"/>
            <a:ext cx="1392176" cy="1007105"/>
          </a:xfrm>
          <a:prstGeom prst="line">
            <a:avLst/>
          </a:prstGeom>
          <a:ln>
            <a:solidFill>
              <a:srgbClr val="F5ADAD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942E1D6-F03C-9742-7535-BD6CEE5025F5}"/>
              </a:ext>
            </a:extLst>
          </p:cNvPr>
          <p:cNvCxnSpPr>
            <a:cxnSpLocks/>
            <a:stCxn id="71" idx="6"/>
            <a:endCxn id="61" idx="2"/>
          </p:cNvCxnSpPr>
          <p:nvPr/>
        </p:nvCxnSpPr>
        <p:spPr>
          <a:xfrm flipV="1">
            <a:off x="1603283" y="2152534"/>
            <a:ext cx="1392176" cy="121162"/>
          </a:xfrm>
          <a:prstGeom prst="line">
            <a:avLst/>
          </a:prstGeom>
          <a:ln>
            <a:solidFill>
              <a:srgbClr val="F5ADAD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7AD9EBD-4A5B-D960-669B-1D3C1D68FA6E}"/>
              </a:ext>
            </a:extLst>
          </p:cNvPr>
          <p:cNvCxnSpPr>
            <a:cxnSpLocks/>
            <a:stCxn id="71" idx="6"/>
            <a:endCxn id="58" idx="2"/>
          </p:cNvCxnSpPr>
          <p:nvPr/>
        </p:nvCxnSpPr>
        <p:spPr>
          <a:xfrm>
            <a:off x="1603283" y="2273696"/>
            <a:ext cx="1392176" cy="309333"/>
          </a:xfrm>
          <a:prstGeom prst="line">
            <a:avLst/>
          </a:prstGeom>
          <a:ln>
            <a:solidFill>
              <a:srgbClr val="F5ADAD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AF89BC9-B306-40BE-108F-216394E1AB21}"/>
              </a:ext>
            </a:extLst>
          </p:cNvPr>
          <p:cNvCxnSpPr>
            <a:cxnSpLocks/>
            <a:stCxn id="73" idx="6"/>
            <a:endCxn id="56" idx="2"/>
          </p:cNvCxnSpPr>
          <p:nvPr/>
        </p:nvCxnSpPr>
        <p:spPr>
          <a:xfrm>
            <a:off x="1603283" y="1836203"/>
            <a:ext cx="1399284" cy="1174283"/>
          </a:xfrm>
          <a:prstGeom prst="line">
            <a:avLst/>
          </a:prstGeom>
          <a:ln>
            <a:solidFill>
              <a:srgbClr val="F5ADAD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00D00D2A-B863-7411-A9B6-675AF9325C86}"/>
              </a:ext>
            </a:extLst>
          </p:cNvPr>
          <p:cNvSpPr txBox="1"/>
          <p:nvPr/>
        </p:nvSpPr>
        <p:spPr>
          <a:xfrm>
            <a:off x="1771535" y="2994644"/>
            <a:ext cx="1015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dirty="0">
                <a:solidFill>
                  <a:srgbClr val="F5ADAD"/>
                </a:solidFill>
                <a:latin typeface="+mj-lt"/>
              </a:rPr>
              <a:t>Negative</a:t>
            </a:r>
          </a:p>
          <a:p>
            <a:pPr algn="ctr"/>
            <a:r>
              <a:rPr lang="en-GB" sz="1000" dirty="0">
                <a:solidFill>
                  <a:srgbClr val="F5ADAD"/>
                </a:solidFill>
                <a:latin typeface="+mj-lt"/>
              </a:rPr>
              <a:t>Interactions</a:t>
            </a:r>
            <a:endParaRPr lang="en-SG" sz="1000" dirty="0">
              <a:solidFill>
                <a:srgbClr val="F5ADAD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81812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 dirty="0">
                <a:solidFill>
                  <a:srgbClr val="156082"/>
                </a:solidFill>
              </a:rPr>
              <a:t>Risk-based segmentation</a:t>
            </a:r>
            <a:r>
              <a:rPr lang="en-SG" sz="2000" b="1" dirty="0">
                <a:solidFill>
                  <a:srgbClr val="156082"/>
                </a:solidFill>
              </a:rPr>
              <a:t> approach</a:t>
            </a:r>
            <a:endParaRPr sz="2000" b="1" dirty="0">
              <a:solidFill>
                <a:srgbClr val="156082"/>
              </a:solidFill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108C794-A7AA-DFF2-4F32-4EA02ABDF502}"/>
              </a:ext>
            </a:extLst>
          </p:cNvPr>
          <p:cNvGrpSpPr/>
          <p:nvPr/>
        </p:nvGrpSpPr>
        <p:grpSpPr>
          <a:xfrm>
            <a:off x="1505795" y="1348147"/>
            <a:ext cx="1820333" cy="988658"/>
            <a:chOff x="1505795" y="1348147"/>
            <a:chExt cx="1820333" cy="988658"/>
          </a:xfrm>
        </p:grpSpPr>
        <p:sp>
          <p:nvSpPr>
            <p:cNvPr id="19" name="Rounded Rectangle 18"/>
            <p:cNvSpPr/>
            <p:nvPr/>
          </p:nvSpPr>
          <p:spPr>
            <a:xfrm>
              <a:off x="1505795" y="1348147"/>
              <a:ext cx="1820333" cy="56692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97132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r>
                <a:rPr sz="1000" b="1" u="sng" dirty="0">
                  <a:solidFill>
                    <a:srgbClr val="E97132"/>
                  </a:solidFill>
                  <a:latin typeface="+mj-lt"/>
                </a:rPr>
                <a:t>Approach 2 (data lever):</a:t>
              </a:r>
            </a:p>
            <a:p>
              <a:pPr algn="ctr"/>
              <a:r>
                <a:rPr lang="en-SG" sz="1000" dirty="0">
                  <a:solidFill>
                    <a:srgbClr val="E97132"/>
                  </a:solidFill>
                  <a:latin typeface="+mj-lt"/>
                </a:rPr>
                <a:t>Re</a:t>
              </a:r>
              <a:r>
                <a:rPr sz="1000" dirty="0">
                  <a:solidFill>
                    <a:srgbClr val="E97132"/>
                  </a:solidFill>
                  <a:latin typeface="+mj-lt"/>
                </a:rPr>
                <a:t>group </a:t>
              </a:r>
              <a:r>
                <a:rPr lang="en-SG" sz="1000" dirty="0">
                  <a:solidFill>
                    <a:srgbClr val="E97132"/>
                  </a:solidFill>
                  <a:latin typeface="+mj-lt"/>
                </a:rPr>
                <a:t>customers </a:t>
              </a:r>
              <a:r>
                <a:rPr sz="1000" dirty="0">
                  <a:solidFill>
                    <a:srgbClr val="E97132"/>
                  </a:solidFill>
                  <a:latin typeface="+mj-lt"/>
                </a:rPr>
                <a:t>to revealed band</a:t>
              </a:r>
            </a:p>
          </p:txBody>
        </p:sp>
        <p:cxnSp>
          <p:nvCxnSpPr>
            <p:cNvPr id="20" name="Connector 19"/>
            <p:cNvCxnSpPr>
              <a:cxnSpLocks/>
              <a:stCxn id="19" idx="2"/>
              <a:endCxn id="4" idx="0"/>
            </p:cNvCxnSpPr>
            <p:nvPr/>
          </p:nvCxnSpPr>
          <p:spPr>
            <a:xfrm>
              <a:off x="2415962" y="1915075"/>
              <a:ext cx="1" cy="421730"/>
            </a:xfrm>
            <a:prstGeom prst="line">
              <a:avLst/>
            </a:prstGeom>
            <a:ln w="15875">
              <a:solidFill>
                <a:srgbClr val="E97132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4CAA58E4-F916-C23C-929B-DF96DC402B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>
                <a:latin typeface="+mj-lt"/>
              </a:rPr>
              <a:t>github.com/Samthesimpsons/Risk-Based-Segmentation-for-FAR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A0F9005-6B0D-FC13-F506-BEA6C18DD9C0}"/>
              </a:ext>
            </a:extLst>
          </p:cNvPr>
          <p:cNvGrpSpPr/>
          <p:nvPr/>
        </p:nvGrpSpPr>
        <p:grpSpPr>
          <a:xfrm>
            <a:off x="1227241" y="3619839"/>
            <a:ext cx="3612940" cy="619093"/>
            <a:chOff x="1227241" y="3619839"/>
            <a:chExt cx="3612940" cy="619093"/>
          </a:xfrm>
        </p:grpSpPr>
        <p:sp>
          <p:nvSpPr>
            <p:cNvPr id="21" name="Rounded Rectangle 20"/>
            <p:cNvSpPr/>
            <p:nvPr/>
          </p:nvSpPr>
          <p:spPr>
            <a:xfrm>
              <a:off x="1227241" y="3690292"/>
              <a:ext cx="2377440" cy="54864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96B2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r>
                <a:rPr sz="1000" b="1" u="sng" dirty="0">
                  <a:solidFill>
                    <a:srgbClr val="196B24"/>
                  </a:solidFill>
                  <a:latin typeface="+mj-lt"/>
                </a:rPr>
                <a:t>Approach 1 (model lever):</a:t>
              </a:r>
            </a:p>
            <a:p>
              <a:pPr algn="ctr"/>
              <a:r>
                <a:rPr lang="en-SG" sz="1000" dirty="0">
                  <a:solidFill>
                    <a:srgbClr val="196B24"/>
                  </a:solidFill>
                  <a:latin typeface="+mj-lt"/>
                </a:rPr>
                <a:t>Add a </a:t>
              </a:r>
              <a:r>
                <a:rPr sz="1000" dirty="0">
                  <a:solidFill>
                    <a:srgbClr val="196B24"/>
                  </a:solidFill>
                  <a:latin typeface="+mj-lt"/>
                </a:rPr>
                <a:t>coherence margin loss</a:t>
              </a:r>
            </a:p>
          </p:txBody>
        </p:sp>
        <p:cxnSp>
          <p:nvCxnSpPr>
            <p:cNvPr id="83" name="Connector: Elbow 82">
              <a:extLst>
                <a:ext uri="{FF2B5EF4-FFF2-40B4-BE49-F238E27FC236}">
                  <a16:creationId xmlns:a16="http://schemas.microsoft.com/office/drawing/2014/main" id="{0498DFD7-C019-C1E2-C419-52BBBD10BB47}"/>
                </a:ext>
              </a:extLst>
            </p:cNvPr>
            <p:cNvCxnSpPr>
              <a:cxnSpLocks/>
              <a:stCxn id="21" idx="3"/>
              <a:endCxn id="8" idx="2"/>
            </p:cNvCxnSpPr>
            <p:nvPr/>
          </p:nvCxnSpPr>
          <p:spPr>
            <a:xfrm flipV="1">
              <a:off x="3604681" y="3619839"/>
              <a:ext cx="1235500" cy="344773"/>
            </a:xfrm>
            <a:prstGeom prst="bentConnector2">
              <a:avLst/>
            </a:prstGeom>
            <a:ln w="12700">
              <a:solidFill>
                <a:srgbClr val="196B2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11B9A3F-CC96-382F-42C1-EDD413A00442}"/>
              </a:ext>
            </a:extLst>
          </p:cNvPr>
          <p:cNvGrpSpPr/>
          <p:nvPr/>
        </p:nvGrpSpPr>
        <p:grpSpPr>
          <a:xfrm>
            <a:off x="522815" y="1489287"/>
            <a:ext cx="7997191" cy="2654534"/>
            <a:chOff x="522815" y="1489287"/>
            <a:chExt cx="7997191" cy="2654534"/>
          </a:xfrm>
        </p:grpSpPr>
        <p:sp>
          <p:nvSpPr>
            <p:cNvPr id="3" name="Rounded Rectangle 2"/>
            <p:cNvSpPr/>
            <p:nvPr/>
          </p:nvSpPr>
          <p:spPr>
            <a:xfrm>
              <a:off x="522815" y="2358395"/>
              <a:ext cx="982980" cy="5969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r>
                <a:rPr sz="1000" b="1" dirty="0">
                  <a:solidFill>
                    <a:schemeClr val="tx1"/>
                  </a:solidFill>
                  <a:latin typeface="+mj-lt"/>
                </a:rPr>
                <a:t>FAR-Trans</a:t>
              </a:r>
            </a:p>
            <a:p>
              <a:pPr algn="ctr"/>
              <a:r>
                <a:rPr sz="1000" b="1" dirty="0">
                  <a:solidFill>
                    <a:schemeClr val="tx1"/>
                  </a:solidFill>
                  <a:latin typeface="+mj-lt"/>
                </a:rPr>
                <a:t>Data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943099" y="2336805"/>
              <a:ext cx="945727" cy="64008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r>
                <a:rPr sz="1000" b="1" dirty="0">
                  <a:solidFill>
                    <a:schemeClr val="tx1"/>
                  </a:solidFill>
                  <a:latin typeface="+mj-lt"/>
                </a:rPr>
                <a:t>Risk-band</a:t>
              </a:r>
            </a:p>
            <a:p>
              <a:pPr algn="ctr"/>
              <a:r>
                <a:rPr sz="1000" b="1" dirty="0">
                  <a:solidFill>
                    <a:schemeClr val="tx1"/>
                  </a:solidFill>
                  <a:latin typeface="+mj-lt"/>
                </a:rPr>
                <a:t>router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989495" y="1489287"/>
              <a:ext cx="1701372" cy="4572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r>
                <a:rPr sz="1000" b="1" dirty="0">
                  <a:solidFill>
                    <a:schemeClr val="tx1"/>
                  </a:solidFill>
                  <a:latin typeface="+mj-lt"/>
                </a:rPr>
                <a:t>Conservative sub-model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989495" y="2047071"/>
              <a:ext cx="1701372" cy="4572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r>
                <a:rPr sz="1000" b="1" dirty="0">
                  <a:solidFill>
                    <a:schemeClr val="tx1"/>
                  </a:solidFill>
                  <a:latin typeface="+mj-lt"/>
                </a:rPr>
                <a:t>Income sub-model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989495" y="2604855"/>
              <a:ext cx="1701372" cy="4572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r>
                <a:rPr sz="1000" b="1" dirty="0">
                  <a:solidFill>
                    <a:schemeClr val="tx1"/>
                  </a:solidFill>
                  <a:latin typeface="+mj-lt"/>
                </a:rPr>
                <a:t>Balanced sub-model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989495" y="3162639"/>
              <a:ext cx="1701372" cy="4572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r>
                <a:rPr sz="1000" b="1" dirty="0">
                  <a:solidFill>
                    <a:schemeClr val="tx1"/>
                  </a:solidFill>
                  <a:latin typeface="+mj-lt"/>
                </a:rPr>
                <a:t>Aggressive sub-model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371166" y="2016765"/>
              <a:ext cx="2148840" cy="128016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r>
                <a:rPr sz="1000" b="1" u="sng" dirty="0">
                  <a:solidFill>
                    <a:schemeClr val="tx1"/>
                  </a:solidFill>
                  <a:latin typeface="+mj-lt"/>
                </a:rPr>
                <a:t>Evaluate o</a:t>
              </a:r>
              <a:r>
                <a:rPr lang="en-SG" sz="1000" b="1" u="sng" dirty="0">
                  <a:solidFill>
                    <a:schemeClr val="tx1"/>
                  </a:solidFill>
                  <a:latin typeface="+mj-lt"/>
                </a:rPr>
                <a:t>n: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SG" sz="1000" dirty="0">
                  <a:solidFill>
                    <a:schemeClr val="tx1"/>
                  </a:solidFill>
                  <a:latin typeface="+mj-lt"/>
                </a:rPr>
                <a:t>Ranking accuracy (</a:t>
              </a:r>
              <a:r>
                <a:rPr lang="en-SG" sz="1000" dirty="0" err="1">
                  <a:solidFill>
                    <a:schemeClr val="tx1"/>
                  </a:solidFill>
                  <a:latin typeface="+mj-lt"/>
                </a:rPr>
                <a:t>nDCG</a:t>
              </a:r>
              <a:r>
                <a:rPr lang="en-SG" sz="1000" dirty="0">
                  <a:solidFill>
                    <a:schemeClr val="tx1"/>
                  </a:solidFill>
                  <a:latin typeface="+mj-lt"/>
                </a:rPr>
                <a:t>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SG" sz="1000" dirty="0">
                  <a:solidFill>
                    <a:schemeClr val="tx1"/>
                  </a:solidFill>
                  <a:latin typeface="+mj-lt"/>
                </a:rPr>
                <a:t>Returns (ROI)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SG" sz="1000" dirty="0">
                  <a:solidFill>
                    <a:schemeClr val="tx1"/>
                  </a:solidFill>
                  <a:latin typeface="+mj-lt"/>
                </a:rPr>
                <a:t>Risk suitability (PC)</a:t>
              </a:r>
            </a:p>
            <a:p>
              <a:pPr marL="171450" indent="-171450" algn="ctr">
                <a:buFontTx/>
                <a:buChar char="-"/>
              </a:pPr>
              <a:endParaRPr lang="en-SG" sz="10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r>
                <a:rPr lang="en-SG" sz="1000" dirty="0">
                  <a:solidFill>
                    <a:schemeClr val="tx1"/>
                  </a:solidFill>
                  <a:latin typeface="+mj-lt"/>
                </a:rPr>
                <a:t>With a </a:t>
              </a:r>
              <a:r>
                <a:rPr sz="1000" dirty="0">
                  <a:solidFill>
                    <a:schemeClr val="tx1"/>
                  </a:solidFill>
                  <a:latin typeface="+mj-lt"/>
                </a:rPr>
                <a:t>harmonic </a:t>
              </a:r>
              <a:r>
                <a:rPr lang="en-SG" sz="1000" dirty="0">
                  <a:solidFill>
                    <a:schemeClr val="tx1"/>
                  </a:solidFill>
                  <a:latin typeface="+mj-lt"/>
                </a:rPr>
                <a:t>balance</a:t>
              </a:r>
              <a:endParaRPr sz="100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10" name="Connector 9"/>
            <p:cNvCxnSpPr>
              <a:cxnSpLocks/>
              <a:stCxn id="3" idx="3"/>
              <a:endCxn id="4" idx="1"/>
            </p:cNvCxnSpPr>
            <p:nvPr/>
          </p:nvCxnSpPr>
          <p:spPr>
            <a:xfrm>
              <a:off x="1505795" y="2656845"/>
              <a:ext cx="437304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BF4ED2B7-E02E-A2F7-CE11-B4734E447EB4}"/>
                </a:ext>
              </a:extLst>
            </p:cNvPr>
            <p:cNvCxnSpPr>
              <a:stCxn id="4" idx="3"/>
              <a:endCxn id="8" idx="1"/>
            </p:cNvCxnSpPr>
            <p:nvPr/>
          </p:nvCxnSpPr>
          <p:spPr>
            <a:xfrm>
              <a:off x="2888826" y="2656845"/>
              <a:ext cx="1100669" cy="734394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89235EC7-9DEA-2C3B-8AF7-86D6B4D52073}"/>
                </a:ext>
              </a:extLst>
            </p:cNvPr>
            <p:cNvCxnSpPr>
              <a:cxnSpLocks/>
              <a:stCxn id="4" idx="3"/>
              <a:endCxn id="7" idx="1"/>
            </p:cNvCxnSpPr>
            <p:nvPr/>
          </p:nvCxnSpPr>
          <p:spPr>
            <a:xfrm>
              <a:off x="2888826" y="2656845"/>
              <a:ext cx="1100669" cy="176610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BC1A43FC-6249-3B66-D52D-5606E70EE687}"/>
                </a:ext>
              </a:extLst>
            </p:cNvPr>
            <p:cNvCxnSpPr>
              <a:cxnSpLocks/>
              <a:stCxn id="4" idx="3"/>
              <a:endCxn id="6" idx="1"/>
            </p:cNvCxnSpPr>
            <p:nvPr/>
          </p:nvCxnSpPr>
          <p:spPr>
            <a:xfrm flipV="1">
              <a:off x="2888826" y="2275671"/>
              <a:ext cx="1100669" cy="381174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98FDB82F-56FA-34FF-FB38-A2A13B1C03F7}"/>
                </a:ext>
              </a:extLst>
            </p:cNvPr>
            <p:cNvCxnSpPr>
              <a:cxnSpLocks/>
              <a:stCxn id="4" idx="3"/>
              <a:endCxn id="5" idx="1"/>
            </p:cNvCxnSpPr>
            <p:nvPr/>
          </p:nvCxnSpPr>
          <p:spPr>
            <a:xfrm flipV="1">
              <a:off x="2888826" y="1717887"/>
              <a:ext cx="1100669" cy="938958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82775369-4680-E898-0536-D079A7877B6F}"/>
                </a:ext>
              </a:extLst>
            </p:cNvPr>
            <p:cNvCxnSpPr>
              <a:cxnSpLocks/>
              <a:stCxn id="7" idx="3"/>
              <a:endCxn id="9" idx="1"/>
            </p:cNvCxnSpPr>
            <p:nvPr/>
          </p:nvCxnSpPr>
          <p:spPr>
            <a:xfrm flipV="1">
              <a:off x="5690867" y="2656845"/>
              <a:ext cx="680299" cy="17661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: Elbow 48">
              <a:extLst>
                <a:ext uri="{FF2B5EF4-FFF2-40B4-BE49-F238E27FC236}">
                  <a16:creationId xmlns:a16="http://schemas.microsoft.com/office/drawing/2014/main" id="{D938682C-574D-8E81-C33D-E0EDCF699FD8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 flipV="1">
              <a:off x="5690867" y="2656845"/>
              <a:ext cx="680299" cy="73439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AC80B136-88A8-3073-6B99-7A49C8903313}"/>
                </a:ext>
              </a:extLst>
            </p:cNvPr>
            <p:cNvCxnSpPr>
              <a:cxnSpLocks/>
              <a:stCxn id="6" idx="3"/>
              <a:endCxn id="9" idx="1"/>
            </p:cNvCxnSpPr>
            <p:nvPr/>
          </p:nvCxnSpPr>
          <p:spPr>
            <a:xfrm>
              <a:off x="5690867" y="2275671"/>
              <a:ext cx="680299" cy="38117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: Elbow 54">
              <a:extLst>
                <a:ext uri="{FF2B5EF4-FFF2-40B4-BE49-F238E27FC236}">
                  <a16:creationId xmlns:a16="http://schemas.microsoft.com/office/drawing/2014/main" id="{96AFE7B7-E09E-7309-3423-F6F192BC7199}"/>
                </a:ext>
              </a:extLst>
            </p:cNvPr>
            <p:cNvCxnSpPr>
              <a:cxnSpLocks/>
              <a:stCxn id="5" idx="3"/>
              <a:endCxn id="9" idx="1"/>
            </p:cNvCxnSpPr>
            <p:nvPr/>
          </p:nvCxnSpPr>
          <p:spPr>
            <a:xfrm>
              <a:off x="5690867" y="1717887"/>
              <a:ext cx="680299" cy="93895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75F6FBDF-9EFF-F2CB-477E-D53AF6D9EB40}"/>
                    </a:ext>
                  </a:extLst>
                </p:cNvPr>
                <p:cNvSpPr txBox="1"/>
                <p:nvPr/>
              </p:nvSpPr>
              <p:spPr>
                <a:xfrm>
                  <a:off x="6398408" y="3387881"/>
                  <a:ext cx="2084738" cy="3801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1000" b="0" i="1" smtClean="0">
                            <a:latin typeface="+mj-lt"/>
                          </a:rPr>
                          <m:t>𝐵𝑎𝑙𝑎𝑛𝑐𝑒</m:t>
                        </m:r>
                        <m:r>
                          <a:rPr lang="en-SG" sz="1000" b="0" i="1" smtClean="0">
                            <a:latin typeface="+mj-lt"/>
                          </a:rPr>
                          <m:t>=3</m:t>
                        </m:r>
                        <m:sSup>
                          <m:sSupPr>
                            <m:ctrlPr>
                              <a:rPr lang="en-SG" sz="1000" b="0" i="1" smtClean="0">
                                <a:latin typeface="+mj-lt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SG" sz="1000" b="0" i="1" smtClean="0">
                                    <a:latin typeface="+mj-lt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SG" sz="1000" b="0" i="1" smtClean="0">
                                        <a:latin typeface="+mj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sz="1000" b="0" i="1" smtClean="0">
                                        <a:latin typeface="+mj-lt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sz="1000" b="0" i="1" smtClean="0">
                                        <a:latin typeface="+mj-lt"/>
                                      </a:rPr>
                                      <m:t>𝑅𝑂</m:t>
                                    </m:r>
                                    <m:sSup>
                                      <m:sSupPr>
                                        <m:ctrlPr>
                                          <a:rPr lang="en-SG" sz="1000" b="0" i="1" smtClean="0">
                                            <a:latin typeface="+mj-lt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SG" sz="1000" b="0" i="1" smtClean="0">
                                            <a:latin typeface="+mj-lt"/>
                                          </a:rPr>
                                          <m:t>𝐼</m:t>
                                        </m:r>
                                      </m:e>
                                      <m:sup>
                                        <m:r>
                                          <a:rPr lang="en-SG" sz="1000" b="0" i="1" smtClean="0">
                                            <a:latin typeface="+mj-lt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SG" sz="1000" b="0" i="1" smtClean="0">
                                    <a:latin typeface="+mj-lt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SG" sz="1000" b="0" i="1" smtClean="0">
                                        <a:latin typeface="+mj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sz="1000" b="0" i="1" smtClean="0">
                                        <a:latin typeface="+mj-lt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sz="1000" b="0" i="1" smtClean="0">
                                        <a:latin typeface="+mj-lt"/>
                                      </a:rPr>
                                      <m:t>𝑛𝐷𝐶𝐺</m:t>
                                    </m:r>
                                  </m:den>
                                </m:f>
                                <m:r>
                                  <a:rPr lang="en-SG" sz="1000" b="0" i="1" smtClean="0">
                                    <a:latin typeface="+mj-lt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SG" sz="1000" b="0" i="1" smtClean="0">
                                        <a:latin typeface="+mj-lt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sz="1000" b="0" i="1" smtClean="0">
                                        <a:latin typeface="+mj-lt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sz="1000" b="0" i="1" smtClean="0">
                                        <a:latin typeface="+mj-lt"/>
                                      </a:rPr>
                                      <m:t>𝑃𝐶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SG" sz="1000" b="0" i="1" smtClean="0">
                                <a:latin typeface="+mj-lt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SG" sz="1000" dirty="0">
                    <a:latin typeface="+mj-lt"/>
                  </a:endParaRPr>
                </a:p>
              </p:txBody>
            </p:sp>
          </mc:Choice>
          <mc:Fallback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75F6FBDF-9EFF-F2CB-477E-D53AF6D9E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8408" y="3387881"/>
                  <a:ext cx="2084738" cy="380169"/>
                </a:xfrm>
                <a:prstGeom prst="rect">
                  <a:avLst/>
                </a:prstGeom>
                <a:blipFill>
                  <a:blip r:embed="rId3"/>
                  <a:stretch>
                    <a:fillRect l="-1170" b="-1613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6346ECDC-DC6F-8626-21C4-849D4B8D7B39}"/>
                    </a:ext>
                  </a:extLst>
                </p:cNvPr>
                <p:cNvSpPr txBox="1"/>
                <p:nvPr/>
              </p:nvSpPr>
              <p:spPr>
                <a:xfrm>
                  <a:off x="6603478" y="3850086"/>
                  <a:ext cx="1228285" cy="29373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1000" b="0" i="1" smtClean="0">
                            <a:latin typeface="+mj-lt"/>
                          </a:rPr>
                          <m:t>𝑅𝑂</m:t>
                        </m:r>
                        <m:sSup>
                          <m:sSupPr>
                            <m:ctrlPr>
                              <a:rPr lang="en-SG" sz="1000" b="0" i="1" smtClean="0">
                                <a:latin typeface="+mj-lt"/>
                              </a:rPr>
                            </m:ctrlPr>
                          </m:sSupPr>
                          <m:e>
                            <m:r>
                              <a:rPr lang="en-SG" sz="1000" b="0" i="1" smtClean="0">
                                <a:latin typeface="+mj-lt"/>
                              </a:rPr>
                              <m:t>𝐼</m:t>
                            </m:r>
                          </m:e>
                          <m:sup>
                            <m:r>
                              <a:rPr lang="en-SG" sz="1000" b="0" i="1" smtClean="0">
                                <a:latin typeface="+mj-lt"/>
                              </a:rPr>
                              <m:t>′</m:t>
                            </m:r>
                          </m:sup>
                        </m:sSup>
                        <m:r>
                          <a:rPr lang="en-SG" sz="1000" b="0" i="1" smtClean="0">
                            <a:latin typeface="+mj-lt"/>
                          </a:rPr>
                          <m:t>=</m:t>
                        </m:r>
                        <m:f>
                          <m:fPr>
                            <m:ctrlPr>
                              <a:rPr lang="en-SG" sz="1000" b="0" i="1" smtClean="0">
                                <a:latin typeface="+mj-lt"/>
                              </a:rPr>
                            </m:ctrlPr>
                          </m:fPr>
                          <m:num>
                            <m:r>
                              <a:rPr lang="en-SG" sz="1000" b="0" i="1" smtClean="0">
                                <a:latin typeface="+mj-lt"/>
                              </a:rPr>
                              <m:t>1</m:t>
                            </m:r>
                          </m:num>
                          <m:den>
                            <m:r>
                              <a:rPr lang="en-SG" sz="1000" b="0" i="1" smtClean="0">
                                <a:latin typeface="+mj-lt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SG" sz="1000" b="0" i="1" smtClean="0">
                                    <a:latin typeface="+mj-lt"/>
                                  </a:rPr>
                                </m:ctrlPr>
                              </m:sSupPr>
                              <m:e>
                                <m:r>
                                  <a:rPr lang="en-SG" sz="1000" b="0" i="1" smtClean="0">
                                    <a:latin typeface="+mj-lt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SG" sz="1000" b="0" i="1" smtClean="0">
                                    <a:latin typeface="+mj-lt"/>
                                  </a:rPr>
                                  <m:t>−</m:t>
                                </m:r>
                                <m:r>
                                  <a:rPr lang="en-SG" sz="1000" b="0" i="1" smtClean="0">
                                    <a:latin typeface="+mj-lt"/>
                                  </a:rPr>
                                  <m:t>𝑅𝑂𝐼</m:t>
                                </m:r>
                                <m:r>
                                  <a:rPr lang="en-SG" sz="1000" b="0" i="1" smtClean="0">
                                    <a:latin typeface="+mj-lt"/>
                                  </a:rPr>
                                  <m:t>/0.01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SG" sz="1000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6346ECDC-DC6F-8626-21C4-849D4B8D7B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3478" y="3850086"/>
                  <a:ext cx="1228285" cy="293735"/>
                </a:xfrm>
                <a:prstGeom prst="rect">
                  <a:avLst/>
                </a:prstGeom>
                <a:blipFill>
                  <a:blip r:embed="rId4"/>
                  <a:stretch>
                    <a:fillRect l="-1485" t="-2083" b="-16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1">
            <a:extLst>
              <a:ext uri="{FF2B5EF4-FFF2-40B4-BE49-F238E27FC236}">
                <a16:creationId xmlns:a16="http://schemas.microsoft.com/office/drawing/2014/main" id="{66807FBB-D36C-F6AB-0D57-F14C7DE2DF7E}"/>
              </a:ext>
            </a:extLst>
          </p:cNvPr>
          <p:cNvSpPr/>
          <p:nvPr/>
        </p:nvSpPr>
        <p:spPr>
          <a:xfrm>
            <a:off x="630935" y="1282361"/>
            <a:ext cx="3921761" cy="3365839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SG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b="1" dirty="0">
                <a:solidFill>
                  <a:srgbClr val="156082"/>
                </a:solidFill>
              </a:rPr>
              <a:t>Extended approaches</a:t>
            </a:r>
            <a:endParaRPr sz="2000" b="1" dirty="0">
              <a:solidFill>
                <a:srgbClr val="15608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type="body" idx="2"/>
              </p:nvPr>
            </p:nvSpPr>
            <p:spPr>
              <a:xfrm>
                <a:off x="502919" y="1325879"/>
                <a:ext cx="4093511" cy="2614417"/>
              </a:xfrm>
            </p:spPr>
            <p:txBody>
              <a:bodyPr wrap="square">
                <a:normAutofit/>
              </a:bodyPr>
              <a:lstStyle/>
              <a:p>
                <a:pPr marL="228600" inden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buNone/>
                </a:pPr>
                <a:r>
                  <a:rPr lang="en-GB" b="1" dirty="0">
                    <a:solidFill>
                      <a:srgbClr val="202020"/>
                    </a:solidFill>
                    <a:latin typeface="+mj-lt"/>
                  </a:rPr>
                  <a:t>(1) Adding coherence margin loss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GB" b="0" dirty="0">
                    <a:solidFill>
                      <a:srgbClr val="202020"/>
                    </a:solidFill>
                    <a:latin typeface="+mj-lt"/>
                  </a:rPr>
                  <a:t>Draw a pair of </a:t>
                </a:r>
                <a:r>
                  <a:rPr lang="en-GB" b="1" dirty="0">
                    <a:solidFill>
                      <a:srgbClr val="0E2841"/>
                    </a:solidFill>
                    <a:latin typeface="+mj-lt"/>
                  </a:rPr>
                  <a:t>coherent</a:t>
                </a:r>
                <a:r>
                  <a:rPr lang="en-GB" b="0" dirty="0">
                    <a:solidFill>
                      <a:srgbClr val="20202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0" dirty="0" smtClean="0">
                        <a:solidFill>
                          <a:srgbClr val="202020"/>
                        </a:solidFill>
                        <a:latin typeface="+mj-lt"/>
                      </a:rPr>
                      <m:t>(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rgbClr val="202020"/>
                            </a:solidFill>
                            <a:latin typeface="+mj-lt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rgbClr val="202020"/>
                            </a:solidFill>
                            <a:latin typeface="+mj-lt"/>
                          </a:rPr>
                          <m:t>𝑖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rgbClr val="202020"/>
                            </a:solidFill>
                            <a:latin typeface="+mj-lt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GB" b="0" dirty="0">
                    <a:solidFill>
                      <a:srgbClr val="202020"/>
                    </a:solidFill>
                    <a:latin typeface="+mj-lt"/>
                  </a:rPr>
                  <a:t>) and </a:t>
                </a:r>
                <a:r>
                  <a:rPr lang="en-GB" b="1" dirty="0">
                    <a:solidFill>
                      <a:srgbClr val="0E2841"/>
                    </a:solidFill>
                    <a:latin typeface="+mj-lt"/>
                  </a:rPr>
                  <a:t>discordant</a:t>
                </a:r>
                <a:r>
                  <a:rPr lang="en-GB" b="0" dirty="0">
                    <a:solidFill>
                      <a:srgbClr val="20202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GB" dirty="0">
                        <a:solidFill>
                          <a:srgbClr val="202020"/>
                        </a:solidFill>
                        <a:latin typeface="+mj-lt"/>
                      </a:rPr>
                      <m:t>(</m:t>
                    </m:r>
                    <m:sSub>
                      <m:sSubPr>
                        <m:ctrlPr>
                          <a:rPr lang="en-GB" i="1" dirty="0">
                            <a:solidFill>
                              <a:srgbClr val="202020"/>
                            </a:solidFill>
                            <a:latin typeface="+mj-lt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202020"/>
                            </a:solidFill>
                            <a:latin typeface="+mj-lt"/>
                          </a:rPr>
                          <m:t>𝑖</m:t>
                        </m:r>
                      </m:e>
                      <m:sub>
                        <m:r>
                          <a:rPr lang="en-SG" b="0" i="1" dirty="0" smtClean="0">
                            <a:solidFill>
                              <a:srgbClr val="202020"/>
                            </a:solidFill>
                            <a:latin typeface="+mj-lt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202020"/>
                    </a:solidFill>
                    <a:latin typeface="+mj-lt"/>
                  </a:rPr>
                  <a:t>) asset</a:t>
                </a:r>
                <a:r>
                  <a:rPr lang="en-GB" b="0" dirty="0">
                    <a:solidFill>
                      <a:srgbClr val="202020"/>
                    </a:solidFill>
                    <a:latin typeface="+mj-lt"/>
                  </a:rPr>
                  <a:t> to push the coherent score above the discordant one:</a:t>
                </a:r>
              </a:p>
              <a:p>
                <a:pPr marL="228600" inden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  <m:t>𝑐𝑜</m:t>
                          </m:r>
                          <m: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  <m:t>𝑒𝑟𝑒𝑛𝑐𝑒</m:t>
                          </m:r>
                        </m:sub>
                      </m:sSub>
                      <m:d>
                        <m:dPr>
                          <m:ctrlP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SG" i="1">
                          <a:latin typeface="+mj-lt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SG">
                              <a:latin typeface="+mj-lt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SG" i="1">
                                  <a:latin typeface="+mj-lt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i="1">
                                  <a:latin typeface="+mj-lt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i="1">
                                  <a:latin typeface="+mj-lt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SG" i="1">
                                      <a:latin typeface="+mj-lt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SG" i="1">
                                      <a:latin typeface="+mj-lt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SG" i="1">
                                      <a:latin typeface="+mj-lt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d>
                                    <m:dPr>
                                      <m:ctrlPr>
                                        <a:rPr lang="en-SG" i="1">
                                          <a:latin typeface="+mj-lt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SG" i="1">
                                          <a:latin typeface="+mj-lt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SG" i="1">
                                          <a:latin typeface="+mj-lt"/>
                                          <a:ea typeface="Cambria Math" panose="02040503050406030204" pitchFamily="18" charset="0"/>
                                        </a:rPr>
                                        <m:t>,  </m:t>
                                      </m:r>
                                      <m:sSub>
                                        <m:sSubPr>
                                          <m:ctrlPr>
                                            <a:rPr lang="en-SG" i="1">
                                              <a:latin typeface="+mj-lt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i="1">
                                              <a:latin typeface="+mj-lt"/>
                                              <a:ea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SG" i="1">
                                              <a:latin typeface="+mj-lt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SG" i="1">
                                              <a:latin typeface="+mj-lt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SG" i="1">
                                      <a:latin typeface="+mj-lt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SG" i="1">
                                      <a:latin typeface="+mj-lt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d>
                                    <m:dPr>
                                      <m:ctrlPr>
                                        <a:rPr lang="en-SG" i="1">
                                          <a:latin typeface="+mj-lt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SG" i="1">
                                          <a:latin typeface="+mj-lt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SG" i="1">
                                          <a:latin typeface="+mj-lt"/>
                                          <a:ea typeface="Cambria Math" panose="02040503050406030204" pitchFamily="18" charset="0"/>
                                        </a:rPr>
                                        <m:t>,   </m:t>
                                      </m:r>
                                      <m:sSub>
                                        <m:sSubPr>
                                          <m:ctrlPr>
                                            <a:rPr lang="en-SG" i="1">
                                              <a:latin typeface="+mj-lt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i="1">
                                              <a:latin typeface="+mj-lt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SG" i="1">
                                              <a:latin typeface="+mj-lt"/>
                                              <a:ea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GB" b="0" dirty="0">
                  <a:solidFill>
                    <a:srgbClr val="202020"/>
                  </a:solidFill>
                  <a:latin typeface="+mj-lt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GB" b="0" dirty="0">
                    <a:solidFill>
                      <a:srgbClr val="202020"/>
                    </a:solidFill>
                    <a:latin typeface="+mj-lt"/>
                  </a:rPr>
                  <a:t>Adding the new loss term to original BPR loss and L2 regularizer with weight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202020"/>
                        </a:solidFill>
                        <a:latin typeface="+mj-lt"/>
                        <a:ea typeface="Cambria Math" panose="02040503050406030204" pitchFamily="18" charset="0"/>
                      </a:rPr>
                      <m:t>𝜆</m:t>
                    </m:r>
                    <m:r>
                      <a:rPr lang="en-SG" b="0" i="1" smtClean="0">
                        <a:solidFill>
                          <a:srgbClr val="202020"/>
                        </a:solidFill>
                        <a:latin typeface="+mj-lt"/>
                        <a:ea typeface="Cambria Math" panose="02040503050406030204" pitchFamily="18" charset="0"/>
                      </a:rPr>
                      <m:t>≥</m:t>
                    </m:r>
                    <m:r>
                      <a:rPr lang="en-SG" b="0" i="1" smtClean="0">
                        <a:solidFill>
                          <a:srgbClr val="202020"/>
                        </a:solidFill>
                        <a:latin typeface="+mj-lt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b="0" dirty="0">
                    <a:solidFill>
                      <a:srgbClr val="202020"/>
                    </a:solidFill>
                    <a:latin typeface="+mj-lt"/>
                  </a:rPr>
                  <a:t>:</a:t>
                </a:r>
              </a:p>
              <a:p>
                <a:pPr marL="228600" inden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sub>
                      </m:sSub>
                      <m:r>
                        <a:rPr lang="en-SG" i="1">
                          <a:latin typeface="+mj-lt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SG" i="1">
                                  <a:latin typeface="+mj-lt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latin typeface="+mj-lt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SG" i="1">
                                  <a:latin typeface="+mj-lt"/>
                                  <a:ea typeface="Cambria Math" panose="02040503050406030204" pitchFamily="18" charset="0"/>
                                </a:rPr>
                                <m:t>𝐵𝑃𝑅</m:t>
                              </m:r>
                            </m:sub>
                          </m:sSub>
                          <m: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  <m:t>𝜔</m:t>
                          </m:r>
                          <m:sSup>
                            <m:sSupPr>
                              <m:ctrlPr>
                                <a:rPr lang="en-SG" i="1">
                                  <a:latin typeface="+mj-lt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SG" i="1">
                                      <a:latin typeface="+mj-lt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SG" i="1">
                                          <a:latin typeface="+mj-lt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SG" i="1">
                                          <a:latin typeface="+mj-lt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SG" i="1">
                                  <a:latin typeface="+mj-lt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SG" i="1">
                          <a:latin typeface="+mj-lt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  <m:t>𝑐𝑜</m:t>
                          </m:r>
                          <m: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SG" i="1">
                              <a:latin typeface="+mj-lt"/>
                              <a:ea typeface="Cambria Math" panose="02040503050406030204" pitchFamily="18" charset="0"/>
                            </a:rPr>
                            <m:t>𝑒𝑟𝑒𝑛𝑐𝑒</m:t>
                          </m:r>
                        </m:sub>
                      </m:sSub>
                    </m:oMath>
                  </m:oMathPara>
                </a14:m>
                <a:endParaRPr lang="en-SG" dirty="0">
                  <a:latin typeface="+mj-lt"/>
                </a:endParaRPr>
              </a:p>
            </p:txBody>
          </p:sp>
        </mc:Choice>
        <mc:Fallback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502919" y="1325879"/>
                <a:ext cx="4093511" cy="261441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F56F9CF-F6B0-7BD7-0EA7-E810F9FA474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>
                <a:latin typeface="+mj-lt"/>
              </a:rPr>
              <a:t>github.com/Samthesimpsons/Risk-Based-Segmentation-for-FAR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EB13DCB-7713-5777-7787-EFF229D2FB27}"/>
              </a:ext>
            </a:extLst>
          </p:cNvPr>
          <p:cNvGrpSpPr/>
          <p:nvPr/>
        </p:nvGrpSpPr>
        <p:grpSpPr>
          <a:xfrm>
            <a:off x="4596429" y="1282361"/>
            <a:ext cx="4172668" cy="3365839"/>
            <a:chOff x="4596429" y="1282361"/>
            <a:chExt cx="4172668" cy="3365839"/>
          </a:xfrm>
        </p:grpSpPr>
        <p:sp>
          <p:nvSpPr>
            <p:cNvPr id="11" name="Shape 11">
              <a:extLst>
                <a:ext uri="{FF2B5EF4-FFF2-40B4-BE49-F238E27FC236}">
                  <a16:creationId xmlns:a16="http://schemas.microsoft.com/office/drawing/2014/main" id="{8EA2C2AF-3C0F-DB9C-111B-AE657EE1F6EA}"/>
                </a:ext>
              </a:extLst>
            </p:cNvPr>
            <p:cNvSpPr/>
            <p:nvPr/>
          </p:nvSpPr>
          <p:spPr>
            <a:xfrm>
              <a:off x="4675587" y="1282361"/>
              <a:ext cx="4093510" cy="3365839"/>
            </a:xfrm>
            <a:prstGeom prst="roundRect">
              <a:avLst>
                <a:gd name="adj" fmla="val 3878"/>
              </a:avLst>
            </a:prstGeom>
            <a:solidFill>
              <a:srgbClr val="FFFFFF"/>
            </a:solidFill>
            <a:ln w="7620">
              <a:solidFill>
                <a:srgbClr val="D9E2EC"/>
              </a:solidFill>
              <a:prstDash val="solid"/>
            </a:ln>
          </p:spPr>
          <p:txBody>
            <a:bodyPr/>
            <a:lstStyle/>
            <a:p>
              <a:endParaRPr lang="en-SG">
                <a:latin typeface="+mj-lt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DA46A98-BCD6-96FC-FC78-9E02F8006583}"/>
                </a:ext>
              </a:extLst>
            </p:cNvPr>
            <p:cNvGrpSpPr/>
            <p:nvPr/>
          </p:nvGrpSpPr>
          <p:grpSpPr>
            <a:xfrm>
              <a:off x="4596429" y="1325879"/>
              <a:ext cx="4093511" cy="3067813"/>
              <a:chOff x="4596429" y="1325879"/>
              <a:chExt cx="4093511" cy="3067813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C7F885DE-D8BC-3937-9E07-CB94757103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7906" t="11107" r="13121" b="-1"/>
              <a:stretch>
                <a:fillRect/>
              </a:stretch>
            </p:blipFill>
            <p:spPr>
              <a:xfrm>
                <a:off x="4958423" y="2027707"/>
                <a:ext cx="3369522" cy="2365985"/>
              </a:xfrm>
              <a:prstGeom prst="rect">
                <a:avLst/>
              </a:prstGeom>
            </p:spPr>
          </p:pic>
          <p:sp>
            <p:nvSpPr>
              <p:cNvPr id="12" name="Text Placeholder 2">
                <a:extLst>
                  <a:ext uri="{FF2B5EF4-FFF2-40B4-BE49-F238E27FC236}">
                    <a16:creationId xmlns:a16="http://schemas.microsoft.com/office/drawing/2014/main" id="{8F6170D9-0D2A-CB24-A06E-E6F0776233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6429" y="1325879"/>
                <a:ext cx="4093511" cy="26144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 panose="020B0604020202020204" pitchFamily="34" charset="0"/>
                  <a:buChar char="•"/>
                  <a:defRPr sz="12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  <a:defRPr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900"/>
                  <a:buFont typeface="Arial"/>
                  <a:buNone/>
                  <a:defRPr sz="9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  <a:defRPr sz="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  <a:defRPr sz="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  <a:defRPr sz="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  <a:defRPr sz="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  <a:defRPr sz="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  <a:defRPr sz="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228600" inden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:r>
                  <a:rPr lang="en-GB" b="1" dirty="0">
                    <a:solidFill>
                      <a:srgbClr val="202020"/>
                    </a:solidFill>
                    <a:latin typeface="+mj-lt"/>
                  </a:rPr>
                  <a:t>(2) Regrouping Customers</a:t>
                </a:r>
              </a:p>
              <a:p>
                <a:pPr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SG" dirty="0">
                    <a:solidFill>
                      <a:srgbClr val="202020"/>
                    </a:solidFill>
                    <a:latin typeface="+mj-lt"/>
                  </a:rPr>
                  <a:t>Regroup customers based on their lower median purchase:</a:t>
                </a:r>
                <a:endParaRPr lang="en-GB" dirty="0">
                  <a:solidFill>
                    <a:srgbClr val="202020"/>
                  </a:solidFill>
                  <a:latin typeface="+mj-lt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SG" b="1" dirty="0"/>
              <a:t>04 </a:t>
            </a:r>
            <a:r>
              <a:rPr b="1" dirty="0"/>
              <a:t>Experimental Setup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1800" dirty="0"/>
              <a:t>Data preparation</a:t>
            </a:r>
            <a:r>
              <a:rPr lang="en-SG" sz="1800" dirty="0"/>
              <a:t> and hyperparameters</a:t>
            </a:r>
            <a:endParaRPr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15">
            <a:extLst>
              <a:ext uri="{FF2B5EF4-FFF2-40B4-BE49-F238E27FC236}">
                <a16:creationId xmlns:a16="http://schemas.microsoft.com/office/drawing/2014/main" id="{ABEA7769-CE22-EAF2-E782-A03F36A289B1}"/>
              </a:ext>
            </a:extLst>
          </p:cNvPr>
          <p:cNvSpPr/>
          <p:nvPr/>
        </p:nvSpPr>
        <p:spPr>
          <a:xfrm>
            <a:off x="713232" y="1603207"/>
            <a:ext cx="3746819" cy="795559"/>
          </a:xfrm>
          <a:prstGeom prst="roundRect">
            <a:avLst>
              <a:gd name="adj" fmla="val 583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SG" sz="180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b="1" dirty="0">
                <a:solidFill>
                  <a:srgbClr val="156082"/>
                </a:solidFill>
              </a:rPr>
              <a:t>Normalisation of risk suitability metric</a:t>
            </a:r>
            <a:endParaRPr sz="2000" b="1" dirty="0">
              <a:solidFill>
                <a:srgbClr val="156082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73EF22-AD8B-1430-2781-EA9B76A9E4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 dirty="0">
                <a:latin typeface="+mj-lt"/>
              </a:rPr>
              <a:t>github.com/</a:t>
            </a:r>
            <a:r>
              <a:rPr lang="en-SG" dirty="0" err="1">
                <a:latin typeface="+mj-lt"/>
              </a:rPr>
              <a:t>Samthesimpsons</a:t>
            </a:r>
            <a:r>
              <a:rPr lang="en-SG" dirty="0">
                <a:latin typeface="+mj-lt"/>
              </a:rPr>
              <a:t>/Risk-Based-Segmentation-for-FAR</a:t>
            </a: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71E35144-D08A-675F-074E-F2CC7B2C3142}"/>
              </a:ext>
            </a:extLst>
          </p:cNvPr>
          <p:cNvSpPr/>
          <p:nvPr/>
        </p:nvSpPr>
        <p:spPr>
          <a:xfrm>
            <a:off x="713232" y="1593375"/>
            <a:ext cx="56027" cy="805391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SG" sz="1800">
              <a:latin typeface="+mj-lt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72965A66-C796-712F-77BF-73D30DC78009}"/>
              </a:ext>
            </a:extLst>
          </p:cNvPr>
          <p:cNvSpPr/>
          <p:nvPr/>
        </p:nvSpPr>
        <p:spPr>
          <a:xfrm>
            <a:off x="867307" y="1698426"/>
            <a:ext cx="3466683" cy="19609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+mj-lt"/>
                <a:ea typeface="Inter Display" pitchFamily="34" charset="-122"/>
                <a:cs typeface="Inter Display" pitchFamily="34" charset="-120"/>
              </a:rPr>
              <a:t>Why normalize?</a:t>
            </a:r>
            <a:endParaRPr 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48C0A161-5F47-704C-F1F6-5A7CBDE68441}"/>
              </a:ext>
            </a:extLst>
          </p:cNvPr>
          <p:cNvSpPr/>
          <p:nvPr/>
        </p:nvSpPr>
        <p:spPr>
          <a:xfrm>
            <a:off x="867307" y="1978562"/>
            <a:ext cx="3452676" cy="329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latin typeface="+mj-lt"/>
                <a:ea typeface="Inter" pitchFamily="34" charset="-122"/>
                <a:cs typeface="Inter" pitchFamily="34" charset="-120"/>
              </a:rPr>
              <a:t>77.9% of assets sit in Conservative, Income or Balanced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latin typeface="+mj-lt"/>
                <a:ea typeface="Inter" pitchFamily="34" charset="-122"/>
                <a:cs typeface="Inter" pitchFamily="34" charset="-120"/>
              </a:rPr>
              <a:t>A naive Income assignment can score high in raw PC</a:t>
            </a:r>
            <a:endParaRPr lang="en-US" sz="1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8E1B9B17-1927-9C7C-67A5-E76BD9283EBB}"/>
              </a:ext>
            </a:extLst>
          </p:cNvPr>
          <p:cNvSpPr/>
          <p:nvPr/>
        </p:nvSpPr>
        <p:spPr>
          <a:xfrm>
            <a:off x="713232" y="2587859"/>
            <a:ext cx="3746819" cy="1251226"/>
          </a:xfrm>
          <a:prstGeom prst="roundRect">
            <a:avLst>
              <a:gd name="adj" fmla="val 583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SG" sz="1800">
              <a:latin typeface="+mj-lt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5B9A3A0-9A99-5EE7-B040-C69AD3B528C3}"/>
              </a:ext>
            </a:extLst>
          </p:cNvPr>
          <p:cNvSpPr/>
          <p:nvPr/>
        </p:nvSpPr>
        <p:spPr>
          <a:xfrm>
            <a:off x="713232" y="2587858"/>
            <a:ext cx="55817" cy="125122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SG" sz="1800">
              <a:latin typeface="+mj-lt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E27E8C81-4EFB-339D-AA70-5F38A8C149BC}"/>
              </a:ext>
            </a:extLst>
          </p:cNvPr>
          <p:cNvSpPr/>
          <p:nvPr/>
        </p:nvSpPr>
        <p:spPr>
          <a:xfrm>
            <a:off x="867307" y="2692909"/>
            <a:ext cx="3466683" cy="19609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+mj-lt"/>
                <a:ea typeface="Inter Display" pitchFamily="34" charset="-122"/>
                <a:cs typeface="Inter Display" pitchFamily="34" charset="-120"/>
              </a:rPr>
              <a:t>Risk-band distribution</a:t>
            </a:r>
            <a:endParaRPr lang="en-US" dirty="0">
              <a:solidFill>
                <a:schemeClr val="accent1"/>
              </a:solidFill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 18">
                <a:extLst>
                  <a:ext uri="{FF2B5EF4-FFF2-40B4-BE49-F238E27FC236}">
                    <a16:creationId xmlns:a16="http://schemas.microsoft.com/office/drawing/2014/main" id="{24FA4680-6ED9-B19B-5141-D0A3C1D7CDCC}"/>
                  </a:ext>
                </a:extLst>
              </p:cNvPr>
              <p:cNvSpPr/>
              <p:nvPr/>
            </p:nvSpPr>
            <p:spPr>
              <a:xfrm>
                <a:off x="867307" y="2973044"/>
                <a:ext cx="3452676" cy="810199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chemeClr val="tx1"/>
                    </a:solidFill>
                    <a:latin typeface="+mj-lt"/>
                    <a:ea typeface="Inter" pitchFamily="34" charset="-122"/>
                    <a:cs typeface="Inter" pitchFamily="34" charset="-120"/>
                  </a:rPr>
                  <a:t>Over 806 assets: Conservative = 190, Income = 333, Balanced = 105, Aggressive = 178</a:t>
                </a:r>
              </a:p>
              <a:p>
                <a:pPr marL="0" indent="0">
                  <a:buNone/>
                </a:pPr>
                <a:endParaRPr lang="en-US" sz="1000" dirty="0">
                  <a:solidFill>
                    <a:schemeClr val="tx1"/>
                  </a:solidFill>
                  <a:latin typeface="+mj-lt"/>
                  <a:ea typeface="Inter" pitchFamily="34" charset="-122"/>
                </a:endParaRPr>
              </a:p>
              <a:p>
                <a:pPr marL="0" indent="0">
                  <a:buNone/>
                </a:pPr>
                <a:r>
                  <a:rPr lang="en-US" sz="1000" dirty="0">
                    <a:solidFill>
                      <a:schemeClr val="tx1"/>
                    </a:solidFill>
                    <a:latin typeface="+mj-lt"/>
                    <a:ea typeface="Inter" pitchFamily="34" charset="-122"/>
                  </a:rPr>
                  <a:t>Fraction of assets within </a:t>
                </a:r>
                <a14:m>
                  <m:oMath xmlns:m="http://schemas.openxmlformats.org/officeDocument/2006/math">
                    <m:r>
                      <a:rPr lang="en-US" sz="1000" i="1" smtClean="0">
                        <a:solidFill>
                          <a:schemeClr val="tx1"/>
                        </a:solidFill>
                        <a:latin typeface="+mj-lt"/>
                        <a:ea typeface="Cambria Math" panose="02040503050406030204" pitchFamily="18" charset="0"/>
                      </a:rPr>
                      <m:t>±</m:t>
                    </m:r>
                    <m:r>
                      <a:rPr lang="en-SG" sz="1000" b="0" i="1" smtClean="0">
                        <a:solidFill>
                          <a:schemeClr val="tx1"/>
                        </a:solidFill>
                        <a:latin typeface="+mj-lt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000" dirty="0">
                    <a:solidFill>
                      <a:schemeClr val="tx1"/>
                    </a:solidFill>
                    <a:latin typeface="+mj-lt"/>
                  </a:rPr>
                  <a:t> of own risk-band: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SG" sz="1000" b="0" i="1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=(</m:t>
                      </m:r>
                      <m:r>
                        <a:rPr lang="en-SG" sz="1000" b="0" i="1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SG" sz="1000" b="0" i="1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SG" sz="1000" b="0" i="1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65</m:t>
                      </m:r>
                      <m:r>
                        <a:rPr lang="en-SG" sz="1000" b="0" i="1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SG" sz="1000" b="0" i="1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SG" sz="1000" b="0" i="1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SG" sz="1000" b="0" i="1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78</m:t>
                      </m:r>
                      <m:r>
                        <a:rPr lang="en-SG" sz="1000" b="0" i="1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SG" sz="1000" b="0" i="1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SG" sz="1000" b="0" i="1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SG" sz="1000" b="0" i="1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76</m:t>
                      </m:r>
                      <m:r>
                        <a:rPr lang="en-SG" sz="1000" b="0" i="1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SG" sz="1000" b="0" i="1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SG" sz="1000" b="0" i="1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SG" sz="1000" b="0" i="1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35</m:t>
                      </m:r>
                      <m:r>
                        <a:rPr lang="en-SG" sz="1000" b="0" i="1" smtClean="0">
                          <a:solidFill>
                            <a:schemeClr val="tx1"/>
                          </a:solidFill>
                          <a:latin typeface="+mj-lt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2" name="Text 18">
                <a:extLst>
                  <a:ext uri="{FF2B5EF4-FFF2-40B4-BE49-F238E27FC236}">
                    <a16:creationId xmlns:a16="http://schemas.microsoft.com/office/drawing/2014/main" id="{24FA4680-6ED9-B19B-5141-D0A3C1D7CD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307" y="2973044"/>
                <a:ext cx="3452676" cy="810199"/>
              </a:xfrm>
              <a:prstGeom prst="rect">
                <a:avLst/>
              </a:prstGeom>
              <a:blipFill>
                <a:blip r:embed="rId3"/>
                <a:stretch>
                  <a:fillRect l="-2293" t="-6015" b="-1504"/>
                </a:stretch>
              </a:blipFill>
              <a:ln/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D091627A-3772-0B1C-2DDE-C16316C598FE}"/>
              </a:ext>
            </a:extLst>
          </p:cNvPr>
          <p:cNvGrpSpPr/>
          <p:nvPr/>
        </p:nvGrpSpPr>
        <p:grpSpPr>
          <a:xfrm>
            <a:off x="4683951" y="1894521"/>
            <a:ext cx="3361632" cy="1726670"/>
            <a:chOff x="4683951" y="1894521"/>
            <a:chExt cx="3361632" cy="1726670"/>
          </a:xfrm>
        </p:grpSpPr>
        <p:sp>
          <p:nvSpPr>
            <p:cNvPr id="32" name="Text 23">
              <a:extLst>
                <a:ext uri="{FF2B5EF4-FFF2-40B4-BE49-F238E27FC236}">
                  <a16:creationId xmlns:a16="http://schemas.microsoft.com/office/drawing/2014/main" id="{610B9FD1-C0D9-71B1-C85A-F75FD5E3EA7E}"/>
                </a:ext>
              </a:extLst>
            </p:cNvPr>
            <p:cNvSpPr/>
            <p:nvPr/>
          </p:nvSpPr>
          <p:spPr>
            <a:xfrm>
              <a:off x="4683951" y="1894521"/>
              <a:ext cx="3361632" cy="1680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  <a:ea typeface="Inter Display" pitchFamily="34" charset="-122"/>
                  <a:cs typeface="Inter Display" pitchFamily="34" charset="-120"/>
                </a:rPr>
                <a:t>Normalized PC lift</a:t>
              </a:r>
              <a:endParaRPr lang="en-US" sz="16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6" name="Text 25">
              <a:extLst>
                <a:ext uri="{FF2B5EF4-FFF2-40B4-BE49-F238E27FC236}">
                  <a16:creationId xmlns:a16="http://schemas.microsoft.com/office/drawing/2014/main" id="{028F4797-819C-EEDF-6D15-6C5D91A94327}"/>
                </a:ext>
              </a:extLst>
            </p:cNvPr>
            <p:cNvSpPr/>
            <p:nvPr/>
          </p:nvSpPr>
          <p:spPr>
            <a:xfrm>
              <a:off x="4683951" y="2913743"/>
              <a:ext cx="3361632" cy="1540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  <a:ea typeface="Inter Display" pitchFamily="34" charset="-122"/>
                  <a:cs typeface="Inter Display" pitchFamily="34" charset="-120"/>
                </a:rPr>
                <a:t>Interpretation</a:t>
              </a:r>
              <a:endParaRPr lang="en-US" sz="16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8" name="Text 26">
              <a:extLst>
                <a:ext uri="{FF2B5EF4-FFF2-40B4-BE49-F238E27FC236}">
                  <a16:creationId xmlns:a16="http://schemas.microsoft.com/office/drawing/2014/main" id="{B70FBD15-F0F8-1C04-BDF0-A0765FEA7A75}"/>
                </a:ext>
              </a:extLst>
            </p:cNvPr>
            <p:cNvSpPr/>
            <p:nvPr/>
          </p:nvSpPr>
          <p:spPr>
            <a:xfrm>
              <a:off x="4929420" y="3092102"/>
              <a:ext cx="2870694" cy="5290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chemeClr val="tx1"/>
                  </a:solidFill>
                  <a:latin typeface="+mj-lt"/>
                  <a:ea typeface="Inter" pitchFamily="34" charset="-122"/>
                  <a:cs typeface="Inter" pitchFamily="34" charset="-120"/>
                </a:rPr>
                <a:t>Aggregate PC lift more than 1 implies the model is more risk coherent than random on average.</a:t>
              </a:r>
              <a:endParaRPr lang="en-US" sz="1000" dirty="0">
                <a:solidFill>
                  <a:schemeClr val="tx1"/>
                </a:solidFill>
                <a:latin typeface="+mj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4227760-0876-5730-A2AA-CA5ABDA29C64}"/>
                    </a:ext>
                  </a:extLst>
                </p:cNvPr>
                <p:cNvSpPr txBox="1"/>
                <p:nvPr/>
              </p:nvSpPr>
              <p:spPr>
                <a:xfrm>
                  <a:off x="4683951" y="2152639"/>
                  <a:ext cx="3361632" cy="61786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28600" indent="0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60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i="1" smtClean="0">
                            <a:solidFill>
                              <a:schemeClr val="tx1"/>
                            </a:solidFill>
                            <a:latin typeface="+mj-lt"/>
                          </a:rPr>
                          <m:t>𝑃</m:t>
                        </m:r>
                        <m:sSub>
                          <m:sSubPr>
                            <m:ctrlPr>
                              <a:rPr lang="en-SG" i="1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SG" i="1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𝐶</m:t>
                            </m:r>
                          </m:e>
                          <m:sub>
                            <m:r>
                              <a:rPr lang="en-SG" i="1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𝑙𝑖𝑓𝑡</m:t>
                            </m:r>
                          </m:sub>
                        </m:sSub>
                        <m:r>
                          <a:rPr lang="en-SG" i="1">
                            <a:solidFill>
                              <a:schemeClr val="tx1"/>
                            </a:solidFill>
                            <a:latin typeface="+mj-lt"/>
                          </a:rPr>
                          <m:t>@</m:t>
                        </m:r>
                        <m:r>
                          <a:rPr lang="en-SG" i="1">
                            <a:solidFill>
                              <a:schemeClr val="tx1"/>
                            </a:solidFill>
                            <a:latin typeface="+mj-lt"/>
                          </a:rPr>
                          <m:t>𝑘</m:t>
                        </m:r>
                        <m:r>
                          <a:rPr lang="en-SG" i="1">
                            <a:solidFill>
                              <a:schemeClr val="tx1"/>
                            </a:solidFill>
                            <a:latin typeface="+mj-lt"/>
                          </a:rPr>
                          <m:t>(</m:t>
                        </m:r>
                        <m:r>
                          <a:rPr lang="en-SG" i="1">
                            <a:solidFill>
                              <a:schemeClr val="tx1"/>
                            </a:solidFill>
                            <a:latin typeface="+mj-lt"/>
                          </a:rPr>
                          <m:t>𝑢</m:t>
                        </m:r>
                        <m:r>
                          <a:rPr lang="en-SG" i="1">
                            <a:solidFill>
                              <a:schemeClr val="tx1"/>
                            </a:solidFill>
                            <a:latin typeface="+mj-lt"/>
                          </a:rPr>
                          <m:t>)=</m:t>
                        </m:r>
                        <m:f>
                          <m:fPr>
                            <m:ctrlPr>
                              <a:rPr lang="en-SG" i="1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</m:ctrlPr>
                          </m:fPr>
                          <m:num>
                            <m:r>
                              <a:rPr lang="en-SG" i="1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𝑃𝐶</m:t>
                            </m:r>
                            <m:r>
                              <a:rPr lang="en-SG" i="1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@</m:t>
                            </m:r>
                            <m:r>
                              <a:rPr lang="en-SG" i="1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𝑘</m:t>
                            </m:r>
                            <m:r>
                              <a:rPr lang="en-SG" i="1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(</m:t>
                            </m:r>
                            <m:r>
                              <a:rPr lang="en-SG" i="1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𝑢</m:t>
                            </m:r>
                            <m:r>
                              <a:rPr lang="en-SG" i="1">
                                <a:solidFill>
                                  <a:schemeClr val="tx1"/>
                                </a:solidFill>
                                <a:latin typeface="+mj-lt"/>
                              </a:rPr>
                              <m:t>)</m:t>
                            </m:r>
                          </m:num>
                          <m:den>
                            <m:r>
                              <a:rPr lang="en-SG" i="1">
                                <a:solidFill>
                                  <a:schemeClr val="tx1"/>
                                </a:solidFill>
                                <a:latin typeface="+mj-lt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SG" i="1">
                                <a:solidFill>
                                  <a:schemeClr val="tx1"/>
                                </a:solidFill>
                                <a:latin typeface="+mj-lt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SG" i="1">
                                    <a:solidFill>
                                      <a:schemeClr val="tx1"/>
                                    </a:solidFill>
                                    <a:latin typeface="+mj-lt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i="1">
                                    <a:solidFill>
                                      <a:schemeClr val="tx1"/>
                                    </a:solidFill>
                                    <a:latin typeface="+mj-lt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SG" i="1">
                                    <a:solidFill>
                                      <a:schemeClr val="tx1"/>
                                    </a:solidFill>
                                    <a:latin typeface="+mj-lt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  <m:r>
                              <a:rPr lang="en-SG" i="1">
                                <a:solidFill>
                                  <a:schemeClr val="tx1"/>
                                </a:solidFill>
                                <a:latin typeface="+mj-lt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en-SG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4227760-0876-5730-A2AA-CA5ABDA29C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3951" y="2152639"/>
                  <a:ext cx="3361632" cy="61786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64A6E1D3-FC19-CDF3-789B-1D8C9E77C309}"/>
              </a:ext>
            </a:extLst>
          </p:cNvPr>
          <p:cNvSpPr/>
          <p:nvPr/>
        </p:nvSpPr>
        <p:spPr>
          <a:xfrm>
            <a:off x="7246379" y="1140067"/>
            <a:ext cx="1547715" cy="5669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GB" sz="2000" b="1" dirty="0">
                <a:solidFill>
                  <a:srgbClr val="156082"/>
                </a:solidFill>
              </a:rPr>
              <a:t>Data</a:t>
            </a:r>
            <a:r>
              <a:rPr sz="2000" b="1" dirty="0">
                <a:solidFill>
                  <a:srgbClr val="156082"/>
                </a:solidFill>
              </a:rPr>
              <a:t> </a:t>
            </a:r>
            <a:r>
              <a:rPr lang="en-SG" sz="2000" b="1" dirty="0">
                <a:solidFill>
                  <a:srgbClr val="156082"/>
                </a:solidFill>
              </a:rPr>
              <a:t>training test </a:t>
            </a:r>
            <a:r>
              <a:rPr sz="2000" b="1" dirty="0">
                <a:solidFill>
                  <a:srgbClr val="156082"/>
                </a:solidFill>
              </a:rPr>
              <a:t>split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5A862-5934-C007-2D7F-59BD01DEF41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>
                <a:latin typeface="+mj-lt"/>
              </a:rPr>
              <a:t>github.com/Samthesimpsons/Risk-Based-Segmentation-for-FAR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C02D73-3708-657C-148F-3187FB897EFB}"/>
              </a:ext>
            </a:extLst>
          </p:cNvPr>
          <p:cNvSpPr txBox="1"/>
          <p:nvPr/>
        </p:nvSpPr>
        <p:spPr>
          <a:xfrm>
            <a:off x="589717" y="1638449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SG" sz="1000" dirty="0">
                <a:latin typeface="+mj-lt"/>
              </a:rPr>
              <a:t>Split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570E97-8D85-CDD4-FDDE-CBCE2A073689}"/>
              </a:ext>
            </a:extLst>
          </p:cNvPr>
          <p:cNvSpPr txBox="1"/>
          <p:nvPr/>
        </p:nvSpPr>
        <p:spPr>
          <a:xfrm>
            <a:off x="589717" y="1827046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SG" sz="1000" dirty="0">
                <a:latin typeface="+mj-lt"/>
              </a:rPr>
              <a:t>Split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4AE6B0-2074-EDC6-D84E-749DA7091ED8}"/>
              </a:ext>
            </a:extLst>
          </p:cNvPr>
          <p:cNvSpPr txBox="1"/>
          <p:nvPr/>
        </p:nvSpPr>
        <p:spPr>
          <a:xfrm>
            <a:off x="589717" y="2015415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SG" sz="1000" dirty="0">
                <a:latin typeface="+mj-lt"/>
              </a:rPr>
              <a:t>Split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5DCD83-08E3-EABA-B191-4628196B8E02}"/>
              </a:ext>
            </a:extLst>
          </p:cNvPr>
          <p:cNvCxnSpPr>
            <a:cxnSpLocks/>
          </p:cNvCxnSpPr>
          <p:nvPr/>
        </p:nvCxnSpPr>
        <p:spPr>
          <a:xfrm flipV="1">
            <a:off x="1333473" y="1361130"/>
            <a:ext cx="7360" cy="2439020"/>
          </a:xfrm>
          <a:prstGeom prst="line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37F7E61-F484-AD5F-C74A-223D9B2B0C3B}"/>
              </a:ext>
            </a:extLst>
          </p:cNvPr>
          <p:cNvCxnSpPr>
            <a:cxnSpLocks/>
          </p:cNvCxnSpPr>
          <p:nvPr/>
        </p:nvCxnSpPr>
        <p:spPr>
          <a:xfrm flipH="1">
            <a:off x="1341447" y="3798718"/>
            <a:ext cx="6874193" cy="1432"/>
          </a:xfrm>
          <a:prstGeom prst="line">
            <a:avLst/>
          </a:prstGeom>
          <a:ln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152EBE49-8058-89A4-8872-0284EF58F8CE}"/>
              </a:ext>
            </a:extLst>
          </p:cNvPr>
          <p:cNvSpPr/>
          <p:nvPr/>
        </p:nvSpPr>
        <p:spPr>
          <a:xfrm>
            <a:off x="7340769" y="1241631"/>
            <a:ext cx="318433" cy="14602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+mj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8EFF474-68FD-12C1-0482-5B3587869041}"/>
              </a:ext>
            </a:extLst>
          </p:cNvPr>
          <p:cNvSpPr/>
          <p:nvPr/>
        </p:nvSpPr>
        <p:spPr>
          <a:xfrm>
            <a:off x="7340769" y="1429595"/>
            <a:ext cx="318433" cy="146026"/>
          </a:xfrm>
          <a:prstGeom prst="rect">
            <a:avLst/>
          </a:prstGeom>
          <a:solidFill>
            <a:srgbClr val="C69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latin typeface="+mj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59D457-4FBC-9AB8-1391-C623FE7F1E9E}"/>
              </a:ext>
            </a:extLst>
          </p:cNvPr>
          <p:cNvSpPr txBox="1"/>
          <p:nvPr/>
        </p:nvSpPr>
        <p:spPr>
          <a:xfrm>
            <a:off x="7630316" y="1374636"/>
            <a:ext cx="9110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dirty="0">
                <a:solidFill>
                  <a:srgbClr val="C69213"/>
                </a:solidFill>
                <a:latin typeface="+mj-lt"/>
              </a:rPr>
              <a:t>Test window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7465D8-1B58-9C17-FC58-19EBB77D3DBE}"/>
              </a:ext>
            </a:extLst>
          </p:cNvPr>
          <p:cNvSpPr txBox="1"/>
          <p:nvPr/>
        </p:nvSpPr>
        <p:spPr>
          <a:xfrm>
            <a:off x="7630315" y="1197484"/>
            <a:ext cx="11208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dirty="0">
                <a:solidFill>
                  <a:srgbClr val="156082"/>
                </a:solidFill>
                <a:latin typeface="+mj-lt"/>
              </a:rPr>
              <a:t>Training window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419E54-8F2A-320D-EB89-667F86D9C0E0}"/>
              </a:ext>
            </a:extLst>
          </p:cNvPr>
          <p:cNvSpPr txBox="1"/>
          <p:nvPr/>
        </p:nvSpPr>
        <p:spPr>
          <a:xfrm>
            <a:off x="589717" y="2710152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SG" sz="1000" dirty="0">
                <a:latin typeface="+mj-lt"/>
              </a:rPr>
              <a:t>…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D61A1F8-79E5-B70D-2DAA-ADA1206E88A3}"/>
              </a:ext>
            </a:extLst>
          </p:cNvPr>
          <p:cNvSpPr txBox="1"/>
          <p:nvPr/>
        </p:nvSpPr>
        <p:spPr>
          <a:xfrm>
            <a:off x="588490" y="3557359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SG" sz="1000" dirty="0">
                <a:latin typeface="+mj-lt"/>
              </a:rPr>
              <a:t>Split 69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4F0F340-F5CF-DF01-5ABC-4079094CA13B}"/>
              </a:ext>
            </a:extLst>
          </p:cNvPr>
          <p:cNvGrpSpPr/>
          <p:nvPr/>
        </p:nvGrpSpPr>
        <p:grpSpPr>
          <a:xfrm>
            <a:off x="3994251" y="1645160"/>
            <a:ext cx="4317050" cy="2405048"/>
            <a:chOff x="3994251" y="1645160"/>
            <a:chExt cx="4317050" cy="2405048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948129D4-0256-17DE-67AF-0AAB3E04DDDE}"/>
                </a:ext>
              </a:extLst>
            </p:cNvPr>
            <p:cNvSpPr/>
            <p:nvPr/>
          </p:nvSpPr>
          <p:spPr>
            <a:xfrm>
              <a:off x="6736098" y="3425212"/>
              <a:ext cx="699964" cy="146026"/>
            </a:xfrm>
            <a:prstGeom prst="rect">
              <a:avLst/>
            </a:prstGeom>
            <a:solidFill>
              <a:srgbClr val="C692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+mj-lt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170110F-F485-301F-130B-2ACA63C123C9}"/>
                </a:ext>
              </a:extLst>
            </p:cNvPr>
            <p:cNvSpPr/>
            <p:nvPr/>
          </p:nvSpPr>
          <p:spPr>
            <a:xfrm>
              <a:off x="6890573" y="3607456"/>
              <a:ext cx="699964" cy="146026"/>
            </a:xfrm>
            <a:prstGeom prst="rect">
              <a:avLst/>
            </a:prstGeom>
            <a:solidFill>
              <a:srgbClr val="C692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+mj-lt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242E17C-C77D-4F8B-300D-2E776ECD7146}"/>
                </a:ext>
              </a:extLst>
            </p:cNvPr>
            <p:cNvSpPr/>
            <p:nvPr/>
          </p:nvSpPr>
          <p:spPr>
            <a:xfrm>
              <a:off x="3994251" y="1696241"/>
              <a:ext cx="699964" cy="146026"/>
            </a:xfrm>
            <a:prstGeom prst="rect">
              <a:avLst/>
            </a:prstGeom>
            <a:solidFill>
              <a:srgbClr val="C692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+mj-lt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6DBF6EC-B0AF-B858-39B1-311CD1FA5B49}"/>
                </a:ext>
              </a:extLst>
            </p:cNvPr>
            <p:cNvSpPr/>
            <p:nvPr/>
          </p:nvSpPr>
          <p:spPr>
            <a:xfrm>
              <a:off x="4148721" y="1885653"/>
              <a:ext cx="699964" cy="146026"/>
            </a:xfrm>
            <a:prstGeom prst="rect">
              <a:avLst/>
            </a:prstGeom>
            <a:solidFill>
              <a:srgbClr val="C692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+mj-lt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27EE185-0341-FD03-09B4-D0480F85376D}"/>
                </a:ext>
              </a:extLst>
            </p:cNvPr>
            <p:cNvSpPr/>
            <p:nvPr/>
          </p:nvSpPr>
          <p:spPr>
            <a:xfrm>
              <a:off x="4303200" y="2074250"/>
              <a:ext cx="699964" cy="146026"/>
            </a:xfrm>
            <a:prstGeom prst="rect">
              <a:avLst/>
            </a:prstGeom>
            <a:solidFill>
              <a:srgbClr val="C692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+mj-lt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4C6C6AD-3E11-E2D5-4D15-A7A1101DC7D2}"/>
                </a:ext>
              </a:extLst>
            </p:cNvPr>
            <p:cNvSpPr txBox="1"/>
            <p:nvPr/>
          </p:nvSpPr>
          <p:spPr>
            <a:xfrm>
              <a:off x="4855239" y="1645160"/>
              <a:ext cx="172638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sz="1000" dirty="0">
                  <a:solidFill>
                    <a:srgbClr val="C69213"/>
                  </a:solidFill>
                  <a:latin typeface="+mj-lt"/>
                </a:rPr>
                <a:t>Each test window is ~5.5 months (semi-annual)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8922A21-639D-5BC8-433B-26609E7C741B}"/>
                </a:ext>
              </a:extLst>
            </p:cNvPr>
            <p:cNvSpPr txBox="1"/>
            <p:nvPr/>
          </p:nvSpPr>
          <p:spPr>
            <a:xfrm>
              <a:off x="6869773" y="3803987"/>
              <a:ext cx="144152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00" dirty="0">
                  <a:solidFill>
                    <a:srgbClr val="C69213"/>
                  </a:solidFill>
                  <a:latin typeface="+mj-lt"/>
                </a:rPr>
                <a:t>May 2022 (End)</a:t>
              </a: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D4808D38-459A-37A7-1DB4-73AD30528F80}"/>
              </a:ext>
            </a:extLst>
          </p:cNvPr>
          <p:cNvSpPr txBox="1"/>
          <p:nvPr/>
        </p:nvSpPr>
        <p:spPr>
          <a:xfrm>
            <a:off x="588490" y="3370606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SG" sz="1000" dirty="0">
                <a:latin typeface="+mj-lt"/>
              </a:rPr>
              <a:t>Split 68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D3D5BBB-0DA0-59AC-1DAF-8907423904B1}"/>
              </a:ext>
            </a:extLst>
          </p:cNvPr>
          <p:cNvGrpSpPr/>
          <p:nvPr/>
        </p:nvGrpSpPr>
        <p:grpSpPr>
          <a:xfrm>
            <a:off x="769925" y="1454860"/>
            <a:ext cx="6120648" cy="2593917"/>
            <a:chOff x="769925" y="1454860"/>
            <a:chExt cx="6120648" cy="25939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250E7D6-8869-9768-2D36-9C9A89286DC8}"/>
                </a:ext>
              </a:extLst>
            </p:cNvPr>
            <p:cNvSpPr txBox="1"/>
            <p:nvPr/>
          </p:nvSpPr>
          <p:spPr>
            <a:xfrm>
              <a:off x="769925" y="3802556"/>
              <a:ext cx="112937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00" dirty="0">
                  <a:solidFill>
                    <a:srgbClr val="156082"/>
                  </a:solidFill>
                  <a:latin typeface="+mj-lt"/>
                </a:rPr>
                <a:t>Jan 2018 (Start)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9DD7C92-19DA-B49A-E39C-58EF42C2B5E3}"/>
                </a:ext>
              </a:extLst>
            </p:cNvPr>
            <p:cNvSpPr/>
            <p:nvPr/>
          </p:nvSpPr>
          <p:spPr>
            <a:xfrm>
              <a:off x="1340219" y="3607456"/>
              <a:ext cx="4203061" cy="146026"/>
            </a:xfrm>
            <a:prstGeom prst="rect">
              <a:avLst/>
            </a:prstGeom>
            <a:solidFill>
              <a:srgbClr val="1560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+mj-lt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664888-C18E-75F7-665C-22273857DB22}"/>
                </a:ext>
              </a:extLst>
            </p:cNvPr>
            <p:cNvSpPr/>
            <p:nvPr/>
          </p:nvSpPr>
          <p:spPr>
            <a:xfrm>
              <a:off x="1341446" y="1696241"/>
              <a:ext cx="2652803" cy="146026"/>
            </a:xfrm>
            <a:prstGeom prst="rect">
              <a:avLst/>
            </a:prstGeom>
            <a:solidFill>
              <a:srgbClr val="1560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+mj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421905A-344E-B9EE-DCF9-23F7D4222AD7}"/>
                </a:ext>
              </a:extLst>
            </p:cNvPr>
            <p:cNvSpPr/>
            <p:nvPr/>
          </p:nvSpPr>
          <p:spPr>
            <a:xfrm>
              <a:off x="1341446" y="1884838"/>
              <a:ext cx="2807275" cy="146026"/>
            </a:xfrm>
            <a:prstGeom prst="rect">
              <a:avLst/>
            </a:prstGeom>
            <a:solidFill>
              <a:srgbClr val="1560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+mj-l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62BEE15-3DC4-F7CF-280D-5B1C0BAA6B04}"/>
                </a:ext>
              </a:extLst>
            </p:cNvPr>
            <p:cNvSpPr/>
            <p:nvPr/>
          </p:nvSpPr>
          <p:spPr>
            <a:xfrm>
              <a:off x="1341446" y="2073435"/>
              <a:ext cx="2961753" cy="146026"/>
            </a:xfrm>
            <a:prstGeom prst="rect">
              <a:avLst/>
            </a:prstGeom>
            <a:solidFill>
              <a:srgbClr val="1560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+mj-lt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0013238-C90D-7CF4-9753-366A0B69C1D4}"/>
                </a:ext>
              </a:extLst>
            </p:cNvPr>
            <p:cNvSpPr txBox="1"/>
            <p:nvPr/>
          </p:nvSpPr>
          <p:spPr>
            <a:xfrm>
              <a:off x="1330038" y="1454860"/>
              <a:ext cx="21477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sz="1000" dirty="0">
                  <a:solidFill>
                    <a:srgbClr val="156082"/>
                  </a:solidFill>
                  <a:latin typeface="+mj-lt"/>
                </a:rPr>
                <a:t>Cumulative buys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226B50A-046C-D024-D881-49539A6881BE}"/>
                </a:ext>
              </a:extLst>
            </p:cNvPr>
            <p:cNvSpPr txBox="1"/>
            <p:nvPr/>
          </p:nvSpPr>
          <p:spPr>
            <a:xfrm>
              <a:off x="5272425" y="3557359"/>
              <a:ext cx="824155" cy="24622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en-SG" sz="1000" dirty="0">
                  <a:latin typeface="+mj-lt"/>
                </a:rPr>
                <a:t>…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1156D8A-5F01-5F09-B19A-DCB9D7F49A72}"/>
                </a:ext>
              </a:extLst>
            </p:cNvPr>
            <p:cNvSpPr/>
            <p:nvPr/>
          </p:nvSpPr>
          <p:spPr>
            <a:xfrm>
              <a:off x="5796162" y="3607456"/>
              <a:ext cx="1094411" cy="146026"/>
            </a:xfrm>
            <a:prstGeom prst="rect">
              <a:avLst/>
            </a:prstGeom>
            <a:solidFill>
              <a:srgbClr val="1560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+mj-lt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2D9DE5C-B769-CEBA-4253-5661C0418CFD}"/>
                </a:ext>
              </a:extLst>
            </p:cNvPr>
            <p:cNvSpPr/>
            <p:nvPr/>
          </p:nvSpPr>
          <p:spPr>
            <a:xfrm>
              <a:off x="1330038" y="3425212"/>
              <a:ext cx="4203061" cy="146026"/>
            </a:xfrm>
            <a:prstGeom prst="rect">
              <a:avLst/>
            </a:prstGeom>
            <a:solidFill>
              <a:srgbClr val="1560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+mj-lt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F84077A-4E6C-EB8B-7136-01B73BCB1FB6}"/>
                </a:ext>
              </a:extLst>
            </p:cNvPr>
            <p:cNvSpPr/>
            <p:nvPr/>
          </p:nvSpPr>
          <p:spPr>
            <a:xfrm>
              <a:off x="5785982" y="3425212"/>
              <a:ext cx="950116" cy="146026"/>
            </a:xfrm>
            <a:prstGeom prst="rect">
              <a:avLst/>
            </a:prstGeom>
            <a:solidFill>
              <a:srgbClr val="1560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+mj-lt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D31FD1E-4034-402D-D2A7-6886535B2E8A}"/>
                </a:ext>
              </a:extLst>
            </p:cNvPr>
            <p:cNvSpPr txBox="1"/>
            <p:nvPr/>
          </p:nvSpPr>
          <p:spPr>
            <a:xfrm>
              <a:off x="5272425" y="3354435"/>
              <a:ext cx="824155" cy="24622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en-SG" sz="1000" dirty="0">
                  <a:latin typeface="+mj-lt"/>
                </a:rPr>
                <a:t>…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5DBC93B-CCB5-17E2-9919-F877211B5872}"/>
              </a:ext>
            </a:extLst>
          </p:cNvPr>
          <p:cNvGrpSpPr/>
          <p:nvPr/>
        </p:nvGrpSpPr>
        <p:grpSpPr>
          <a:xfrm>
            <a:off x="2745082" y="1189965"/>
            <a:ext cx="4690980" cy="3239388"/>
            <a:chOff x="2745082" y="1189965"/>
            <a:chExt cx="4690980" cy="323938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EDA0AEE-41E5-1444-F7C4-166921CC5805}"/>
                </a:ext>
              </a:extLst>
            </p:cNvPr>
            <p:cNvSpPr txBox="1"/>
            <p:nvPr/>
          </p:nvSpPr>
          <p:spPr>
            <a:xfrm>
              <a:off x="3747845" y="4029243"/>
              <a:ext cx="82415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00" dirty="0">
                  <a:solidFill>
                    <a:srgbClr val="FF0000"/>
                  </a:solidFill>
                  <a:latin typeface="+mj-lt"/>
                </a:rPr>
                <a:t>1</a:t>
              </a:r>
              <a:r>
                <a:rPr lang="en-SG" sz="1000" baseline="30000" dirty="0">
                  <a:solidFill>
                    <a:srgbClr val="FF0000"/>
                  </a:solidFill>
                  <a:latin typeface="+mj-lt"/>
                </a:rPr>
                <a:t>st</a:t>
              </a:r>
              <a:r>
                <a:rPr lang="en-SG" sz="1000" dirty="0">
                  <a:solidFill>
                    <a:srgbClr val="FF0000"/>
                  </a:solidFill>
                  <a:latin typeface="+mj-lt"/>
                </a:rPr>
                <a:t> cutoff</a:t>
              </a:r>
            </a:p>
            <a:p>
              <a:pPr algn="ctr"/>
              <a:r>
                <a:rPr lang="en-SG" sz="1000" dirty="0">
                  <a:solidFill>
                    <a:srgbClr val="FF0000"/>
                  </a:solidFill>
                  <a:latin typeface="+mj-lt"/>
                </a:rPr>
                <a:t>Aug 2019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1FFDDEE-AC5E-D96E-DBF6-AC05DE84A3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4250" y="1472718"/>
              <a:ext cx="0" cy="2312400"/>
            </a:xfrm>
            <a:prstGeom prst="line">
              <a:avLst/>
            </a:prstGeom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E162664-53AD-949C-45C4-701837F140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48726" y="1472718"/>
              <a:ext cx="0" cy="2312400"/>
            </a:xfrm>
            <a:prstGeom prst="line">
              <a:avLst/>
            </a:prstGeom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30A9667-E42C-F32F-4A80-2523411F90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3201" y="1472718"/>
              <a:ext cx="0" cy="2312400"/>
            </a:xfrm>
            <a:prstGeom prst="line">
              <a:avLst/>
            </a:prstGeom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EAAB8B5-D58D-44F3-DFFA-84D48BF0077E}"/>
                </a:ext>
              </a:extLst>
            </p:cNvPr>
            <p:cNvSpPr txBox="1"/>
            <p:nvPr/>
          </p:nvSpPr>
          <p:spPr>
            <a:xfrm>
              <a:off x="2745082" y="1189965"/>
              <a:ext cx="29542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sz="1000" dirty="0">
                  <a:solidFill>
                    <a:srgbClr val="FF0000"/>
                  </a:solidFill>
                  <a:latin typeface="+mj-lt"/>
                </a:rPr>
                <a:t>Each cutoff walk forwards ~13 days (biweekly)</a:t>
              </a: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6E3F0AE-0764-24E5-AEB8-6B415E32D8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0573" y="1472718"/>
              <a:ext cx="0" cy="2312400"/>
            </a:xfrm>
            <a:prstGeom prst="line">
              <a:avLst/>
            </a:prstGeom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B8F440A-666A-44FC-90A6-FCF83A5624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6098" y="1472718"/>
              <a:ext cx="0" cy="2312400"/>
            </a:xfrm>
            <a:prstGeom prst="line">
              <a:avLst/>
            </a:prstGeom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3193DAA-723B-9ED4-A88E-8BA9B4B00792}"/>
                </a:ext>
              </a:extLst>
            </p:cNvPr>
            <p:cNvCxnSpPr>
              <a:cxnSpLocks/>
              <a:endCxn id="33" idx="0"/>
            </p:cNvCxnSpPr>
            <p:nvPr/>
          </p:nvCxnSpPr>
          <p:spPr>
            <a:xfrm>
              <a:off x="3994249" y="3798718"/>
              <a:ext cx="165674" cy="23052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9D54FDFF-CA52-2618-05D6-2387A1797595}"/>
                </a:ext>
              </a:extLst>
            </p:cNvPr>
            <p:cNvSpPr txBox="1"/>
            <p:nvPr/>
          </p:nvSpPr>
          <p:spPr>
            <a:xfrm>
              <a:off x="6611907" y="4029243"/>
              <a:ext cx="82415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00" dirty="0">
                  <a:solidFill>
                    <a:srgbClr val="FF0000"/>
                  </a:solidFill>
                  <a:latin typeface="+mj-lt"/>
                </a:rPr>
                <a:t>Last cutoff</a:t>
              </a:r>
            </a:p>
            <a:p>
              <a:pPr algn="ctr"/>
              <a:r>
                <a:rPr lang="en-SG" sz="1000" dirty="0">
                  <a:solidFill>
                    <a:srgbClr val="FF0000"/>
                  </a:solidFill>
                  <a:latin typeface="+mj-lt"/>
                </a:rPr>
                <a:t>Dec 2021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DBA83B05-3069-1092-8DC0-0B29C1C9FEDB}"/>
                </a:ext>
              </a:extLst>
            </p:cNvPr>
            <p:cNvCxnSpPr>
              <a:cxnSpLocks/>
              <a:endCxn id="108" idx="0"/>
            </p:cNvCxnSpPr>
            <p:nvPr/>
          </p:nvCxnSpPr>
          <p:spPr>
            <a:xfrm>
              <a:off x="6890573" y="3798718"/>
              <a:ext cx="133412" cy="23052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 dirty="0">
                <a:solidFill>
                  <a:srgbClr val="156082"/>
                </a:solidFill>
              </a:rPr>
              <a:t>Configurations </a:t>
            </a:r>
            <a:r>
              <a:rPr lang="en-SG" sz="2000" b="1" dirty="0">
                <a:solidFill>
                  <a:srgbClr val="156082"/>
                </a:solidFill>
              </a:rPr>
              <a:t>and</a:t>
            </a:r>
            <a:r>
              <a:rPr sz="2000" b="1" dirty="0">
                <a:solidFill>
                  <a:srgbClr val="156082"/>
                </a:solidFill>
              </a:rPr>
              <a:t> hyperparameter grids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9EEDC-5E6D-A553-E028-04B81E7FB3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>
                <a:latin typeface="+mj-lt"/>
              </a:rPr>
              <a:t>github.com/Samthesimpsons/Risk-Based-Segmentation-for-FAR</a:t>
            </a:r>
          </a:p>
        </p:txBody>
      </p:sp>
      <p:sp>
        <p:nvSpPr>
          <p:cNvPr id="9" name="Shape 15">
            <a:extLst>
              <a:ext uri="{FF2B5EF4-FFF2-40B4-BE49-F238E27FC236}">
                <a16:creationId xmlns:a16="http://schemas.microsoft.com/office/drawing/2014/main" id="{0C81A788-6C68-FB65-0C60-39F4E3CF3586}"/>
              </a:ext>
            </a:extLst>
          </p:cNvPr>
          <p:cNvSpPr/>
          <p:nvPr/>
        </p:nvSpPr>
        <p:spPr>
          <a:xfrm>
            <a:off x="5682997" y="2323181"/>
            <a:ext cx="3086100" cy="2159901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SG" sz="1800">
              <a:latin typeface="+mj-lt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CEFE776-733C-CB2B-7AEF-F0E7C347912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566672" y="2433535"/>
            <a:ext cx="3123618" cy="2003615"/>
          </a:xfrm>
        </p:spPr>
        <p:txBody>
          <a:bodyPr wrap="square">
            <a:normAutofit/>
          </a:bodyPr>
          <a:lstStyle/>
          <a:p>
            <a:pPr marL="228600" indent="0">
              <a:lnSpc>
                <a:spcPct val="100000"/>
              </a:lnSpc>
              <a:spcBef>
                <a:spcPts val="300"/>
              </a:spcBef>
              <a:spcAft>
                <a:spcPts val="500"/>
              </a:spcAft>
              <a:buNone/>
            </a:pPr>
            <a:r>
              <a:rPr lang="en-SG" b="1" dirty="0">
                <a:solidFill>
                  <a:schemeClr val="accent1"/>
                </a:solidFill>
                <a:latin typeface="+mj-lt"/>
              </a:rPr>
              <a:t>With the best LightGCN setting: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500"/>
              </a:spcAft>
            </a:pPr>
            <a:r>
              <a:rPr lang="en-SG" sz="1100" dirty="0">
                <a:solidFill>
                  <a:srgbClr val="202020"/>
                </a:solidFill>
                <a:latin typeface="+mj-lt"/>
              </a:rPr>
              <a:t>LightGCN with risk-based segmentation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500"/>
              </a:spcAft>
            </a:pPr>
            <a:r>
              <a:rPr lang="en-SG" sz="1100" b="0" dirty="0">
                <a:solidFill>
                  <a:srgbClr val="202020"/>
                </a:solidFill>
                <a:latin typeface="+mj-lt"/>
              </a:rPr>
              <a:t>LightGC</a:t>
            </a:r>
            <a:r>
              <a:rPr lang="en-SG" sz="1100" dirty="0">
                <a:solidFill>
                  <a:srgbClr val="202020"/>
                </a:solidFill>
                <a:latin typeface="+mj-lt"/>
              </a:rPr>
              <a:t>N with risk-based segmentation + Coherence margin loss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500"/>
              </a:spcAft>
            </a:pPr>
            <a:r>
              <a:rPr lang="en-SG" sz="1100" dirty="0">
                <a:solidFill>
                  <a:srgbClr val="202020"/>
                </a:solidFill>
                <a:latin typeface="+mj-lt"/>
              </a:rPr>
              <a:t>LightGCN with risk-based segmentation + Customer risk-band regrouping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500"/>
              </a:spcAft>
            </a:pPr>
            <a:r>
              <a:rPr lang="en-SG" sz="1100" dirty="0">
                <a:solidFill>
                  <a:srgbClr val="202020"/>
                </a:solidFill>
                <a:latin typeface="+mj-lt"/>
              </a:rPr>
              <a:t>LightGCN with risk-based segmentation + Both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9746A87-017E-5596-4760-8B702265D5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347530"/>
              </p:ext>
            </p:extLst>
          </p:nvPr>
        </p:nvGraphicFramePr>
        <p:xfrm>
          <a:off x="765421" y="2324621"/>
          <a:ext cx="4712511" cy="20665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9708">
                  <a:extLst>
                    <a:ext uri="{9D8B030D-6E8A-4147-A177-3AD203B41FA5}">
                      <a16:colId xmlns:a16="http://schemas.microsoft.com/office/drawing/2014/main" val="170166288"/>
                    </a:ext>
                  </a:extLst>
                </a:gridCol>
                <a:gridCol w="1950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433">
                <a:tc>
                  <a:txBody>
                    <a:bodyPr/>
                    <a:lstStyle/>
                    <a:p>
                      <a:pPr algn="ctr"/>
                      <a:r>
                        <a:rPr lang="en-SG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  <a:endParaRPr sz="10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Arial"/>
                        </a:rPr>
                        <a:t>Param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Arial"/>
                        </a:rPr>
                        <a:t>Search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Arial"/>
                        </a:rPr>
                        <a:t>Best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33">
                <a:tc>
                  <a:txBody>
                    <a:bodyPr/>
                    <a:lstStyle/>
                    <a:p>
                      <a:pPr algn="l"/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+mn-lt"/>
                        </a:rPr>
                        <a:t>LightGCN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Arial"/>
                        </a:rPr>
                        <a:t>Dimension of Embedding layers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64, 128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64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33">
                <a:tc>
                  <a:txBody>
                    <a:bodyPr/>
                    <a:lstStyle/>
                    <a:p>
                      <a:pPr algn="l"/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+mn-lt"/>
                        </a:rPr>
                        <a:t>LightGCN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Arial"/>
                        </a:rPr>
                        <a:t>Number of layers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2, 3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3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33">
                <a:tc>
                  <a:txBody>
                    <a:bodyPr/>
                    <a:lstStyle/>
                    <a:p>
                      <a:pPr algn="l"/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+mn-lt"/>
                        </a:rPr>
                        <a:t>LightGCN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Arial"/>
                        </a:rPr>
                        <a:t>Learning rate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000" b="0">
                          <a:solidFill>
                            <a:srgbClr val="202020"/>
                          </a:solidFill>
                          <a:latin typeface="Arial"/>
                        </a:rPr>
                        <a:t>0.01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, </a:t>
                      </a:r>
                      <a:r>
                        <a:rPr lang="en-SG" sz="1000" b="0">
                          <a:solidFill>
                            <a:srgbClr val="202020"/>
                          </a:solidFill>
                          <a:latin typeface="Arial"/>
                        </a:rPr>
                        <a:t>0.001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+mn-lt"/>
                        </a:rPr>
                        <a:t>0.001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433">
                <a:tc>
                  <a:txBody>
                    <a:bodyPr/>
                    <a:lstStyle/>
                    <a:p>
                      <a:pPr algn="l"/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Arial"/>
                        </a:rPr>
                        <a:t>Random Forest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Arial"/>
                        </a:rPr>
                        <a:t>Number of estimators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20,</a:t>
                      </a:r>
                      <a:r>
                        <a:rPr lang="en-SG" sz="1000" b="0">
                          <a:solidFill>
                            <a:srgbClr val="202020"/>
                          </a:solidFill>
                          <a:latin typeface="Arial"/>
                        </a:rPr>
                        <a:t>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30,</a:t>
                      </a:r>
                      <a:r>
                        <a:rPr lang="en-SG" sz="1000" b="0">
                          <a:solidFill>
                            <a:srgbClr val="202020"/>
                          </a:solidFill>
                          <a:latin typeface="Arial"/>
                        </a:rPr>
                        <a:t>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40,</a:t>
                      </a:r>
                      <a:r>
                        <a:rPr lang="en-SG" sz="1000" b="0">
                          <a:solidFill>
                            <a:srgbClr val="202020"/>
                          </a:solidFill>
                          <a:latin typeface="Arial"/>
                        </a:rPr>
                        <a:t>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50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4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+mn-lt"/>
                        </a:rPr>
                        <a:t>Random Forest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Arial"/>
                        </a:rPr>
                        <a:t>Maximum tree depth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15, 25, 50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Shape 15">
            <a:extLst>
              <a:ext uri="{FF2B5EF4-FFF2-40B4-BE49-F238E27FC236}">
                <a16:creationId xmlns:a16="http://schemas.microsoft.com/office/drawing/2014/main" id="{9BC6E94C-0245-46CA-7BAB-E4442C698970}"/>
              </a:ext>
            </a:extLst>
          </p:cNvPr>
          <p:cNvSpPr/>
          <p:nvPr/>
        </p:nvSpPr>
        <p:spPr>
          <a:xfrm>
            <a:off x="765419" y="1252336"/>
            <a:ext cx="8003677" cy="851087"/>
          </a:xfrm>
          <a:prstGeom prst="roundRect">
            <a:avLst>
              <a:gd name="adj" fmla="val 11411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SG" sz="1800">
              <a:latin typeface="+mj-lt"/>
            </a:endParaRPr>
          </a:p>
        </p:txBody>
      </p:sp>
      <p:sp>
        <p:nvSpPr>
          <p:cNvPr id="13" name="Shape 16">
            <a:extLst>
              <a:ext uri="{FF2B5EF4-FFF2-40B4-BE49-F238E27FC236}">
                <a16:creationId xmlns:a16="http://schemas.microsoft.com/office/drawing/2014/main" id="{800773E4-9093-0EE7-63C2-E5053E170A80}"/>
              </a:ext>
            </a:extLst>
          </p:cNvPr>
          <p:cNvSpPr/>
          <p:nvPr/>
        </p:nvSpPr>
        <p:spPr>
          <a:xfrm>
            <a:off x="765419" y="1252336"/>
            <a:ext cx="81248" cy="851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SG" sz="1800">
              <a:latin typeface="+mj-lt"/>
            </a:endParaRPr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231FEF0F-49EB-FD04-1099-0ABA0F917E72}"/>
              </a:ext>
            </a:extLst>
          </p:cNvPr>
          <p:cNvSpPr/>
          <p:nvPr/>
        </p:nvSpPr>
        <p:spPr>
          <a:xfrm>
            <a:off x="919494" y="1340453"/>
            <a:ext cx="3466683" cy="19609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+mj-lt"/>
                <a:ea typeface="Inter Display" pitchFamily="34" charset="-122"/>
                <a:cs typeface="Inter Display" pitchFamily="34" charset="-120"/>
              </a:rPr>
              <a:t>Baselines from original paper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D08333B-61B9-FE10-B03B-77BD1B625B23}"/>
              </a:ext>
            </a:extLst>
          </p:cNvPr>
          <p:cNvSpPr txBox="1">
            <a:spLocks/>
          </p:cNvSpPr>
          <p:nvPr/>
        </p:nvSpPr>
        <p:spPr>
          <a:xfrm>
            <a:off x="651102" y="1536494"/>
            <a:ext cx="5237481" cy="566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</a:pPr>
            <a:r>
              <a:rPr lang="en-SG" sz="1100" dirty="0">
                <a:solidFill>
                  <a:srgbClr val="202020"/>
                </a:solidFill>
                <a:latin typeface="+mj-lt"/>
              </a:rPr>
              <a:t>Random Forest (scored highest return)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</a:pPr>
            <a:r>
              <a:rPr lang="en-SG" sz="1100" dirty="0">
                <a:solidFill>
                  <a:srgbClr val="202020"/>
                </a:solidFill>
                <a:latin typeface="+mj-lt"/>
              </a:rPr>
              <a:t>LightGCN (scored highest ranking accuracy)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b="1" dirty="0"/>
              <a:t>Result</a:t>
            </a:r>
            <a:r>
              <a:rPr lang="en-SG" b="1" dirty="0"/>
              <a:t>s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1800" dirty="0"/>
              <a:t>Findings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 dirty="0">
                <a:solidFill>
                  <a:srgbClr val="156082"/>
                </a:solidFill>
              </a:rPr>
              <a:t>Aggregate results over 69 splits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144563"/>
              </p:ext>
            </p:extLst>
          </p:nvPr>
        </p:nvGraphicFramePr>
        <p:xfrm>
          <a:off x="728548" y="1379721"/>
          <a:ext cx="7686903" cy="32015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3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7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79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36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Configuration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Ranking Accuracy</a:t>
                      </a:r>
                    </a:p>
                    <a:p>
                      <a:pPr algn="ctr"/>
                      <a:r>
                        <a:rPr lang="en-GB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nDCG@10</a:t>
                      </a:r>
                      <a:endParaRPr sz="1000" b="0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Returns</a:t>
                      </a:r>
                    </a:p>
                    <a:p>
                      <a:pPr algn="ctr"/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ROI@10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Risk Suitability</a:t>
                      </a:r>
                    </a:p>
                    <a:p>
                      <a:pPr algn="ctr"/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PC@10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Harmonic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Arial"/>
                        </a:rPr>
                        <a:t>Balance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Normalized PC</a:t>
                      </a:r>
                      <a:endParaRPr sz="10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66">
                <a:tc>
                  <a:txBody>
                    <a:bodyPr/>
                    <a:lstStyle/>
                    <a:p>
                      <a:pPr algn="l"/>
                      <a:r>
                        <a:rPr lang="en-GB" sz="1000" b="0" dirty="0">
                          <a:solidFill>
                            <a:srgbClr val="202020"/>
                          </a:solidFill>
                          <a:latin typeface="Arial"/>
                        </a:rPr>
                        <a:t>Random Forest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0.019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+0.014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0.667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0.054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1.06×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66">
                <a:tc>
                  <a:txBody>
                    <a:bodyPr/>
                    <a:lstStyle/>
                    <a:p>
                      <a:pPr algn="l"/>
                      <a:r>
                        <a:rPr lang="en-GB" sz="1000" b="0" dirty="0" err="1">
                          <a:solidFill>
                            <a:srgbClr val="202020"/>
                          </a:solidFill>
                          <a:latin typeface="Arial"/>
                        </a:rPr>
                        <a:t>LightGCN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0.330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−0.005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0.794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0.428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1.17×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6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n-SG" sz="1000" dirty="0">
                          <a:solidFill>
                            <a:srgbClr val="202020"/>
                          </a:solidFill>
                        </a:rPr>
                        <a:t>LightGCN with risk-based segmentation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0.332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−0.007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0.821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0.411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1.19×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36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+mn-lt"/>
                        </a:rPr>
                        <a:t>LightGC</a:t>
                      </a:r>
                      <a:r>
                        <a:rPr lang="en-SG" sz="1000" dirty="0">
                          <a:solidFill>
                            <a:srgbClr val="202020"/>
                          </a:solidFill>
                        </a:rPr>
                        <a:t>N with risk-based segmentation + Coherence margin loss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0.309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−0.007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0.918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0.407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1.40×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36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n-SG" sz="1000" dirty="0">
                          <a:solidFill>
                            <a:srgbClr val="202020"/>
                          </a:solidFill>
                        </a:rPr>
                        <a:t>LightGCN with risk-based segmentation + Customer risk-band regrouping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  <a:latin typeface="Arial"/>
                        </a:rPr>
                        <a:t>0.352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  <a:latin typeface="Arial"/>
                        </a:rPr>
                        <a:t>−0.006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  <a:latin typeface="Arial"/>
                        </a:rPr>
                        <a:t>0.949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  <a:latin typeface="Arial"/>
                        </a:rPr>
                        <a:t>0.452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>
                          <a:solidFill>
                            <a:srgbClr val="202020"/>
                          </a:solidFill>
                          <a:latin typeface="Arial"/>
                        </a:rPr>
                        <a:t>-</a:t>
                      </a:r>
                      <a:endParaRPr sz="1000" b="1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36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n-SG" sz="1000" dirty="0">
                          <a:solidFill>
                            <a:srgbClr val="202020"/>
                          </a:solidFill>
                        </a:rPr>
                        <a:t>LightGCN with risk-based segmentation + Both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0.333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−0.005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0.982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0.444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rgbClr val="202020"/>
                          </a:solidFill>
                          <a:latin typeface="Arial"/>
                        </a:rPr>
                        <a:t>-</a:t>
                      </a:r>
                      <a:endParaRPr sz="105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D68F2-B7C2-2183-55CD-90754672459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>
                <a:latin typeface="+mj-lt"/>
              </a:rPr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GB" sz="2000" b="1" dirty="0">
                <a:solidFill>
                  <a:srgbClr val="156082"/>
                </a:solidFill>
              </a:rPr>
              <a:t>Comparison against baseline </a:t>
            </a:r>
            <a:r>
              <a:rPr lang="en-GB" sz="2000" b="1" dirty="0" err="1">
                <a:solidFill>
                  <a:srgbClr val="156082"/>
                </a:solidFill>
              </a:rPr>
              <a:t>LightGCN</a:t>
            </a:r>
            <a:endParaRPr sz="2000" b="1" dirty="0">
              <a:solidFill>
                <a:srgbClr val="156082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D1513-502C-AFF8-974F-36079FDBA0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>
                <a:latin typeface="+mj-lt"/>
              </a:rPr>
              <a:t>github.com/Samthesimpsons/Risk-Based-Segmentation-for-FAR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C3870A-FC3C-73AF-F43B-F8AB45E9F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781" y="1247561"/>
            <a:ext cx="6093813" cy="351970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>
            <a:normAutofit/>
          </a:bodyPr>
          <a:lstStyle/>
          <a:p>
            <a:r>
              <a:rPr lang="en-GB" sz="2000" b="1" dirty="0">
                <a:solidFill>
                  <a:srgbClr val="156082"/>
                </a:solidFill>
              </a:rPr>
              <a:t>Normalized Profile Coherence at band-level</a:t>
            </a:r>
            <a:endParaRPr sz="2000" b="1" dirty="0">
              <a:solidFill>
                <a:srgbClr val="156082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25956"/>
              </p:ext>
            </p:extLst>
          </p:nvPr>
        </p:nvGraphicFramePr>
        <p:xfrm>
          <a:off x="316654" y="1489089"/>
          <a:ext cx="8266180" cy="23376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3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7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7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7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35900">
                <a:tc>
                  <a:txBody>
                    <a:bodyPr/>
                    <a:lstStyle/>
                    <a:p>
                      <a:pPr algn="ctr"/>
                      <a:endParaRPr sz="1000" b="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>
                          <a:solidFill>
                            <a:schemeClr val="tx1"/>
                          </a:solidFill>
                          <a:latin typeface="Arial"/>
                        </a:rPr>
                        <a:t>Random Forest</a:t>
                      </a:r>
                      <a:endParaRPr sz="1000" b="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54864" marR="54864" marT="18288" marB="18288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chemeClr val="tx1"/>
                          </a:solidFill>
                          <a:latin typeface="Arial"/>
                        </a:rPr>
                        <a:t>LightGCN</a:t>
                      </a:r>
                      <a:endParaRPr sz="1000" b="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54864" marR="54864" marT="18288" marB="18288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 b="1" dirty="0">
                          <a:solidFill>
                            <a:schemeClr val="tx1"/>
                          </a:solidFill>
                          <a:latin typeface="+mn-lt"/>
                        </a:rPr>
                        <a:t>LightGCN with </a:t>
                      </a:r>
                      <a:br>
                        <a:rPr lang="en-SG" sz="1000" b="1" dirty="0">
                          <a:solidFill>
                            <a:schemeClr val="tx1"/>
                          </a:solidFill>
                          <a:latin typeface="+mn-lt"/>
                        </a:rPr>
                      </a:br>
                      <a:r>
                        <a:rPr lang="en-SG" sz="1000" b="1" dirty="0">
                          <a:solidFill>
                            <a:schemeClr val="tx1"/>
                          </a:solidFill>
                          <a:latin typeface="+mn-lt"/>
                        </a:rPr>
                        <a:t>risk-based seg.</a:t>
                      </a:r>
                    </a:p>
                  </a:txBody>
                  <a:tcPr marL="54864" marR="54864" marT="18288" marB="18288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 err="1">
                          <a:solidFill>
                            <a:schemeClr val="tx1"/>
                          </a:solidFill>
                          <a:latin typeface="+mn-lt"/>
                        </a:rPr>
                        <a:t>LightGCN</a:t>
                      </a:r>
                      <a:r>
                        <a:rPr lang="en-GB" sz="1000" b="1" dirty="0">
                          <a:solidFill>
                            <a:schemeClr val="tx1"/>
                          </a:solidFill>
                          <a:latin typeface="+mn-lt"/>
                        </a:rPr>
                        <a:t> with </a:t>
                      </a:r>
                      <a:br>
                        <a:rPr lang="en-GB" sz="1000" b="1" dirty="0">
                          <a:solidFill>
                            <a:schemeClr val="tx1"/>
                          </a:solidFill>
                          <a:latin typeface="+mn-lt"/>
                        </a:rPr>
                      </a:br>
                      <a:r>
                        <a:rPr lang="en-GB" sz="1000" b="1" dirty="0">
                          <a:solidFill>
                            <a:schemeClr val="tx1"/>
                          </a:solidFill>
                          <a:latin typeface="+mn-lt"/>
                        </a:rPr>
                        <a:t>risk-based seg. </a:t>
                      </a:r>
                      <a:br>
                        <a:rPr lang="en-GB" sz="1000" b="1" dirty="0">
                          <a:solidFill>
                            <a:schemeClr val="tx1"/>
                          </a:solidFill>
                          <a:latin typeface="+mn-lt"/>
                        </a:rPr>
                      </a:br>
                      <a:r>
                        <a:rPr lang="en-GB" sz="1000" b="1" dirty="0">
                          <a:solidFill>
                            <a:schemeClr val="tx1"/>
                          </a:solidFill>
                          <a:latin typeface="+mn-lt"/>
                        </a:rPr>
                        <a:t>+ Coherence margin loss</a:t>
                      </a:r>
                    </a:p>
                  </a:txBody>
                  <a:tcPr marL="54864" marR="54864" marT="18288" marB="18288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 err="1">
                          <a:solidFill>
                            <a:schemeClr val="tx1"/>
                          </a:solidFill>
                          <a:latin typeface="+mn-lt"/>
                        </a:rPr>
                        <a:t>LightGCN</a:t>
                      </a:r>
                      <a:r>
                        <a:rPr lang="en-GB" sz="1000" b="1" dirty="0">
                          <a:solidFill>
                            <a:schemeClr val="tx1"/>
                          </a:solidFill>
                          <a:latin typeface="+mn-lt"/>
                        </a:rPr>
                        <a:t> with </a:t>
                      </a:r>
                      <a:br>
                        <a:rPr lang="en-GB" sz="1000" b="1" dirty="0">
                          <a:solidFill>
                            <a:schemeClr val="tx1"/>
                          </a:solidFill>
                          <a:latin typeface="+mn-lt"/>
                        </a:rPr>
                      </a:br>
                      <a:r>
                        <a:rPr lang="en-GB" sz="1000" b="1" dirty="0">
                          <a:solidFill>
                            <a:schemeClr val="tx1"/>
                          </a:solidFill>
                          <a:latin typeface="+mn-lt"/>
                        </a:rPr>
                        <a:t>risk-based seg. </a:t>
                      </a:r>
                      <a:br>
                        <a:rPr lang="en-GB" sz="1000" b="1" dirty="0">
                          <a:solidFill>
                            <a:schemeClr val="tx1"/>
                          </a:solidFill>
                          <a:latin typeface="+mn-lt"/>
                        </a:rPr>
                      </a:br>
                      <a:r>
                        <a:rPr lang="en-GB" sz="1000" b="1" dirty="0">
                          <a:solidFill>
                            <a:schemeClr val="tx1"/>
                          </a:solidFill>
                          <a:latin typeface="+mn-lt"/>
                        </a:rPr>
                        <a:t>+ Customer risk-band regrouping</a:t>
                      </a:r>
                    </a:p>
                  </a:txBody>
                  <a:tcPr marL="54864" marR="54864" marT="18288" marB="18288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 err="1">
                          <a:solidFill>
                            <a:schemeClr val="tx1"/>
                          </a:solidFill>
                          <a:latin typeface="+mn-lt"/>
                        </a:rPr>
                        <a:t>LightGCN</a:t>
                      </a:r>
                      <a:r>
                        <a:rPr lang="en-GB" sz="1000" b="1" dirty="0">
                          <a:solidFill>
                            <a:schemeClr val="tx1"/>
                          </a:solidFill>
                          <a:latin typeface="+mn-lt"/>
                        </a:rPr>
                        <a:t> with </a:t>
                      </a:r>
                      <a:br>
                        <a:rPr lang="en-GB" sz="1000" b="1" dirty="0">
                          <a:solidFill>
                            <a:schemeClr val="tx1"/>
                          </a:solidFill>
                          <a:latin typeface="+mn-lt"/>
                        </a:rPr>
                      </a:br>
                      <a:r>
                        <a:rPr lang="en-GB" sz="1000" b="1" dirty="0">
                          <a:solidFill>
                            <a:schemeClr val="tx1"/>
                          </a:solidFill>
                          <a:latin typeface="+mn-lt"/>
                        </a:rPr>
                        <a:t>risk-based seg. </a:t>
                      </a:r>
                      <a:br>
                        <a:rPr lang="en-GB" sz="1000" b="1" dirty="0">
                          <a:solidFill>
                            <a:schemeClr val="tx1"/>
                          </a:solidFill>
                          <a:latin typeface="+mn-lt"/>
                        </a:rPr>
                      </a:br>
                      <a:r>
                        <a:rPr lang="en-GB" sz="1000" b="1" dirty="0">
                          <a:solidFill>
                            <a:schemeClr val="tx1"/>
                          </a:solidFill>
                          <a:latin typeface="+mn-lt"/>
                        </a:rPr>
                        <a:t>+ Both</a:t>
                      </a:r>
                    </a:p>
                  </a:txBody>
                  <a:tcPr marL="54864" marR="54864" marT="18288" marB="18288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444">
                <a:tc>
                  <a:txBody>
                    <a:bodyPr/>
                    <a:lstStyle/>
                    <a:p>
                      <a:pPr algn="r"/>
                      <a:r>
                        <a:rPr sz="1000" b="1" dirty="0">
                          <a:solidFill>
                            <a:srgbClr val="202020"/>
                          </a:solidFill>
                          <a:latin typeface="Arial"/>
                        </a:rPr>
                        <a:t>Conservative</a:t>
                      </a:r>
                    </a:p>
                  </a:txBody>
                  <a:tcPr marL="54864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0.52</a:t>
                      </a:r>
                    </a:p>
                  </a:txBody>
                  <a:tcPr marL="54864" marR="54864" marT="18288" marB="18288" anchor="ctr">
                    <a:solidFill>
                      <a:srgbClr val="FDFE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 marL="54864" marR="54864" marT="18288" marB="18288" anchor="ctr">
                    <a:solidFill>
                      <a:srgbClr val="EEF8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0.91</a:t>
                      </a:r>
                    </a:p>
                  </a:txBody>
                  <a:tcPr marL="54864" marR="54864" marT="18288" marB="18288" anchor="ctr">
                    <a:solidFill>
                      <a:srgbClr val="DAF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1.19</a:t>
                      </a:r>
                    </a:p>
                  </a:txBody>
                  <a:tcPr marL="54864" marR="54864" marT="18288" marB="18288" anchor="ctr">
                    <a:solidFill>
                      <a:srgbClr val="A2DA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1.21</a:t>
                      </a:r>
                    </a:p>
                  </a:txBody>
                  <a:tcPr marL="54864" marR="54864" marT="18288" marB="18288" anchor="ctr">
                    <a:solidFill>
                      <a:srgbClr val="9DD8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1.25</a:t>
                      </a:r>
                    </a:p>
                  </a:txBody>
                  <a:tcPr marL="54864" marR="54864" marT="18288" marB="18288" anchor="ctr">
                    <a:solidFill>
                      <a:srgbClr val="92D4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444">
                <a:tc>
                  <a:txBody>
                    <a:bodyPr/>
                    <a:lstStyle/>
                    <a:p>
                      <a:pPr algn="r"/>
                      <a:r>
                        <a:rPr sz="1000" b="1" dirty="0">
                          <a:solidFill>
                            <a:srgbClr val="202020"/>
                          </a:solidFill>
                          <a:latin typeface="Arial"/>
                        </a:rPr>
                        <a:t>Income</a:t>
                      </a:r>
                    </a:p>
                  </a:txBody>
                  <a:tcPr marL="54864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0.70</a:t>
                      </a:r>
                    </a:p>
                  </a:txBody>
                  <a:tcPr marL="54864" marR="54864" marT="18288" marB="18288" anchor="ctr">
                    <a:solidFill>
                      <a:srgbClr val="F2F9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1.13</a:t>
                      </a:r>
                    </a:p>
                  </a:txBody>
                  <a:tcPr marL="54864" marR="54864" marT="18288" marB="18288" anchor="ctr">
                    <a:solidFill>
                      <a:srgbClr val="B2E0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1.20</a:t>
                      </a:r>
                    </a:p>
                  </a:txBody>
                  <a:tcPr marL="54864" marR="54864" marT="18288" marB="18288" anchor="ctr">
                    <a:solidFill>
                      <a:srgbClr val="A0D9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1.26</a:t>
                      </a:r>
                    </a:p>
                  </a:txBody>
                  <a:tcPr marL="54864" marR="54864" marT="18288" marB="18288" anchor="ctr">
                    <a:solidFill>
                      <a:srgbClr val="90D3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1.25</a:t>
                      </a:r>
                    </a:p>
                  </a:txBody>
                  <a:tcPr marL="54864" marR="54864" marT="18288" marB="18288" anchor="ctr">
                    <a:solidFill>
                      <a:srgbClr val="92D4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1.26</a:t>
                      </a:r>
                    </a:p>
                  </a:txBody>
                  <a:tcPr marL="54864" marR="54864" marT="18288" marB="18288" anchor="ctr">
                    <a:solidFill>
                      <a:srgbClr val="90D3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444">
                <a:tc>
                  <a:txBody>
                    <a:bodyPr/>
                    <a:lstStyle/>
                    <a:p>
                      <a:pPr algn="r"/>
                      <a:r>
                        <a:rPr sz="1000" b="1" dirty="0">
                          <a:solidFill>
                            <a:srgbClr val="202020"/>
                          </a:solidFill>
                          <a:latin typeface="Arial"/>
                        </a:rPr>
                        <a:t>Balanced</a:t>
                      </a:r>
                    </a:p>
                  </a:txBody>
                  <a:tcPr marL="54864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1.03</a:t>
                      </a:r>
                    </a:p>
                  </a:txBody>
                  <a:tcPr marL="54864" marR="54864" marT="18288" marB="18288" anchor="ctr">
                    <a:solidFill>
                      <a:srgbClr val="CAEA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1.17</a:t>
                      </a:r>
                    </a:p>
                  </a:txBody>
                  <a:tcPr marL="54864" marR="54864" marT="18288" marB="18288" anchor="ctr">
                    <a:solidFill>
                      <a:srgbClr val="A9DD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1.22</a:t>
                      </a:r>
                    </a:p>
                  </a:txBody>
                  <a:tcPr marL="54864" marR="54864" marT="18288" marB="18288" anchor="ctr">
                    <a:solidFill>
                      <a:srgbClr val="9BD8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1.28</a:t>
                      </a:r>
                    </a:p>
                  </a:txBody>
                  <a:tcPr marL="54864" marR="54864" marT="18288" marB="18288" anchor="ctr">
                    <a:solidFill>
                      <a:srgbClr val="8BD1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1.24</a:t>
                      </a:r>
                    </a:p>
                  </a:txBody>
                  <a:tcPr marL="54864" marR="54864" marT="18288" marB="18288" anchor="ctr">
                    <a:solidFill>
                      <a:srgbClr val="94D5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1.30</a:t>
                      </a:r>
                    </a:p>
                  </a:txBody>
                  <a:tcPr marL="54864" marR="54864" marT="18288" marB="18288" anchor="ctr">
                    <a:solidFill>
                      <a:srgbClr val="84CF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444">
                <a:tc>
                  <a:txBody>
                    <a:bodyPr/>
                    <a:lstStyle/>
                    <a:p>
                      <a:pPr algn="r"/>
                      <a:r>
                        <a:rPr sz="1000" b="1" dirty="0">
                          <a:solidFill>
                            <a:srgbClr val="202020"/>
                          </a:solidFill>
                          <a:latin typeface="Arial"/>
                        </a:rPr>
                        <a:t>Aggressive</a:t>
                      </a:r>
                    </a:p>
                  </a:txBody>
                  <a:tcPr marL="54864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chemeClr val="bg1"/>
                          </a:solidFill>
                          <a:latin typeface="Arial"/>
                        </a:rPr>
                        <a:t>1.88</a:t>
                      </a:r>
                    </a:p>
                  </a:txBody>
                  <a:tcPr marL="54864" marR="54864" marT="18288" marB="18288" anchor="ctr">
                    <a:solidFill>
                      <a:srgbClr val="1D90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1.35</a:t>
                      </a:r>
                    </a:p>
                  </a:txBody>
                  <a:tcPr marL="54864" marR="54864" marT="18288" marB="18288" anchor="ctr">
                    <a:solidFill>
                      <a:srgbClr val="7ACB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1.17</a:t>
                      </a:r>
                    </a:p>
                  </a:txBody>
                  <a:tcPr marL="54864" marR="54864" marT="18288" marB="18288" anchor="ctr">
                    <a:solidFill>
                      <a:srgbClr val="A1D9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chemeClr val="bg1"/>
                          </a:solidFill>
                          <a:latin typeface="Arial"/>
                        </a:rPr>
                        <a:t>1.97</a:t>
                      </a:r>
                    </a:p>
                  </a:txBody>
                  <a:tcPr marL="54864" marR="54864" marT="18288" marB="18288" anchor="ctr">
                    <a:solidFill>
                      <a:srgbClr val="1E7E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chemeClr val="bg1"/>
                          </a:solidFill>
                          <a:latin typeface="Arial"/>
                        </a:rPr>
                        <a:t>2.24</a:t>
                      </a:r>
                    </a:p>
                  </a:txBody>
                  <a:tcPr marL="54864" marR="54864" marT="18288" marB="18288" anchor="ctr">
                    <a:solidFill>
                      <a:srgbClr val="234F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chemeClr val="bg1"/>
                          </a:solidFill>
                          <a:latin typeface="Arial"/>
                        </a:rPr>
                        <a:t>2.68</a:t>
                      </a:r>
                    </a:p>
                  </a:txBody>
                  <a:tcPr marL="54864" marR="54864" marT="18288" marB="18288" anchor="ctr">
                    <a:solidFill>
                      <a:srgbClr val="091E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12385-B588-C5A8-4F7A-DFC6E9E13FF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>
                <a:latin typeface="+mj-lt"/>
              </a:rPr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SG" b="1" dirty="0"/>
              <a:t>Conclusion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SG" sz="1800" dirty="0"/>
              <a:t>Limitations and Future Work</a:t>
            </a:r>
            <a:endParaRPr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 dirty="0">
                <a:solidFill>
                  <a:srgbClr val="156082"/>
                </a:solidFill>
              </a:rPr>
              <a:t>Limitations </a:t>
            </a:r>
            <a:r>
              <a:rPr lang="en-SG" sz="2000" b="1" dirty="0">
                <a:solidFill>
                  <a:srgbClr val="156082"/>
                </a:solidFill>
              </a:rPr>
              <a:t>and</a:t>
            </a:r>
            <a:r>
              <a:rPr sz="2000" b="1" dirty="0">
                <a:solidFill>
                  <a:srgbClr val="156082"/>
                </a:solidFill>
              </a:rPr>
              <a:t> future work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ACE9B-0649-82A9-6301-E239D84E10A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 dirty="0">
                <a:latin typeface="+mj-lt"/>
              </a:rPr>
              <a:t>github.com/</a:t>
            </a:r>
            <a:r>
              <a:rPr lang="en-SG" dirty="0" err="1">
                <a:latin typeface="+mj-lt"/>
              </a:rPr>
              <a:t>Samthesimpsons</a:t>
            </a:r>
            <a:r>
              <a:rPr lang="en-SG" dirty="0">
                <a:latin typeface="+mj-lt"/>
              </a:rPr>
              <a:t>/Risk-Based-Segmentation-for-FAR</a:t>
            </a:r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077D4401-8C71-8AD0-F5DD-59E1DE256912}"/>
              </a:ext>
            </a:extLst>
          </p:cNvPr>
          <p:cNvSpPr/>
          <p:nvPr/>
        </p:nvSpPr>
        <p:spPr>
          <a:xfrm>
            <a:off x="731787" y="1591908"/>
            <a:ext cx="2477742" cy="2094986"/>
          </a:xfrm>
          <a:prstGeom prst="roundRect">
            <a:avLst>
              <a:gd name="adj" fmla="val 4543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SG" sz="1800">
              <a:latin typeface="+mj-lt"/>
            </a:endParaRP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9749A1D7-1430-F097-A83E-953E457EA651}"/>
              </a:ext>
            </a:extLst>
          </p:cNvPr>
          <p:cNvSpPr/>
          <p:nvPr/>
        </p:nvSpPr>
        <p:spPr>
          <a:xfrm>
            <a:off x="731787" y="1591908"/>
            <a:ext cx="55836" cy="209498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SG" sz="1800">
              <a:latin typeface="+mj-lt"/>
            </a:endParaRP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C671FBE1-78E1-6E13-FF57-8A0DDBCCC42C}"/>
              </a:ext>
            </a:extLst>
          </p:cNvPr>
          <p:cNvSpPr/>
          <p:nvPr/>
        </p:nvSpPr>
        <p:spPr>
          <a:xfrm>
            <a:off x="850439" y="1678003"/>
            <a:ext cx="223346" cy="22994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SG" sz="1800">
              <a:latin typeface="+mj-lt"/>
            </a:endParaRPr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0AE3E0C7-B531-C89E-5832-609FD2A09F51}"/>
              </a:ext>
            </a:extLst>
          </p:cNvPr>
          <p:cNvSpPr/>
          <p:nvPr/>
        </p:nvSpPr>
        <p:spPr>
          <a:xfrm>
            <a:off x="850439" y="1748661"/>
            <a:ext cx="223346" cy="86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j-lt"/>
                <a:ea typeface="Inter" pitchFamily="34" charset="-122"/>
                <a:cs typeface="Inter" pitchFamily="34" charset="-120"/>
              </a:rPr>
              <a:t>1</a:t>
            </a:r>
            <a:endParaRPr lang="en-US" sz="1000" dirty="0">
              <a:latin typeface="+mj-lt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88FD2D00-9C21-376B-7A87-BE733FCF7C05}"/>
              </a:ext>
            </a:extLst>
          </p:cNvPr>
          <p:cNvSpPr/>
          <p:nvPr/>
        </p:nvSpPr>
        <p:spPr>
          <a:xfrm>
            <a:off x="1176976" y="1761515"/>
            <a:ext cx="1947296" cy="22994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+mj-lt"/>
                <a:ea typeface="Inter Display" pitchFamily="34" charset="-122"/>
                <a:cs typeface="Inter Display" pitchFamily="34" charset="-120"/>
              </a:rPr>
              <a:t>Robustness of methodology</a:t>
            </a:r>
            <a:endParaRPr 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26BC634-D1DA-321D-7D93-385CF05F70DC}"/>
              </a:ext>
            </a:extLst>
          </p:cNvPr>
          <p:cNvSpPr/>
          <p:nvPr/>
        </p:nvSpPr>
        <p:spPr>
          <a:xfrm>
            <a:off x="885337" y="2246233"/>
            <a:ext cx="2212518" cy="136604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+mj-lt"/>
                <a:ea typeface="Inter" pitchFamily="34" charset="-122"/>
                <a:cs typeface="Inter" pitchFamily="34" charset="-120"/>
              </a:rPr>
              <a:t>Only LightGCN was experimented.</a:t>
            </a:r>
          </a:p>
          <a:p>
            <a:pPr marL="0" indent="0">
              <a:buNone/>
            </a:pPr>
            <a:endParaRPr lang="en-US" sz="1050" dirty="0">
              <a:solidFill>
                <a:schemeClr val="tx1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+mj-lt"/>
                <a:ea typeface="Inter" pitchFamily="34" charset="-122"/>
                <a:cs typeface="Inter" pitchFamily="34" charset="-120"/>
              </a:rPr>
              <a:t>Future work should to additional models and perform a full Pareto sweep for the coherence margin loss.</a:t>
            </a:r>
            <a:endParaRPr lang="en-US" sz="105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39212432-9DDC-29DB-420A-E1DB8FA3A895}"/>
              </a:ext>
            </a:extLst>
          </p:cNvPr>
          <p:cNvSpPr/>
          <p:nvPr/>
        </p:nvSpPr>
        <p:spPr>
          <a:xfrm>
            <a:off x="3488710" y="1591908"/>
            <a:ext cx="2477742" cy="2094986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SG" sz="1800">
              <a:latin typeface="+mj-lt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C1C925D-7D39-F4AF-9F2D-65DC9558B747}"/>
              </a:ext>
            </a:extLst>
          </p:cNvPr>
          <p:cNvSpPr/>
          <p:nvPr/>
        </p:nvSpPr>
        <p:spPr>
          <a:xfrm>
            <a:off x="3488710" y="1591908"/>
            <a:ext cx="55836" cy="209498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SG" sz="1800">
              <a:latin typeface="+mj-lt"/>
            </a:endParaRPr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B6159EFA-E3CB-A975-C944-93F1EC24439A}"/>
              </a:ext>
            </a:extLst>
          </p:cNvPr>
          <p:cNvSpPr/>
          <p:nvPr/>
        </p:nvSpPr>
        <p:spPr>
          <a:xfrm>
            <a:off x="3607363" y="1678003"/>
            <a:ext cx="223346" cy="22994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SG" sz="1800">
              <a:latin typeface="+mj-lt"/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3490E3FF-614C-D9B6-C7EA-9D897288AACD}"/>
              </a:ext>
            </a:extLst>
          </p:cNvPr>
          <p:cNvSpPr/>
          <p:nvPr/>
        </p:nvSpPr>
        <p:spPr>
          <a:xfrm>
            <a:off x="3607363" y="1748661"/>
            <a:ext cx="223346" cy="86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j-lt"/>
                <a:ea typeface="Inter" pitchFamily="34" charset="-122"/>
                <a:cs typeface="Inter" pitchFamily="34" charset="-120"/>
              </a:rPr>
              <a:t>2</a:t>
            </a:r>
            <a:endParaRPr lang="en-US" sz="1000" dirty="0">
              <a:latin typeface="+mj-lt"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E4D814AD-7125-7B9E-7319-2DBFE562752C}"/>
              </a:ext>
            </a:extLst>
          </p:cNvPr>
          <p:cNvSpPr/>
          <p:nvPr/>
        </p:nvSpPr>
        <p:spPr>
          <a:xfrm>
            <a:off x="3933900" y="1703765"/>
            <a:ext cx="1947296" cy="16071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+mj-lt"/>
                <a:ea typeface="Inter Display" pitchFamily="34" charset="-122"/>
                <a:cs typeface="Inter Display" pitchFamily="34" charset="-120"/>
              </a:rPr>
              <a:t>Regrouping leakage</a:t>
            </a:r>
            <a:endParaRPr 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FB7A59CE-D878-B1CC-89FE-9E900E421CA9}"/>
              </a:ext>
            </a:extLst>
          </p:cNvPr>
          <p:cNvSpPr/>
          <p:nvPr/>
        </p:nvSpPr>
        <p:spPr>
          <a:xfrm>
            <a:off x="3642261" y="2246233"/>
            <a:ext cx="2212518" cy="136604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+mj-lt"/>
                <a:ea typeface="Inter" pitchFamily="34" charset="-122"/>
                <a:cs typeface="Inter" pitchFamily="34" charset="-120"/>
              </a:rPr>
              <a:t>Revealed bands use the entire buy history of a customer.</a:t>
            </a:r>
          </a:p>
          <a:p>
            <a:pPr marL="0" indent="0">
              <a:buNone/>
            </a:pPr>
            <a:endParaRPr lang="en-US" sz="1050" dirty="0">
              <a:solidFill>
                <a:schemeClr val="tx1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+mj-lt"/>
                <a:ea typeface="Inter" pitchFamily="34" charset="-122"/>
                <a:cs typeface="Inter" pitchFamily="34" charset="-120"/>
              </a:rPr>
              <a:t>Future work should implement a per-split rolling variant that uses only training-window buys.</a:t>
            </a:r>
            <a:endParaRPr lang="en-US" sz="105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8D90EE92-3654-5EA6-D035-AE34E929E64B}"/>
              </a:ext>
            </a:extLst>
          </p:cNvPr>
          <p:cNvSpPr/>
          <p:nvPr/>
        </p:nvSpPr>
        <p:spPr>
          <a:xfrm>
            <a:off x="6245634" y="1591908"/>
            <a:ext cx="2477742" cy="2094986"/>
          </a:xfrm>
          <a:prstGeom prst="roundRect">
            <a:avLst>
              <a:gd name="adj" fmla="val 252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SG" sz="1800">
              <a:latin typeface="+mj-lt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48160F6C-9DA3-2319-818C-B62CA4182141}"/>
              </a:ext>
            </a:extLst>
          </p:cNvPr>
          <p:cNvSpPr/>
          <p:nvPr/>
        </p:nvSpPr>
        <p:spPr>
          <a:xfrm>
            <a:off x="6245634" y="1591908"/>
            <a:ext cx="55836" cy="209498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SG" sz="1800">
              <a:latin typeface="+mj-lt"/>
            </a:endParaRPr>
          </a:p>
        </p:txBody>
      </p:sp>
      <p:sp>
        <p:nvSpPr>
          <p:cNvPr id="36" name="Shape 25">
            <a:extLst>
              <a:ext uri="{FF2B5EF4-FFF2-40B4-BE49-F238E27FC236}">
                <a16:creationId xmlns:a16="http://schemas.microsoft.com/office/drawing/2014/main" id="{FA3D9DBD-1BB5-4114-BF7E-0239EAEA77E6}"/>
              </a:ext>
            </a:extLst>
          </p:cNvPr>
          <p:cNvSpPr/>
          <p:nvPr/>
        </p:nvSpPr>
        <p:spPr>
          <a:xfrm>
            <a:off x="6364287" y="1678003"/>
            <a:ext cx="223346" cy="22994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SG" sz="1800">
              <a:latin typeface="+mj-lt"/>
            </a:endParaRPr>
          </a:p>
        </p:txBody>
      </p:sp>
      <p:sp>
        <p:nvSpPr>
          <p:cNvPr id="38" name="Text 26">
            <a:extLst>
              <a:ext uri="{FF2B5EF4-FFF2-40B4-BE49-F238E27FC236}">
                <a16:creationId xmlns:a16="http://schemas.microsoft.com/office/drawing/2014/main" id="{44C96868-1407-A366-E402-C474235E156F}"/>
              </a:ext>
            </a:extLst>
          </p:cNvPr>
          <p:cNvSpPr/>
          <p:nvPr/>
        </p:nvSpPr>
        <p:spPr>
          <a:xfrm>
            <a:off x="6364287" y="1748661"/>
            <a:ext cx="223346" cy="86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j-lt"/>
                <a:ea typeface="Inter" pitchFamily="34" charset="-122"/>
                <a:cs typeface="Inter" pitchFamily="34" charset="-120"/>
              </a:rPr>
              <a:t>3</a:t>
            </a:r>
            <a:endParaRPr lang="en-US" sz="1000" dirty="0">
              <a:latin typeface="+mj-lt"/>
            </a:endParaRPr>
          </a:p>
        </p:txBody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C573552A-5955-C036-E5BC-FAE308E32631}"/>
              </a:ext>
            </a:extLst>
          </p:cNvPr>
          <p:cNvSpPr/>
          <p:nvPr/>
        </p:nvSpPr>
        <p:spPr>
          <a:xfrm>
            <a:off x="6690823" y="1703765"/>
            <a:ext cx="1947296" cy="16071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+mj-lt"/>
                <a:ea typeface="Inter Display" pitchFamily="34" charset="-122"/>
                <a:cs typeface="Inter Display" pitchFamily="34" charset="-120"/>
              </a:rPr>
              <a:t>Associative premium</a:t>
            </a:r>
            <a:endParaRPr 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2" name="Text 28">
            <a:extLst>
              <a:ext uri="{FF2B5EF4-FFF2-40B4-BE49-F238E27FC236}">
                <a16:creationId xmlns:a16="http://schemas.microsoft.com/office/drawing/2014/main" id="{1B6D5463-C84E-3E04-9581-271F3A01918A}"/>
              </a:ext>
            </a:extLst>
          </p:cNvPr>
          <p:cNvSpPr/>
          <p:nvPr/>
        </p:nvSpPr>
        <p:spPr>
          <a:xfrm>
            <a:off x="6399185" y="2246233"/>
            <a:ext cx="2212518" cy="136604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+mj-lt"/>
                <a:ea typeface="Inter" pitchFamily="34" charset="-122"/>
                <a:cs typeface="Inter" pitchFamily="34" charset="-120"/>
              </a:rPr>
              <a:t>Conduct a Difference-in-Differences regression to estimate causal effects rather than relying only on associational evidence.</a:t>
            </a:r>
            <a:endParaRPr lang="en-US" sz="1050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b="1" dirty="0">
                <a:solidFill>
                  <a:srgbClr val="156082"/>
                </a:solidFill>
              </a:rPr>
              <a:t>Conclusion</a:t>
            </a:r>
            <a:endParaRPr sz="2000" b="1" dirty="0">
              <a:solidFill>
                <a:srgbClr val="15608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736E1-4FDE-2E81-8B53-31EC61EACED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 dirty="0">
                <a:latin typeface="+mj-lt"/>
              </a:rPr>
              <a:t>github.com/</a:t>
            </a:r>
            <a:r>
              <a:rPr lang="en-SG" dirty="0" err="1">
                <a:latin typeface="+mj-lt"/>
              </a:rPr>
              <a:t>Samthesimpsons</a:t>
            </a:r>
            <a:r>
              <a:rPr lang="en-SG" dirty="0">
                <a:latin typeface="+mj-lt"/>
              </a:rPr>
              <a:t>/Risk-Based-Segmentation-for-FAR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795BB8-D038-5FFC-99DF-95CDB86F2A36}"/>
              </a:ext>
            </a:extLst>
          </p:cNvPr>
          <p:cNvSpPr txBox="1"/>
          <p:nvPr/>
        </p:nvSpPr>
        <p:spPr>
          <a:xfrm>
            <a:off x="672295" y="1348801"/>
            <a:ext cx="3086100" cy="52674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i="0" dirty="0">
                <a:solidFill>
                  <a:srgbClr val="054659"/>
                </a:solidFill>
                <a:latin typeface="+mj-lt"/>
              </a:rPr>
              <a:t>Central finding</a:t>
            </a:r>
            <a:r>
              <a:rPr lang="en-SG" sz="1200" b="1" i="0" dirty="0">
                <a:solidFill>
                  <a:srgbClr val="054659"/>
                </a:solidFill>
                <a:latin typeface="+mj-lt"/>
              </a:rPr>
              <a:t>s</a:t>
            </a:r>
            <a:endParaRPr sz="1200" b="1" i="0" dirty="0">
              <a:solidFill>
                <a:srgbClr val="054659"/>
              </a:solidFill>
              <a:latin typeface="+mj-lt"/>
            </a:endParaRPr>
          </a:p>
        </p:txBody>
      </p:sp>
      <p:sp>
        <p:nvSpPr>
          <p:cNvPr id="10" name="Rounded Rectangle 15">
            <a:extLst>
              <a:ext uri="{FF2B5EF4-FFF2-40B4-BE49-F238E27FC236}">
                <a16:creationId xmlns:a16="http://schemas.microsoft.com/office/drawing/2014/main" id="{528855E1-6374-E053-2BBD-C9F07611E088}"/>
              </a:ext>
            </a:extLst>
          </p:cNvPr>
          <p:cNvSpPr/>
          <p:nvPr/>
        </p:nvSpPr>
        <p:spPr>
          <a:xfrm>
            <a:off x="791891" y="1731551"/>
            <a:ext cx="3671917" cy="659926"/>
          </a:xfrm>
          <a:prstGeom prst="roundRect">
            <a:avLst/>
          </a:prstGeom>
          <a:solidFill>
            <a:srgbClr val="DCEAF7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FEAC328-8372-232C-EA5A-DB04162109CB}"/>
              </a:ext>
            </a:extLst>
          </p:cNvPr>
          <p:cNvSpPr/>
          <p:nvPr/>
        </p:nvSpPr>
        <p:spPr>
          <a:xfrm>
            <a:off x="903825" y="1923243"/>
            <a:ext cx="276543" cy="27654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63BE63-2B7F-6D84-07A0-ECBBDD925E3C}"/>
              </a:ext>
            </a:extLst>
          </p:cNvPr>
          <p:cNvSpPr txBox="1"/>
          <p:nvPr/>
        </p:nvSpPr>
        <p:spPr>
          <a:xfrm>
            <a:off x="868355" y="1987600"/>
            <a:ext cx="355555" cy="1478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200" b="1" i="0" dirty="0">
                <a:solidFill>
                  <a:schemeClr val="bg1"/>
                </a:solidFill>
                <a:latin typeface="+mj-lt"/>
              </a:rPr>
              <a:t>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CC41BA-2EAE-72EA-D14E-BD5B2EBF1C67}"/>
              </a:ext>
            </a:extLst>
          </p:cNvPr>
          <p:cNvSpPr txBox="1"/>
          <p:nvPr/>
        </p:nvSpPr>
        <p:spPr>
          <a:xfrm>
            <a:off x="1223910" y="1880444"/>
            <a:ext cx="3239898" cy="362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 dirty="0">
                <a:solidFill>
                  <a:schemeClr val="tx1"/>
                </a:solidFill>
                <a:latin typeface="+mj-lt"/>
              </a:rPr>
              <a:t>A recommender system can be made risk suitable while improving accuracy and return</a:t>
            </a:r>
          </a:p>
        </p:txBody>
      </p:sp>
      <p:sp>
        <p:nvSpPr>
          <p:cNvPr id="18" name="Rounded Rectangle 19">
            <a:extLst>
              <a:ext uri="{FF2B5EF4-FFF2-40B4-BE49-F238E27FC236}">
                <a16:creationId xmlns:a16="http://schemas.microsoft.com/office/drawing/2014/main" id="{CB731718-9E21-BA26-B27A-15799AB677E3}"/>
              </a:ext>
            </a:extLst>
          </p:cNvPr>
          <p:cNvSpPr/>
          <p:nvPr/>
        </p:nvSpPr>
        <p:spPr>
          <a:xfrm>
            <a:off x="791891" y="2537671"/>
            <a:ext cx="3671917" cy="659926"/>
          </a:xfrm>
          <a:prstGeom prst="roundRect">
            <a:avLst/>
          </a:prstGeom>
          <a:solidFill>
            <a:srgbClr val="DCEAF7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+mj-lt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6ABB53C-6103-9D7A-0270-B902301C00B7}"/>
              </a:ext>
            </a:extLst>
          </p:cNvPr>
          <p:cNvSpPr/>
          <p:nvPr/>
        </p:nvSpPr>
        <p:spPr>
          <a:xfrm>
            <a:off x="903825" y="2729363"/>
            <a:ext cx="276543" cy="27654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D7E0AA-5D05-D333-3380-10E1DCCC2425}"/>
              </a:ext>
            </a:extLst>
          </p:cNvPr>
          <p:cNvSpPr txBox="1"/>
          <p:nvPr/>
        </p:nvSpPr>
        <p:spPr>
          <a:xfrm>
            <a:off x="868355" y="2793720"/>
            <a:ext cx="355555" cy="1478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200" b="1" i="0" dirty="0">
                <a:solidFill>
                  <a:schemeClr val="bg1"/>
                </a:solidFill>
                <a:latin typeface="+mj-lt"/>
              </a:rPr>
              <a:t>02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7FD1DC-1EEA-42C2-4B4D-171FA7069B99}"/>
              </a:ext>
            </a:extLst>
          </p:cNvPr>
          <p:cNvSpPr txBox="1"/>
          <p:nvPr/>
        </p:nvSpPr>
        <p:spPr>
          <a:xfrm>
            <a:off x="1223910" y="2686564"/>
            <a:ext cx="3239898" cy="362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 dirty="0">
                <a:solidFill>
                  <a:schemeClr val="tx1"/>
                </a:solidFill>
                <a:latin typeface="+mj-lt"/>
              </a:rPr>
              <a:t>Customer regrouping approach raises risk suitability and ranking accuracy at no cost to return</a:t>
            </a:r>
          </a:p>
        </p:txBody>
      </p:sp>
      <p:sp>
        <p:nvSpPr>
          <p:cNvPr id="26" name="Rounded Rectangle 23">
            <a:extLst>
              <a:ext uri="{FF2B5EF4-FFF2-40B4-BE49-F238E27FC236}">
                <a16:creationId xmlns:a16="http://schemas.microsoft.com/office/drawing/2014/main" id="{6FA6180F-D74A-D62C-98AE-16F70E61E387}"/>
              </a:ext>
            </a:extLst>
          </p:cNvPr>
          <p:cNvSpPr/>
          <p:nvPr/>
        </p:nvSpPr>
        <p:spPr>
          <a:xfrm>
            <a:off x="791891" y="3362559"/>
            <a:ext cx="3671917" cy="659926"/>
          </a:xfrm>
          <a:prstGeom prst="roundRect">
            <a:avLst/>
          </a:prstGeom>
          <a:solidFill>
            <a:srgbClr val="DCEAF7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+mj-lt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5BD617F-C70B-E750-242E-A0C9067A60D3}"/>
              </a:ext>
            </a:extLst>
          </p:cNvPr>
          <p:cNvSpPr/>
          <p:nvPr/>
        </p:nvSpPr>
        <p:spPr>
          <a:xfrm>
            <a:off x="903825" y="3554251"/>
            <a:ext cx="276543" cy="27654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99703F-3B78-02F6-3B2B-1B1627CFD788}"/>
              </a:ext>
            </a:extLst>
          </p:cNvPr>
          <p:cNvSpPr txBox="1"/>
          <p:nvPr/>
        </p:nvSpPr>
        <p:spPr>
          <a:xfrm>
            <a:off x="868355" y="3618608"/>
            <a:ext cx="355555" cy="1478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200" b="1" i="0">
                <a:solidFill>
                  <a:schemeClr val="bg1"/>
                </a:solidFill>
                <a:latin typeface="+mj-lt"/>
              </a:rPr>
              <a:t>03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B0C5B0-E981-C058-6699-3723C448C78B}"/>
              </a:ext>
            </a:extLst>
          </p:cNvPr>
          <p:cNvSpPr txBox="1"/>
          <p:nvPr/>
        </p:nvSpPr>
        <p:spPr>
          <a:xfrm>
            <a:off x="1223910" y="3511452"/>
            <a:ext cx="3239898" cy="362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0" i="0" dirty="0">
                <a:solidFill>
                  <a:schemeClr val="tx1"/>
                </a:solidFill>
                <a:latin typeface="+mj-lt"/>
              </a:rPr>
              <a:t>Coherence margin loss approach buys risk suitability at the cost of ranking accuracy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037CC30-3A4C-E39F-AE08-2E26A5B627C2}"/>
              </a:ext>
            </a:extLst>
          </p:cNvPr>
          <p:cNvGrpSpPr/>
          <p:nvPr/>
        </p:nvGrpSpPr>
        <p:grpSpPr>
          <a:xfrm>
            <a:off x="4739775" y="1317569"/>
            <a:ext cx="3791513" cy="1848796"/>
            <a:chOff x="4739775" y="1317569"/>
            <a:chExt cx="3791513" cy="1848796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B77D7FA-6822-88B8-DC59-AB3156C36936}"/>
                </a:ext>
              </a:extLst>
            </p:cNvPr>
            <p:cNvSpPr txBox="1"/>
            <p:nvPr/>
          </p:nvSpPr>
          <p:spPr>
            <a:xfrm>
              <a:off x="4739775" y="1317569"/>
              <a:ext cx="3086100" cy="526749"/>
            </a:xfrm>
            <a:prstGeom prst="rect">
              <a:avLst/>
            </a:prstGeom>
            <a:noFill/>
          </p:spPr>
          <p:txBody>
            <a:bodyPr wrap="square" anchor="t">
              <a:noAutofit/>
            </a:bodyPr>
            <a:lstStyle/>
            <a:p>
              <a:r>
                <a:rPr lang="en-SG" sz="1200" b="1" dirty="0">
                  <a:solidFill>
                    <a:srgbClr val="054659"/>
                  </a:solidFill>
                  <a:latin typeface="+mj-lt"/>
                </a:rPr>
                <a:t>Broader impact</a:t>
              </a:r>
            </a:p>
          </p:txBody>
        </p:sp>
        <p:sp>
          <p:nvSpPr>
            <p:cNvPr id="50" name="Rounded Rectangle 15">
              <a:extLst>
                <a:ext uri="{FF2B5EF4-FFF2-40B4-BE49-F238E27FC236}">
                  <a16:creationId xmlns:a16="http://schemas.microsoft.com/office/drawing/2014/main" id="{87015478-0369-9D06-C01C-BBC78EB11703}"/>
                </a:ext>
              </a:extLst>
            </p:cNvPr>
            <p:cNvSpPr/>
            <p:nvPr/>
          </p:nvSpPr>
          <p:spPr>
            <a:xfrm>
              <a:off x="4859371" y="1700319"/>
              <a:ext cx="3611044" cy="659926"/>
            </a:xfrm>
            <a:prstGeom prst="roundRect">
              <a:avLst/>
            </a:prstGeom>
            <a:solidFill>
              <a:srgbClr val="DCEAF7"/>
            </a:solidFill>
            <a:ln w="127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>
                <a:latin typeface="+mj-lt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EAE8EF5-C650-12B9-CCBA-8A6F7E6F4BFE}"/>
                </a:ext>
              </a:extLst>
            </p:cNvPr>
            <p:cNvSpPr/>
            <p:nvPr/>
          </p:nvSpPr>
          <p:spPr>
            <a:xfrm>
              <a:off x="4971305" y="1892011"/>
              <a:ext cx="276543" cy="276543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0E9F2E7-EB41-79FE-A97C-E15C09D21FCD}"/>
                </a:ext>
              </a:extLst>
            </p:cNvPr>
            <p:cNvSpPr txBox="1"/>
            <p:nvPr/>
          </p:nvSpPr>
          <p:spPr>
            <a:xfrm>
              <a:off x="4935835" y="1956368"/>
              <a:ext cx="355555" cy="147828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algn="ctr"/>
              <a:r>
                <a:rPr sz="1200" b="1" i="0" dirty="0">
                  <a:solidFill>
                    <a:schemeClr val="bg1"/>
                  </a:solidFill>
                  <a:latin typeface="+mj-lt"/>
                </a:rPr>
                <a:t>01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A2BA97A-8464-6940-3DD3-F7F2975DC148}"/>
                </a:ext>
              </a:extLst>
            </p:cNvPr>
            <p:cNvSpPr txBox="1"/>
            <p:nvPr/>
          </p:nvSpPr>
          <p:spPr>
            <a:xfrm>
              <a:off x="5291390" y="1849212"/>
              <a:ext cx="3239898" cy="362140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r>
                <a:rPr lang="en-GB" sz="1050" dirty="0">
                  <a:solidFill>
                    <a:srgbClr val="232B33"/>
                  </a:solidFill>
                  <a:latin typeface="+mj-lt"/>
                </a:rPr>
                <a:t>A regulatory risk suitability can be encoded or corrected at its data source</a:t>
              </a:r>
            </a:p>
          </p:txBody>
        </p:sp>
        <p:sp>
          <p:nvSpPr>
            <p:cNvPr id="58" name="Rounded Rectangle 19">
              <a:extLst>
                <a:ext uri="{FF2B5EF4-FFF2-40B4-BE49-F238E27FC236}">
                  <a16:creationId xmlns:a16="http://schemas.microsoft.com/office/drawing/2014/main" id="{8E7A98CB-47BF-A2EA-36A4-FEE8C546DCAC}"/>
                </a:ext>
              </a:extLst>
            </p:cNvPr>
            <p:cNvSpPr/>
            <p:nvPr/>
          </p:nvSpPr>
          <p:spPr>
            <a:xfrm>
              <a:off x="4859371" y="2506439"/>
              <a:ext cx="3611044" cy="659926"/>
            </a:xfrm>
            <a:prstGeom prst="roundRect">
              <a:avLst/>
            </a:prstGeom>
            <a:solidFill>
              <a:srgbClr val="DCEAF7"/>
            </a:solidFill>
            <a:ln w="127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>
                <a:latin typeface="+mj-lt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8129215-4F3A-DE33-FAE5-ED456116547A}"/>
                </a:ext>
              </a:extLst>
            </p:cNvPr>
            <p:cNvSpPr/>
            <p:nvPr/>
          </p:nvSpPr>
          <p:spPr>
            <a:xfrm>
              <a:off x="4971305" y="2698131"/>
              <a:ext cx="276543" cy="276543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8CA8008-B055-AC18-D01E-58C4FD332833}"/>
                </a:ext>
              </a:extLst>
            </p:cNvPr>
            <p:cNvSpPr txBox="1"/>
            <p:nvPr/>
          </p:nvSpPr>
          <p:spPr>
            <a:xfrm>
              <a:off x="4935835" y="2762488"/>
              <a:ext cx="355555" cy="147828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algn="ctr"/>
              <a:r>
                <a:rPr sz="1200" b="1" i="0" dirty="0">
                  <a:solidFill>
                    <a:schemeClr val="bg1"/>
                  </a:solidFill>
                  <a:latin typeface="+mj-lt"/>
                </a:rPr>
                <a:t>02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46CBE63-04BE-5CDC-E624-8EB64D64F935}"/>
                </a:ext>
              </a:extLst>
            </p:cNvPr>
            <p:cNvSpPr txBox="1"/>
            <p:nvPr/>
          </p:nvSpPr>
          <p:spPr>
            <a:xfrm>
              <a:off x="5291390" y="2655332"/>
              <a:ext cx="3239898" cy="362140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r>
                <a:rPr lang="en-GB" sz="1050" dirty="0">
                  <a:solidFill>
                    <a:srgbClr val="232B33"/>
                  </a:solidFill>
                  <a:latin typeface="+mj-lt"/>
                </a:rPr>
                <a:t>A path for recommenders in other regulated domains (e.g. insurance product suitability)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b="1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1800" dirty="0"/>
              <a:t>Questions &amp; Answer</a:t>
            </a:r>
            <a:r>
              <a:rPr lang="en-SG" sz="1800" dirty="0"/>
              <a:t>s</a:t>
            </a:r>
            <a:endParaRPr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SG" b="1" dirty="0"/>
              <a:t>Appendix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b="1" dirty="0">
                <a:solidFill>
                  <a:srgbClr val="156082"/>
                </a:solidFill>
              </a:rPr>
              <a:t>Full </a:t>
            </a:r>
            <a:r>
              <a:rPr sz="2000" b="1" dirty="0">
                <a:solidFill>
                  <a:srgbClr val="156082"/>
                </a:solidFill>
              </a:rPr>
              <a:t>OLS coefficient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498965"/>
              </p:ext>
            </p:extLst>
          </p:nvPr>
        </p:nvGraphicFramePr>
        <p:xfrm>
          <a:off x="1210215" y="1316735"/>
          <a:ext cx="7127577" cy="3124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7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1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2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5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33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</a:rPr>
                        <a:t>Estimate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</a:rPr>
                        <a:t>95% C</a:t>
                      </a:r>
                      <a:r>
                        <a:rPr lang="en-SG" sz="1050" b="1" dirty="0">
                          <a:solidFill>
                            <a:srgbClr val="FFFFFF"/>
                          </a:solidFill>
                          <a:latin typeface="Arial"/>
                        </a:rPr>
                        <a:t>I</a:t>
                      </a:r>
                      <a:endParaRPr sz="105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50" b="1" dirty="0">
                          <a:solidFill>
                            <a:srgbClr val="FFFFFF"/>
                          </a:solidFill>
                          <a:latin typeface="Arial"/>
                        </a:rPr>
                        <a:t>p-value</a:t>
                      </a:r>
                      <a:endParaRPr sz="105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Intercept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−0.0471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[−0.0746, −0.0195]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8.1e-4</a:t>
                      </a:r>
                      <a:endParaRPr sz="105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36">
                <a:tc>
                  <a:txBody>
                    <a:bodyPr/>
                    <a:lstStyle/>
                    <a:p>
                      <a:pPr algn="l"/>
                      <a:r>
                        <a:rPr sz="1050" b="1" dirty="0" err="1">
                          <a:solidFill>
                            <a:srgbClr val="202020"/>
                          </a:solidFill>
                          <a:latin typeface="Arial"/>
                        </a:rPr>
                        <a:t>is_coherent</a:t>
                      </a:r>
                      <a:endParaRPr sz="1050" b="1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020"/>
                          </a:solidFill>
                          <a:latin typeface="Arial"/>
                        </a:rPr>
                        <a:t>+0.0294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020"/>
                          </a:solidFill>
                          <a:latin typeface="Arial"/>
                        </a:rPr>
                        <a:t>[+0.0215, +0.0372]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202020"/>
                          </a:solidFill>
                          <a:latin typeface="Arial"/>
                        </a:rPr>
                        <a:t>2.3e-13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asset_volatility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−0.1025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[−0.1349, −0.0701]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5.5e-10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C(type)[Legal Entity]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+0.0154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[−0.0798, +0.1106]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0.751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336"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202020"/>
                          </a:solidFill>
                          <a:latin typeface="Arial"/>
                        </a:rPr>
                        <a:t>C(type)[Mass]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+0.0011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[−0.0248, +0.0269]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0.936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C(type)[Premium]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+0.0058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[−0.0206, +0.0322]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0.667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C(type)[Professional]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+0.0247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[−0.0084, +0.0578]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0.143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C(year)[2019]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+0.1759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[+0.1507, +0.2012]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1.4e-42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C(year)[2020]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+0.2107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[+0.1986, +0.2227]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6e-259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0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C(year)[2021]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+0.0754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[+0.0651, +0.0858]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4.1e-46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0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C(year)[2022]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−0.0195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202020"/>
                          </a:solidFill>
                          <a:latin typeface="Arial"/>
                        </a:rPr>
                        <a:t>[−0.0283, −0.0107]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202020"/>
                          </a:solidFill>
                          <a:latin typeface="Arial"/>
                        </a:rPr>
                        <a:t>1.4e-5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919E6-1A5F-5574-654C-FF13F6BD00D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>
                <a:latin typeface="+mj-lt"/>
              </a:rPr>
              <a:t>github.com/Samthesimpsons/Risk-Based-Segmentation-for-FAR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1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82E6697-FCEA-4942-8E03-F4B279207A42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0e27d877-9c63-403c-987a-390b4a586a7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1054</TotalTime>
  <Words>2483</Words>
  <Application>Microsoft Office PowerPoint</Application>
  <PresentationFormat>On-screen Show (16:9)</PresentationFormat>
  <Paragraphs>556</Paragraphs>
  <Slides>32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Cambria Math</vt:lpstr>
      <vt:lpstr>Calibri</vt:lpstr>
      <vt:lpstr>Play</vt:lpstr>
      <vt:lpstr>Office Theme</vt:lpstr>
      <vt:lpstr>Risk-Based Segmentation for Financial Asset Recommendation</vt:lpstr>
      <vt:lpstr>01 Introduction</vt:lpstr>
      <vt:lpstr>What is Financial Asset Recommendation (FAR)?</vt:lpstr>
      <vt:lpstr>1st open public dataset: FAR-Trans</vt:lpstr>
      <vt:lpstr>The FAR-Trans benchmarking</vt:lpstr>
      <vt:lpstr>The FAR-Trans benchmarking</vt:lpstr>
      <vt:lpstr>Filling in the missing gap of risk suitability</vt:lpstr>
      <vt:lpstr>02 Analytical Study</vt:lpstr>
      <vt:lpstr>Measuring risk suitability via Profile Coherence</vt:lpstr>
      <vt:lpstr>Discordance is prevalent and it is a customer-level trait</vt:lpstr>
      <vt:lpstr>Discordance is not a single-year artefact</vt:lpstr>
      <vt:lpstr>Regression study</vt:lpstr>
      <vt:lpstr>03 Methodology</vt:lpstr>
      <vt:lpstr>LightGCN Models recommendations as a bipartite graph</vt:lpstr>
      <vt:lpstr>Forward propagation learns embeddings from neighbours</vt:lpstr>
      <vt:lpstr>Back propagation tunes model to prefer purchased assets</vt:lpstr>
      <vt:lpstr>Risk-based segmentation approach</vt:lpstr>
      <vt:lpstr>Extended approaches</vt:lpstr>
      <vt:lpstr>04 Experimental Setup</vt:lpstr>
      <vt:lpstr>Normalisation of risk suitability metric</vt:lpstr>
      <vt:lpstr>Data training test split</vt:lpstr>
      <vt:lpstr>Configurations and hyperparameter grids</vt:lpstr>
      <vt:lpstr>Results</vt:lpstr>
      <vt:lpstr>Aggregate results over 69 splits</vt:lpstr>
      <vt:lpstr>Comparison against baseline LightGCN</vt:lpstr>
      <vt:lpstr>Normalized Profile Coherence at band-level</vt:lpstr>
      <vt:lpstr>Conclusion</vt:lpstr>
      <vt:lpstr>Limitations and future work</vt:lpstr>
      <vt:lpstr>Conclusion</vt:lpstr>
      <vt:lpstr>Thank You</vt:lpstr>
      <vt:lpstr>Appendix</vt:lpstr>
      <vt:lpstr>Full OLS coefficient 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Samuel Sim</cp:lastModifiedBy>
  <cp:revision>30</cp:revision>
  <dcterms:modified xsi:type="dcterms:W3CDTF">2026-06-30T03:09:42Z</dcterms:modified>
</cp:coreProperties>
</file>