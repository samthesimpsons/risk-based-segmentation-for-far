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51"/>
  </p:notesMasterIdLst>
  <p:handoutMasterIdLst>
    <p:handoutMasterId r:id="rId5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9144000" cy="5143500" type="screen16x9"/>
  <p:notesSz cx="6858000" cy="9144000"/>
  <p:embeddedFontLst>
    <p:embeddedFont>
      <p:font typeface="Play" panose="020B0604020202020204" charset="0"/>
      <p:regular r:id="rId53"/>
      <p:bold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11" autoAdjust="0"/>
    <p:restoredTop sz="94660"/>
  </p:normalViewPr>
  <p:slideViewPr>
    <p:cSldViewPr snapToGrid="0">
      <p:cViewPr varScale="1">
        <p:scale>
          <a:sx n="210" d="100"/>
          <a:sy n="210" d="100"/>
        </p:scale>
        <p:origin x="816" y="1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6" d="100"/>
          <a:sy n="106" d="100"/>
        </p:scale>
        <p:origin x="4245" y="5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5DCC23E-2445-8927-9D31-EFE409D3E0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4729C-C9ED-3513-1AEF-159C7C56D07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84A861-0892-45E9-A6FF-42AA72AD79D6}" type="datetimeFigureOut">
              <a:rPr lang="en-SG" smtClean="0"/>
              <a:t>24/6/2026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F6FFB-0EEF-6E09-9A5D-A5462A8773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E0A69C-82A5-2C96-A5C0-8ADD11750A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9557BD-F81B-4A99-9A73-0863D2076FB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855155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57457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800"/>
              <a:buFont typeface="Arial"/>
              <a:buNone/>
              <a:defRPr sz="38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 dirty="0"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00206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SG"/>
              <a:t>github.com/Samthesimpsons/Risk-Based-Segmentation-for-FAR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800"/>
              <a:buFont typeface="Arial"/>
              <a:buNone/>
              <a:defRPr sz="38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 dirty="0"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00206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SG"/>
              <a:t>github.com/Samthesimpsons/Risk-Based-Segmentation-for-FAR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4401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3769A-75CA-A068-D878-A2394AF7D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726830"/>
            <a:ext cx="7886700" cy="5412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BA3A03-D095-203F-98BC-2272FB2446B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8E21F-7EE7-9836-9F73-5C4D4F40571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 sz="800" i="1"/>
            </a:lvl1pPr>
          </a:lstStyle>
          <a:p>
            <a:r>
              <a:rPr lang="en-SG"/>
              <a:t>github.com/Samthesimpsons/Risk-Based-Segmentation-for-FAR</a:t>
            </a:r>
            <a:endParaRPr lang="en-SG" sz="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129DD4-C35A-F96F-4DC8-FF1C95CDE4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6" name="Google Shape;58;p9">
            <a:extLst>
              <a:ext uri="{FF2B5EF4-FFF2-40B4-BE49-F238E27FC236}">
                <a16:creationId xmlns:a16="http://schemas.microsoft.com/office/drawing/2014/main" id="{65E63A31-3A41-37BD-E8AF-724EAD48107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8650" y="1363955"/>
            <a:ext cx="7886700" cy="303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3189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629841" y="740568"/>
            <a:ext cx="2949300" cy="80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1">
                <a:latin typeface="+mj-l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 dirty="0"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2"/>
          </p:nvPr>
        </p:nvSpPr>
        <p:spPr>
          <a:xfrm>
            <a:off x="629841" y="1623646"/>
            <a:ext cx="2949300" cy="277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SG"/>
              <a:t>github.com/Samthesimpsons/Risk-Based-Segmentation-for-FAR</a:t>
            </a:r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userDrawn="1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629841" y="740568"/>
            <a:ext cx="2949300" cy="80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1">
                <a:latin typeface="+mj-l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64" name="Google Shape;64;p10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SG"/>
              <a:t>github.com/Samthesimpsons/Risk-Based-Segmentation-for-FAR</a:t>
            </a:r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" name="Google Shape;58;p9">
            <a:extLst>
              <a:ext uri="{FF2B5EF4-FFF2-40B4-BE49-F238E27FC236}">
                <a16:creationId xmlns:a16="http://schemas.microsoft.com/office/drawing/2014/main" id="{D3C5BA6B-0163-B42D-92BF-6C035280FB45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629841" y="1623646"/>
            <a:ext cx="2949300" cy="277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SG"/>
              <a:t>github.com/Samthesimpsons/Risk-Based-Segmentation-for-FAR</a:t>
            </a:r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4110038" y="47625"/>
            <a:ext cx="940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GB" sz="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SMU Classification: Restricted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60" r:id="rId3"/>
    <p:sldLayoutId id="2147483655" r:id="rId4"/>
    <p:sldLayoutId id="2147483656" r:id="rId5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sz="2800" b="1" dirty="0"/>
              <a:t>Risk-Based Segmentation for</a:t>
            </a:r>
            <a:r>
              <a:rPr lang="en-SG" sz="2800" b="1" dirty="0"/>
              <a:t> </a:t>
            </a:r>
            <a:r>
              <a:rPr sz="2800" b="1" dirty="0"/>
              <a:t>Financial Asset</a:t>
            </a:r>
            <a:r>
              <a:rPr lang="en-SG" sz="2800" b="1" dirty="0"/>
              <a:t> </a:t>
            </a:r>
            <a:r>
              <a:rPr sz="2800" b="1" dirty="0"/>
              <a:t>Recommendation</a:t>
            </a:r>
            <a:br>
              <a:rPr lang="en-SG" sz="2800" b="1" dirty="0"/>
            </a:br>
            <a:r>
              <a:rPr lang="en-SG" sz="2800" b="1" dirty="0"/>
              <a:t>Balancing Return, Accuracy and Risk Suitability </a:t>
            </a:r>
            <a:endParaRPr sz="2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689496"/>
            <a:ext cx="6858000" cy="1241700"/>
          </a:xfrm>
        </p:spPr>
        <p:txBody>
          <a:bodyPr>
            <a:normAutofit/>
          </a:bodyPr>
          <a:lstStyle/>
          <a:p>
            <a:r>
              <a:rPr sz="1600" b="1" dirty="0"/>
              <a:t>Samuel Sim</a:t>
            </a:r>
            <a:endParaRPr lang="en-SG" sz="1600" b="1" dirty="0"/>
          </a:p>
          <a:p>
            <a:r>
              <a:rPr lang="en-SG" sz="1600" dirty="0"/>
              <a:t>Master of Science</a:t>
            </a:r>
            <a:r>
              <a:rPr sz="1600" dirty="0"/>
              <a:t> in Computing (Capstone)</a:t>
            </a:r>
          </a:p>
          <a:p>
            <a:r>
              <a:rPr sz="1600" dirty="0"/>
              <a:t>samuel.sim.2024@msc.smu.edu.sg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b="1" dirty="0"/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1800" dirty="0"/>
              <a:t>Financial Asset Recommendation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What is Financial Asset Recommendation (FAR)?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0936" y="1417320"/>
            <a:ext cx="7882127" cy="3063240"/>
          </a:xfrm>
        </p:spPr>
        <p:txBody>
          <a:bodyPr wrap="square">
            <a:normAutofit lnSpcReduction="10000"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202020"/>
                </a:solidFill>
                <a:latin typeface="Arial"/>
              </a:rPr>
              <a:t>FAR ranks securities (stocks, bonds, mutual funds) for an investor by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suitability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202020"/>
                </a:solidFill>
                <a:latin typeface="Arial"/>
              </a:rPr>
              <a:t>It fuses heterogeneous signals: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1" dirty="0">
                <a:solidFill>
                  <a:srgbClr val="0E2841"/>
                </a:solidFill>
                <a:latin typeface="Arial"/>
              </a:rPr>
              <a:t>Investor side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: past transactions, declared risk tolerance, loss capacity, goals.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1" dirty="0">
                <a:solidFill>
                  <a:srgbClr val="0E2841"/>
                </a:solidFill>
                <a:latin typeface="Arial"/>
              </a:rPr>
              <a:t>Market side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: asset prices, returns, volatility, inflation.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202020"/>
                </a:solidFill>
                <a:latin typeface="Arial"/>
              </a:rPr>
              <a:t>FAR sits at the intersection of </a:t>
            </a:r>
            <a:r>
              <a:rPr sz="1700" b="1" dirty="0" err="1">
                <a:solidFill>
                  <a:srgbClr val="0E2841"/>
                </a:solidFill>
                <a:latin typeface="Arial"/>
              </a:rPr>
              <a:t>personalised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 ranking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and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regulatory obligation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dirty="0">
                <a:solidFill>
                  <a:srgbClr val="0E2841"/>
                </a:solidFill>
                <a:latin typeface="Arial"/>
              </a:rPr>
              <a:t>MiFID II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(EU) requires a suitability check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before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recommending: product risk must align with the customer's declared band.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 err="1">
                <a:solidFill>
                  <a:srgbClr val="202020"/>
                </a:solidFill>
                <a:latin typeface="Arial"/>
              </a:rPr>
              <a:t>Maximising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return/ranking without conditioning on the band can top a benchmark yet be a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regulatory liability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F370F-E9E0-9185-E296-301863E3777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 dirty="0"/>
              <a:t>github.com/</a:t>
            </a:r>
            <a:r>
              <a:rPr lang="en-SG" dirty="0" err="1"/>
              <a:t>Samthesimpsons</a:t>
            </a:r>
            <a:r>
              <a:rPr lang="en-SG" dirty="0"/>
              <a:t>/Risk-Based-Segmentation-for-FAR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The benchmark measures only two axes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0936" y="1417320"/>
            <a:ext cx="7882127" cy="306324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dirty="0">
                <a:solidFill>
                  <a:srgbClr val="0E2841"/>
                </a:solidFill>
                <a:latin typeface="Arial"/>
              </a:rPr>
              <a:t>FAR-Trans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(Sanz-Cruzado et al., 2024): first open FAR benchmark pairing real prices + real retail transactions + a declared MiFID II band per customer (Jan 2018 </a:t>
            </a:r>
            <a:r>
              <a:rPr lang="en-SG" sz="1700" dirty="0">
                <a:solidFill>
                  <a:srgbClr val="202020"/>
                </a:solidFill>
              </a:rPr>
              <a:t>-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Nov 2022).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202020"/>
                </a:solidFill>
                <a:latin typeface="Arial"/>
              </a:rPr>
              <a:t>Its benchmark scores algorithms on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two axes only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: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1" dirty="0">
                <a:solidFill>
                  <a:srgbClr val="0E2841"/>
                </a:solidFill>
                <a:latin typeface="Arial"/>
              </a:rPr>
              <a:t>nDCG@10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: next-purchase ranking accuracy.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1" dirty="0">
                <a:solidFill>
                  <a:srgbClr val="0E2841"/>
                </a:solidFill>
                <a:latin typeface="Arial"/>
              </a:rPr>
              <a:t>ROI@10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: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realised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profitability.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202020"/>
                </a:solidFill>
                <a:latin typeface="Arial"/>
              </a:rPr>
              <a:t>A later study finds the two are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negatively correlated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on FAR-Trans: winning on accuracy tends to lose on return.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dirty="0">
                <a:solidFill>
                  <a:srgbClr val="0E2841"/>
                </a:solidFill>
                <a:latin typeface="Arial"/>
              </a:rPr>
              <a:t>Neither axis measures whether a recommendation is suitable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for the customer's risk band.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7DE3C-8CD5-6474-6505-CAA0DC3CC3B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Gap &amp; objective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0936" y="1417320"/>
            <a:ext cx="7882127" cy="306324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202020"/>
                </a:solidFill>
                <a:latin typeface="Arial"/>
              </a:rPr>
              <a:t>A model can lead </a:t>
            </a:r>
            <a:r>
              <a:rPr sz="1700" b="0" dirty="0" err="1">
                <a:solidFill>
                  <a:srgbClr val="202020"/>
                </a:solidFill>
                <a:latin typeface="Arial"/>
              </a:rPr>
              <a:t>nDCG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/ROI while routinely proposing assets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≥ 2 bands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from the declared tolerance, the exact failure MiFID II exists to prevent.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202020"/>
                </a:solidFill>
                <a:latin typeface="Arial"/>
              </a:rPr>
              <a:t>Existing risk-aware FAR fixes this only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downstream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: post-hoc re-ranking of a base model's top list. The declared band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never enters training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dirty="0">
                <a:solidFill>
                  <a:srgbClr val="0E2841"/>
                </a:solidFill>
                <a:latin typeface="Arial"/>
              </a:rPr>
              <a:t>Our objective: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balance risk suitability against return and accuracy, not trade one for another.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202020"/>
                </a:solidFill>
                <a:latin typeface="Arial"/>
              </a:rPr>
              <a:t>Approach: a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risk-based segmentation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of the model, then two interventions, a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coherence margin loss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and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customer regrouping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202020"/>
                </a:solidFill>
                <a:latin typeface="Arial"/>
              </a:rPr>
              <a:t>We evaluate on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three axes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and a single harmonic-mean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balance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556D6-7EC0-7A6B-6974-5B3AA3D937A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Three contributions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0936" y="1417320"/>
            <a:ext cx="7882127" cy="306324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1 · Analytical study of risk factors in FAR-Trans.</a:t>
            </a:r>
            <a:r>
              <a:rPr sz="1700" b="0">
                <a:solidFill>
                  <a:srgbClr val="202020"/>
                </a:solidFill>
                <a:latin typeface="Arial"/>
              </a:rPr>
              <a:t> Discordance between declared band and bought assets is widespread, a persistent </a:t>
            </a:r>
            <a:r>
              <a:rPr sz="1700" b="1">
                <a:solidFill>
                  <a:srgbClr val="0E2841"/>
                </a:solidFill>
                <a:latin typeface="Arial"/>
              </a:rPr>
              <a:t>customer-level trait</a:t>
            </a:r>
            <a:r>
              <a:rPr sz="1700" b="0">
                <a:solidFill>
                  <a:srgbClr val="202020"/>
                </a:solidFill>
                <a:latin typeface="Arial"/>
              </a:rPr>
              <a:t>, and coherent buys earn a </a:t>
            </a:r>
            <a:r>
              <a:rPr sz="1700" b="1">
                <a:solidFill>
                  <a:srgbClr val="0E2841"/>
                </a:solidFill>
                <a:latin typeface="Arial"/>
              </a:rPr>
              <a:t>return premium</a:t>
            </a:r>
            <a:r>
              <a:rPr sz="1700" b="0">
                <a:solidFill>
                  <a:srgbClr val="202020"/>
                </a:solidFill>
                <a:latin typeface="Arial"/>
              </a:rPr>
              <a:t>, not a penalty.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2 · A risk-based segmentation of LightGCN.</a:t>
            </a:r>
            <a:r>
              <a:rPr sz="1700" b="0">
                <a:solidFill>
                  <a:srgbClr val="202020"/>
                </a:solidFill>
                <a:latin typeface="Arial"/>
              </a:rPr>
              <a:t> Conditions training on the declared band. The two interventions build on it.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3 · Experimental studies across the three axes.</a:t>
            </a:r>
            <a:r>
              <a:rPr sz="1700" b="0">
                <a:solidFill>
                  <a:srgbClr val="202020"/>
                </a:solidFill>
                <a:latin typeface="Arial"/>
              </a:rPr>
              <a:t> Over 69 temporal splits we audit the FAR-Trans baselines and ablate the two exclusive levers. Only </a:t>
            </a:r>
            <a:r>
              <a:rPr sz="1700" b="1">
                <a:solidFill>
                  <a:srgbClr val="0E2841"/>
                </a:solidFill>
                <a:latin typeface="Arial"/>
              </a:rPr>
              <a:t>regrouping</a:t>
            </a:r>
            <a:r>
              <a:rPr sz="1700" b="0">
                <a:solidFill>
                  <a:srgbClr val="202020"/>
                </a:solidFill>
                <a:latin typeface="Arial"/>
              </a:rPr>
              <a:t> raises the balance.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New measurement tools introduced: </a:t>
            </a:r>
            <a:r>
              <a:rPr sz="1700" b="1">
                <a:solidFill>
                  <a:srgbClr val="0E2841"/>
                </a:solidFill>
                <a:latin typeface="Arial"/>
              </a:rPr>
              <a:t>Profile Coherence PC@k</a:t>
            </a:r>
            <a:r>
              <a:rPr sz="1700" b="0">
                <a:solidFill>
                  <a:srgbClr val="202020"/>
                </a:solidFill>
                <a:latin typeface="Arial"/>
              </a:rPr>
              <a:t> and the </a:t>
            </a:r>
            <a:r>
              <a:rPr sz="1700" b="1">
                <a:solidFill>
                  <a:srgbClr val="0E2841"/>
                </a:solidFill>
                <a:latin typeface="Arial"/>
              </a:rPr>
              <a:t>balance</a:t>
            </a:r>
            <a:r>
              <a:rPr sz="1700" b="0">
                <a:solidFill>
                  <a:srgbClr val="202020"/>
                </a:solidFill>
                <a:latin typeface="Arial"/>
              </a:rPr>
              <a:t> score.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D4CD0-F79B-578B-2722-B99D194ED10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b="1" dirty="0"/>
              <a:t>FAR-Trans Benchmark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1800" dirty="0"/>
              <a:t>Current State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The FAR-Trans dataset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2920" y="1325880"/>
            <a:ext cx="5029200" cy="320040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202020"/>
                </a:solidFill>
                <a:latin typeface="Arial"/>
              </a:rPr>
              <a:t>First public FAR dataset to pair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real pricing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with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real retail-investor transactions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202020"/>
                </a:solidFill>
                <a:latin typeface="Arial"/>
              </a:rPr>
              <a:t>Closes the gap left by proprietary/simulated data and the prior price-less public dataset.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202020"/>
                </a:solidFill>
                <a:latin typeface="Arial"/>
              </a:rPr>
              <a:t>Collected from a large European institution (National Bank of Greece), Jan 2018 </a:t>
            </a:r>
            <a:r>
              <a:rPr lang="en-SG" sz="1700" b="0" dirty="0">
                <a:solidFill>
                  <a:srgbClr val="202020"/>
                </a:solidFill>
                <a:latin typeface="Arial"/>
              </a:rPr>
              <a:t>-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Nov 2022.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202020"/>
                </a:solidFill>
                <a:latin typeface="Arial"/>
              </a:rPr>
              <a:t>Makes both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price-based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and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profile-based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recommendation measurable on one dataset.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0" y="1417320"/>
          <a:ext cx="2971800" cy="2322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FAR-Trans at a glance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Arial"/>
                        </a:rPr>
                        <a:t>Customers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Arial"/>
                        </a:rPr>
                        <a:t>29,090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Arial"/>
                        </a:rPr>
                        <a:t>with a MiFID II band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Arial"/>
                        </a:rPr>
                        <a:t>28,770 (98.9%)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Arial"/>
                        </a:rPr>
                        <a:t>Assets (daily prices)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Arial"/>
                        </a:rPr>
                        <a:t>806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Arial"/>
                        </a:rPr>
                        <a:t>Buy transactions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Arial"/>
                        </a:rPr>
                        <a:t>228,913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Arial"/>
                        </a:rPr>
                        <a:t>Sell transactions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Arial"/>
                        </a:rPr>
                        <a:t>159,135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43297-7880-C1BA-E6E3-3D2FB77A6C3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Two anchor baselines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0936" y="1417320"/>
            <a:ext cx="7882127" cy="306324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202020"/>
                </a:solidFill>
                <a:latin typeface="Arial"/>
              </a:rPr>
              <a:t>FAR-Trans also establishes the field's evaluation standard by benchmarking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11 FAR algorithms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202020"/>
                </a:solidFill>
                <a:latin typeface="Arial"/>
              </a:rPr>
              <a:t>Two anchor our study, each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leads one axis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: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1" dirty="0" err="1">
                <a:solidFill>
                  <a:srgbClr val="0E2841"/>
                </a:solidFill>
                <a:latin typeface="Arial"/>
              </a:rPr>
              <a:t>LightGCN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: graph collaborative filter over the user–item bipartite graph, </a:t>
            </a:r>
            <a:r>
              <a:rPr sz="1500" b="1" dirty="0">
                <a:solidFill>
                  <a:srgbClr val="0E2841"/>
                </a:solidFill>
                <a:latin typeface="Arial"/>
              </a:rPr>
              <a:t>strongest ranking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model (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nDCG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).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1" dirty="0">
                <a:solidFill>
                  <a:srgbClr val="0E2841"/>
                </a:solidFill>
                <a:latin typeface="Arial"/>
              </a:rPr>
              <a:t>Random Forest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: tree ensemble over tabular customer/asset features, </a:t>
            </a:r>
            <a:r>
              <a:rPr sz="1500" b="1" dirty="0">
                <a:solidFill>
                  <a:srgbClr val="0E2841"/>
                </a:solidFill>
                <a:latin typeface="Arial"/>
              </a:rPr>
              <a:t>strongest profitability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model (ROI).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202020"/>
                </a:solidFill>
                <a:latin typeface="Arial"/>
              </a:rPr>
              <a:t>Both scored over the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top-10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on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nDCG@10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and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ROI@10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E2781-5135-278B-185A-2828DF9AEA7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b="1" dirty="0"/>
              <a:t>Analytical </a:t>
            </a:r>
            <a:r>
              <a:rPr lang="en-SG" b="1" dirty="0"/>
              <a:t>Study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1800" dirty="0"/>
              <a:t>FAR-Trans Dataset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Putting customers and assets on one scale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2920" y="1325880"/>
            <a:ext cx="8138160" cy="2194560"/>
          </a:xfrm>
        </p:spPr>
        <p:txBody>
          <a:bodyPr wrap="square">
            <a:normAutofit lnSpcReduction="10000"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202020"/>
                </a:solidFill>
                <a:latin typeface="Arial"/>
              </a:rPr>
              <a:t>Measuring suitability needs customers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and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assets on a common scale.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dirty="0">
                <a:solidFill>
                  <a:srgbClr val="0E2841"/>
                </a:solidFill>
                <a:latin typeface="Arial"/>
              </a:rPr>
              <a:t>Ordinal band scale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, 0</a:t>
            </a:r>
            <a:r>
              <a:rPr lang="en-SG" sz="1700" b="0" dirty="0">
                <a:solidFill>
                  <a:srgbClr val="202020"/>
                </a:solidFill>
                <a:latin typeface="Arial"/>
              </a:rPr>
              <a:t> to 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3:</a:t>
            </a:r>
            <a:endParaRPr lang="en-SG" sz="1700" b="0" dirty="0">
              <a:solidFill>
                <a:srgbClr val="202020"/>
              </a:solidFill>
              <a:latin typeface="Arial"/>
            </a:endParaRP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600" b="1" dirty="0">
                <a:solidFill>
                  <a:srgbClr val="0E2841"/>
                </a:solidFill>
                <a:latin typeface="Arial"/>
              </a:rPr>
              <a:t>Conservative · Income · Balanced · Aggressive</a:t>
            </a:r>
            <a:r>
              <a:rPr sz="1600" b="0" dirty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dirty="0">
                <a:solidFill>
                  <a:srgbClr val="0E2841"/>
                </a:solidFill>
                <a:latin typeface="Arial"/>
              </a:rPr>
              <a:t>Customer band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202020"/>
                </a:solidFill>
                <a:latin typeface="Arial"/>
              </a:rPr>
              <a:t>b_u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: declared (or regression-imputed) MiFID II level. Missing-band customers are excluded from all coherence.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202020"/>
                </a:solidFill>
                <a:latin typeface="Arial"/>
              </a:rPr>
              <a:t>FAR-Trans supplies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no asset band</a:t>
            </a:r>
            <a:r>
              <a:rPr lang="en-SG" sz="1700" dirty="0">
                <a:solidFill>
                  <a:srgbClr val="202020"/>
                </a:solidFill>
              </a:rPr>
              <a:t>, hence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we assign </a:t>
            </a:r>
            <a:r>
              <a:rPr sz="1700" b="0" dirty="0" err="1">
                <a:solidFill>
                  <a:srgbClr val="202020"/>
                </a:solidFill>
                <a:latin typeface="Arial"/>
              </a:rPr>
              <a:t>b_i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with a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3-step hierarchical rule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.</a:t>
            </a:r>
          </a:p>
        </p:txBody>
      </p:sp>
      <p:pic>
        <p:nvPicPr>
          <p:cNvPr id="4" name="Picture 3" descr="discor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40480"/>
            <a:ext cx="7315200" cy="511552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B0231-C5F0-C8D0-AD04-F0F9AE1809B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Asset banding: 3-step hierarchical rule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0936" y="1417320"/>
            <a:ext cx="7882127" cy="306324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dirty="0">
                <a:solidFill>
                  <a:srgbClr val="0E2841"/>
                </a:solidFill>
                <a:latin typeface="Arial"/>
              </a:rPr>
              <a:t>Step 1: subcategory metadata.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Mutual funds: Money-Market</a:t>
            </a:r>
            <a:r>
              <a:rPr lang="en-SG" sz="1700" b="0" dirty="0">
                <a:solidFill>
                  <a:srgbClr val="202020"/>
                </a:solidFill>
                <a:latin typeface="Arial"/>
              </a:rPr>
              <a:t> to 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Conservative, Bond</a:t>
            </a:r>
            <a:r>
              <a:rPr lang="en-SG" sz="1700" b="0" dirty="0">
                <a:solidFill>
                  <a:srgbClr val="202020"/>
                </a:solidFill>
                <a:latin typeface="Arial"/>
              </a:rPr>
              <a:t> to 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Income, Balanced</a:t>
            </a:r>
            <a:r>
              <a:rPr lang="en-SG" sz="1700" b="0" dirty="0">
                <a:solidFill>
                  <a:srgbClr val="202020"/>
                </a:solidFill>
                <a:latin typeface="Arial"/>
              </a:rPr>
              <a:t> to 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Balanced, Equity/Large-Cap</a:t>
            </a:r>
            <a:r>
              <a:rPr lang="en-SG" sz="1700" b="0" dirty="0">
                <a:solidFill>
                  <a:srgbClr val="202020"/>
                </a:solidFill>
                <a:latin typeface="Arial"/>
              </a:rPr>
              <a:t> to 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Aggressive. Bonds by issuer: Government</a:t>
            </a:r>
            <a:r>
              <a:rPr lang="en-SG" sz="1700" b="0" dirty="0">
                <a:solidFill>
                  <a:srgbClr val="202020"/>
                </a:solidFill>
                <a:latin typeface="Arial"/>
              </a:rPr>
              <a:t> to 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Conservative, Corporate</a:t>
            </a:r>
            <a:r>
              <a:rPr lang="en-SG" sz="1700" b="0" dirty="0">
                <a:solidFill>
                  <a:srgbClr val="202020"/>
                </a:solidFill>
                <a:latin typeface="Arial"/>
              </a:rPr>
              <a:t> to 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Income, else</a:t>
            </a:r>
            <a:r>
              <a:rPr lang="en-SG" sz="17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Income.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dirty="0">
                <a:solidFill>
                  <a:srgbClr val="0E2841"/>
                </a:solidFill>
                <a:latin typeface="Arial"/>
              </a:rPr>
              <a:t>Step 2: volatility quartiles.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Untagged assets (mostly stocks): </a:t>
            </a:r>
            <a:r>
              <a:rPr sz="1700" b="0" dirty="0" err="1">
                <a:solidFill>
                  <a:srgbClr val="202020"/>
                </a:solidFill>
                <a:latin typeface="Arial"/>
              </a:rPr>
              <a:t>annualised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SD of daily log-returns over a trailing 252-day window, bucketed into 4 bands by stock-calibrated quartiles (q₁, q₂, q₃).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dirty="0">
                <a:solidFill>
                  <a:srgbClr val="0E2841"/>
                </a:solidFill>
                <a:latin typeface="Arial"/>
              </a:rPr>
              <a:t>Step 3: residual default.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Anything left </a:t>
            </a:r>
            <a:r>
              <a:rPr lang="en-SG" sz="1700" b="0" dirty="0">
                <a:solidFill>
                  <a:srgbClr val="202020"/>
                </a:solidFill>
                <a:latin typeface="Arial"/>
              </a:rPr>
              <a:t>to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Balanced.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202020"/>
                </a:solidFill>
                <a:latin typeface="Arial"/>
              </a:rPr>
              <a:t>Resulting asset-band distribution over 806 assets: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(190, 333, 105, 178)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for (Conservative, Income, Balanced, Aggressive).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35889-78BF-B076-9E79-BD976D35B29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Profile Coherence: the suitability metric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2920" y="1325880"/>
            <a:ext cx="8138160" cy="173736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Pairwise discordance</a:t>
            </a:r>
            <a:r>
              <a:rPr sz="1700" b="0">
                <a:solidFill>
                  <a:srgbClr val="202020"/>
                </a:solidFill>
                <a:latin typeface="Arial"/>
              </a:rPr>
              <a:t> d(u,i) = |b_u − b_i| ∈ {0,1,2,3}. A recommendation is </a:t>
            </a:r>
            <a:r>
              <a:rPr sz="1700" b="1">
                <a:solidFill>
                  <a:srgbClr val="0E2841"/>
                </a:solidFill>
                <a:latin typeface="Arial"/>
              </a:rPr>
              <a:t>profile-coherent iff d ≤ 1</a:t>
            </a:r>
            <a:r>
              <a:rPr sz="1700" b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The </a:t>
            </a:r>
            <a:r>
              <a:rPr sz="1700" b="1">
                <a:solidFill>
                  <a:srgbClr val="0E2841"/>
                </a:solidFill>
                <a:latin typeface="Arial"/>
              </a:rPr>
              <a:t>±1 tolerance is by design</a:t>
            </a:r>
            <a:r>
              <a:rPr sz="1700" b="0">
                <a:solidFill>
                  <a:srgbClr val="202020"/>
                </a:solidFill>
                <a:latin typeface="Arial"/>
              </a:rPr>
              <a:t>, it mirrors MiFID II's adjacency allowance for borderline suitability.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Profile Coherence at k</a:t>
            </a:r>
            <a:r>
              <a:rPr sz="1700" b="0">
                <a:solidFill>
                  <a:srgbClr val="202020"/>
                </a:solidFill>
                <a:latin typeface="Arial"/>
              </a:rPr>
              <a:t>, share of the top-k list that is coherent:</a:t>
            </a:r>
          </a:p>
        </p:txBody>
      </p:sp>
      <p:pic>
        <p:nvPicPr>
          <p:cNvPr id="4" name="Picture 3" descr="pc_at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246120"/>
            <a:ext cx="6949440" cy="7127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160520"/>
            <a:ext cx="8046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5A5A5A"/>
                </a:solidFill>
                <a:latin typeface="Arial"/>
              </a:rPr>
              <a:t>Fewer than k items</a:t>
            </a:r>
            <a:r>
              <a:rPr lang="en-SG" sz="1200" b="0" dirty="0">
                <a:solidFill>
                  <a:srgbClr val="5A5A5A"/>
                </a:solidFill>
                <a:latin typeface="Arial"/>
              </a:rPr>
              <a:t>:</a:t>
            </a:r>
            <a:r>
              <a:rPr sz="1200" b="0" dirty="0">
                <a:solidFill>
                  <a:srgbClr val="5A5A5A"/>
                </a:solidFill>
                <a:latin typeface="Arial"/>
              </a:rPr>
              <a:t> use the actual count as denominator, no-band customers dropped. Per-split PC = unweighted mean over eligible customers. Headline = mean over splits.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DB595D0-6C61-3350-A0AB-6324C74A506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Discordance is prevalent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2920" y="1325880"/>
            <a:ext cx="3383280" cy="320040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Over </a:t>
            </a:r>
            <a:r>
              <a:rPr sz="1700" b="1">
                <a:solidFill>
                  <a:srgbClr val="0E2841"/>
                </a:solidFill>
                <a:latin typeface="Arial"/>
              </a:rPr>
              <a:t>228,241</a:t>
            </a:r>
            <a:r>
              <a:rPr sz="1700" b="0">
                <a:solidFill>
                  <a:srgbClr val="202020"/>
                </a:solidFill>
                <a:latin typeface="Arial"/>
              </a:rPr>
              <a:t> scoreable buys: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E2841"/>
                </a:solidFill>
                <a:latin typeface="Arial"/>
              </a:rPr>
              <a:t>18.6%</a:t>
            </a:r>
            <a:r>
              <a:rPr sz="1500" b="0">
                <a:solidFill>
                  <a:srgbClr val="202020"/>
                </a:solidFill>
                <a:latin typeface="Arial"/>
              </a:rPr>
              <a:t> violate the band by </a:t>
            </a:r>
            <a:r>
              <a:rPr sz="1500" b="1">
                <a:solidFill>
                  <a:srgbClr val="0E2841"/>
                </a:solidFill>
                <a:latin typeface="Arial"/>
              </a:rPr>
              <a:t>≥ 2</a:t>
            </a:r>
            <a:r>
              <a:rPr sz="1500" b="0">
                <a:solidFill>
                  <a:srgbClr val="202020"/>
                </a:solidFill>
                <a:latin typeface="Arial"/>
              </a:rPr>
              <a:t> steps.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E2841"/>
                </a:solidFill>
                <a:latin typeface="Arial"/>
              </a:rPr>
              <a:t>81.4%</a:t>
            </a:r>
            <a:r>
              <a:rPr sz="1500" b="0">
                <a:solidFill>
                  <a:srgbClr val="202020"/>
                </a:solidFill>
                <a:latin typeface="Arial"/>
              </a:rPr>
              <a:t> coherent (d ≤ 1), </a:t>
            </a:r>
            <a:r>
              <a:rPr sz="1500" b="1">
                <a:solidFill>
                  <a:srgbClr val="0E2841"/>
                </a:solidFill>
                <a:latin typeface="Arial"/>
              </a:rPr>
              <a:t>34.1%</a:t>
            </a:r>
            <a:r>
              <a:rPr sz="1500" b="0">
                <a:solidFill>
                  <a:srgbClr val="202020"/>
                </a:solidFill>
                <a:latin typeface="Arial"/>
              </a:rPr>
              <a:t> strictly coherent (d = 0).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Arial"/>
              </a:rPr>
              <a:t>Mean discordance </a:t>
            </a:r>
            <a:r>
              <a:rPr sz="1500" b="1">
                <a:solidFill>
                  <a:srgbClr val="0E2841"/>
                </a:solidFill>
                <a:latin typeface="Arial"/>
              </a:rPr>
              <a:t>0.874</a:t>
            </a:r>
            <a:r>
              <a:rPr sz="1500" b="0">
                <a:solidFill>
                  <a:srgbClr val="202020"/>
                </a:solidFill>
                <a:latin typeface="Arial"/>
              </a:rPr>
              <a:t> bands.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Nearly </a:t>
            </a:r>
            <a:r>
              <a:rPr sz="1700" b="1">
                <a:solidFill>
                  <a:srgbClr val="0E2841"/>
                </a:solidFill>
                <a:latin typeface="Arial"/>
              </a:rPr>
              <a:t>1 in 5</a:t>
            </a:r>
            <a:r>
              <a:rPr sz="1700" b="0">
                <a:solidFill>
                  <a:srgbClr val="202020"/>
                </a:solidFill>
                <a:latin typeface="Arial"/>
              </a:rPr>
              <a:t> buys lands ≥ 2 bands away, too large to dismiss as noise.</a:t>
            </a:r>
          </a:p>
        </p:txBody>
      </p:sp>
      <p:pic>
        <p:nvPicPr>
          <p:cNvPr id="4" name="Picture 3" descr="discordanc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590038"/>
            <a:ext cx="4846320" cy="2717803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12165-9E5D-094E-F3AC-AB81D53FB79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…and it is a customer-level trait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2920" y="1325880"/>
            <a:ext cx="3383280" cy="3200400"/>
          </a:xfrm>
        </p:spPr>
        <p:txBody>
          <a:bodyPr wrap="square">
            <a:normAutofit fontScale="92500" lnSpcReduction="10000"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202020"/>
                </a:solidFill>
                <a:latin typeface="Arial"/>
              </a:rPr>
              <a:t>Per-customer discordant share is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bimodal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, concentrating at the extremes, not near the 18.6% mean.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dirty="0">
                <a:solidFill>
                  <a:srgbClr val="0E2841"/>
                </a:solidFill>
                <a:latin typeface="Arial"/>
              </a:rPr>
              <a:t>64.4%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of banded customers are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fully coherent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,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17.2%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are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fully discordant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dirty="0">
                <a:solidFill>
                  <a:srgbClr val="0E2841"/>
                </a:solidFill>
                <a:latin typeface="Arial"/>
              </a:rPr>
              <a:t>Hartigan's dip test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(28,770 values): D = 0.086,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p &lt; 10⁻¹⁵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</a:t>
            </a:r>
            <a:r>
              <a:rPr lang="en-SG" sz="1700" b="0" dirty="0">
                <a:solidFill>
                  <a:srgbClr val="202020"/>
                </a:solidFill>
                <a:latin typeface="Arial"/>
              </a:rPr>
              <a:t>hence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rejects unimodality.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SG" sz="1700" dirty="0">
                <a:solidFill>
                  <a:srgbClr val="202020"/>
                </a:solidFill>
              </a:rPr>
              <a:t>Implies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</a:t>
            </a:r>
            <a:r>
              <a:rPr lang="en-SG" sz="1700" b="0" dirty="0">
                <a:solidFill>
                  <a:srgbClr val="202020"/>
                </a:solidFill>
                <a:latin typeface="Arial"/>
              </a:rPr>
              <a:t>a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persistent customer-level trait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, not </a:t>
            </a:r>
            <a:r>
              <a:rPr sz="1700" b="0" dirty="0" err="1">
                <a:solidFill>
                  <a:srgbClr val="202020"/>
                </a:solidFill>
                <a:latin typeface="Arial"/>
              </a:rPr>
              <a:t>i.i.d.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noise.</a:t>
            </a:r>
          </a:p>
        </p:txBody>
      </p:sp>
      <p:pic>
        <p:nvPicPr>
          <p:cNvPr id="4" name="Picture 3" descr="self_discor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590038"/>
            <a:ext cx="4846320" cy="2717803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F36D5-EA59-F01C-EDAC-DB55070B8EF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Which customers? The U-shape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2920" y="1325880"/>
            <a:ext cx="3383280" cy="320040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Coherence by declared band is </a:t>
            </a:r>
            <a:r>
              <a:rPr sz="1700" b="1">
                <a:solidFill>
                  <a:srgbClr val="0E2841"/>
                </a:solidFill>
                <a:latin typeface="Arial"/>
              </a:rPr>
              <a:t>U-shaped</a:t>
            </a:r>
            <a:r>
              <a:rPr sz="1700" b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Centre bands ≈ 90%, extremes dip: </a:t>
            </a:r>
            <a:r>
              <a:rPr sz="1700" b="1">
                <a:solidFill>
                  <a:srgbClr val="0E2841"/>
                </a:solidFill>
                <a:latin typeface="Arial"/>
              </a:rPr>
              <a:t>Conservative 45.1%</a:t>
            </a:r>
            <a:r>
              <a:rPr sz="1700" b="0">
                <a:solidFill>
                  <a:srgbClr val="202020"/>
                </a:solidFill>
                <a:latin typeface="Arial"/>
              </a:rPr>
              <a:t>, </a:t>
            </a:r>
            <a:r>
              <a:rPr sz="1700" b="1">
                <a:solidFill>
                  <a:srgbClr val="0E2841"/>
                </a:solidFill>
                <a:latin typeface="Arial"/>
              </a:rPr>
              <a:t>Aggressive 56.2%</a:t>
            </a:r>
            <a:r>
              <a:rPr sz="1700" b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Conservative dip ≈ </a:t>
            </a:r>
            <a:r>
              <a:rPr sz="1700" b="1">
                <a:solidFill>
                  <a:srgbClr val="0E2841"/>
                </a:solidFill>
                <a:latin typeface="Arial"/>
              </a:rPr>
              <a:t>reach for yield</a:t>
            </a:r>
            <a:r>
              <a:rPr sz="1700" b="0">
                <a:solidFill>
                  <a:srgbClr val="202020"/>
                </a:solidFill>
                <a:latin typeface="Arial"/>
              </a:rPr>
              <a:t>. Aggressive dip ≈ </a:t>
            </a:r>
            <a:r>
              <a:rPr sz="1700" b="1">
                <a:solidFill>
                  <a:srgbClr val="0E2841"/>
                </a:solidFill>
                <a:latin typeface="Arial"/>
              </a:rPr>
              <a:t>pull to safety</a:t>
            </a:r>
            <a:r>
              <a:rPr sz="1700" b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Mismatch concentrates at the </a:t>
            </a:r>
            <a:r>
              <a:rPr sz="1700" b="1">
                <a:solidFill>
                  <a:srgbClr val="0E2841"/>
                </a:solidFill>
                <a:latin typeface="Arial"/>
              </a:rPr>
              <a:t>ordinal extremes</a:t>
            </a:r>
            <a:r>
              <a:rPr sz="1700" b="0">
                <a:solidFill>
                  <a:srgbClr val="202020"/>
                </a:solidFill>
                <a:latin typeface="Arial"/>
              </a:rPr>
              <a:t>.</a:t>
            </a:r>
          </a:p>
        </p:txBody>
      </p:sp>
      <p:pic>
        <p:nvPicPr>
          <p:cNvPr id="4" name="Picture 3" descr="per_band_coh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590038"/>
            <a:ext cx="4846320" cy="2717803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09D9B-BE64-951E-9D9A-1F448685DAE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Not a single-year artefact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2920" y="1325880"/>
            <a:ext cx="3383280" cy="320040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202020"/>
                </a:solidFill>
                <a:latin typeface="Arial"/>
              </a:rPr>
              <a:t>Mean discordance is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flat across 2019–2022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(within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0.02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bands)</a:t>
            </a:r>
            <a:r>
              <a:rPr lang="en-SG" sz="1700" dirty="0">
                <a:solidFill>
                  <a:srgbClr val="202020"/>
                </a:solidFill>
              </a:rPr>
              <a:t>, hence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not a single market regime.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dirty="0">
                <a:solidFill>
                  <a:srgbClr val="0E2841"/>
                </a:solidFill>
                <a:latin typeface="Arial"/>
              </a:rPr>
              <a:t>2018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is elevated at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0.98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202020"/>
                </a:solidFill>
                <a:latin typeface="Arial"/>
              </a:rPr>
              <a:t>MiFID II took force 2018-01-03, the exact start of FAR-Trans </a:t>
            </a:r>
            <a:r>
              <a:rPr lang="en-SG" sz="1700" dirty="0">
                <a:solidFill>
                  <a:srgbClr val="202020"/>
                </a:solidFill>
              </a:rPr>
              <a:t>indicates 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a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transition-effect hypothesis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(stated, not tested here).</a:t>
            </a:r>
          </a:p>
        </p:txBody>
      </p:sp>
      <p:pic>
        <p:nvPicPr>
          <p:cNvPr id="4" name="Picture 3" descr="yearly_discor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610249"/>
            <a:ext cx="4846320" cy="2677382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808E04-226E-8626-1514-1B070233C8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Does discordance cost return? Regression spec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2920" y="1325880"/>
            <a:ext cx="8138160" cy="137160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Question: do discordant buys earn </a:t>
            </a:r>
            <a:r>
              <a:rPr sz="1700" b="1">
                <a:solidFill>
                  <a:srgbClr val="0E2841"/>
                </a:solidFill>
                <a:latin typeface="Arial"/>
              </a:rPr>
              <a:t>lower</a:t>
            </a:r>
            <a:r>
              <a:rPr sz="1700" b="0">
                <a:solidFill>
                  <a:srgbClr val="202020"/>
                </a:solidFill>
                <a:latin typeface="Arial"/>
              </a:rPr>
              <a:t> returns than coherent ones?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Transaction-level </a:t>
            </a:r>
            <a:r>
              <a:rPr sz="1700" b="1">
                <a:solidFill>
                  <a:srgbClr val="0E2841"/>
                </a:solidFill>
                <a:latin typeface="Arial"/>
              </a:rPr>
              <a:t>OLS</a:t>
            </a:r>
            <a:r>
              <a:rPr sz="1700" b="0">
                <a:solidFill>
                  <a:srgbClr val="202020"/>
                </a:solidFill>
                <a:latin typeface="Arial"/>
              </a:rPr>
              <a:t> on </a:t>
            </a:r>
            <a:r>
              <a:rPr sz="1700" b="1">
                <a:solidFill>
                  <a:srgbClr val="0E2841"/>
                </a:solidFill>
                <a:latin typeface="Arial"/>
              </a:rPr>
              <a:t>208,029</a:t>
            </a:r>
            <a:r>
              <a:rPr sz="1700" b="0">
                <a:solidFill>
                  <a:srgbClr val="202020"/>
                </a:solidFill>
                <a:latin typeface="Arial"/>
              </a:rPr>
              <a:t> priced buys. </a:t>
            </a:r>
            <a:r>
              <a:rPr sz="1700" b="1">
                <a:solidFill>
                  <a:srgbClr val="0E2841"/>
                </a:solidFill>
                <a:latin typeface="Arial"/>
              </a:rPr>
              <a:t>Cluster-robust SE</a:t>
            </a:r>
            <a:r>
              <a:rPr sz="1700" b="0">
                <a:solidFill>
                  <a:srgbClr val="202020"/>
                </a:solidFill>
                <a:latin typeface="Arial"/>
              </a:rPr>
              <a:t> on Customer ID (avg 7.46 buys/customer). Two-sided Wald, α = 0.05.</a:t>
            </a:r>
          </a:p>
        </p:txBody>
      </p:sp>
      <p:pic>
        <p:nvPicPr>
          <p:cNvPr id="4" name="Picture 3" descr="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88920"/>
            <a:ext cx="8229600" cy="433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61188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Arial"/>
              </a:rPr>
              <a:t>r = (p_end − p_start)/p_start = 6-month realised return. Coherence indicator binary (d ≤ 1).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Arial"/>
              </a:rPr>
              <a:t>Prices: backward-nearest join (≤ 7-day tolerance each endpoint). Null hypothesis H₀: β₁ = 0.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1AFF36-32C6-6036-BC39-4540982FD4D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The coherence return premium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2920" y="1280160"/>
            <a:ext cx="4754880" cy="3291840"/>
          </a:xfrm>
        </p:spPr>
        <p:txBody>
          <a:bodyPr wrap="square">
            <a:normAutofit lnSpcReduction="10000"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dirty="0">
                <a:solidFill>
                  <a:srgbClr val="0E2841"/>
                </a:solidFill>
                <a:latin typeface="Arial"/>
              </a:rPr>
              <a:t>Coherent buys earn +2.94 pp higher 6-month return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than discordant, conditional on volatility, segment, year.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dirty="0">
                <a:solidFill>
                  <a:srgbClr val="0E2841"/>
                </a:solidFill>
                <a:latin typeface="Arial"/>
              </a:rPr>
              <a:t>Significance: p = 2.3×10⁻¹³</a:t>
            </a:r>
            <a:r>
              <a:rPr lang="en-SG" sz="1700" dirty="0">
                <a:solidFill>
                  <a:srgbClr val="202020"/>
                </a:solidFill>
              </a:rPr>
              <a:t>: 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reject H₀: β₁ = 0 (associational, not causal).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202020"/>
                </a:solidFill>
                <a:latin typeface="Arial"/>
              </a:rPr>
              <a:t>Controls barely move it: raw gap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+3.31 pp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(4.23% coherent vs 0.92% discordant) narrows to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+2.94 pp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conditional (controls absorb ~11%).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202020"/>
                </a:solidFill>
                <a:latin typeface="Arial"/>
              </a:rPr>
              <a:t>Volatility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−10.25 pp/unit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, year dummies all significant (2020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+21.07 pp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, 2022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−1.95 pp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),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customer-type dummies all insignificant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40680" y="1371600"/>
          <a:ext cx="324612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Term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Est.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95% CI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02020"/>
                          </a:solidFill>
                          <a:latin typeface="Arial"/>
                        </a:rPr>
                        <a:t>is_coherent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020"/>
                          </a:solidFill>
                          <a:latin typeface="Arial"/>
                        </a:rPr>
                        <a:t>+0.0294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020"/>
                          </a:solidFill>
                          <a:latin typeface="Arial"/>
                        </a:rPr>
                        <a:t>[+0.022, +0.037]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020"/>
                          </a:solidFill>
                          <a:latin typeface="Arial"/>
                        </a:rPr>
                        <a:t>2.3e-13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asset_volatility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−0.1025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[−0.135, −0.070]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5.5e-10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C(year)[2020]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+0.2107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[+0.199, +0.223]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6e-259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C(year)[2022]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−0.0195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[−0.028, −0.011]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1.4e-5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Intercept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−0.0471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[−0.075, −0.020]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8.1e-4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8E572-DC4C-E459-D6FE-BB2C5D659C0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Analytical study: takeaways &amp; limits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0936" y="1417320"/>
            <a:ext cx="7882127" cy="306324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Takeaways</a:t>
            </a:r>
            <a:r>
              <a:rPr sz="1700" b="0">
                <a:solidFill>
                  <a:srgbClr val="202020"/>
                </a:solidFill>
                <a:latin typeface="Arial"/>
              </a:rPr>
              <a:t>: discordance is: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E2841"/>
                </a:solidFill>
                <a:latin typeface="Arial"/>
              </a:rPr>
              <a:t>prevalent</a:t>
            </a:r>
            <a:r>
              <a:rPr sz="1500" b="0">
                <a:solidFill>
                  <a:srgbClr val="202020"/>
                </a:solidFill>
                <a:latin typeface="Arial"/>
              </a:rPr>
              <a:t> (≈ 1 in 5 buys ≥ 2 bands off),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Arial"/>
              </a:rPr>
              <a:t>a </a:t>
            </a:r>
            <a:r>
              <a:rPr sz="1500" b="1">
                <a:solidFill>
                  <a:srgbClr val="0E2841"/>
                </a:solidFill>
                <a:latin typeface="Arial"/>
              </a:rPr>
              <a:t>persistent customer-level trait</a:t>
            </a:r>
            <a:r>
              <a:rPr sz="1500" b="0">
                <a:solidFill>
                  <a:srgbClr val="202020"/>
                </a:solidFill>
                <a:latin typeface="Arial"/>
              </a:rPr>
              <a:t> concentrated at the extremes,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Arial"/>
              </a:rPr>
              <a:t>and carries a </a:t>
            </a:r>
            <a:r>
              <a:rPr sz="1500" b="1">
                <a:solidFill>
                  <a:srgbClr val="0E2841"/>
                </a:solidFill>
                <a:latin typeface="Arial"/>
              </a:rPr>
              <a:t>positive return premium</a:t>
            </a:r>
            <a:r>
              <a:rPr sz="1500" b="0">
                <a:solidFill>
                  <a:srgbClr val="202020"/>
                </a:solidFill>
                <a:latin typeface="Arial"/>
              </a:rPr>
              <a:t> which removes the economic objection to optimising for suitability.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Limitations: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E2841"/>
                </a:solidFill>
                <a:latin typeface="Arial"/>
              </a:rPr>
              <a:t>Observational</a:t>
            </a:r>
            <a:r>
              <a:rPr sz="1500" b="0">
                <a:solidFill>
                  <a:srgbClr val="202020"/>
                </a:solidFill>
                <a:latin typeface="Arial"/>
              </a:rPr>
              <a:t>: confounders (literacy, advisor channel, account constraints) not ruled out, 2018 transition untested.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E2841"/>
                </a:solidFill>
                <a:latin typeface="Arial"/>
              </a:rPr>
              <a:t>Asset-band heuristic</a:t>
            </a:r>
            <a:r>
              <a:rPr sz="1500" b="0">
                <a:solidFill>
                  <a:srgbClr val="202020"/>
                </a:solidFill>
                <a:latin typeface="Arial"/>
              </a:rPr>
              <a:t>: bands assigned, not externally validated. Volatility-quartile mislabels propagate into every coherence number.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68ADD-938A-D1AC-6678-4315E6BABF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b="1" dirty="0"/>
              <a:t>Methodology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SG" sz="1800" dirty="0"/>
              <a:t>Risk-based Segmentation </a:t>
            </a:r>
            <a:r>
              <a:rPr lang="en-SG" sz="1800" dirty="0" err="1"/>
              <a:t>Modeling</a:t>
            </a:r>
            <a:endParaRPr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The suitability gap of a single global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0936" y="1417320"/>
            <a:ext cx="7882127" cy="3063240"/>
          </a:xfrm>
        </p:spPr>
        <p:txBody>
          <a:bodyPr wrap="square">
            <a:normAutofit fontScale="92500"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FAR-Trans </a:t>
            </a:r>
            <a:r>
              <a:rPr sz="1700" b="1">
                <a:solidFill>
                  <a:srgbClr val="0E2841"/>
                </a:solidFill>
                <a:latin typeface="Arial"/>
              </a:rPr>
              <a:t>LightGCN baseline</a:t>
            </a:r>
            <a:r>
              <a:rPr sz="1700" b="0">
                <a:solidFill>
                  <a:srgbClr val="202020"/>
                </a:solidFill>
                <a:latin typeface="Arial"/>
              </a:rPr>
              <a:t>: one collaborative filter over a single user–item graph, per-customer/asset embeddings, scores by inner product, trains with </a:t>
            </a:r>
            <a:r>
              <a:rPr sz="1700" b="1">
                <a:solidFill>
                  <a:srgbClr val="0E2841"/>
                </a:solidFill>
                <a:latin typeface="Arial"/>
              </a:rPr>
              <a:t>BPR</a:t>
            </a:r>
            <a:r>
              <a:rPr sz="1700" b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The model </a:t>
            </a:r>
            <a:r>
              <a:rPr sz="1700" b="1">
                <a:solidFill>
                  <a:srgbClr val="0E2841"/>
                </a:solidFill>
                <a:latin typeface="Arial"/>
              </a:rPr>
              <a:t>never sees the risk band</a:t>
            </a:r>
            <a:r>
              <a:rPr sz="1700" b="0">
                <a:solidFill>
                  <a:srgbClr val="202020"/>
                </a:solidFill>
                <a:latin typeface="Arial"/>
              </a:rPr>
              <a:t>, so suitability is whatever the </a:t>
            </a:r>
            <a:r>
              <a:rPr sz="1700" b="1">
                <a:solidFill>
                  <a:srgbClr val="0E2841"/>
                </a:solidFill>
                <a:latin typeface="Arial"/>
              </a:rPr>
              <a:t>purchase graph</a:t>
            </a:r>
            <a:r>
              <a:rPr sz="1700" b="0">
                <a:solidFill>
                  <a:srgbClr val="202020"/>
                </a:solidFill>
                <a:latin typeface="Arial"/>
              </a:rPr>
              <a:t> implies.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The analytical study showed purchases are </a:t>
            </a:r>
            <a:r>
              <a:rPr sz="1700" b="1">
                <a:solidFill>
                  <a:srgbClr val="0E2841"/>
                </a:solidFill>
                <a:latin typeface="Arial"/>
              </a:rPr>
              <a:t>frequently discordant</a:t>
            </a:r>
            <a:r>
              <a:rPr sz="1700" b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So a band-agnostic model trained to reproduce them </a:t>
            </a:r>
            <a:r>
              <a:rPr sz="1700" b="1">
                <a:solidFill>
                  <a:srgbClr val="0E2841"/>
                </a:solidFill>
                <a:latin typeface="Arial"/>
              </a:rPr>
              <a:t>inherits that discordance</a:t>
            </a:r>
            <a:r>
              <a:rPr sz="1700" b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Why LightGCN as the backbone:</a:t>
            </a:r>
            <a:r>
              <a:rPr sz="1700" b="0">
                <a:solidFill>
                  <a:srgbClr val="202020"/>
                </a:solidFill>
                <a:latin typeface="Arial"/>
              </a:rPr>
              <a:t> a differentiable loss + per-customer embeddings let us condition on the band and attach a coherence margin. Random Forest carries no customer-level signal to segment, so not extended.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CD30C-9E94-9CE4-E1BA-64048CAF9B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Risk-based segmentation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2057400"/>
            <a:ext cx="1371600" cy="91440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FAR-Trans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40280" y="2194560"/>
            <a:ext cx="1325880" cy="640080"/>
          </a:xfrm>
          <a:prstGeom prst="round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Risk-band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router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417320"/>
            <a:ext cx="2148840" cy="457200"/>
          </a:xfrm>
          <a:prstGeom prst="roundRect">
            <a:avLst/>
          </a:prstGeom>
          <a:solidFill>
            <a:srgbClr val="E9EFF3"/>
          </a:solidFill>
          <a:ln w="22225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0E2841"/>
                </a:solidFill>
                <a:latin typeface="Arial"/>
              </a:rPr>
              <a:t>Conservative sub-model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975104"/>
            <a:ext cx="2148840" cy="457200"/>
          </a:xfrm>
          <a:prstGeom prst="roundRect">
            <a:avLst/>
          </a:prstGeom>
          <a:solidFill>
            <a:srgbClr val="E9EFF3"/>
          </a:solidFill>
          <a:ln w="22225">
            <a:solidFill>
              <a:srgbClr val="2C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0E2841"/>
                </a:solidFill>
                <a:latin typeface="Arial"/>
              </a:rPr>
              <a:t>Income sub-model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2532888"/>
            <a:ext cx="2148840" cy="457200"/>
          </a:xfrm>
          <a:prstGeom prst="roundRect">
            <a:avLst/>
          </a:prstGeom>
          <a:solidFill>
            <a:srgbClr val="E9EFF3"/>
          </a:solidFill>
          <a:ln w="22225">
            <a:solidFill>
              <a:srgbClr val="FF7F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0E2841"/>
                </a:solidFill>
                <a:latin typeface="Arial"/>
              </a:rPr>
              <a:t>Balanced sub-model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3090672"/>
            <a:ext cx="2148840" cy="457200"/>
          </a:xfrm>
          <a:prstGeom prst="roundRect">
            <a:avLst/>
          </a:prstGeom>
          <a:solidFill>
            <a:srgbClr val="E9EFF3"/>
          </a:solidFill>
          <a:ln w="22225">
            <a:solidFill>
              <a:srgbClr val="D6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0E2841"/>
                </a:solidFill>
                <a:latin typeface="Arial"/>
              </a:rPr>
              <a:t>Aggressive sub-model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1874519"/>
            <a:ext cx="1920240" cy="1280160"/>
          </a:xfrm>
          <a:prstGeom prst="roundRect">
            <a:avLst/>
          </a:prstGeom>
          <a:solidFill>
            <a:srgbClr val="EFF3F6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0E2841"/>
                </a:solidFill>
                <a:latin typeface="Arial"/>
              </a:rPr>
              <a:t>Evaluate on 3 axes</a:t>
            </a:r>
          </a:p>
          <a:p>
            <a:pPr algn="ctr"/>
            <a:r>
              <a:rPr sz="1000" b="1">
                <a:solidFill>
                  <a:srgbClr val="0E2841"/>
                </a:solidFill>
                <a:latin typeface="Arial"/>
              </a:rPr>
              <a:t>Return (ROI) · Accuracy (nDCG)</a:t>
            </a:r>
          </a:p>
          <a:p>
            <a:pPr algn="ctr"/>
            <a:r>
              <a:rPr sz="1000" b="1">
                <a:solidFill>
                  <a:srgbClr val="0E2841"/>
                </a:solidFill>
                <a:latin typeface="Arial"/>
              </a:rPr>
              <a:t>Risk suitability (PC)</a:t>
            </a:r>
          </a:p>
          <a:p>
            <a:pPr algn="ctr"/>
            <a:r>
              <a:rPr sz="1000" b="1">
                <a:solidFill>
                  <a:srgbClr val="0E2841"/>
                </a:solidFill>
                <a:latin typeface="Arial"/>
              </a:rPr>
              <a:t>+ harmonic Balance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83080" y="2514600"/>
            <a:ext cx="457200" cy="0"/>
          </a:xfrm>
          <a:prstGeom prst="line">
            <a:avLst/>
          </a:prstGeom>
          <a:ln w="15875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566160" y="1645920"/>
            <a:ext cx="594360" cy="868680"/>
          </a:xfrm>
          <a:prstGeom prst="line">
            <a:avLst/>
          </a:prstGeom>
          <a:ln w="1397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566160" y="2203704"/>
            <a:ext cx="594360" cy="310896"/>
          </a:xfrm>
          <a:prstGeom prst="line">
            <a:avLst/>
          </a:prstGeom>
          <a:ln w="1397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566160" y="2514600"/>
            <a:ext cx="594360" cy="246888"/>
          </a:xfrm>
          <a:prstGeom prst="line">
            <a:avLst/>
          </a:prstGeom>
          <a:ln w="1397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566160" y="2514600"/>
            <a:ext cx="594360" cy="804672"/>
          </a:xfrm>
          <a:prstGeom prst="line">
            <a:avLst/>
          </a:prstGeom>
          <a:ln w="1397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09360" y="1645920"/>
            <a:ext cx="502920" cy="868680"/>
          </a:xfrm>
          <a:prstGeom prst="line">
            <a:avLst/>
          </a:prstGeom>
          <a:ln w="1397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309360" y="2203704"/>
            <a:ext cx="502920" cy="310896"/>
          </a:xfrm>
          <a:prstGeom prst="line">
            <a:avLst/>
          </a:prstGeom>
          <a:ln w="1397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309360" y="2514600"/>
            <a:ext cx="502920" cy="246888"/>
          </a:xfrm>
          <a:prstGeom prst="line">
            <a:avLst/>
          </a:prstGeom>
          <a:ln w="1397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309360" y="2514600"/>
            <a:ext cx="502920" cy="804672"/>
          </a:xfrm>
          <a:prstGeom prst="line">
            <a:avLst/>
          </a:prstGeom>
          <a:ln w="1397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965960" y="1371600"/>
            <a:ext cx="182880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71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50" b="1">
                <a:solidFill>
                  <a:srgbClr val="E97132"/>
                </a:solidFill>
                <a:latin typeface="Arial"/>
              </a:rPr>
              <a:t>Approach 2 (data lever):</a:t>
            </a:r>
          </a:p>
          <a:p>
            <a:pPr algn="ctr"/>
            <a:r>
              <a:rPr sz="950" b="1">
                <a:solidFill>
                  <a:srgbClr val="E97132"/>
                </a:solidFill>
                <a:latin typeface="Arial"/>
              </a:rPr>
              <a:t>regroup to revealed band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80360" y="1938528"/>
            <a:ext cx="0" cy="256032"/>
          </a:xfrm>
          <a:prstGeom prst="line">
            <a:avLst/>
          </a:prstGeom>
          <a:ln w="15875">
            <a:solidFill>
              <a:srgbClr val="E971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023360" y="3703320"/>
            <a:ext cx="237744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6B2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50" b="1">
                <a:solidFill>
                  <a:srgbClr val="196B24"/>
                </a:solidFill>
                <a:latin typeface="Arial"/>
              </a:rPr>
              <a:t>Approach 1 (model lever):</a:t>
            </a:r>
          </a:p>
          <a:p>
            <a:pPr algn="ctr"/>
            <a:r>
              <a:rPr sz="950" b="1">
                <a:solidFill>
                  <a:srgbClr val="196B24"/>
                </a:solidFill>
                <a:latin typeface="Arial"/>
              </a:rPr>
              <a:t>coherence margin loss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5212080" y="3547872"/>
            <a:ext cx="0" cy="155448"/>
          </a:xfrm>
          <a:prstGeom prst="line">
            <a:avLst/>
          </a:prstGeom>
          <a:ln w="15875">
            <a:solidFill>
              <a:srgbClr val="196B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434340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Arial"/>
              </a:rPr>
              <a:t>Partition customers by declared band, then train </a:t>
            </a:r>
            <a:r>
              <a:rPr sz="1200" b="1">
                <a:solidFill>
                  <a:srgbClr val="5A5A5A"/>
                </a:solidFill>
                <a:latin typeface="Arial"/>
              </a:rPr>
              <a:t>one LightGCN sub-model per band</a:t>
            </a:r>
            <a:r>
              <a:rPr sz="1200" b="0">
                <a:solidFill>
                  <a:srgbClr val="5A5A5A"/>
                </a:solidFill>
                <a:latin typeface="Arial"/>
              </a:rPr>
              <a:t>. A band router serves each customer. No-band customers fall back to Balanced at inference.</a:t>
            </a:r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4CAA58E4-F916-C23C-929B-DF96DC402B5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Approach 1 (model lever): coherence margin loss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2920" y="1325880"/>
            <a:ext cx="8138160" cy="100584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On top of BPR, draw one </a:t>
            </a:r>
            <a:r>
              <a:rPr sz="1700" b="1">
                <a:solidFill>
                  <a:srgbClr val="0E2841"/>
                </a:solidFill>
                <a:latin typeface="Arial"/>
              </a:rPr>
              <a:t>coherent</a:t>
            </a:r>
            <a:r>
              <a:rPr sz="1700" b="0">
                <a:solidFill>
                  <a:srgbClr val="202020"/>
                </a:solidFill>
                <a:latin typeface="Arial"/>
              </a:rPr>
              <a:t> asset i_c (d ≤ 1) and one </a:t>
            </a:r>
            <a:r>
              <a:rPr sz="1700" b="1">
                <a:solidFill>
                  <a:srgbClr val="0E2841"/>
                </a:solidFill>
                <a:latin typeface="Arial"/>
              </a:rPr>
              <a:t>discordant</a:t>
            </a:r>
            <a:r>
              <a:rPr sz="1700" b="0">
                <a:solidFill>
                  <a:srgbClr val="202020"/>
                </a:solidFill>
                <a:latin typeface="Arial"/>
              </a:rPr>
              <a:t> i_d (d &gt; 1) from the sub-model's universe, and push the coherent score above the discordant one:</a:t>
            </a:r>
          </a:p>
        </p:txBody>
      </p:sp>
      <p:pic>
        <p:nvPicPr>
          <p:cNvPr id="4" name="Picture 3" descr="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8229600" cy="4269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971800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02020"/>
                </a:solidFill>
                <a:latin typeface="Arial"/>
              </a:rPr>
              <a:t>Total objective adds the term to BPR with weight λ ≥ 0:</a:t>
            </a:r>
          </a:p>
        </p:txBody>
      </p:sp>
      <p:pic>
        <p:nvPicPr>
          <p:cNvPr id="6" name="Picture 5" descr="obje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429000"/>
            <a:ext cx="5943600" cy="7346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25196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Arial"/>
              </a:rPr>
              <a:t>λ = 0 recovers plain segmentation. λ &gt; 0 steers scores toward coherent assets. Softplus is differentiable and matches BPR's form.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F56F9CF-F6B0-7BD7-0EA7-E810F9FA474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Approach 2 (data lever): regrouping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0936" y="1417320"/>
            <a:ext cx="7882127" cy="306324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Fix the label </a:t>
            </a:r>
            <a:r>
              <a:rPr sz="1700" b="1">
                <a:solidFill>
                  <a:srgbClr val="0E2841"/>
                </a:solidFill>
                <a:latin typeface="Arial"/>
              </a:rPr>
              <a:t>at its source</a:t>
            </a:r>
            <a:r>
              <a:rPr sz="1700" b="0">
                <a:solidFill>
                  <a:srgbClr val="202020"/>
                </a:solidFill>
                <a:latin typeface="Arial"/>
              </a:rPr>
              <a:t>: before training, reassign each banded customer to the band </a:t>
            </a:r>
            <a:r>
              <a:rPr sz="1700" b="1">
                <a:solidFill>
                  <a:srgbClr val="0E2841"/>
                </a:solidFill>
                <a:latin typeface="Arial"/>
              </a:rPr>
              <a:t>implied by their purchases</a:t>
            </a:r>
            <a:r>
              <a:rPr sz="1700" b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Revealed band</a:t>
            </a:r>
            <a:r>
              <a:rPr sz="1700" b="0">
                <a:solidFill>
                  <a:srgbClr val="202020"/>
                </a:solidFill>
                <a:latin typeface="Arial"/>
              </a:rPr>
              <a:t> = the </a:t>
            </a:r>
            <a:r>
              <a:rPr sz="1700" b="1">
                <a:solidFill>
                  <a:srgbClr val="0E2841"/>
                </a:solidFill>
                <a:latin typeface="Arial"/>
              </a:rPr>
              <a:t>lower median</a:t>
            </a:r>
            <a:r>
              <a:rPr sz="1700" b="0">
                <a:solidFill>
                  <a:srgbClr val="202020"/>
                </a:solidFill>
                <a:latin typeface="Arial"/>
              </a:rPr>
              <a:t> of the risk classes of the assets they bought (even-count ties resolve to the more conservative band).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Segmentation then routes/trains on these </a:t>
            </a:r>
            <a:r>
              <a:rPr sz="1700" b="1">
                <a:solidFill>
                  <a:srgbClr val="0E2841"/>
                </a:solidFill>
                <a:latin typeface="Arial"/>
              </a:rPr>
              <a:t>regrouped</a:t>
            </a:r>
            <a:r>
              <a:rPr sz="1700" b="0">
                <a:solidFill>
                  <a:srgbClr val="202020"/>
                </a:solidFill>
                <a:latin typeface="Arial"/>
              </a:rPr>
              <a:t> bands.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So the data is made </a:t>
            </a:r>
            <a:r>
              <a:rPr sz="1700" b="1">
                <a:solidFill>
                  <a:srgbClr val="0E2841"/>
                </a:solidFill>
                <a:latin typeface="Arial"/>
              </a:rPr>
              <a:t>coherent in the first place</a:t>
            </a:r>
            <a:r>
              <a:rPr sz="1700" b="0">
                <a:solidFill>
                  <a:srgbClr val="202020"/>
                </a:solidFill>
                <a:latin typeface="Arial"/>
              </a:rPr>
              <a:t>, rather than penalising incoherence during training.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1F264-B429-CD1B-0675-C347683E3D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Two exclusive levers, contrasted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0936" y="1417320"/>
            <a:ext cx="7882127" cy="306324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Both start from the same segmentation. They are </a:t>
            </a:r>
            <a:r>
              <a:rPr sz="1700" b="1">
                <a:solidFill>
                  <a:srgbClr val="0E2841"/>
                </a:solidFill>
                <a:latin typeface="Arial"/>
              </a:rPr>
              <a:t>mutually exclusive</a:t>
            </a:r>
            <a:r>
              <a:rPr sz="1700" b="0">
                <a:solidFill>
                  <a:srgbClr val="202020"/>
                </a:solidFill>
                <a:latin typeface="Arial"/>
              </a:rPr>
              <a:t> operating points.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Model lever (margin):</a:t>
            </a:r>
            <a:r>
              <a:rPr sz="1700" b="0">
                <a:solidFill>
                  <a:srgbClr val="202020"/>
                </a:solidFill>
                <a:latin typeface="Arial"/>
              </a:rPr>
              <a:t> steer the model, declared bands kept, adds a training penalty.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Data lever (regroup):</a:t>
            </a:r>
            <a:r>
              <a:rPr sz="1700" b="0">
                <a:solidFill>
                  <a:srgbClr val="202020"/>
                </a:solidFill>
                <a:latin typeface="Arial"/>
              </a:rPr>
              <a:t> correct the data, bands replaced by revealed bands, standard BPR objective.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The question the experiments answer: </a:t>
            </a:r>
            <a:r>
              <a:rPr sz="1700" b="1">
                <a:solidFill>
                  <a:srgbClr val="0E2841"/>
                </a:solidFill>
                <a:latin typeface="Arial"/>
              </a:rPr>
              <a:t>where is suitability best enforced, in the model, or in the data?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044ED-B35A-A365-05C5-F3839D9764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b="1" dirty="0"/>
              <a:t>Experimental Setup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1800" dirty="0"/>
              <a:t>Data preparation and Evaluation metrics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Temporal split protocol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0936" y="1417320"/>
            <a:ext cx="7882127" cy="306324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69 temporal splits</a:t>
            </a:r>
            <a:r>
              <a:rPr sz="1700" b="0">
                <a:solidFill>
                  <a:srgbClr val="202020"/>
                </a:solidFill>
                <a:latin typeface="Arial"/>
              </a:rPr>
              <a:t>, ~biweekly split points on an evenly spaced trading-day grid: </a:t>
            </a:r>
            <a:r>
              <a:rPr sz="1700" b="1">
                <a:solidFill>
                  <a:srgbClr val="0E2841"/>
                </a:solidFill>
                <a:latin typeface="Arial"/>
              </a:rPr>
              <a:t>Aug 2019 to Dec 2021</a:t>
            </a:r>
            <a:r>
              <a:rPr sz="1700" b="0">
                <a:solidFill>
                  <a:srgbClr val="202020"/>
                </a:solidFill>
                <a:latin typeface="Arial"/>
              </a:rPr>
              <a:t>. Per-split test windows extend coverage to </a:t>
            </a:r>
            <a:r>
              <a:rPr sz="1700" b="1">
                <a:solidFill>
                  <a:srgbClr val="0E2841"/>
                </a:solidFill>
                <a:latin typeface="Arial"/>
              </a:rPr>
              <a:t>May 2022</a:t>
            </a:r>
            <a:r>
              <a:rPr sz="1700" b="0">
                <a:solidFill>
                  <a:srgbClr val="202020"/>
                </a:solidFill>
                <a:latin typeface="Arial"/>
              </a:rPr>
              <a:t>. Cadence follows the FAR-Trans benchmark.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Per split: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E2841"/>
                </a:solidFill>
                <a:latin typeface="Arial"/>
              </a:rPr>
              <a:t>Train</a:t>
            </a:r>
            <a:r>
              <a:rPr sz="1500" b="0">
                <a:solidFill>
                  <a:srgbClr val="202020"/>
                </a:solidFill>
                <a:latin typeface="Arial"/>
              </a:rPr>
              <a:t> = all buys up to the split point.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E2841"/>
                </a:solidFill>
                <a:latin typeface="Arial"/>
              </a:rPr>
              <a:t>Test</a:t>
            </a:r>
            <a:r>
              <a:rPr sz="1500" b="0">
                <a:solidFill>
                  <a:srgbClr val="202020"/>
                </a:solidFill>
                <a:latin typeface="Arial"/>
              </a:rPr>
              <a:t> = buys from split point to test-window end, deduplicated vs train, filtered to the training-asset universe.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Eligible customers</a:t>
            </a:r>
            <a:r>
              <a:rPr sz="1700" b="0">
                <a:solidFill>
                  <a:srgbClr val="202020"/>
                </a:solidFill>
                <a:latin typeface="Arial"/>
              </a:rPr>
              <a:t>: ≥ 1 interaction in both train and test. </a:t>
            </a:r>
            <a:r>
              <a:rPr sz="1700" b="1">
                <a:solidFill>
                  <a:srgbClr val="0E2841"/>
                </a:solidFill>
                <a:latin typeface="Arial"/>
              </a:rPr>
              <a:t>Eligible assets</a:t>
            </a:r>
            <a:r>
              <a:rPr sz="1700" b="0">
                <a:solidFill>
                  <a:srgbClr val="202020"/>
                </a:solidFill>
                <a:latin typeface="Arial"/>
              </a:rPr>
              <a:t>: priced on both endpoints.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5A862-5934-C007-2D7F-59BD01DEF41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Metrics: return &amp; accuracy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0936" y="1417320"/>
            <a:ext cx="7882127" cy="306324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ROI@10 (return).</a:t>
            </a:r>
            <a:r>
              <a:rPr sz="1700" b="0">
                <a:solidFill>
                  <a:srgbClr val="202020"/>
                </a:solidFill>
                <a:latin typeface="Arial"/>
              </a:rPr>
              <a:t> Holding-period return of each recommended asset from the split-point close to the test-window-end close, converted to a per-month </a:t>
            </a:r>
            <a:r>
              <a:rPr sz="1700" b="1">
                <a:solidFill>
                  <a:srgbClr val="0E2841"/>
                </a:solidFill>
                <a:latin typeface="Arial"/>
              </a:rPr>
              <a:t>geometric</a:t>
            </a:r>
            <a:r>
              <a:rPr sz="1700" b="0">
                <a:solidFill>
                  <a:srgbClr val="202020"/>
                </a:solidFill>
                <a:latin typeface="Arial"/>
              </a:rPr>
              <a:t> rate, then averaged over the 10 assets, then over customers. Reported </a:t>
            </a:r>
            <a:r>
              <a:rPr sz="1700" b="1">
                <a:solidFill>
                  <a:srgbClr val="0E2841"/>
                </a:solidFill>
                <a:latin typeface="Arial"/>
              </a:rPr>
              <a:t>per month</a:t>
            </a:r>
            <a:r>
              <a:rPr sz="1700" b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nDCG@10 (accuracy).</a:t>
            </a:r>
            <a:r>
              <a:rPr sz="1700" b="0">
                <a:solidFill>
                  <a:srgbClr val="202020"/>
                </a:solidFill>
                <a:latin typeface="Arial"/>
              </a:rPr>
              <a:t> Rank-discounted hit rate of the held-out test buys within the top-10, normalised by the ideal ordering and averaged over customers.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These are the </a:t>
            </a:r>
            <a:r>
              <a:rPr sz="1700" b="1">
                <a:solidFill>
                  <a:srgbClr val="0E2841"/>
                </a:solidFill>
                <a:latin typeface="Arial"/>
              </a:rPr>
              <a:t>two original FAR-Trans axes</a:t>
            </a:r>
            <a:r>
              <a:rPr sz="1700" b="0">
                <a:solidFill>
                  <a:srgbClr val="202020"/>
                </a:solidFill>
                <a:latin typeface="Arial"/>
              </a:rPr>
              <a:t>, the suitability axis is what we add next.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C6582-BC21-A0FC-EDC8-00CF70BE0D8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Metrics: risk suitability + PC-lift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2920" y="1325880"/>
            <a:ext cx="8138160" cy="118872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PC@10</a:t>
            </a:r>
            <a:r>
              <a:rPr sz="1700" b="0">
                <a:solidFill>
                  <a:srgbClr val="202020"/>
                </a:solidFill>
                <a:latin typeface="Arial"/>
              </a:rPr>
              <a:t> as defined in the analytical study.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To compare </a:t>
            </a:r>
            <a:r>
              <a:rPr sz="1700" b="1">
                <a:solidFill>
                  <a:srgbClr val="0E2841"/>
                </a:solidFill>
                <a:latin typeface="Arial"/>
              </a:rPr>
              <a:t>across bands</a:t>
            </a:r>
            <a:r>
              <a:rPr sz="1700" b="0">
                <a:solidFill>
                  <a:srgbClr val="202020"/>
                </a:solidFill>
                <a:latin typeface="Arial"/>
              </a:rPr>
              <a:t>, normalise by a band-conditional </a:t>
            </a:r>
            <a:r>
              <a:rPr sz="1700" b="1">
                <a:solidFill>
                  <a:srgbClr val="0E2841"/>
                </a:solidFill>
                <a:latin typeface="Arial"/>
              </a:rPr>
              <a:t>random baseline</a:t>
            </a:r>
            <a:r>
              <a:rPr sz="1700" b="0">
                <a:solidFill>
                  <a:srgbClr val="202020"/>
                </a:solidFill>
                <a:latin typeface="Arial"/>
              </a:rPr>
              <a:t> (closed form):</a:t>
            </a:r>
          </a:p>
        </p:txBody>
      </p:sp>
      <p:pic>
        <p:nvPicPr>
          <p:cNvPr id="4" name="Picture 3" descr="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0"/>
            <a:ext cx="8046720" cy="798965"/>
          </a:xfrm>
          <a:prstGeom prst="rect">
            <a:avLst/>
          </a:prstGeom>
        </p:spPr>
      </p:pic>
      <p:pic>
        <p:nvPicPr>
          <p:cNvPr id="5" name="Picture 4" descr="pcl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429000"/>
            <a:ext cx="6400800" cy="7032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20624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Arial"/>
              </a:rPr>
              <a:t>77.9% of assets sit in Conservative/Income/Balanced, so “recommend Income to everyone” scores high on raw PC. Dividing by π removes the easy-band advantage.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73EF22-AD8B-1430-2781-EA9B76A9E4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The harmonic balance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2920" y="1325880"/>
            <a:ext cx="8138160" cy="91440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nDCG@10 and PC@10 are already in [0,1]. </a:t>
            </a:r>
            <a:r>
              <a:rPr sz="1700" b="1">
                <a:solidFill>
                  <a:srgbClr val="0E2841"/>
                </a:solidFill>
                <a:latin typeface="Arial"/>
              </a:rPr>
              <a:t>ROI can be negative</a:t>
            </a:r>
            <a:r>
              <a:rPr sz="1700" b="0">
                <a:solidFill>
                  <a:srgbClr val="202020"/>
                </a:solidFill>
                <a:latin typeface="Arial"/>
              </a:rPr>
              <a:t>, so we apply a logistic squash (flat at 0.5, scale = 1 pp/month):</a:t>
            </a:r>
          </a:p>
        </p:txBody>
      </p:sp>
      <p:pic>
        <p:nvPicPr>
          <p:cNvPr id="4" name="Picture 3" descr="roipr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240280"/>
            <a:ext cx="5029200" cy="7031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971800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02020"/>
                </a:solidFill>
                <a:latin typeface="Arial"/>
              </a:rPr>
              <a:t>Balance = harmonic mean of the three axes:</a:t>
            </a:r>
          </a:p>
        </p:txBody>
      </p:sp>
      <p:pic>
        <p:nvPicPr>
          <p:cNvPr id="6" name="Picture 5" descr="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383280"/>
            <a:ext cx="6858000" cy="7123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29768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Arial"/>
              </a:rPr>
              <a:t>High only when return, accuracy, and suitability are strong together. Collapses if any one is sacrificed.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F01D16-403E-0A75-5F6E-3826B98BE6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Configurations &amp; hyperparameter grids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2920" y="1280160"/>
            <a:ext cx="4892040" cy="329184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Four configurations on the same 69 splits, each on all three axes + balance: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E2841"/>
                </a:solidFill>
                <a:latin typeface="Arial"/>
              </a:rPr>
              <a:t>Baseline</a:t>
            </a:r>
            <a:r>
              <a:rPr sz="1500" b="0">
                <a:solidFill>
                  <a:srgbClr val="202020"/>
                </a:solidFill>
                <a:latin typeface="Arial"/>
              </a:rPr>
              <a:t> (LightGCN best trial, RF for per-axis reference).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E2841"/>
                </a:solidFill>
                <a:latin typeface="Arial"/>
              </a:rPr>
              <a:t>Segmentation</a:t>
            </a:r>
            <a:r>
              <a:rPr sz="1500" b="0">
                <a:solidFill>
                  <a:srgbClr val="202020"/>
                </a:solidFill>
                <a:latin typeface="Arial"/>
              </a:rPr>
              <a:t> (no margin): isolates the architecture.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E2841"/>
                </a:solidFill>
                <a:latin typeface="Arial"/>
              </a:rPr>
              <a:t>Model lever</a:t>
            </a:r>
            <a:r>
              <a:rPr sz="1500" b="0">
                <a:solidFill>
                  <a:srgbClr val="202020"/>
                </a:solidFill>
                <a:latin typeface="Arial"/>
              </a:rPr>
              <a:t> (segmentation + margin loss).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E2841"/>
                </a:solidFill>
                <a:latin typeface="Arial"/>
              </a:rPr>
              <a:t>Data lever</a:t>
            </a:r>
            <a:r>
              <a:rPr sz="1500" b="0">
                <a:solidFill>
                  <a:srgbClr val="202020"/>
                </a:solidFill>
                <a:latin typeface="Arial"/>
              </a:rPr>
              <a:t> (segmentation on regrouped bands).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All segmented configs inherit the best LightGCN backbone, same BPR + edge-dropout.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0" y="1371600"/>
          <a:ext cx="320040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Param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Search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Best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LightGCN: tuned on nDCG@10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embedding_dim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{64, 128}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num_layers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{2, 3}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learning_rate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{1e-2, 1e-3}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1e-3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Random Forest: tuned on ROI@10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num_estimators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{20,30,40,50}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max_depth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{15, 25, 50}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9EEDC-5E6D-A553-E028-04B81E7FB38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b="1" dirty="0"/>
              <a:t>Result</a:t>
            </a:r>
            <a:r>
              <a:rPr lang="en-SG" b="1" dirty="0"/>
              <a:t>s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1800" dirty="0"/>
              <a:t>Findings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Aggregate results: mean over 69 splits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2920" y="1234440"/>
            <a:ext cx="8138160" cy="73152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Only one intervention beats the LightGCN baseline overall: </a:t>
            </a:r>
            <a:r>
              <a:rPr sz="1700" b="1">
                <a:solidFill>
                  <a:srgbClr val="0E2841"/>
                </a:solidFill>
                <a:latin typeface="Arial"/>
              </a:rPr>
              <a:t>regrouping the data</a:t>
            </a:r>
            <a:r>
              <a:rPr sz="1700" b="0">
                <a:solidFill>
                  <a:srgbClr val="202020"/>
                </a:solidFill>
                <a:latin typeface="Arial"/>
              </a:rPr>
              <a:t> (highest balance, </a:t>
            </a:r>
            <a:r>
              <a:rPr sz="1700" b="1">
                <a:solidFill>
                  <a:srgbClr val="0E2841"/>
                </a:solidFill>
                <a:latin typeface="Arial"/>
              </a:rPr>
              <a:t>0.452</a:t>
            </a:r>
            <a:r>
              <a:rPr sz="1700" b="0">
                <a:solidFill>
                  <a:srgbClr val="202020"/>
                </a:solidFill>
                <a:latin typeface="Arial"/>
              </a:rPr>
              <a:t>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2057400"/>
          <a:ext cx="8138160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Configuration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nDCG@10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ROI@10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PC@10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Balance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PC-lift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Random Forest baseline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0.019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+0.014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0.667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0.054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1.06×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LightGCN baseline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0.330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−0.005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0.794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0.428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1.17×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Segmentation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0.332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−0.007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0.821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0.411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1.19×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+ margin (model lever)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0.309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−0.007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0.918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0.407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1.40×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02020"/>
                          </a:solidFill>
                          <a:latin typeface="Arial"/>
                        </a:rPr>
                        <a:t>+ regrouping (data lever)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02020"/>
                          </a:solidFill>
                          <a:latin typeface="Arial"/>
                        </a:rPr>
                        <a:t>0.352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02020"/>
                          </a:solidFill>
                          <a:latin typeface="Arial"/>
                        </a:rPr>
                        <a:t>−0.006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02020"/>
                          </a:solidFill>
                          <a:latin typeface="Arial"/>
                        </a:rPr>
                        <a:t>0.949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02020"/>
                          </a:solidFill>
                          <a:latin typeface="Arial"/>
                        </a:rPr>
                        <a:t>0.452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02020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+ regrouping + margin (combined)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0.333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−0.005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0.982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0.444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D68F2-B7C2-2183-55CD-90754672459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Baseline audit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0936" y="1417320"/>
            <a:ext cx="7882127" cy="306324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The two baselines sit at </a:t>
            </a:r>
            <a:r>
              <a:rPr sz="1700" b="1">
                <a:solidFill>
                  <a:srgbClr val="0E2841"/>
                </a:solidFill>
                <a:latin typeface="Arial"/>
              </a:rPr>
              <a:t>opposite corners</a:t>
            </a:r>
            <a:r>
              <a:rPr sz="1700" b="0">
                <a:solidFill>
                  <a:srgbClr val="202020"/>
                </a:solidFill>
                <a:latin typeface="Arial"/>
              </a:rPr>
              <a:t> of the return–accuracy tradeoff, </a:t>
            </a:r>
            <a:r>
              <a:rPr sz="1700" b="1">
                <a:solidFill>
                  <a:srgbClr val="0E2841"/>
                </a:solidFill>
                <a:latin typeface="Arial"/>
              </a:rPr>
              <a:t>neither balances</a:t>
            </a:r>
            <a:r>
              <a:rPr sz="1700" b="0">
                <a:solidFill>
                  <a:srgbClr val="202020"/>
                </a:solidFill>
                <a:latin typeface="Arial"/>
              </a:rPr>
              <a:t> the three: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E2841"/>
                </a:solidFill>
                <a:latin typeface="Arial"/>
              </a:rPr>
              <a:t>Random Forest</a:t>
            </a:r>
            <a:r>
              <a:rPr sz="1500" b="0">
                <a:solidFill>
                  <a:srgbClr val="202020"/>
                </a:solidFill>
                <a:latin typeface="Arial"/>
              </a:rPr>
              <a:t> wins return (+1.4%/mo) but ranks near-random (nDCG 0.019), so balance collapses to </a:t>
            </a:r>
            <a:r>
              <a:rPr sz="1500" b="1">
                <a:solidFill>
                  <a:srgbClr val="0E2841"/>
                </a:solidFill>
                <a:latin typeface="Arial"/>
              </a:rPr>
              <a:t>0.054</a:t>
            </a:r>
            <a:r>
              <a:rPr sz="1500" b="0">
                <a:solidFill>
                  <a:srgbClr val="202020"/>
                </a:solidFill>
                <a:latin typeface="Arial"/>
              </a:rPr>
              <a:t>.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E2841"/>
                </a:solidFill>
                <a:latin typeface="Arial"/>
              </a:rPr>
              <a:t>LightGCN</a:t>
            </a:r>
            <a:r>
              <a:rPr sz="1500" b="0">
                <a:solidFill>
                  <a:srgbClr val="202020"/>
                </a:solidFill>
                <a:latin typeface="Arial"/>
              </a:rPr>
              <a:t> wins ranking (nDCG 0.330, PC 0.794) but slightly negative ROI, giving balance </a:t>
            </a:r>
            <a:r>
              <a:rPr sz="1500" b="1">
                <a:solidFill>
                  <a:srgbClr val="0E2841"/>
                </a:solidFill>
                <a:latin typeface="Arial"/>
              </a:rPr>
              <a:t>0.428</a:t>
            </a:r>
            <a:r>
              <a:rPr sz="1500" b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Aggregate PC looks adequate (1.17× / 1.06× lift) but it </a:t>
            </a:r>
            <a:r>
              <a:rPr sz="1700" b="1">
                <a:solidFill>
                  <a:srgbClr val="0E2841"/>
                </a:solidFill>
                <a:latin typeface="Arial"/>
              </a:rPr>
              <a:t>averages over bands</a:t>
            </a:r>
            <a:r>
              <a:rPr sz="1700" b="0">
                <a:solidFill>
                  <a:srgbClr val="202020"/>
                </a:solidFill>
                <a:latin typeface="Arial"/>
              </a:rPr>
              <a:t> whose random baselines π span 0.35–0.78, it hides </a:t>
            </a:r>
            <a:r>
              <a:rPr sz="1700" b="1">
                <a:solidFill>
                  <a:srgbClr val="0E2841"/>
                </a:solidFill>
                <a:latin typeface="Arial"/>
              </a:rPr>
              <a:t>which</a:t>
            </a:r>
            <a:r>
              <a:rPr sz="1700" b="0">
                <a:solidFill>
                  <a:srgbClr val="202020"/>
                </a:solidFill>
                <a:latin typeface="Arial"/>
              </a:rPr>
              <a:t> bands are served.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26FC6-CB41-A355-599E-9429964BBB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Per-band audit: PC-lift@10 (= PC@10 / π(b))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2920" y="1234440"/>
            <a:ext cx="8138160" cy="91440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Both baselines' lift </a:t>
            </a:r>
            <a:r>
              <a:rPr sz="1700" b="1">
                <a:solidFill>
                  <a:srgbClr val="0E2841"/>
                </a:solidFill>
                <a:latin typeface="Arial"/>
              </a:rPr>
              <a:t>rises monotonically</a:t>
            </a:r>
            <a:r>
              <a:rPr sz="1700" b="0">
                <a:solidFill>
                  <a:srgbClr val="202020"/>
                </a:solidFill>
                <a:latin typeface="Arial"/>
              </a:rPr>
              <a:t> with the band and </a:t>
            </a:r>
            <a:r>
              <a:rPr sz="1700" b="1">
                <a:solidFill>
                  <a:srgbClr val="0E2841"/>
                </a:solidFill>
                <a:latin typeface="Arial"/>
              </a:rPr>
              <a:t>under-serve Conservative</a:t>
            </a:r>
            <a:r>
              <a:rPr sz="1700" b="0">
                <a:solidFill>
                  <a:srgbClr val="202020"/>
                </a:solidFill>
                <a:latin typeface="Arial"/>
              </a:rPr>
              <a:t> (below random), RF also under-serves Income. Aggressive's high lift is partly </a:t>
            </a:r>
            <a:r>
              <a:rPr sz="1700" b="1">
                <a:solidFill>
                  <a:srgbClr val="0E2841"/>
                </a:solidFill>
                <a:latin typeface="Arial"/>
              </a:rPr>
              <a:t>mechanical</a:t>
            </a:r>
            <a:r>
              <a:rPr sz="1700" b="0">
                <a:solidFill>
                  <a:srgbClr val="202020"/>
                </a:solidFill>
                <a:latin typeface="Arial"/>
              </a:rPr>
              <a:t> (π = 0.35 is the lowest bar).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2286000"/>
          <a:ext cx="8138160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Band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π(b)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RF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LightGCN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Seg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+Margin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+Regroup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Combined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Conservative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0.65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0.52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0.91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1.19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1.21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1.25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Income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0.78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0.70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1.13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1.20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1.26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1.25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1.26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Balanced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0.76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1.03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1.17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1.22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1.28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1.24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1.30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Aggressive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0.35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1.88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1.35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1.17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1.97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2.24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2.68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12385-B588-C5A8-4F7A-DFC6E9E13FF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Reading the ablation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0936" y="1417320"/>
            <a:ext cx="7882127" cy="306324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Segmentation alone:</a:t>
            </a:r>
            <a:r>
              <a:rPr sz="1700" b="0">
                <a:solidFill>
                  <a:srgbClr val="202020"/>
                </a:solidFill>
                <a:latin typeface="Arial"/>
              </a:rPr>
              <a:t> PC 0.794 to 0.821, ranking flat (0.332), small ROI cost, giving balance 0.411 (marginally below baseline).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Model lever (margin):</a:t>
            </a:r>
            <a:r>
              <a:rPr sz="1700" b="0">
                <a:solidFill>
                  <a:srgbClr val="202020"/>
                </a:solidFill>
                <a:latin typeface="Arial"/>
              </a:rPr>
              <a:t> PC rises to 0.918 but </a:t>
            </a:r>
            <a:r>
              <a:rPr sz="1700" b="1">
                <a:solidFill>
                  <a:srgbClr val="0E2841"/>
                </a:solidFill>
                <a:latin typeface="Arial"/>
              </a:rPr>
              <a:t>spends accuracy</a:t>
            </a:r>
            <a:r>
              <a:rPr sz="1700" b="0">
                <a:solidFill>
                  <a:srgbClr val="202020"/>
                </a:solidFill>
                <a:latin typeface="Arial"/>
              </a:rPr>
              <a:t> (nDCG falls to 0.309), giving balance 0.407 (below baseline).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Data lever (regrouping):</a:t>
            </a:r>
            <a:r>
              <a:rPr sz="1700" b="0">
                <a:solidFill>
                  <a:srgbClr val="202020"/>
                </a:solidFill>
                <a:latin typeface="Arial"/>
              </a:rPr>
              <a:t> PC rises to 0.949 </a:t>
            </a:r>
            <a:r>
              <a:rPr sz="1700" b="1">
                <a:solidFill>
                  <a:srgbClr val="0E2841"/>
                </a:solidFill>
                <a:latin typeface="Arial"/>
              </a:rPr>
              <a:t>and</a:t>
            </a:r>
            <a:r>
              <a:rPr sz="1700" b="0">
                <a:solidFill>
                  <a:srgbClr val="202020"/>
                </a:solidFill>
                <a:latin typeface="Arial"/>
              </a:rPr>
              <a:t> nDCG rises to 0.352, ROI ≈ unchanged, giving balance </a:t>
            </a:r>
            <a:r>
              <a:rPr sz="1700" b="1">
                <a:solidFill>
                  <a:srgbClr val="0E2841"/>
                </a:solidFill>
                <a:latin typeface="Arial"/>
              </a:rPr>
              <a:t>0.452</a:t>
            </a:r>
            <a:r>
              <a:rPr sz="1700" b="0">
                <a:solidFill>
                  <a:srgbClr val="202020"/>
                </a:solidFill>
                <a:latin typeface="Arial"/>
              </a:rPr>
              <a:t>, the only config above baseline.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Combined:</a:t>
            </a:r>
            <a:r>
              <a:rPr sz="1700" b="0">
                <a:solidFill>
                  <a:srgbClr val="202020"/>
                </a:solidFill>
                <a:latin typeface="Arial"/>
              </a:rPr>
              <a:t> highest raw PC (0.982) but balance falls back to 0.444, margin spends accuracy even on corrected bands.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3B91F-6124-2DE4-392C-B991AD97D15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Why regrouping wins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0936" y="1417320"/>
            <a:ext cx="7882127" cy="306324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Of the two exclusive levers, </a:t>
            </a:r>
            <a:r>
              <a:rPr sz="1700" b="1">
                <a:solidFill>
                  <a:srgbClr val="0E2841"/>
                </a:solidFill>
                <a:latin typeface="Arial"/>
              </a:rPr>
              <a:t>only regrouping raises the harmonic-mean balance</a:t>
            </a:r>
            <a:r>
              <a:rPr sz="1700" b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It corrects the </a:t>
            </a:r>
            <a:r>
              <a:rPr sz="1700" b="1">
                <a:solidFill>
                  <a:srgbClr val="0E2841"/>
                </a:solidFill>
                <a:latin typeface="Arial"/>
              </a:rPr>
              <a:t>noisy declared labels at their source</a:t>
            </a:r>
            <a:r>
              <a:rPr sz="1700" b="0">
                <a:solidFill>
                  <a:srgbClr val="202020"/>
                </a:solidFill>
                <a:latin typeface="Arial"/>
              </a:rPr>
              <a:t> rather than fighting them during training.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The proof:</a:t>
            </a:r>
            <a:r>
              <a:rPr sz="1700" b="0">
                <a:solidFill>
                  <a:srgbClr val="202020"/>
                </a:solidFill>
                <a:latin typeface="Arial"/>
              </a:rPr>
              <a:t> nDCG@10 and ROI@10 </a:t>
            </a:r>
            <a:r>
              <a:rPr sz="1700" b="1">
                <a:solidFill>
                  <a:srgbClr val="0E2841"/>
                </a:solidFill>
                <a:latin typeface="Arial"/>
              </a:rPr>
              <a:t>neither use the risk band</a:t>
            </a:r>
            <a:r>
              <a:rPr sz="1700" b="0">
                <a:solidFill>
                  <a:srgbClr val="202020"/>
                </a:solidFill>
                <a:latin typeface="Arial"/>
              </a:rPr>
              <a:t>, yet </a:t>
            </a:r>
            <a:r>
              <a:rPr sz="1700" b="1">
                <a:solidFill>
                  <a:srgbClr val="0E2841"/>
                </a:solidFill>
                <a:latin typeface="Arial"/>
              </a:rPr>
              <a:t>both rise</a:t>
            </a:r>
            <a:r>
              <a:rPr sz="1700" b="0">
                <a:solidFill>
                  <a:srgbClr val="202020"/>
                </a:solidFill>
                <a:latin typeface="Arial"/>
              </a:rPr>
              <a:t> under regrouping, only possible if the declared bands were </a:t>
            </a:r>
            <a:r>
              <a:rPr sz="1700" b="1">
                <a:solidFill>
                  <a:srgbClr val="0E2841"/>
                </a:solidFill>
                <a:latin typeface="Arial"/>
              </a:rPr>
              <a:t>adding noise</a:t>
            </a:r>
            <a:r>
              <a:rPr sz="1700" b="0">
                <a:solidFill>
                  <a:srgbClr val="202020"/>
                </a:solidFill>
                <a:latin typeface="Arial"/>
              </a:rPr>
              <a:t> to training.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So the declared bands, not the model, were holding performance back.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Recommended operating point: the data lever alone</a:t>
            </a:r>
            <a:r>
              <a:rPr sz="1700" b="0">
                <a:solidFill>
                  <a:srgbClr val="202020"/>
                </a:solidFill>
                <a:latin typeface="Arial"/>
              </a:rPr>
              <a:t>, margin is then unnecessary and even lowers balance (0.452 to 0.444).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95A5B-B44D-3AB2-4798-2AC9A6E80BC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Per-band: where each lever spends effort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0936" y="1417320"/>
            <a:ext cx="7882127" cy="306324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Margin loss</a:t>
            </a:r>
            <a:r>
              <a:rPr sz="1700" b="0">
                <a:solidFill>
                  <a:srgbClr val="202020"/>
                </a:solidFill>
                <a:latin typeface="Arial"/>
              </a:rPr>
              <a:t> mostly </a:t>
            </a:r>
            <a:r>
              <a:rPr sz="1700" b="1">
                <a:solidFill>
                  <a:srgbClr val="0E2841"/>
                </a:solidFill>
                <a:latin typeface="Arial"/>
              </a:rPr>
              <a:t>rescues the two extremes</a:t>
            </a:r>
            <a:r>
              <a:rPr sz="1700" b="0">
                <a:solidFill>
                  <a:srgbClr val="202020"/>
                </a:solidFill>
                <a:latin typeface="Arial"/>
              </a:rPr>
              <a:t> the baselines failed: Conservative 0.75 to 1.19, Aggressive 1.35 to 1.97.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Segmentation alone</a:t>
            </a:r>
            <a:r>
              <a:rPr sz="1700" b="0">
                <a:solidFill>
                  <a:srgbClr val="202020"/>
                </a:solidFill>
                <a:latin typeface="Arial"/>
              </a:rPr>
              <a:t> barely moves Conservative (0.75 to 0.91, still below random) and even lowers Aggressive to 1.17, sub-models still train on uncorrected discordant purchases.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Regrouping</a:t>
            </a:r>
            <a:r>
              <a:rPr sz="1700" b="0">
                <a:solidFill>
                  <a:srgbClr val="202020"/>
                </a:solidFill>
                <a:latin typeface="Arial"/>
              </a:rPr>
              <a:t> clears the random baseline in </a:t>
            </a:r>
            <a:r>
              <a:rPr sz="1700" b="1">
                <a:solidFill>
                  <a:srgbClr val="0E2841"/>
                </a:solidFill>
                <a:latin typeface="Arial"/>
              </a:rPr>
              <a:t>every band</a:t>
            </a:r>
            <a:r>
              <a:rPr sz="1700" b="0">
                <a:solidFill>
                  <a:srgbClr val="202020"/>
                </a:solidFill>
                <a:latin typeface="Arial"/>
              </a:rPr>
              <a:t> (1.21, 1.25, 1.24, 2.24).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Combined</a:t>
            </a:r>
            <a:r>
              <a:rPr sz="1700" b="0">
                <a:solidFill>
                  <a:srgbClr val="202020"/>
                </a:solidFill>
                <a:latin typeface="Arial"/>
              </a:rPr>
              <a:t> reaches the highest per-band lifts (1.25, 1.26, 1.30, 2.68). The Conservative deficit is closed by either lever, but only regrouping closes it </a:t>
            </a:r>
            <a:r>
              <a:rPr sz="1700" b="1">
                <a:solidFill>
                  <a:srgbClr val="0E2841"/>
                </a:solidFill>
                <a:latin typeface="Arial"/>
              </a:rPr>
              <a:t>without the accuracy penalty</a:t>
            </a:r>
            <a:r>
              <a:rPr sz="1700" b="0">
                <a:solidFill>
                  <a:srgbClr val="202020"/>
                </a:solidFill>
                <a:latin typeface="Arial"/>
              </a:rPr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3A6E1-0C81-580B-690F-3A72F46C3D3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Consistency across splits: deltas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2920" y="1325880"/>
            <a:ext cx="3383280" cy="320040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Per-split Δ vs the LightGCN baseline, by metric, for the three contrasts.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PC@10 is positive on every one of the 69 splits</a:t>
            </a:r>
            <a:r>
              <a:rPr sz="1700" b="0">
                <a:solidFill>
                  <a:srgbClr val="202020"/>
                </a:solidFill>
                <a:latin typeface="Arial"/>
              </a:rPr>
              <a:t> for all three configurations.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Balance delta is </a:t>
            </a:r>
            <a:r>
              <a:rPr sz="1700" b="1">
                <a:solidFill>
                  <a:srgbClr val="0E2841"/>
                </a:solidFill>
                <a:latin typeface="Arial"/>
              </a:rPr>
              <a:t>positive only for regrouping</a:t>
            </a:r>
            <a:r>
              <a:rPr sz="1700" b="0">
                <a:solidFill>
                  <a:srgbClr val="202020"/>
                </a:solidFill>
                <a:latin typeface="Arial"/>
              </a:rPr>
              <a:t> (+0.019 on average). Negative for segmentation-alone and the margin loss.</a:t>
            </a:r>
          </a:p>
        </p:txBody>
      </p:sp>
      <p:pic>
        <p:nvPicPr>
          <p:cNvPr id="4" name="Picture 3" descr="paired_del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416158"/>
            <a:ext cx="4846320" cy="3065563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D1513-502C-AFF8-974F-36079FDBA09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Consistency across splits: win rates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2920" y="1325880"/>
            <a:ext cx="3383280" cy="3200400"/>
          </a:xfrm>
        </p:spPr>
        <p:txBody>
          <a:bodyPr wrap="square">
            <a:normAutofit lnSpcReduction="10000"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Fraction of splits that beat the baseline, by metric.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Regrouping</a:t>
            </a:r>
            <a:r>
              <a:rPr sz="1700" b="0">
                <a:solidFill>
                  <a:srgbClr val="202020"/>
                </a:solidFill>
                <a:latin typeface="Arial"/>
              </a:rPr>
              <a:t> wins balance on </a:t>
            </a:r>
            <a:r>
              <a:rPr sz="1700" b="1">
                <a:solidFill>
                  <a:srgbClr val="0E2841"/>
                </a:solidFill>
                <a:latin typeface="Arial"/>
              </a:rPr>
              <a:t>71%</a:t>
            </a:r>
            <a:r>
              <a:rPr sz="1700" b="0">
                <a:solidFill>
                  <a:srgbClr val="202020"/>
                </a:solidFill>
                <a:latin typeface="Arial"/>
              </a:rPr>
              <a:t> of splits and nDCG@10 on </a:t>
            </a:r>
            <a:r>
              <a:rPr sz="1700" b="1">
                <a:solidFill>
                  <a:srgbClr val="0E2841"/>
                </a:solidFill>
                <a:latin typeface="Arial"/>
              </a:rPr>
              <a:t>100%</a:t>
            </a:r>
            <a:r>
              <a:rPr sz="1700" b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Margin loss</a:t>
            </a:r>
            <a:r>
              <a:rPr sz="1700" b="0">
                <a:solidFill>
                  <a:srgbClr val="202020"/>
                </a:solidFill>
                <a:latin typeface="Arial"/>
              </a:rPr>
              <a:t> wins balance on only </a:t>
            </a:r>
            <a:r>
              <a:rPr sz="1700" b="1">
                <a:solidFill>
                  <a:srgbClr val="0E2841"/>
                </a:solidFill>
                <a:latin typeface="Arial"/>
              </a:rPr>
              <a:t>26%</a:t>
            </a:r>
            <a:r>
              <a:rPr sz="1700" b="0">
                <a:solidFill>
                  <a:srgbClr val="202020"/>
                </a:solidFill>
                <a:latin typeface="Arial"/>
              </a:rPr>
              <a:t>, nDCG@10 on a mere </a:t>
            </a:r>
            <a:r>
              <a:rPr sz="1700" b="1">
                <a:solidFill>
                  <a:srgbClr val="0E2841"/>
                </a:solidFill>
                <a:latin typeface="Arial"/>
              </a:rPr>
              <a:t>7%</a:t>
            </a:r>
            <a:r>
              <a:rPr sz="1700" b="0">
                <a:solidFill>
                  <a:srgbClr val="202020"/>
                </a:solidFill>
                <a:latin typeface="Arial"/>
              </a:rPr>
              <a:t>, indicating a </a:t>
            </a:r>
            <a:r>
              <a:rPr sz="1700" b="1">
                <a:solidFill>
                  <a:srgbClr val="0E2841"/>
                </a:solidFill>
                <a:latin typeface="Arial"/>
              </a:rPr>
              <a:t>uniform</a:t>
            </a:r>
            <a:r>
              <a:rPr sz="1700" b="0">
                <a:solidFill>
                  <a:srgbClr val="202020"/>
                </a:solidFill>
                <a:latin typeface="Arial"/>
              </a:rPr>
              <a:t> downward shift, not a few bad splits.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The per-split story matches the averages.</a:t>
            </a:r>
          </a:p>
        </p:txBody>
      </p:sp>
      <p:pic>
        <p:nvPicPr>
          <p:cNvPr id="4" name="Picture 3" descr="paired_win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414050"/>
            <a:ext cx="4846320" cy="306978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1E8CC-D8F9-A917-8E34-CDEE35B275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b="1" dirty="0"/>
              <a:t>Limitations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1800" dirty="0"/>
              <a:t>Future Work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Limitations &amp; future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0936" y="1417320"/>
            <a:ext cx="7882127" cy="3063240"/>
          </a:xfrm>
        </p:spPr>
        <p:txBody>
          <a:bodyPr wrap="square">
            <a:normAutofit fontScale="85000" lnSpcReduction="10000"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Single operating point &amp; backbone.</a:t>
            </a:r>
            <a:r>
              <a:rPr sz="1700" b="0">
                <a:solidFill>
                  <a:srgbClr val="202020"/>
                </a:solidFill>
                <a:latin typeface="Arial"/>
              </a:rPr>
              <a:t> Baselines audited only at their primary-metric optimum. One margin point on inherited hyperparameters, segmentation only on LightGCN. So suitability gains are a </a:t>
            </a:r>
            <a:r>
              <a:rPr sz="1700" b="1">
                <a:solidFill>
                  <a:srgbClr val="0E2841"/>
                </a:solidFill>
                <a:latin typeface="Arial"/>
              </a:rPr>
              <a:t>lower</a:t>
            </a:r>
            <a:r>
              <a:rPr sz="1700" b="0">
                <a:solidFill>
                  <a:srgbClr val="202020"/>
                </a:solidFill>
                <a:latin typeface="Arial"/>
              </a:rPr>
              <a:t> bound, accuracy costs an </a:t>
            </a:r>
            <a:r>
              <a:rPr sz="1700" b="1">
                <a:solidFill>
                  <a:srgbClr val="0E2841"/>
                </a:solidFill>
                <a:latin typeface="Arial"/>
              </a:rPr>
              <a:t>upper</a:t>
            </a:r>
            <a:r>
              <a:rPr sz="1700" b="0">
                <a:solidFill>
                  <a:srgbClr val="202020"/>
                </a:solidFill>
                <a:latin typeface="Arial"/>
              </a:rPr>
              <a:t> bound.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Arial"/>
              </a:rPr>
              <a:t>*Future:* full Pareto sweep + end-to-end re-tune. Extend to sequential / transformer / content models.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Regrouping leakage.</a:t>
            </a:r>
            <a:r>
              <a:rPr sz="1700" b="0">
                <a:solidFill>
                  <a:srgbClr val="202020"/>
                </a:solidFill>
                <a:latin typeface="Arial"/>
              </a:rPr>
              <a:t> Revealed bands use each customer's </a:t>
            </a:r>
            <a:r>
              <a:rPr sz="1700" b="1">
                <a:solidFill>
                  <a:srgbClr val="0E2841"/>
                </a:solidFill>
                <a:latin typeface="Arial"/>
              </a:rPr>
              <a:t>full</a:t>
            </a:r>
            <a:r>
              <a:rPr sz="1700" b="0">
                <a:solidFill>
                  <a:srgbClr val="202020"/>
                </a:solidFill>
                <a:latin typeface="Arial"/>
              </a:rPr>
              <a:t> buy history, creating look-ahead vs each split. *Future:* per-split rolling variant using only training-window buys.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Associational premium.</a:t>
            </a:r>
            <a:r>
              <a:rPr sz="1700" b="0">
                <a:solidFill>
                  <a:srgbClr val="202020"/>
                </a:solidFill>
                <a:latin typeface="Arial"/>
              </a:rPr>
              <a:t> The coherence premium is not causal. *Future:* IV / difference-in-differences across a regulatory boundary. Test the 2018 transition directly.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0E2841"/>
                </a:solidFill>
                <a:latin typeface="Arial"/>
              </a:rPr>
              <a:t>Hand-set metric parameters.</a:t>
            </a:r>
            <a:r>
              <a:rPr sz="1700" b="0">
                <a:solidFill>
                  <a:srgbClr val="202020"/>
                </a:solidFill>
                <a:latin typeface="Arial"/>
              </a:rPr>
              <a:t> ±1 tolerance and the asset-band heuristic are set, not derived. *Future:* calibrate tolerance from data. Validate bands vs external MiFID II classifications.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ACE9B-0649-82A9-6301-E239D84E10A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b="1" dirty="0"/>
              <a:t>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1800" dirty="0"/>
              <a:t>Summary of Contribution</a:t>
            </a:r>
            <a:r>
              <a:rPr lang="en-SG" sz="1800" dirty="0"/>
              <a:t>s</a:t>
            </a:r>
            <a:endParaRPr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>
                <a:solidFill>
                  <a:srgbClr val="156082"/>
                </a:solidFill>
              </a:rPr>
              <a:t>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0936" y="1417320"/>
            <a:ext cx="7882127" cy="3063240"/>
          </a:xfrm>
        </p:spPr>
        <p:txBody>
          <a:bodyPr wrap="square">
            <a:normAutofit fontScale="92500" lnSpcReduction="10000"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dirty="0">
                <a:solidFill>
                  <a:srgbClr val="0E2841"/>
                </a:solidFill>
                <a:latin typeface="Arial"/>
              </a:rPr>
              <a:t>Central finding: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return, ranking accuracy, and regulatory risk suitability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need not conflict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on FAR-Trans, a recommender can be made far more suitable while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keeping and even improving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accuracy and return.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202020"/>
                </a:solidFill>
                <a:latin typeface="Arial"/>
              </a:rPr>
              <a:t>Suitability is an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architectural choice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, not a tradeoff patched by post-hoc re-ranking.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dirty="0">
                <a:solidFill>
                  <a:srgbClr val="0E2841"/>
                </a:solidFill>
                <a:latin typeface="Arial"/>
              </a:rPr>
              <a:t>Diagnostic-to-remedy chain: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analytical study (discordance prevalent + persistent + a return premium), then the baseline audit (both under-serve specific bands, neither balances), then segmentation closes the per-band deficit, and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regrouping is the dominant lever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(raises suitability + accuracy at no cost to return). The margin loss buys suitability by spending accuracy.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dirty="0">
                <a:solidFill>
                  <a:srgbClr val="0E2841"/>
                </a:solidFill>
                <a:latin typeface="Arial"/>
              </a:rPr>
              <a:t>Broader impact: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regulatory suitability can be encoded as a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training-time objective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 and, better, </a:t>
            </a:r>
            <a:r>
              <a:rPr sz="1700" b="1" dirty="0">
                <a:solidFill>
                  <a:srgbClr val="0E2841"/>
                </a:solidFill>
                <a:latin typeface="Arial"/>
              </a:rPr>
              <a:t>corrected at the data source</a:t>
            </a:r>
            <a:r>
              <a:rPr sz="1700" b="0" dirty="0">
                <a:solidFill>
                  <a:srgbClr val="202020"/>
                </a:solidFill>
                <a:latin typeface="Arial"/>
              </a:rPr>
              <a:t>, a path for recommenders in other regulated domains (e.g., insurance product suitability).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736E1-4FDE-2E81-8B53-31EC61EACED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b="1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1800" dirty="0"/>
              <a:t>Questions &amp; Answer</a:t>
            </a:r>
            <a:r>
              <a:rPr lang="en-SG" sz="1800" dirty="0"/>
              <a:t>s</a:t>
            </a:r>
            <a:endParaRPr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SG" b="1" dirty="0"/>
              <a:t>Appendix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SG" sz="1800" dirty="0"/>
              <a:t>Others</a:t>
            </a:r>
            <a:endParaRPr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SG" sz="2000" b="1" dirty="0">
                <a:solidFill>
                  <a:srgbClr val="156082"/>
                </a:solidFill>
              </a:rPr>
              <a:t>Full </a:t>
            </a:r>
            <a:r>
              <a:rPr sz="2000" b="1" dirty="0">
                <a:solidFill>
                  <a:srgbClr val="156082"/>
                </a:solidFill>
              </a:rPr>
              <a:t>OLS coefficient 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2920" y="1188720"/>
            <a:ext cx="8138160" cy="64008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208,029 priced buys · cluster-robust SE on Customer ID · reference = Inactive customer, 2018.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7863839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Term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Estimate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Std. Err.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95% CI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Intercept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−0.0471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0.0141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[−0.0746, −0.0195]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8.1e-4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02020"/>
                          </a:solidFill>
                          <a:latin typeface="Arial"/>
                        </a:rPr>
                        <a:t>is_coherent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020"/>
                          </a:solidFill>
                          <a:latin typeface="Arial"/>
                        </a:rPr>
                        <a:t>+0.0294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020"/>
                          </a:solidFill>
                          <a:latin typeface="Arial"/>
                        </a:rPr>
                        <a:t>0.0040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020"/>
                          </a:solidFill>
                          <a:latin typeface="Arial"/>
                        </a:rPr>
                        <a:t>[+0.0215, +0.0372]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020"/>
                          </a:solidFill>
                          <a:latin typeface="Arial"/>
                        </a:rPr>
                        <a:t>2.3e-13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asset_volatility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−0.1025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0.0165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[−0.1349, −0.0701]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5.5e-10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C(type)[Legal Entity]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+0.0154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0.0486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[−0.0798, +0.1106]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0.751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C(type)[Mass]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+0.0011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0.0132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[−0.0248, +0.0269]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0.936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C(type)[Premium]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+0.0058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0.0135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[−0.0206, +0.0322]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0.667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C(type)[Professional]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+0.0247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0.0169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[−0.0084, +0.0578]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0.143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C(year)[2019]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+0.1759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0.0129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[+0.1507, +0.2012]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1.4e-42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C(year)[2020]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+0.2107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0.0061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[+0.1986, +0.2227]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6e-259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C(year)[2021]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+0.0754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0.0053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[+0.0651, +0.0858]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4.1e-46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C(year)[2022]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−0.0195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0.0045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[−0.0283, −0.0107]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1.4e-5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2919E6-1A5F-5574-654C-FF13F6BD00D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SG" sz="2000" dirty="0">
                <a:solidFill>
                  <a:srgbClr val="156082"/>
                </a:solidFill>
              </a:rPr>
              <a:t>A</a:t>
            </a:r>
            <a:r>
              <a:rPr sz="2000" b="1" dirty="0" err="1">
                <a:solidFill>
                  <a:srgbClr val="156082"/>
                </a:solidFill>
              </a:rPr>
              <a:t>sset</a:t>
            </a:r>
            <a:r>
              <a:rPr sz="2000" b="1" dirty="0">
                <a:solidFill>
                  <a:srgbClr val="156082"/>
                </a:solidFill>
              </a:rPr>
              <a:t>-band assignment &amp; π(b)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2920" y="1188720"/>
            <a:ext cx="8138160" cy="1005840"/>
          </a:xfrm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Asset-band distribution by category, with totals </a:t>
            </a:r>
            <a:r>
              <a:rPr sz="1700" b="1">
                <a:solidFill>
                  <a:srgbClr val="0E2841"/>
                </a:solidFill>
                <a:latin typeface="Arial"/>
              </a:rPr>
              <a:t>(190, 333, 105, 178)</a:t>
            </a:r>
            <a:r>
              <a:rPr sz="1700" b="0">
                <a:solidFill>
                  <a:srgbClr val="202020"/>
                </a:solidFill>
                <a:latin typeface="Arial"/>
              </a:rPr>
              <a:t> over 806 assets.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Arial"/>
              </a:rPr>
              <a:t>π(b) = share of assets within ±1 of each band: </a:t>
            </a:r>
            <a:r>
              <a:rPr sz="1700" b="1">
                <a:solidFill>
                  <a:srgbClr val="0E2841"/>
                </a:solidFill>
                <a:latin typeface="Arial"/>
              </a:rPr>
              <a:t>(0.65, 0.78, 0.76, 0.35)</a:t>
            </a:r>
            <a:r>
              <a:rPr sz="1700" b="0">
                <a:solidFill>
                  <a:srgbClr val="202020"/>
                </a:solidFill>
                <a:latin typeface="Arial"/>
              </a:rPr>
              <a:t>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377440"/>
          <a:ext cx="7863840" cy="2057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Conservative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Income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Balanced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Aggressive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Bond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MTF (mutual funds)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Stock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02020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02020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02020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02020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02020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2D0F53-8DB4-4F59-0430-6E5ECDB800A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4012</Words>
  <Application>Microsoft Office PowerPoint</Application>
  <PresentationFormat>On-screen Show (16:9)</PresentationFormat>
  <Paragraphs>488</Paragraphs>
  <Slides>49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Calibri</vt:lpstr>
      <vt:lpstr>Play</vt:lpstr>
      <vt:lpstr>Arial</vt:lpstr>
      <vt:lpstr>Office Theme</vt:lpstr>
      <vt:lpstr>Risk-Based Segmentation for Financial Asset Recommendation Balancing Return, Accuracy and Risk Suitability </vt:lpstr>
      <vt:lpstr>Introduction</vt:lpstr>
      <vt:lpstr>What is Financial Asset Recommendation (FAR)?</vt:lpstr>
      <vt:lpstr>The benchmark measures only two axes</vt:lpstr>
      <vt:lpstr>Gap &amp; objective</vt:lpstr>
      <vt:lpstr>Three contributions</vt:lpstr>
      <vt:lpstr>FAR-Trans Benchmark</vt:lpstr>
      <vt:lpstr>The FAR-Trans dataset</vt:lpstr>
      <vt:lpstr>Two anchor baselines</vt:lpstr>
      <vt:lpstr>Analytical Study</vt:lpstr>
      <vt:lpstr>Putting customers and assets on one scale</vt:lpstr>
      <vt:lpstr>Asset banding: 3-step hierarchical rule</vt:lpstr>
      <vt:lpstr>Profile Coherence: the suitability metric</vt:lpstr>
      <vt:lpstr>Discordance is prevalent</vt:lpstr>
      <vt:lpstr>…and it is a customer-level trait</vt:lpstr>
      <vt:lpstr>Which customers? The U-shape</vt:lpstr>
      <vt:lpstr>Not a single-year artefact</vt:lpstr>
      <vt:lpstr>Does discordance cost return? Regression spec</vt:lpstr>
      <vt:lpstr>The coherence return premium</vt:lpstr>
      <vt:lpstr>Analytical study: takeaways &amp; limits</vt:lpstr>
      <vt:lpstr>Methodology</vt:lpstr>
      <vt:lpstr>The suitability gap of a single global model</vt:lpstr>
      <vt:lpstr>Risk-based segmentation</vt:lpstr>
      <vt:lpstr>Approach 1 (model lever): coherence margin loss</vt:lpstr>
      <vt:lpstr>Approach 2 (data lever): regrouping</vt:lpstr>
      <vt:lpstr>Two exclusive levers, contrasted</vt:lpstr>
      <vt:lpstr>Experimental Setup</vt:lpstr>
      <vt:lpstr>Temporal split protocol</vt:lpstr>
      <vt:lpstr>Metrics: return &amp; accuracy</vt:lpstr>
      <vt:lpstr>Metrics: risk suitability + PC-lift</vt:lpstr>
      <vt:lpstr>The harmonic balance</vt:lpstr>
      <vt:lpstr>Configurations &amp; hyperparameter grids</vt:lpstr>
      <vt:lpstr>Results</vt:lpstr>
      <vt:lpstr>Aggregate results: mean over 69 splits</vt:lpstr>
      <vt:lpstr>Baseline audit</vt:lpstr>
      <vt:lpstr>Per-band audit: PC-lift@10 (= PC@10 / π(b))</vt:lpstr>
      <vt:lpstr>Reading the ablation</vt:lpstr>
      <vt:lpstr>Why regrouping wins</vt:lpstr>
      <vt:lpstr>Per-band: where each lever spends effort</vt:lpstr>
      <vt:lpstr>Consistency across splits: deltas</vt:lpstr>
      <vt:lpstr>Consistency across splits: win rates</vt:lpstr>
      <vt:lpstr>Limitations</vt:lpstr>
      <vt:lpstr>Limitations &amp; future work</vt:lpstr>
      <vt:lpstr>Conclusion</vt:lpstr>
      <vt:lpstr>Conclusion</vt:lpstr>
      <vt:lpstr>Thank You</vt:lpstr>
      <vt:lpstr>Appendix</vt:lpstr>
      <vt:lpstr>Full OLS coefficient table</vt:lpstr>
      <vt:lpstr>Asset-band assignment &amp; π(b)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Samuel Sim</cp:lastModifiedBy>
  <cp:revision>7</cp:revision>
  <dcterms:modified xsi:type="dcterms:W3CDTF">2026-06-24T04:40:31Z</dcterms:modified>
</cp:coreProperties>
</file>