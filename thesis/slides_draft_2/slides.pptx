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34"/>
  </p:notesMasterIdLst>
  <p:handoutMasterIdLst>
    <p:handoutMasterId r:id="rId35"/>
  </p:handoutMasterIdLst>
  <p:sldIdLst>
    <p:sldId id="256" r:id="rId2"/>
    <p:sldId id="257" r:id="rId3"/>
    <p:sldId id="258" r:id="rId4"/>
    <p:sldId id="263" r:id="rId5"/>
    <p:sldId id="305" r:id="rId6"/>
    <p:sldId id="307" r:id="rId7"/>
    <p:sldId id="260" r:id="rId8"/>
    <p:sldId id="265" r:id="rId9"/>
    <p:sldId id="266" r:id="rId10"/>
    <p:sldId id="269" r:id="rId11"/>
    <p:sldId id="272" r:id="rId12"/>
    <p:sldId id="273" r:id="rId13"/>
    <p:sldId id="276" r:id="rId14"/>
    <p:sldId id="310" r:id="rId15"/>
    <p:sldId id="311" r:id="rId16"/>
    <p:sldId id="308" r:id="rId17"/>
    <p:sldId id="278" r:id="rId18"/>
    <p:sldId id="279" r:id="rId19"/>
    <p:sldId id="282" r:id="rId20"/>
    <p:sldId id="285" r:id="rId21"/>
    <p:sldId id="283" r:id="rId22"/>
    <p:sldId id="287" r:id="rId23"/>
    <p:sldId id="288" r:id="rId24"/>
    <p:sldId id="289" r:id="rId25"/>
    <p:sldId id="295" r:id="rId26"/>
    <p:sldId id="291" r:id="rId27"/>
    <p:sldId id="297" r:id="rId28"/>
    <p:sldId id="298" r:id="rId29"/>
    <p:sldId id="300" r:id="rId30"/>
    <p:sldId id="301" r:id="rId31"/>
    <p:sldId id="302" r:id="rId32"/>
    <p:sldId id="303" r:id="rId3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6"/>
    </p:embeddedFont>
    <p:embeddedFont>
      <p:font typeface="Play" panose="020B0604020202020204" charset="0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CCD770D5-EB03-4C30-B8C3-5DDE48A2CE67}">
          <p14:sldIdLst>
            <p14:sldId id="256"/>
          </p14:sldIdLst>
        </p14:section>
        <p14:section name="Introduction" id="{5DCE38E6-734D-44AD-AB17-BCA344A78DF2}">
          <p14:sldIdLst>
            <p14:sldId id="257"/>
            <p14:sldId id="258"/>
            <p14:sldId id="263"/>
            <p14:sldId id="305"/>
            <p14:sldId id="307"/>
            <p14:sldId id="260"/>
          </p14:sldIdLst>
        </p14:section>
        <p14:section name="Analytical Study" id="{8065F342-6DB2-429F-AD3C-45C76140A577}">
          <p14:sldIdLst>
            <p14:sldId id="265"/>
            <p14:sldId id="266"/>
            <p14:sldId id="269"/>
            <p14:sldId id="272"/>
            <p14:sldId id="273"/>
          </p14:sldIdLst>
        </p14:section>
        <p14:section name="Methodology" id="{7694989F-F2C8-449A-B6B1-3F1BBED4E16D}">
          <p14:sldIdLst>
            <p14:sldId id="276"/>
            <p14:sldId id="310"/>
            <p14:sldId id="311"/>
            <p14:sldId id="308"/>
            <p14:sldId id="278"/>
            <p14:sldId id="279"/>
          </p14:sldIdLst>
        </p14:section>
        <p14:section name="Experimental Setup" id="{F38E2082-6B8B-4B53-9820-FCB13FA54525}">
          <p14:sldIdLst>
            <p14:sldId id="282"/>
            <p14:sldId id="285"/>
            <p14:sldId id="283"/>
            <p14:sldId id="287"/>
          </p14:sldIdLst>
        </p14:section>
        <p14:section name="Results" id="{1CD4AB61-8244-4959-B3F5-E9BC3851EBBE}">
          <p14:sldIdLst>
            <p14:sldId id="288"/>
            <p14:sldId id="289"/>
            <p14:sldId id="295"/>
            <p14:sldId id="291"/>
          </p14:sldIdLst>
        </p14:section>
        <p14:section name="Conclusion" id="{8B0F6DDA-CC68-4B6B-87C2-51FBAE6101F7}">
          <p14:sldIdLst>
            <p14:sldId id="297"/>
            <p14:sldId id="298"/>
            <p14:sldId id="300"/>
            <p14:sldId id="301"/>
          </p14:sldIdLst>
        </p14:section>
        <p14:section name="Appendix" id="{6B0C326C-7B81-40D3-9C3A-BC6160B48E7F}">
          <p14:sldIdLst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ADAD"/>
    <a:srgbClr val="196B24"/>
    <a:srgbClr val="002060"/>
    <a:srgbClr val="C69213"/>
    <a:srgbClr val="CCD2D8"/>
    <a:srgbClr val="156082"/>
    <a:srgbClr val="FFFFFF"/>
    <a:srgbClr val="E7EAED"/>
    <a:srgbClr val="459E2A"/>
    <a:srgbClr val="D4F1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11" autoAdjust="0"/>
    <p:restoredTop sz="82353" autoAdjust="0"/>
  </p:normalViewPr>
  <p:slideViewPr>
    <p:cSldViewPr snapToGrid="0">
      <p:cViewPr varScale="1">
        <p:scale>
          <a:sx n="182" d="100"/>
          <a:sy n="182" d="100"/>
        </p:scale>
        <p:origin x="916" y="1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6" d="100"/>
          <a:sy n="106" d="100"/>
        </p:scale>
        <p:origin x="4245" y="51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5DCC23E-2445-8927-9D31-EFE409D3E0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84729C-C9ED-3513-1AEF-159C7C56D07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84A861-0892-45E9-A6FF-42AA72AD79D6}" type="datetimeFigureOut">
              <a:rPr lang="en-SG" smtClean="0"/>
              <a:t>29/6/2026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1F6FFB-0EEF-6E09-9A5D-A5462A8773E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E0A69C-82A5-2C96-A5C0-8ADD11750A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9557BD-F81B-4A99-9A73-0863D2076FB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85515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SG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88568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834265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84267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GB" sz="1100" dirty="0">
                <a:solidFill>
                  <a:srgbClr val="202020"/>
                </a:solidFill>
              </a:rPr>
              <a:t>Closes the gap left by proprietary or simulated datasets</a:t>
            </a:r>
          </a:p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510899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sz="1500" b="0" dirty="0">
                <a:solidFill>
                  <a:srgbClr val="0E2841"/>
                </a:solidFill>
                <a:latin typeface="Arial"/>
              </a:rPr>
              <a:t>LightGCN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: graph collaborative filter over the user–item bipartite graph, </a:t>
            </a:r>
            <a:r>
              <a:rPr lang="en-SG" sz="1500" b="0" dirty="0">
                <a:solidFill>
                  <a:srgbClr val="0E2841"/>
                </a:solidFill>
                <a:latin typeface="Arial"/>
              </a:rPr>
              <a:t>strongest ranking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 model (</a:t>
            </a:r>
            <a:r>
              <a:rPr lang="en-SG" sz="1500" b="0" dirty="0" err="1">
                <a:solidFill>
                  <a:srgbClr val="202020"/>
                </a:solidFill>
                <a:latin typeface="Arial"/>
              </a:rPr>
              <a:t>nDCG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sz="1500" b="0" dirty="0">
                <a:solidFill>
                  <a:srgbClr val="0E2841"/>
                </a:solidFill>
                <a:latin typeface="Arial"/>
              </a:rPr>
              <a:t>Random Forest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: tree ensemble over tabular customer/asset features, </a:t>
            </a:r>
            <a:r>
              <a:rPr lang="en-SG" sz="1500" b="0" dirty="0">
                <a:solidFill>
                  <a:srgbClr val="0E2841"/>
                </a:solidFill>
                <a:latin typeface="Arial"/>
              </a:rPr>
              <a:t>strongest returns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 model (ROI)</a:t>
            </a:r>
          </a:p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6296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sz="1100" b="0" dirty="0">
                <a:solidFill>
                  <a:srgbClr val="0E2841"/>
                </a:solidFill>
                <a:latin typeface="Arial"/>
              </a:rPr>
              <a:t>Step 1: subcategory metadata.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Mutual funds: Money-Market to Conservative, Bond to Income, Balanced to Balanced, Equity/Large-Cap to Aggressive. Bonds by issuer: Government to Conservative, Corporate to Income, else Income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sz="1100" b="0" dirty="0">
                <a:solidFill>
                  <a:srgbClr val="0E2841"/>
                </a:solidFill>
                <a:latin typeface="Arial"/>
              </a:rPr>
              <a:t>Step 2: volatility quartiles.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Untagged assets (mostly stocks): annualised SD of daily log-returns over a trailing 252-day window, bucketed into 4 bands by stock-calibrated quartiles (q₁, q₂, q₃)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sz="1100" b="0" dirty="0">
                <a:solidFill>
                  <a:srgbClr val="0E2841"/>
                </a:solidFill>
                <a:latin typeface="Arial"/>
              </a:rPr>
              <a:t>Step 3: residual default.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Anything left to Balanced</a:t>
            </a:r>
          </a:p>
        </p:txBody>
      </p:sp>
    </p:spTree>
    <p:extLst>
      <p:ext uri="{BB962C8B-B14F-4D97-AF65-F5344CB8AC3E}">
        <p14:creationId xmlns:p14="http://schemas.microsoft.com/office/powerpoint/2010/main" val="354476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Hartigan's dip test: the max distance between the empirical CDF and the best-fit unimodal CDF</a:t>
            </a:r>
          </a:p>
          <a:p>
            <a:r>
              <a:rPr lang="en-GB" dirty="0"/>
              <a:t>Empirical CDF is just the fraction of customers whose discordant share ≤ x</a:t>
            </a:r>
          </a:p>
          <a:p>
            <a:r>
              <a:rPr lang="en-GB" dirty="0"/>
              <a:t>A high D / low p rejects unimodality</a:t>
            </a:r>
          </a:p>
          <a:p>
            <a:r>
              <a:rPr lang="en-GB" dirty="0"/>
              <a:t>Our D = 0.086, p &lt; 10⁻¹⁵ confirms the discordant-share distribution is not a single bump with noise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7340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832520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dirty="0"/>
              <a:t>On </a:t>
            </a:r>
            <a:r>
              <a:rPr lang="en-SG" sz="1100" b="1" dirty="0">
                <a:solidFill>
                  <a:srgbClr val="0E2841"/>
                </a:solidFill>
                <a:latin typeface="Arial"/>
              </a:rPr>
              <a:t>208,029</a:t>
            </a:r>
            <a:r>
              <a:rPr lang="en-SG" sz="1100" b="0" dirty="0">
                <a:solidFill>
                  <a:srgbClr val="202020"/>
                </a:solidFill>
                <a:latin typeface="Arial"/>
              </a:rPr>
              <a:t> priced buys</a:t>
            </a:r>
          </a:p>
          <a:p>
            <a:r>
              <a:rPr lang="en-SG" sz="1100" b="0" dirty="0">
                <a:solidFill>
                  <a:srgbClr val="202020"/>
                </a:solidFill>
                <a:latin typeface="Arial"/>
              </a:rPr>
              <a:t>For each term, we need to hold </a:t>
            </a:r>
            <a:r>
              <a:rPr lang="en-GB" sz="1100" dirty="0"/>
              <a:t>other covariates fixed</a:t>
            </a:r>
            <a:endParaRPr lang="en-SG" sz="1100" b="0" dirty="0">
              <a:solidFill>
                <a:srgbClr val="202020"/>
              </a:solidFill>
              <a:latin typeface="Arial"/>
            </a:endParaRPr>
          </a:p>
          <a:p>
            <a:r>
              <a:rPr lang="en-SG" sz="1100" b="0" dirty="0">
                <a:solidFill>
                  <a:srgbClr val="202020"/>
                </a:solidFill>
                <a:latin typeface="Arial"/>
              </a:rPr>
              <a:t>Year effect all significant</a:t>
            </a:r>
          </a:p>
          <a:p>
            <a:r>
              <a:rPr lang="en-SG" sz="1100" b="0" dirty="0">
                <a:solidFill>
                  <a:srgbClr val="202020"/>
                </a:solidFill>
                <a:latin typeface="Arial"/>
              </a:rPr>
              <a:t>Customer type all not significant</a:t>
            </a:r>
          </a:p>
        </p:txBody>
      </p:sp>
    </p:spTree>
    <p:extLst>
      <p:ext uri="{BB962C8B-B14F-4D97-AF65-F5344CB8AC3E}">
        <p14:creationId xmlns:p14="http://schemas.microsoft.com/office/powerpoint/2010/main" val="1347602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3FB90-8EE1-E51A-8612-A3006AA4F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E5ECE-51EC-0A40-72EB-787F32020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C57710-622E-1929-FA29-0FFC0F028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100" b="0" dirty="0">
                <a:solidFill>
                  <a:srgbClr val="202020"/>
                </a:solidFill>
                <a:latin typeface="Arial"/>
              </a:rPr>
              <a:t>Top ranking accuracy model: </a:t>
            </a:r>
            <a:r>
              <a:rPr lang="en-GB" sz="1100" b="0" dirty="0" err="1">
                <a:solidFill>
                  <a:srgbClr val="202020"/>
                </a:solidFill>
                <a:latin typeface="Arial"/>
              </a:rPr>
              <a:t>LightGCN</a:t>
            </a:r>
            <a:endParaRPr lang="en-GB" sz="1100" b="0" dirty="0">
              <a:solidFill>
                <a:srgbClr val="202020"/>
              </a:solidFill>
              <a:latin typeface="Arial"/>
            </a:endParaRPr>
          </a:p>
          <a:p>
            <a:r>
              <a:rPr lang="en-GB" sz="1100" b="0" dirty="0">
                <a:solidFill>
                  <a:srgbClr val="202020"/>
                </a:solidFill>
                <a:latin typeface="Arial"/>
              </a:rPr>
              <a:t>Top return model: Random Forest carries no customer-level signal to segment, so not extended</a:t>
            </a:r>
          </a:p>
        </p:txBody>
      </p:sp>
    </p:spTree>
    <p:extLst>
      <p:ext uri="{BB962C8B-B14F-4D97-AF65-F5344CB8AC3E}">
        <p14:creationId xmlns:p14="http://schemas.microsoft.com/office/powerpoint/2010/main" val="7120945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CA9A-30E8-7B9F-2283-28AF5358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065ED-6681-7F78-3831-EFC6AA2DC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EE615-0903-F0A4-0AB8-ED342E02A7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GB" sz="11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2006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41B01-44C0-973F-DEB6-A11231AE5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7E2AE9-CFF4-5CE2-3B06-7CF240120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1AB0FA-873F-9DC8-A357-93F2D6811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100" b="0" dirty="0">
                <a:solidFill>
                  <a:srgbClr val="202020"/>
                </a:solidFill>
                <a:latin typeface="Arial"/>
              </a:rPr>
              <a:t>We use this BPR loss as it is differentiable (surrogate loss) compared to </a:t>
            </a:r>
            <a:r>
              <a:rPr lang="en-GB" sz="1100" b="0" dirty="0" err="1">
                <a:solidFill>
                  <a:srgbClr val="202020"/>
                </a:solidFill>
                <a:latin typeface="Arial"/>
              </a:rPr>
              <a:t>nDCG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which is non-differentiable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8685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674286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dirty="0" err="1"/>
              <a:t>Softplus</a:t>
            </a:r>
            <a:r>
              <a:rPr lang="en-SG" dirty="0"/>
              <a:t> is just smooth version of </a:t>
            </a:r>
            <a:r>
              <a:rPr lang="en-SG" dirty="0" err="1"/>
              <a:t>ReLU</a:t>
            </a:r>
            <a:r>
              <a:rPr lang="en-SG" dirty="0"/>
              <a:t> </a:t>
            </a:r>
          </a:p>
          <a:p>
            <a:r>
              <a:rPr lang="en-GB" dirty="0"/>
              <a:t>Bands are ordinal, so the median is the scale-correct, outlier-robust summary that returns a real band</a:t>
            </a:r>
          </a:p>
          <a:p>
            <a:r>
              <a:rPr lang="en-GB" dirty="0"/>
              <a:t>Rounding ties down keeps the bias conservative, the safe direction under MiFID II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823553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62762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dirty="0"/>
              <a:t>Following the original FAR-trans paper split</a:t>
            </a:r>
          </a:p>
        </p:txBody>
      </p:sp>
    </p:spTree>
    <p:extLst>
      <p:ext uri="{BB962C8B-B14F-4D97-AF65-F5344CB8AC3E}">
        <p14:creationId xmlns:p14="http://schemas.microsoft.com/office/powerpoint/2010/main" val="18759966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298759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GB" b="0" dirty="0">
                <a:solidFill>
                  <a:srgbClr val="202020"/>
                </a:solidFill>
                <a:latin typeface="Arial"/>
              </a:rPr>
              <a:t>Only one intervention beats the </a:t>
            </a:r>
            <a:r>
              <a:rPr lang="en-GB" b="0" dirty="0" err="1">
                <a:solidFill>
                  <a:srgbClr val="202020"/>
                </a:solidFill>
                <a:latin typeface="Arial"/>
              </a:rPr>
              <a:t>LightGCN</a:t>
            </a:r>
            <a:r>
              <a:rPr lang="en-GB" b="0" dirty="0">
                <a:solidFill>
                  <a:srgbClr val="202020"/>
                </a:solidFill>
                <a:latin typeface="Arial"/>
              </a:rPr>
              <a:t> baseline overall, highest balance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562760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491666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Both approaches clear the random baseline for all bands</a:t>
            </a:r>
          </a:p>
          <a:p>
            <a:r>
              <a:rPr lang="en-GB" dirty="0"/>
              <a:t>Best is with both implemented but recall at the cost of lower accuracy compared to just regrouping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73547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658012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574570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961611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9693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800"/>
              <a:buFont typeface="Arial"/>
              <a:buNone/>
              <a:defRPr sz="3800" b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 dirty="0"/>
          </a:p>
        </p:txBody>
      </p:sp>
      <p:sp>
        <p:nvSpPr>
          <p:cNvPr id="15" name="Google Shape;15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00206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Sub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800"/>
              <a:buFont typeface="Arial"/>
              <a:buNone/>
              <a:defRPr sz="3800" b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 dirty="0"/>
          </a:p>
        </p:txBody>
      </p:sp>
      <p:sp>
        <p:nvSpPr>
          <p:cNvPr id="15" name="Google Shape;15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00206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4401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3769A-75CA-A068-D878-A2394AF7D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726830"/>
            <a:ext cx="7886700" cy="54121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BA3A03-D095-203F-98BC-2272FB2446B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A8E21F-7EE7-9836-9F73-5C4D4F40571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 sz="800" i="1"/>
            </a:lvl1pPr>
          </a:lstStyle>
          <a:p>
            <a:r>
              <a:rPr lang="en-SG"/>
              <a:t>github.com/Samthesimpsons/Risk-Based-Segmentation-for-FAR</a:t>
            </a:r>
            <a:endParaRPr lang="en-SG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29DD4-C35A-F96F-4DC8-FF1C95CDE4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6" name="Google Shape;58;p9">
            <a:extLst>
              <a:ext uri="{FF2B5EF4-FFF2-40B4-BE49-F238E27FC236}">
                <a16:creationId xmlns:a16="http://schemas.microsoft.com/office/drawing/2014/main" id="{65E63A31-3A41-37BD-E8AF-724EAD48107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28650" y="1363955"/>
            <a:ext cx="7886700" cy="303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3189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629841" y="740568"/>
            <a:ext cx="2949300" cy="80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 b="1">
                <a:latin typeface="+mj-l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 dirty="0"/>
          </a:p>
        </p:txBody>
      </p:sp>
      <p:sp>
        <p:nvSpPr>
          <p:cNvPr id="58" name="Google Shape;58;p9"/>
          <p:cNvSpPr txBox="1">
            <a:spLocks noGrp="1"/>
          </p:cNvSpPr>
          <p:nvPr>
            <p:ph type="body" idx="2"/>
          </p:nvPr>
        </p:nvSpPr>
        <p:spPr>
          <a:xfrm>
            <a:off x="629841" y="1623646"/>
            <a:ext cx="2949300" cy="2778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userDrawn="1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629841" y="740568"/>
            <a:ext cx="2949300" cy="80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 b="1">
                <a:latin typeface="+mj-l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SG"/>
          </a:p>
        </p:txBody>
      </p:sp>
      <p:sp>
        <p:nvSpPr>
          <p:cNvPr id="66" name="Google Shape;66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" name="Google Shape;58;p9">
            <a:extLst>
              <a:ext uri="{FF2B5EF4-FFF2-40B4-BE49-F238E27FC236}">
                <a16:creationId xmlns:a16="http://schemas.microsoft.com/office/drawing/2014/main" id="{D3C5BA6B-0163-B42D-92BF-6C035280FB45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629841" y="1623646"/>
            <a:ext cx="2949300" cy="2778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4110038" y="47625"/>
            <a:ext cx="940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GB" sz="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SMU Classification: Restricted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60" r:id="rId3"/>
    <p:sldLayoutId id="2147483655" r:id="rId4"/>
    <p:sldLayoutId id="2147483656" r:id="rId5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svg"/><Relationship Id="rId10" Type="http://schemas.openxmlformats.org/officeDocument/2006/relationships/image" Target="../media/image18.pn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3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svg"/><Relationship Id="rId10" Type="http://schemas.openxmlformats.org/officeDocument/2006/relationships/image" Target="../media/image18.pn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5449" y="898796"/>
            <a:ext cx="7153102" cy="179070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sz="2400" b="1" dirty="0"/>
              <a:t>Risk-Based Segmentation for</a:t>
            </a:r>
            <a:br>
              <a:rPr lang="en-SG" sz="2400" dirty="0"/>
            </a:br>
            <a:r>
              <a:rPr sz="2400" b="1" dirty="0"/>
              <a:t>Financial Asset</a:t>
            </a:r>
            <a:r>
              <a:rPr lang="en-SG" sz="2400" b="1" dirty="0"/>
              <a:t> </a:t>
            </a:r>
            <a:r>
              <a:rPr sz="2400" b="1" dirty="0"/>
              <a:t>Recommendation</a:t>
            </a:r>
            <a:endParaRPr sz="2400" b="1" dirty="0">
              <a:solidFill>
                <a:srgbClr val="00206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689496"/>
            <a:ext cx="6858000" cy="1241700"/>
          </a:xfrm>
        </p:spPr>
        <p:txBody>
          <a:bodyPr>
            <a:normAutofit/>
          </a:bodyPr>
          <a:lstStyle/>
          <a:p>
            <a:r>
              <a:rPr lang="en-SG" sz="1400" b="1" dirty="0"/>
              <a:t>Balancing Return, Accuracy and Risk Suitability</a:t>
            </a:r>
          </a:p>
          <a:p>
            <a:r>
              <a:rPr sz="1200" b="1" dirty="0"/>
              <a:t>Samuel Sim</a:t>
            </a:r>
            <a:endParaRPr lang="en-SG" sz="1200" b="1" dirty="0"/>
          </a:p>
          <a:p>
            <a:r>
              <a:rPr lang="en-SG" sz="1200" dirty="0"/>
              <a:t>Master of Science</a:t>
            </a:r>
            <a:r>
              <a:rPr sz="1200" dirty="0"/>
              <a:t> in Computing (Capstone)</a:t>
            </a:r>
          </a:p>
          <a:p>
            <a:r>
              <a:rPr sz="1200" dirty="0"/>
              <a:t>samuel.sim.2024@msc.smu.edu.sg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01 </a:t>
            </a:r>
            <a:r>
              <a:rPr b="1" dirty="0"/>
              <a:t>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Financial Asset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What is Financial Asset Recommendation (FAR)?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0936" y="1417320"/>
            <a:ext cx="7882127" cy="306324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202020"/>
                </a:solidFill>
              </a:rPr>
              <a:t>Ranking financial products </a:t>
            </a:r>
            <a:r>
              <a:rPr b="0" dirty="0">
                <a:solidFill>
                  <a:srgbClr val="202020"/>
                </a:solidFill>
                <a:latin typeface="Arial"/>
              </a:rPr>
              <a:t>for an </a:t>
            </a:r>
            <a:r>
              <a:rPr lang="en-GB" b="0" dirty="0">
                <a:solidFill>
                  <a:srgbClr val="202020"/>
                </a:solidFill>
                <a:latin typeface="Arial"/>
              </a:rPr>
              <a:t>investor</a:t>
            </a:r>
            <a:endParaRPr b="0" dirty="0">
              <a:solidFill>
                <a:srgbClr val="20202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lang="en-GB" b="0" dirty="0">
                <a:solidFill>
                  <a:srgbClr val="202020"/>
                </a:solidFill>
                <a:latin typeface="Arial"/>
              </a:rPr>
              <a:t>Contains many </a:t>
            </a:r>
            <a:r>
              <a:rPr b="0" dirty="0">
                <a:solidFill>
                  <a:srgbClr val="202020"/>
                </a:solidFill>
                <a:latin typeface="Arial"/>
              </a:rPr>
              <a:t>signals:</a:t>
            </a:r>
          </a:p>
          <a:p>
            <a:pPr marL="971550" lvl="1" indent="-285750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rgbClr val="0E2841"/>
                </a:solidFill>
                <a:latin typeface="Arial"/>
              </a:rPr>
              <a:t>Investor side</a:t>
            </a:r>
            <a:r>
              <a:rPr sz="1200" b="0" dirty="0">
                <a:solidFill>
                  <a:srgbClr val="202020"/>
                </a:solidFill>
                <a:latin typeface="Arial"/>
              </a:rPr>
              <a:t>: past transactions, declared risk tolerance</a:t>
            </a:r>
            <a:r>
              <a:rPr lang="en-GB" sz="1200" b="0" dirty="0">
                <a:solidFill>
                  <a:srgbClr val="202020"/>
                </a:solidFill>
                <a:latin typeface="Arial"/>
              </a:rPr>
              <a:t>, etc.</a:t>
            </a:r>
            <a:endParaRPr sz="1200" b="0" dirty="0">
              <a:solidFill>
                <a:srgbClr val="202020"/>
              </a:solidFill>
              <a:latin typeface="Arial"/>
            </a:endParaRPr>
          </a:p>
          <a:p>
            <a:pPr marL="971550" lvl="1" indent="-285750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rgbClr val="0E2841"/>
                </a:solidFill>
                <a:latin typeface="Arial"/>
              </a:rPr>
              <a:t>Market side</a:t>
            </a:r>
            <a:r>
              <a:rPr sz="1200" b="0" dirty="0">
                <a:solidFill>
                  <a:srgbClr val="202020"/>
                </a:solidFill>
                <a:latin typeface="Arial"/>
              </a:rPr>
              <a:t>: asset prices, returns, volatility, inflation</a:t>
            </a:r>
            <a:r>
              <a:rPr lang="en-GB" sz="1200" b="0" dirty="0">
                <a:solidFill>
                  <a:srgbClr val="202020"/>
                </a:solidFill>
                <a:latin typeface="Arial"/>
              </a:rPr>
              <a:t>, etc.</a:t>
            </a:r>
            <a:endParaRPr sz="1200" b="0" dirty="0">
              <a:solidFill>
                <a:srgbClr val="20202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lang="en-SG" dirty="0"/>
              <a:t>Markets in Financial Instruments Directive II (</a:t>
            </a:r>
            <a:r>
              <a:rPr lang="en-SG" dirty="0">
                <a:solidFill>
                  <a:srgbClr val="0E2841"/>
                </a:solidFill>
                <a:latin typeface="Arial"/>
              </a:rPr>
              <a:t>MiFID II)</a:t>
            </a:r>
            <a:r>
              <a:rPr lang="en-SG" dirty="0">
                <a:solidFill>
                  <a:srgbClr val="202020"/>
                </a:solidFill>
                <a:latin typeface="Arial"/>
              </a:rPr>
              <a:t> </a:t>
            </a:r>
            <a:r>
              <a:rPr lang="en-SG" dirty="0">
                <a:solidFill>
                  <a:srgbClr val="202020"/>
                </a:solidFill>
              </a:rPr>
              <a:t>is a </a:t>
            </a:r>
            <a:r>
              <a:rPr b="0" dirty="0">
                <a:solidFill>
                  <a:srgbClr val="202020"/>
                </a:solidFill>
                <a:latin typeface="Arial"/>
              </a:rPr>
              <a:t>EU</a:t>
            </a:r>
            <a:r>
              <a:rPr lang="en-GB" b="0" dirty="0">
                <a:solidFill>
                  <a:srgbClr val="202020"/>
                </a:solidFill>
                <a:latin typeface="Arial"/>
              </a:rPr>
              <a:t> regulation</a:t>
            </a:r>
            <a:r>
              <a:rPr b="0" dirty="0">
                <a:solidFill>
                  <a:srgbClr val="202020"/>
                </a:solidFill>
                <a:latin typeface="Arial"/>
              </a:rPr>
              <a:t> requires a suitability check </a:t>
            </a:r>
            <a:r>
              <a:rPr dirty="0">
                <a:solidFill>
                  <a:srgbClr val="0E2841"/>
                </a:solidFill>
                <a:latin typeface="Arial"/>
              </a:rPr>
              <a:t>before</a:t>
            </a:r>
            <a:r>
              <a:rPr b="0" dirty="0">
                <a:solidFill>
                  <a:srgbClr val="202020"/>
                </a:solidFill>
                <a:latin typeface="Arial"/>
              </a:rPr>
              <a:t> </a:t>
            </a:r>
            <a:r>
              <a:rPr lang="en-GB" dirty="0">
                <a:solidFill>
                  <a:srgbClr val="202020"/>
                </a:solidFill>
              </a:rPr>
              <a:t>product recommendation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202020"/>
                </a:solidFill>
              </a:rPr>
              <a:t>Product</a:t>
            </a:r>
            <a:r>
              <a:rPr b="0" dirty="0">
                <a:solidFill>
                  <a:srgbClr val="202020"/>
                </a:solidFill>
                <a:latin typeface="Arial"/>
              </a:rPr>
              <a:t> risk </a:t>
            </a:r>
            <a:r>
              <a:rPr lang="en-GB" b="0" dirty="0">
                <a:solidFill>
                  <a:srgbClr val="202020"/>
                </a:solidFill>
                <a:latin typeface="Arial"/>
              </a:rPr>
              <a:t>needs to</a:t>
            </a:r>
            <a:r>
              <a:rPr b="0" dirty="0">
                <a:solidFill>
                  <a:srgbClr val="202020"/>
                </a:solidFill>
                <a:latin typeface="Arial"/>
              </a:rPr>
              <a:t> align with the customer's declared </a:t>
            </a:r>
            <a:r>
              <a:rPr lang="en-GB" b="0" dirty="0">
                <a:solidFill>
                  <a:srgbClr val="202020"/>
                </a:solidFill>
                <a:latin typeface="Arial"/>
              </a:rPr>
              <a:t>risk band</a:t>
            </a:r>
            <a:endParaRPr b="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FF370F-E9E0-9185-E296-301863E3777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1</a:t>
            </a:r>
            <a:r>
              <a:rPr lang="en-SG" sz="2000" b="1" baseline="30000" dirty="0">
                <a:solidFill>
                  <a:srgbClr val="156082"/>
                </a:solidFill>
              </a:rPr>
              <a:t>st</a:t>
            </a:r>
            <a:r>
              <a:rPr lang="en-SG" sz="2000" b="1" dirty="0">
                <a:solidFill>
                  <a:srgbClr val="156082"/>
                </a:solidFill>
              </a:rPr>
              <a:t> Open Public Dataset:</a:t>
            </a:r>
            <a:r>
              <a:rPr sz="2000" b="1" dirty="0">
                <a:solidFill>
                  <a:srgbClr val="156082"/>
                </a:solidFill>
              </a:rPr>
              <a:t> FAR-Trans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43297-7880-C1BA-E6E3-3D2FB77A6C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5BFD57D-C608-4206-A957-E3AE9F8FB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035987"/>
              </p:ext>
            </p:extLst>
          </p:nvPr>
        </p:nvGraphicFramePr>
        <p:xfrm>
          <a:off x="502918" y="2154593"/>
          <a:ext cx="8178800" cy="1245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080">
                  <a:extLst>
                    <a:ext uri="{9D8B030D-6E8A-4147-A177-3AD203B41FA5}">
                      <a16:colId xmlns:a16="http://schemas.microsoft.com/office/drawing/2014/main" val="361233124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337650652"/>
                    </a:ext>
                  </a:extLst>
                </a:gridCol>
                <a:gridCol w="932180">
                  <a:extLst>
                    <a:ext uri="{9D8B030D-6E8A-4147-A177-3AD203B41FA5}">
                      <a16:colId xmlns:a16="http://schemas.microsoft.com/office/drawing/2014/main" val="586071066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2592355887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17498722"/>
                    </a:ext>
                  </a:extLst>
                </a:gridCol>
                <a:gridCol w="481330">
                  <a:extLst>
                    <a:ext uri="{9D8B030D-6E8A-4147-A177-3AD203B41FA5}">
                      <a16:colId xmlns:a16="http://schemas.microsoft.com/office/drawing/2014/main" val="4198576758"/>
                    </a:ext>
                  </a:extLst>
                </a:gridCol>
                <a:gridCol w="798830">
                  <a:extLst>
                    <a:ext uri="{9D8B030D-6E8A-4147-A177-3AD203B41FA5}">
                      <a16:colId xmlns:a16="http://schemas.microsoft.com/office/drawing/2014/main" val="2358049171"/>
                    </a:ext>
                  </a:extLst>
                </a:gridCol>
                <a:gridCol w="519430">
                  <a:extLst>
                    <a:ext uri="{9D8B030D-6E8A-4147-A177-3AD203B41FA5}">
                      <a16:colId xmlns:a16="http://schemas.microsoft.com/office/drawing/2014/main" val="3755187017"/>
                    </a:ext>
                  </a:extLst>
                </a:gridCol>
                <a:gridCol w="500380">
                  <a:extLst>
                    <a:ext uri="{9D8B030D-6E8A-4147-A177-3AD203B41FA5}">
                      <a16:colId xmlns:a16="http://schemas.microsoft.com/office/drawing/2014/main" val="382887194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3455840503"/>
                    </a:ext>
                  </a:extLst>
                </a:gridCol>
              </a:tblGrid>
              <a:tr h="249067">
                <a:tc>
                  <a:txBody>
                    <a:bodyPr/>
                    <a:lstStyle/>
                    <a:p>
                      <a:r>
                        <a:rPr lang="en-GB" sz="900" dirty="0"/>
                        <a:t>Customer ID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Customer Type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Risk level</a:t>
                      </a:r>
                      <a:endParaRPr lang="en-SG" sz="9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Capacity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ISIN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Type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Date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Value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Units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Channel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72683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73D…534D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Conservative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Less than 30k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GRS260333000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2018-01-02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47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4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Branch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152782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2AF…44B2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Income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Less than 30k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GRS343313003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2021-07-12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1876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7000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Branch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401253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6F8…71BC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Premium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Balanced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30k to 80k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GRS343313003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2018-01-02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1869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1600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Internet Banking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692009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8C9…43BB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Premium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Aggressive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80k to 300k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GRS298343005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2022-09-22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500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80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Phone Banking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864582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4BA2B00-B177-456A-1A2C-3953B9160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47799"/>
              </p:ext>
            </p:extLst>
          </p:nvPr>
        </p:nvGraphicFramePr>
        <p:xfrm>
          <a:off x="502919" y="3626395"/>
          <a:ext cx="817879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458">
                  <a:extLst>
                    <a:ext uri="{9D8B030D-6E8A-4147-A177-3AD203B41FA5}">
                      <a16:colId xmlns:a16="http://schemas.microsoft.com/office/drawing/2014/main" val="3612331248"/>
                    </a:ext>
                  </a:extLst>
                </a:gridCol>
                <a:gridCol w="2277922">
                  <a:extLst>
                    <a:ext uri="{9D8B030D-6E8A-4147-A177-3AD203B41FA5}">
                      <a16:colId xmlns:a16="http://schemas.microsoft.com/office/drawing/2014/main" val="2337650652"/>
                    </a:ext>
                  </a:extLst>
                </a:gridCol>
                <a:gridCol w="796363">
                  <a:extLst>
                    <a:ext uri="{9D8B030D-6E8A-4147-A177-3AD203B41FA5}">
                      <a16:colId xmlns:a16="http://schemas.microsoft.com/office/drawing/2014/main" val="586071066"/>
                    </a:ext>
                  </a:extLst>
                </a:gridCol>
                <a:gridCol w="1334186">
                  <a:extLst>
                    <a:ext uri="{9D8B030D-6E8A-4147-A177-3AD203B41FA5}">
                      <a16:colId xmlns:a16="http://schemas.microsoft.com/office/drawing/2014/main" val="2592355887"/>
                    </a:ext>
                  </a:extLst>
                </a:gridCol>
                <a:gridCol w="658859">
                  <a:extLst>
                    <a:ext uri="{9D8B030D-6E8A-4147-A177-3AD203B41FA5}">
                      <a16:colId xmlns:a16="http://schemas.microsoft.com/office/drawing/2014/main" val="217498722"/>
                    </a:ext>
                  </a:extLst>
                </a:gridCol>
                <a:gridCol w="897069">
                  <a:extLst>
                    <a:ext uri="{9D8B030D-6E8A-4147-A177-3AD203B41FA5}">
                      <a16:colId xmlns:a16="http://schemas.microsoft.com/office/drawing/2014/main" val="4198576758"/>
                    </a:ext>
                  </a:extLst>
                </a:gridCol>
                <a:gridCol w="1053942">
                  <a:extLst>
                    <a:ext uri="{9D8B030D-6E8A-4147-A177-3AD203B41FA5}">
                      <a16:colId xmlns:a16="http://schemas.microsoft.com/office/drawing/2014/main" val="2358049171"/>
                    </a:ext>
                  </a:extLst>
                </a:gridCol>
              </a:tblGrid>
              <a:tr h="182723">
                <a:tc>
                  <a:txBody>
                    <a:bodyPr/>
                    <a:lstStyle/>
                    <a:p>
                      <a:r>
                        <a:rPr lang="en-GB" sz="900" dirty="0"/>
                        <a:t>ISIN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Asset Name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Category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Sub-category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Market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Date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Closing Price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72683"/>
                  </a:ext>
                </a:extLst>
              </a:tr>
              <a:tr h="199334">
                <a:tc>
                  <a:txBody>
                    <a:bodyPr/>
                    <a:lstStyle/>
                    <a:p>
                      <a:r>
                        <a:rPr lang="en-SG" sz="900" dirty="0"/>
                        <a:t>CH0198251305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Coca-Cola Hellenic Bottling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Stock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Large Cap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XATH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2022-11-29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23.240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152782"/>
                  </a:ext>
                </a:extLst>
              </a:tr>
              <a:tr h="199334">
                <a:tc>
                  <a:txBody>
                    <a:bodyPr/>
                    <a:lstStyle/>
                    <a:p>
                      <a:r>
                        <a:rPr lang="en-SG" sz="900" dirty="0"/>
                        <a:t>AU3CB0237881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Apple Inc.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Bond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Corporate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XETR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2020-05-27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67.893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401253"/>
                  </a:ext>
                </a:extLst>
              </a:tr>
              <a:tr h="199334">
                <a:tc>
                  <a:txBody>
                    <a:bodyPr/>
                    <a:lstStyle/>
                    <a:p>
                      <a:r>
                        <a:rPr lang="en-SG" sz="900" dirty="0"/>
                        <a:t>DE0005933956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iShares Core EURO STOXX 50 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MTF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XETR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2022-11-29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39.660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692009"/>
                  </a:ext>
                </a:extLst>
              </a:tr>
            </a:tbl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C0F31452-75FE-0546-4BE5-02984E960C98}"/>
              </a:ext>
            </a:extLst>
          </p:cNvPr>
          <p:cNvSpPr txBox="1">
            <a:spLocks/>
          </p:cNvSpPr>
          <p:nvPr/>
        </p:nvSpPr>
        <p:spPr>
          <a:xfrm>
            <a:off x="630936" y="1417320"/>
            <a:ext cx="7882127" cy="771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202020"/>
                </a:solidFill>
              </a:rPr>
              <a:t>Consisting of </a:t>
            </a:r>
            <a:r>
              <a:rPr lang="en-GB" b="1" dirty="0">
                <a:solidFill>
                  <a:srgbClr val="202020"/>
                </a:solidFill>
              </a:rPr>
              <a:t>29,090</a:t>
            </a:r>
            <a:r>
              <a:rPr lang="en-GB" dirty="0">
                <a:solidFill>
                  <a:srgbClr val="202020"/>
                </a:solidFill>
              </a:rPr>
              <a:t> customers and </a:t>
            </a:r>
            <a:r>
              <a:rPr lang="en-GB" b="1" dirty="0">
                <a:solidFill>
                  <a:srgbClr val="202020"/>
                </a:solidFill>
              </a:rPr>
              <a:t>806</a:t>
            </a:r>
            <a:r>
              <a:rPr lang="en-GB" dirty="0">
                <a:solidFill>
                  <a:srgbClr val="202020"/>
                </a:solidFill>
              </a:rPr>
              <a:t> assets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202020"/>
                </a:solidFill>
              </a:rPr>
              <a:t>Collected from a large EU institution between Jan 2018 and Nov 2022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22F55-0891-CC89-7A58-A635743EA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AE7E5A-A35E-EB3B-92CF-1789D243F65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0936" y="1417320"/>
            <a:ext cx="7972102" cy="1248762"/>
          </a:xfrm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0E2841"/>
                </a:solidFill>
              </a:rPr>
              <a:t>Benchmarked against 11 machine learning approaches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0E2841"/>
                </a:solidFill>
                <a:latin typeface="Arial"/>
              </a:rPr>
              <a:t>Evaluated on </a:t>
            </a:r>
            <a:r>
              <a:rPr lang="en-SG" b="1" dirty="0">
                <a:solidFill>
                  <a:srgbClr val="0E2841"/>
                </a:solidFill>
                <a:latin typeface="Arial"/>
              </a:rPr>
              <a:t>(1) ranking accuracy </a:t>
            </a:r>
            <a:r>
              <a:rPr lang="en-SG" dirty="0">
                <a:solidFill>
                  <a:srgbClr val="0E2841"/>
                </a:solidFill>
                <a:latin typeface="Arial"/>
              </a:rPr>
              <a:t>and (2) realised return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0E2841"/>
                </a:solidFill>
                <a:latin typeface="Arial"/>
              </a:rPr>
              <a:t>For ranking accuracy, </a:t>
            </a:r>
            <a:r>
              <a:rPr lang="en-SG" b="1" dirty="0">
                <a:solidFill>
                  <a:srgbClr val="0E2841"/>
                </a:solidFill>
                <a:latin typeface="Arial"/>
              </a:rPr>
              <a:t>Normalized Discounted Gain (nDCG@10) </a:t>
            </a:r>
            <a:r>
              <a:rPr lang="en-SG" dirty="0">
                <a:solidFill>
                  <a:srgbClr val="0E2841"/>
                </a:solidFill>
                <a:latin typeface="Arial"/>
              </a:rPr>
              <a:t>was used</a:t>
            </a:r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B8D7CEA-EF04-E2C5-EA68-B97272D90FD6}"/>
              </a:ext>
            </a:extLst>
          </p:cNvPr>
          <p:cNvGrpSpPr/>
          <p:nvPr/>
        </p:nvGrpSpPr>
        <p:grpSpPr>
          <a:xfrm>
            <a:off x="1179079" y="2372815"/>
            <a:ext cx="6299030" cy="1773067"/>
            <a:chOff x="580818" y="2620993"/>
            <a:chExt cx="7882127" cy="177306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82086D4-E663-0D4E-F7FB-9CA4790ECDE1}"/>
                    </a:ext>
                  </a:extLst>
                </p:cNvPr>
                <p:cNvSpPr txBox="1"/>
                <p:nvPr/>
              </p:nvSpPr>
              <p:spPr>
                <a:xfrm>
                  <a:off x="580818" y="3710283"/>
                  <a:ext cx="7882127" cy="683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GB" sz="1200" b="0" i="0" smtClean="0">
                            <a:latin typeface="Cambria Math" panose="02040503050406030204" pitchFamily="18" charset="0"/>
                          </a:rPr>
                          <m:t>nDCG</m:t>
                        </m:r>
                        <m:r>
                          <m:rPr>
                            <m:nor/>
                          </m:rPr>
                          <a:rPr lang="en-GB" sz="1200" b="0" i="0" smtClean="0">
                            <a:latin typeface="Cambria Math" panose="02040503050406030204" pitchFamily="18" charset="0"/>
                          </a:rPr>
                          <m:t>@10 </m:t>
                        </m:r>
                        <m:r>
                          <a:rPr lang="en-GB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en-GB" sz="1200" b="0" i="1" smtClean="0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SG" sz="1200" b="0" i="1" smtClean="0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b="0" i="1" smtClean="0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b="0" i="1" smtClean="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 b="0" i="0" smtClean="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b="0" i="1" smtClean="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b="0" i="1" smtClean="0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1+1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GB" sz="12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+…+</m:t>
                            </m:r>
                            <m:f>
                              <m:fPr>
                                <m:ctrlPr>
                                  <a:rPr lang="en-GB" sz="1200" i="1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GB" sz="12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1+10</m:t>
                                    </m:r>
                                  </m:e>
                                </m:func>
                              </m:den>
                            </m:f>
                          </m:num>
                          <m:den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SG" sz="12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1+2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i="1">
                                <a:latin typeface="Cambria Math" panose="02040503050406030204" pitchFamily="18" charset="0"/>
                              </a:rPr>
                              <m:t>+…+</m:t>
                            </m:r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SG" sz="1200" b="0" i="1" smtClean="0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1+10</m:t>
                                    </m:r>
                                  </m:e>
                                </m:func>
                              </m:den>
                            </m:f>
                          </m:den>
                        </m:f>
                        <m: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=0.681</m:t>
                        </m:r>
                      </m:oMath>
                    </m:oMathPara>
                  </a14:m>
                  <a:endParaRPr lang="en-SG" sz="1200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82086D4-E663-0D4E-F7FB-9CA4790ECD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0818" y="3710283"/>
                  <a:ext cx="7882127" cy="683777"/>
                </a:xfrm>
                <a:prstGeom prst="rect">
                  <a:avLst/>
                </a:prstGeom>
                <a:blipFill>
                  <a:blip r:embed="rId2"/>
                  <a:stretch>
                    <a:fillRect b="-893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D22DE90D-696A-5E47-8A29-51B245512314}"/>
                </a:ext>
              </a:extLst>
            </p:cNvPr>
            <p:cNvGrpSpPr/>
            <p:nvPr/>
          </p:nvGrpSpPr>
          <p:grpSpPr>
            <a:xfrm>
              <a:off x="707739" y="2620993"/>
              <a:ext cx="7005931" cy="951065"/>
              <a:chOff x="134862" y="2548656"/>
              <a:chExt cx="7005931" cy="951065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9494828B-3F40-BE5C-D2A2-72216B5F8BB0}"/>
                  </a:ext>
                </a:extLst>
              </p:cNvPr>
              <p:cNvSpPr/>
              <p:nvPr/>
            </p:nvSpPr>
            <p:spPr>
              <a:xfrm>
                <a:off x="2060153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4ACF0284-ED0A-E8A2-BAD9-820331F95D28}"/>
                  </a:ext>
                </a:extLst>
              </p:cNvPr>
              <p:cNvSpPr/>
              <p:nvPr/>
            </p:nvSpPr>
            <p:spPr>
              <a:xfrm>
                <a:off x="2571009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CB37FA5-215A-D095-461F-AB5990B85683}"/>
                  </a:ext>
                </a:extLst>
              </p:cNvPr>
              <p:cNvSpPr/>
              <p:nvPr/>
            </p:nvSpPr>
            <p:spPr>
              <a:xfrm>
                <a:off x="3081865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26D58055-FAE0-3DC2-C666-405023B796FD}"/>
                  </a:ext>
                </a:extLst>
              </p:cNvPr>
              <p:cNvSpPr/>
              <p:nvPr/>
            </p:nvSpPr>
            <p:spPr>
              <a:xfrm>
                <a:off x="3592721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F8B64B45-92E6-1A24-3FD0-6EE84992E381}"/>
                  </a:ext>
                </a:extLst>
              </p:cNvPr>
              <p:cNvSpPr/>
              <p:nvPr/>
            </p:nvSpPr>
            <p:spPr>
              <a:xfrm>
                <a:off x="4103577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8DA53106-7F6E-2CBE-8C57-ACEC35DC61BE}"/>
                  </a:ext>
                </a:extLst>
              </p:cNvPr>
              <p:cNvSpPr/>
              <p:nvPr/>
            </p:nvSpPr>
            <p:spPr>
              <a:xfrm>
                <a:off x="4614433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E3690FA-4661-F4D5-8D2E-D494B7AFD046}"/>
                  </a:ext>
                </a:extLst>
              </p:cNvPr>
              <p:cNvSpPr/>
              <p:nvPr/>
            </p:nvSpPr>
            <p:spPr>
              <a:xfrm>
                <a:off x="5125289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B582C22-4A95-B80B-18B9-7DC5CB8A830B}"/>
                  </a:ext>
                </a:extLst>
              </p:cNvPr>
              <p:cNvSpPr/>
              <p:nvPr/>
            </p:nvSpPr>
            <p:spPr>
              <a:xfrm>
                <a:off x="5636145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76D7E2-B6B3-31A4-D014-78E80C3C23AE}"/>
                  </a:ext>
                </a:extLst>
              </p:cNvPr>
              <p:cNvSpPr/>
              <p:nvPr/>
            </p:nvSpPr>
            <p:spPr>
              <a:xfrm>
                <a:off x="6147001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56D91FD-A21E-0CEE-FE28-B231EA7B7093}"/>
                  </a:ext>
                </a:extLst>
              </p:cNvPr>
              <p:cNvSpPr/>
              <p:nvPr/>
            </p:nvSpPr>
            <p:spPr>
              <a:xfrm>
                <a:off x="6657855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7C086D9D-81AD-1970-DCDF-4F3EAF185438}"/>
                  </a:ext>
                </a:extLst>
              </p:cNvPr>
              <p:cNvSpPr txBox="1"/>
              <p:nvPr/>
            </p:nvSpPr>
            <p:spPr>
              <a:xfrm>
                <a:off x="824633" y="2880484"/>
                <a:ext cx="11347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SG" sz="1200" dirty="0"/>
                  <a:t>Predicted: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B8BEAAB-B250-BC2A-4A07-D74B32084D70}"/>
                  </a:ext>
                </a:extLst>
              </p:cNvPr>
              <p:cNvSpPr txBox="1"/>
              <p:nvPr/>
            </p:nvSpPr>
            <p:spPr>
              <a:xfrm>
                <a:off x="134862" y="3220501"/>
                <a:ext cx="182450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SG" sz="1200" dirty="0"/>
                  <a:t>Reordered (ideal):</a:t>
                </a: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5987F826-7E9F-EFC5-F2D4-422F8E096251}"/>
                  </a:ext>
                </a:extLst>
              </p:cNvPr>
              <p:cNvSpPr/>
              <p:nvPr/>
            </p:nvSpPr>
            <p:spPr>
              <a:xfrm>
                <a:off x="4616478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C1AB1ED7-E07A-AECD-E55F-250A6CA7E6AB}"/>
                  </a:ext>
                </a:extLst>
              </p:cNvPr>
              <p:cNvSpPr/>
              <p:nvPr/>
            </p:nvSpPr>
            <p:spPr>
              <a:xfrm>
                <a:off x="2571418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7CDA2B1-25EE-DBD0-B9BA-54E1344227EA}"/>
                  </a:ext>
                </a:extLst>
              </p:cNvPr>
              <p:cNvSpPr/>
              <p:nvPr/>
            </p:nvSpPr>
            <p:spPr>
              <a:xfrm>
                <a:off x="5127743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EA00FFBF-DA53-215A-BA6C-EAE203E302CD}"/>
                  </a:ext>
                </a:extLst>
              </p:cNvPr>
              <p:cNvSpPr/>
              <p:nvPr/>
            </p:nvSpPr>
            <p:spPr>
              <a:xfrm>
                <a:off x="3082683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F304B37-8D7F-76F5-C283-706F360FA91A}"/>
                  </a:ext>
                </a:extLst>
              </p:cNvPr>
              <p:cNvSpPr/>
              <p:nvPr/>
            </p:nvSpPr>
            <p:spPr>
              <a:xfrm>
                <a:off x="5639008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BE35C5E-D8FC-90B5-8628-996B9B2C7C27}"/>
                  </a:ext>
                </a:extLst>
              </p:cNvPr>
              <p:cNvSpPr/>
              <p:nvPr/>
            </p:nvSpPr>
            <p:spPr>
              <a:xfrm>
                <a:off x="3593948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FFD9EBF5-9CD2-4902-A996-C06F07C3A716}"/>
                  </a:ext>
                </a:extLst>
              </p:cNvPr>
              <p:cNvSpPr/>
              <p:nvPr/>
            </p:nvSpPr>
            <p:spPr>
              <a:xfrm>
                <a:off x="6150273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D9AF923F-F373-7885-0424-4D69EFC630C0}"/>
                  </a:ext>
                </a:extLst>
              </p:cNvPr>
              <p:cNvSpPr/>
              <p:nvPr/>
            </p:nvSpPr>
            <p:spPr>
              <a:xfrm>
                <a:off x="6661534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BB9FEFB6-B8FE-7E48-D107-DEE76C93E71E}"/>
                  </a:ext>
                </a:extLst>
              </p:cNvPr>
              <p:cNvSpPr/>
              <p:nvPr/>
            </p:nvSpPr>
            <p:spPr>
              <a:xfrm>
                <a:off x="2060153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9CD5D6F5-6B1C-88D0-3D73-E794425E62E4}"/>
                  </a:ext>
                </a:extLst>
              </p:cNvPr>
              <p:cNvSpPr/>
              <p:nvPr/>
            </p:nvSpPr>
            <p:spPr>
              <a:xfrm>
                <a:off x="4105213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ACFB3858-0B38-1FF6-3A8B-7983F02243F9}"/>
                  </a:ext>
                </a:extLst>
              </p:cNvPr>
              <p:cNvSpPr/>
              <p:nvPr/>
            </p:nvSpPr>
            <p:spPr>
              <a:xfrm>
                <a:off x="2060153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95526F33-3062-795E-2223-90FC42CB12BA}"/>
                  </a:ext>
                </a:extLst>
              </p:cNvPr>
              <p:cNvSpPr/>
              <p:nvPr/>
            </p:nvSpPr>
            <p:spPr>
              <a:xfrm>
                <a:off x="2571009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7203A5D2-380A-7904-9E09-B590384FA5C8}"/>
                  </a:ext>
                </a:extLst>
              </p:cNvPr>
              <p:cNvSpPr/>
              <p:nvPr/>
            </p:nvSpPr>
            <p:spPr>
              <a:xfrm>
                <a:off x="3081865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335A8F72-9FAD-48B0-BA01-672829AC475E}"/>
                  </a:ext>
                </a:extLst>
              </p:cNvPr>
              <p:cNvSpPr/>
              <p:nvPr/>
            </p:nvSpPr>
            <p:spPr>
              <a:xfrm>
                <a:off x="3592721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B236FD4C-9396-09DB-7854-B9CD0A11D2AF}"/>
                  </a:ext>
                </a:extLst>
              </p:cNvPr>
              <p:cNvSpPr/>
              <p:nvPr/>
            </p:nvSpPr>
            <p:spPr>
              <a:xfrm>
                <a:off x="4103577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C32F1A3D-29CC-A483-188A-A4CA29574BA3}"/>
                  </a:ext>
                </a:extLst>
              </p:cNvPr>
              <p:cNvSpPr/>
              <p:nvPr/>
            </p:nvSpPr>
            <p:spPr>
              <a:xfrm>
                <a:off x="4614433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5A29D8F-D1D7-32F8-009C-3A88A1E9D415}"/>
                  </a:ext>
                </a:extLst>
              </p:cNvPr>
              <p:cNvSpPr/>
              <p:nvPr/>
            </p:nvSpPr>
            <p:spPr>
              <a:xfrm>
                <a:off x="5125289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BDDAE659-430C-73CC-FA7D-480673A4694F}"/>
                  </a:ext>
                </a:extLst>
              </p:cNvPr>
              <p:cNvSpPr/>
              <p:nvPr/>
            </p:nvSpPr>
            <p:spPr>
              <a:xfrm>
                <a:off x="5636145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7999BB06-A737-C587-EE2D-A5E0C9479FC8}"/>
                  </a:ext>
                </a:extLst>
              </p:cNvPr>
              <p:cNvSpPr/>
              <p:nvPr/>
            </p:nvSpPr>
            <p:spPr>
              <a:xfrm>
                <a:off x="6147001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387FA08F-ACD0-7E5B-7056-A98DCDF97120}"/>
                  </a:ext>
                </a:extLst>
              </p:cNvPr>
              <p:cNvSpPr/>
              <p:nvPr/>
            </p:nvSpPr>
            <p:spPr>
              <a:xfrm>
                <a:off x="6597227" y="2556449"/>
                <a:ext cx="543566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8CD7AC5-0BDA-1064-4DA4-C64A168A0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The FAR-Trans benchmarking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15AA8-81FE-97A9-60BF-CC74A9A11B1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  <p:extLst>
      <p:ext uri="{BB962C8B-B14F-4D97-AF65-F5344CB8AC3E}">
        <p14:creationId xmlns:p14="http://schemas.microsoft.com/office/powerpoint/2010/main" val="169625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7FA86-BCA6-2035-5FFA-35F53267B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F91F343-41FD-A9CE-D076-F2A66C2778FA}"/>
                  </a:ext>
                </a:extLst>
              </p:cNvPr>
              <p:cNvSpPr>
                <a:spLocks noGrp="1"/>
              </p:cNvSpPr>
              <p:nvPr>
                <p:ph type="body" idx="2"/>
              </p:nvPr>
            </p:nvSpPr>
            <p:spPr>
              <a:xfrm>
                <a:off x="630936" y="1417319"/>
                <a:ext cx="7882127" cy="2794848"/>
              </a:xfrm>
            </p:spPr>
            <p:txBody>
              <a:bodyPr wrap="square"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</a:rPr>
                  <a:t>Benchmarked against 11 machine learning approaches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  <a:latin typeface="Arial"/>
                  </a:rPr>
                  <a:t>Evaluated on (1) ranking accuracy and </a:t>
                </a:r>
                <a:r>
                  <a:rPr lang="en-SG" b="1" dirty="0">
                    <a:solidFill>
                      <a:srgbClr val="0E2841"/>
                    </a:solidFill>
                    <a:latin typeface="Arial"/>
                  </a:rPr>
                  <a:t>(2) realised return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  <a:latin typeface="Arial"/>
                  </a:rPr>
                  <a:t>For realised return, </a:t>
                </a:r>
                <a:r>
                  <a:rPr lang="en-SG" b="1" dirty="0">
                    <a:solidFill>
                      <a:srgbClr val="0E2841"/>
                    </a:solidFill>
                    <a:latin typeface="Arial"/>
                  </a:rPr>
                  <a:t>Return on Investment (</a:t>
                </a:r>
                <a:r>
                  <a:rPr lang="en-SG" b="1" dirty="0">
                    <a:solidFill>
                      <a:srgbClr val="0E2841"/>
                    </a:solidFill>
                  </a:rPr>
                  <a:t>ROI</a:t>
                </a:r>
                <a:r>
                  <a:rPr lang="en-SG" b="1" dirty="0">
                    <a:solidFill>
                      <a:srgbClr val="0E2841"/>
                    </a:solidFill>
                    <a:latin typeface="Arial"/>
                  </a:rPr>
                  <a:t>) </a:t>
                </a:r>
                <a:r>
                  <a:rPr lang="en-SG" dirty="0">
                    <a:solidFill>
                      <a:srgbClr val="0E2841"/>
                    </a:solidFill>
                    <a:latin typeface="Arial"/>
                  </a:rPr>
                  <a:t>was used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0E2841"/>
                  </a:solidFill>
                  <a:latin typeface="Arial"/>
                </a:endParaRPr>
              </a:p>
              <a:p>
                <a:pPr marL="228600" indent="0"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>
                          <a:latin typeface="Cambria Math" panose="02040503050406030204" pitchFamily="18" charset="0"/>
                        </a:rPr>
                        <m:t>𝑅𝑂</m:t>
                      </m:r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𝑚𝑜𝑛𝑡h</m:t>
                          </m:r>
                        </m:sub>
                      </m:sSub>
                      <m:r>
                        <a:rPr lang="en-SG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SG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𝑃𝑟𝑖𝑐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𝑒𝑛𝑑</m:t>
                                      </m:r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 −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𝑃𝑟𝑖𝑐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𝑠𝑡𝑎𝑟𝑡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𝑃𝑟𝑖𝑐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𝑠𝑡𝑎𝑟𝑡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num>
                            <m:den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166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 (5.5 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𝑚𝑜𝑛𝑡h𝑠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228600" indent="0">
                  <a:spcBef>
                    <a:spcPts val="200"/>
                  </a:spcBef>
                  <a:spcAft>
                    <a:spcPts val="600"/>
                  </a:spcAft>
                  <a:buNone/>
                </a:pPr>
                <a:br>
                  <a:rPr lang="en-GB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>
                          <a:latin typeface="Cambria Math" panose="02040503050406030204" pitchFamily="18" charset="0"/>
                        </a:rPr>
                        <m:t>𝑅𝑂𝐼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@10=</m:t>
                      </m:r>
                      <m:f>
                        <m:f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SG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𝑠𝑠𝑒𝑡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  <m:e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𝑅𝑂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𝑚𝑜𝑛𝑡h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num>
                        <m:den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SG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F91F343-41FD-A9CE-D076-F2A66C2778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630936" y="1417319"/>
                <a:ext cx="7882127" cy="2794848"/>
              </a:xfrm>
              <a:blipFill>
                <a:blip r:embed="rId3"/>
                <a:stretch>
                  <a:fillRect t="-43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E36BD14-5BCB-F9EC-B9BC-D59BC659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The FAR-Trans benchmarking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CA594-31AB-3835-90D9-F1E561586EB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  <p:extLst>
      <p:ext uri="{BB962C8B-B14F-4D97-AF65-F5344CB8AC3E}">
        <p14:creationId xmlns:p14="http://schemas.microsoft.com/office/powerpoint/2010/main" val="218414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Filling in the missing gap of risk suitability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0936" y="1417320"/>
            <a:ext cx="7882127" cy="1060634"/>
          </a:xfrm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202020"/>
                </a:solidFill>
                <a:latin typeface="Arial"/>
              </a:rPr>
              <a:t>Current gap: Risk suitability </a:t>
            </a:r>
            <a:r>
              <a:rPr lang="en-SG" b="0" dirty="0">
                <a:solidFill>
                  <a:srgbClr val="202020"/>
                </a:solidFill>
                <a:latin typeface="Arial"/>
              </a:rPr>
              <a:t>is not evaluated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202020"/>
                </a:solidFill>
              </a:rPr>
              <a:t>Existing Work: Post-hoc re-ranking of recommendations to adjust for risk </a:t>
            </a:r>
            <a:r>
              <a:rPr lang="en-SG" baseline="30000" dirty="0">
                <a:solidFill>
                  <a:srgbClr val="202020"/>
                </a:solidFill>
              </a:rPr>
              <a:t>[1]</a:t>
            </a:r>
            <a:endParaRPr lang="en-SG" b="0" dirty="0">
              <a:solidFill>
                <a:srgbClr val="202020"/>
              </a:solidFill>
              <a:latin typeface="Arial"/>
            </a:endParaRP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b="1" dirty="0">
                <a:solidFill>
                  <a:srgbClr val="202020"/>
                </a:solidFill>
                <a:latin typeface="Arial"/>
              </a:rPr>
              <a:t>3 contributions:</a:t>
            </a:r>
            <a:endParaRPr lang="en-SG" b="1" baseline="30000"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556D6-7EC0-7A6B-6974-5B3AA3D937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D03445-E7FF-CB50-6438-61C382CF9229}"/>
              </a:ext>
            </a:extLst>
          </p:cNvPr>
          <p:cNvSpPr txBox="1"/>
          <p:nvPr/>
        </p:nvSpPr>
        <p:spPr>
          <a:xfrm>
            <a:off x="2135996" y="4551819"/>
            <a:ext cx="51280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800" i="1" dirty="0"/>
              <a:t>[1] Sakurai et al., Risk-Aware Utility Re-Ranking for Financial Asset Recommendation (RURA), WSDM '26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7E5AE26-E952-312A-237D-069B3A6F4823}"/>
              </a:ext>
            </a:extLst>
          </p:cNvPr>
          <p:cNvGrpSpPr/>
          <p:nvPr/>
        </p:nvGrpSpPr>
        <p:grpSpPr>
          <a:xfrm>
            <a:off x="811754" y="2477953"/>
            <a:ext cx="2343684" cy="1127294"/>
            <a:chOff x="431800" y="2477954"/>
            <a:chExt cx="2819399" cy="90480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964D454A-5F1B-95BA-194E-2638C34CC784}"/>
                </a:ext>
              </a:extLst>
            </p:cNvPr>
            <p:cNvSpPr/>
            <p:nvPr/>
          </p:nvSpPr>
          <p:spPr>
            <a:xfrm>
              <a:off x="431800" y="2477954"/>
              <a:ext cx="2819399" cy="904804"/>
            </a:xfrm>
            <a:prstGeom prst="roundRect">
              <a:avLst>
                <a:gd name="adj" fmla="val 10408"/>
              </a:avLst>
            </a:prstGeom>
            <a:noFill/>
            <a:ln w="19050">
              <a:solidFill>
                <a:srgbClr val="C6921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84AD078-8116-ACB3-D47F-FEACA8D25CDD}"/>
                </a:ext>
              </a:extLst>
            </p:cNvPr>
            <p:cNvGrpSpPr/>
            <p:nvPr/>
          </p:nvGrpSpPr>
          <p:grpSpPr>
            <a:xfrm>
              <a:off x="561188" y="2533130"/>
              <a:ext cx="2500588" cy="753447"/>
              <a:chOff x="946422" y="2477954"/>
              <a:chExt cx="2500588" cy="753447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FC398D8-989C-AC13-F48D-60A87340B689}"/>
                  </a:ext>
                </a:extLst>
              </p:cNvPr>
              <p:cNvSpPr/>
              <p:nvPr/>
            </p:nvSpPr>
            <p:spPr>
              <a:xfrm>
                <a:off x="946422" y="2523228"/>
                <a:ext cx="241804" cy="162868"/>
              </a:xfrm>
              <a:prstGeom prst="ellipse">
                <a:avLst/>
              </a:prstGeom>
              <a:solidFill>
                <a:srgbClr val="C6921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/>
                  <a:t>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DDE854C-27DB-15F2-C13A-6B5BF965A3D4}"/>
                  </a:ext>
                </a:extLst>
              </p:cNvPr>
              <p:cNvSpPr txBox="1"/>
              <p:nvPr/>
            </p:nvSpPr>
            <p:spPr>
              <a:xfrm>
                <a:off x="1289097" y="2477954"/>
                <a:ext cx="2157913" cy="7534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100" b="1" dirty="0"/>
                  <a:t>Analytical Study:</a:t>
                </a:r>
              </a:p>
              <a:p>
                <a:r>
                  <a:rPr lang="en-SG" sz="1100" dirty="0"/>
                  <a:t>Measure of discoherence (mismatch of transacted asset to customer’s risk band)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233F3FA-7BB1-9B90-3F32-55E75D31CF67}"/>
              </a:ext>
            </a:extLst>
          </p:cNvPr>
          <p:cNvGrpSpPr/>
          <p:nvPr/>
        </p:nvGrpSpPr>
        <p:grpSpPr>
          <a:xfrm>
            <a:off x="3387611" y="2477954"/>
            <a:ext cx="2343684" cy="1127294"/>
            <a:chOff x="431800" y="2477955"/>
            <a:chExt cx="2819399" cy="904804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3887AB0-9766-26E6-7FBA-9EB22F16887F}"/>
                </a:ext>
              </a:extLst>
            </p:cNvPr>
            <p:cNvSpPr/>
            <p:nvPr/>
          </p:nvSpPr>
          <p:spPr>
            <a:xfrm>
              <a:off x="431800" y="2477955"/>
              <a:ext cx="2819399" cy="904804"/>
            </a:xfrm>
            <a:prstGeom prst="roundRect">
              <a:avLst>
                <a:gd name="adj" fmla="val 10408"/>
              </a:avLst>
            </a:prstGeom>
            <a:noFill/>
            <a:ln w="19050">
              <a:solidFill>
                <a:srgbClr val="C6921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3E8CCB-5664-7ADE-62D6-A5105EE2A946}"/>
                </a:ext>
              </a:extLst>
            </p:cNvPr>
            <p:cNvGrpSpPr/>
            <p:nvPr/>
          </p:nvGrpSpPr>
          <p:grpSpPr>
            <a:xfrm>
              <a:off x="561188" y="2533130"/>
              <a:ext cx="2500588" cy="617579"/>
              <a:chOff x="946422" y="2477954"/>
              <a:chExt cx="2500588" cy="617579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882324D8-E010-6BFE-2007-6939CAF84D61}"/>
                  </a:ext>
                </a:extLst>
              </p:cNvPr>
              <p:cNvSpPr/>
              <p:nvPr/>
            </p:nvSpPr>
            <p:spPr>
              <a:xfrm>
                <a:off x="946422" y="2523228"/>
                <a:ext cx="241804" cy="162868"/>
              </a:xfrm>
              <a:prstGeom prst="ellipse">
                <a:avLst/>
              </a:prstGeom>
              <a:solidFill>
                <a:srgbClr val="C6921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2</a:t>
                </a:r>
                <a:endParaRPr lang="en-SG" sz="12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3109B2-CA64-3B1D-8994-8CCC446DE411}"/>
                  </a:ext>
                </a:extLst>
              </p:cNvPr>
              <p:cNvSpPr txBox="1"/>
              <p:nvPr/>
            </p:nvSpPr>
            <p:spPr>
              <a:xfrm>
                <a:off x="1289097" y="2477954"/>
                <a:ext cx="2157913" cy="617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100" b="1" dirty="0"/>
                  <a:t>Methodology</a:t>
                </a:r>
              </a:p>
              <a:p>
                <a:r>
                  <a:rPr lang="en-SG" sz="1100" dirty="0"/>
                  <a:t>Risk-based segmentation LightGCN modelling with 2 extra extensions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DFE12C-9DD5-3710-EE34-18DEB2C156ED}"/>
              </a:ext>
            </a:extLst>
          </p:cNvPr>
          <p:cNvGrpSpPr/>
          <p:nvPr/>
        </p:nvGrpSpPr>
        <p:grpSpPr>
          <a:xfrm>
            <a:off x="5963468" y="2477954"/>
            <a:ext cx="2343684" cy="1127292"/>
            <a:chOff x="431800" y="2477954"/>
            <a:chExt cx="2819399" cy="904802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586AE49-31C4-4B7D-2740-2ABCB88D2545}"/>
                </a:ext>
              </a:extLst>
            </p:cNvPr>
            <p:cNvSpPr/>
            <p:nvPr/>
          </p:nvSpPr>
          <p:spPr>
            <a:xfrm>
              <a:off x="431800" y="2477954"/>
              <a:ext cx="2819399" cy="904802"/>
            </a:xfrm>
            <a:prstGeom prst="roundRect">
              <a:avLst>
                <a:gd name="adj" fmla="val 10408"/>
              </a:avLst>
            </a:prstGeom>
            <a:noFill/>
            <a:ln w="19050">
              <a:solidFill>
                <a:srgbClr val="C6921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sz="120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4D7F8E-EDD2-9DFE-AE49-8035360F8B22}"/>
                </a:ext>
              </a:extLst>
            </p:cNvPr>
            <p:cNvGrpSpPr/>
            <p:nvPr/>
          </p:nvGrpSpPr>
          <p:grpSpPr>
            <a:xfrm>
              <a:off x="561188" y="2533130"/>
              <a:ext cx="2500588" cy="753447"/>
              <a:chOff x="946422" y="2477954"/>
              <a:chExt cx="2500588" cy="753447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C0568FC-F8C3-46B5-3E8E-535A9FF7733B}"/>
                  </a:ext>
                </a:extLst>
              </p:cNvPr>
              <p:cNvSpPr/>
              <p:nvPr/>
            </p:nvSpPr>
            <p:spPr>
              <a:xfrm>
                <a:off x="946422" y="2523228"/>
                <a:ext cx="241804" cy="162868"/>
              </a:xfrm>
              <a:prstGeom prst="ellipse">
                <a:avLst/>
              </a:prstGeom>
              <a:solidFill>
                <a:srgbClr val="C6921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3</a:t>
                </a:r>
                <a:endParaRPr lang="en-SG" sz="1200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CCE2C5-239B-11C5-7605-CD952274AFF7}"/>
                  </a:ext>
                </a:extLst>
              </p:cNvPr>
              <p:cNvSpPr txBox="1"/>
              <p:nvPr/>
            </p:nvSpPr>
            <p:spPr>
              <a:xfrm>
                <a:off x="1289097" y="2477954"/>
                <a:ext cx="2157913" cy="7534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SG" sz="1100" b="1" dirty="0"/>
                  <a:t>Experimental Study:</a:t>
                </a:r>
              </a:p>
              <a:p>
                <a:r>
                  <a:rPr lang="en-SG" sz="1100" dirty="0"/>
                  <a:t>Ablation studies;  Evaluated on ranking accuracy, returns and risk suitability</a:t>
                </a: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02 </a:t>
            </a:r>
            <a:r>
              <a:rPr b="1" dirty="0"/>
              <a:t>Analytical </a:t>
            </a:r>
            <a:r>
              <a:rPr lang="en-SG" b="1" dirty="0"/>
              <a:t>Study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FAR-Trans Dataset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Measuring Risk Suitability via Profile Coherence</a:t>
            </a:r>
            <a:endParaRPr sz="2000" b="1" dirty="0">
              <a:solidFill>
                <a:srgbClr val="15608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3347720"/>
              </a:xfrm>
            </p:spPr>
            <p:txBody>
              <a:bodyPr wrap="square"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</a:rPr>
                  <a:t>For customers, use existing customer’s risk band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ar-AE" dirty="0">
                    <a:solidFill>
                      <a:srgbClr val="0E2841"/>
                    </a:solidFill>
                  </a:rPr>
                  <a:t>:</a:t>
                </a:r>
              </a:p>
              <a:p>
                <a:pPr marL="971550" lvl="1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SG" sz="1200" dirty="0">
                    <a:solidFill>
                      <a:srgbClr val="0E2841"/>
                    </a:solidFill>
                  </a:rPr>
                  <a:t>Ordinal scale of 0 to 3 mapped to Conservative, Income, Balanced and Aggressive</a:t>
                </a:r>
                <a:endParaRPr lang="en-SG" sz="1200" b="1" dirty="0">
                  <a:solidFill>
                    <a:srgbClr val="0E2841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202020"/>
                    </a:solidFill>
                  </a:rPr>
                  <a:t>For </a:t>
                </a:r>
                <a:r>
                  <a:rPr lang="en-SG" dirty="0">
                    <a:solidFill>
                      <a:srgbClr val="0E2841"/>
                    </a:solidFill>
                  </a:rPr>
                  <a:t>assets,</a:t>
                </a:r>
                <a:r>
                  <a:rPr lang="en-SG" dirty="0">
                    <a:solidFill>
                      <a:srgbClr val="202020"/>
                    </a:solidFill>
                  </a:rPr>
                  <a:t> </a:t>
                </a:r>
                <a:r>
                  <a:rPr lang="en-SG" b="0" dirty="0">
                    <a:solidFill>
                      <a:srgbClr val="202020"/>
                    </a:solidFill>
                  </a:rPr>
                  <a:t>we apply a </a:t>
                </a:r>
                <a:r>
                  <a:rPr lang="en-SG" dirty="0">
                    <a:solidFill>
                      <a:srgbClr val="0E2841"/>
                    </a:solidFill>
                  </a:rPr>
                  <a:t>3-step hierarchical heuristic</a:t>
                </a:r>
                <a:r>
                  <a:rPr lang="en-SG" dirty="0">
                    <a:solidFill>
                      <a:srgbClr val="202020"/>
                    </a:solidFill>
                  </a:rPr>
                  <a:t> to map each asset to a band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SG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202020"/>
                    </a:solidFill>
                  </a:rPr>
                  <a:t>For a given customer (</a:t>
                </a:r>
                <a14:m>
                  <m:oMath xmlns:m="http://schemas.openxmlformats.org/officeDocument/2006/math">
                    <m:r>
                      <a:rPr lang="en-SG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 and purchased/recommended asset (</a:t>
                </a:r>
                <a14:m>
                  <m:oMath xmlns:m="http://schemas.openxmlformats.org/officeDocument/2006/math">
                    <m:r>
                      <a:rPr lang="en-SG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Pairwise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discordance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SG" dirty="0"/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Coherent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pair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SG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0E2841"/>
                    </a:solidFill>
                  </a:rPr>
                  <a:t>±1 tolerance is an </a:t>
                </a:r>
                <a:r>
                  <a:rPr lang="en-GB" dirty="0">
                    <a:solidFill>
                      <a:srgbClr val="202020"/>
                    </a:solidFill>
                  </a:rPr>
                  <a:t>allowance for borderline suitability</a:t>
                </a: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202020"/>
                    </a:solidFill>
                  </a:rPr>
                  <a:t>Following this, </a:t>
                </a:r>
                <a:r>
                  <a:rPr lang="en-SG" b="1" dirty="0">
                    <a:solidFill>
                      <a:srgbClr val="202020"/>
                    </a:solidFill>
                  </a:rPr>
                  <a:t>Profile Coherence </a:t>
                </a:r>
                <a:r>
                  <a:rPr lang="en-SG" dirty="0">
                    <a:solidFill>
                      <a:srgbClr val="202020"/>
                    </a:solidFill>
                  </a:rPr>
                  <a:t>metric</a:t>
                </a:r>
                <a:r>
                  <a:rPr lang="en-SG" b="1" dirty="0">
                    <a:solidFill>
                      <a:srgbClr val="202020"/>
                    </a:solidFill>
                  </a:rPr>
                  <a:t> </a:t>
                </a:r>
                <a:r>
                  <a:rPr lang="en-SG" dirty="0">
                    <a:solidFill>
                      <a:srgbClr val="202020"/>
                    </a:solidFill>
                  </a:rPr>
                  <a:t>defined as: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SG" i="1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SG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Number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coherent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pairs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</p:txBody>
          </p:sp>
        </mc:Choice>
        <mc:Fallback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334772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B0231-C5F0-C8D0-AD04-F0F9AE1809B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Discordance is prevalent</a:t>
            </a:r>
            <a:r>
              <a:rPr lang="en-SG" sz="2000" b="1" dirty="0">
                <a:solidFill>
                  <a:srgbClr val="156082"/>
                </a:solidFill>
              </a:rPr>
              <a:t> </a:t>
            </a:r>
            <a:r>
              <a:rPr lang="en-GB" sz="2000" dirty="0">
                <a:solidFill>
                  <a:srgbClr val="156082"/>
                </a:solidFill>
              </a:rPr>
              <a:t>and it is a customer-level trait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212165-9E5D-094E-F3AC-AB81D53FB79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pic>
        <p:nvPicPr>
          <p:cNvPr id="9" name="Picture 8" descr="self_discordance.png">
            <a:extLst>
              <a:ext uri="{FF2B5EF4-FFF2-40B4-BE49-F238E27FC236}">
                <a16:creationId xmlns:a16="http://schemas.microsoft.com/office/drawing/2014/main" id="{1AE00C0E-945A-6E90-4BE9-4FAE7EEAF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5095" y="1790769"/>
            <a:ext cx="4493809" cy="25201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FA0D524-0E32-D5AA-DEDA-3F9E58703C5A}"/>
                  </a:ext>
                </a:extLst>
              </p:cNvPr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2194560"/>
              </a:xfrm>
            </p:spPr>
            <p:txBody>
              <a:bodyPr wrap="square"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0E2841"/>
                    </a:solidFill>
                  </a:rPr>
                  <a:t>Additionally, a Hartigan's dip test of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i="0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nor/>
                      </m:rPr>
                      <a:rPr lang="en-GB" i="0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-</m:t>
                    </m:r>
                    <m:r>
                      <m:rPr>
                        <m:nor/>
                      </m:rPr>
                      <a:rPr lang="en-GB" i="0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valu</m:t>
                    </m:r>
                    <m:r>
                      <a:rPr lang="en-SG" b="0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GB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&lt;10⁻¹⁵ </m:t>
                    </m:r>
                  </m:oMath>
                </a14:m>
                <a:r>
                  <a:rPr lang="en-GB" dirty="0">
                    <a:solidFill>
                      <a:srgbClr val="0E2841"/>
                    </a:solidFill>
                  </a:rPr>
                  <a:t>rejects unimodality</a:t>
                </a: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FA0D524-0E32-D5AA-DEDA-3F9E58703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2194560"/>
              </a:xfrm>
              <a:blipFill>
                <a:blip r:embed="rId4"/>
                <a:stretch>
                  <a:fillRect t="-55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Discordance is not</a:t>
            </a:r>
            <a:r>
              <a:rPr sz="2000" b="1" dirty="0">
                <a:solidFill>
                  <a:srgbClr val="156082"/>
                </a:solidFill>
              </a:rPr>
              <a:t> a single-year artefact</a:t>
            </a:r>
          </a:p>
        </p:txBody>
      </p:sp>
      <p:pic>
        <p:nvPicPr>
          <p:cNvPr id="4" name="Picture 3" descr="yearly_discor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601" y="2035829"/>
            <a:ext cx="4580797" cy="253069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808E04-226E-8626-1514-1B070233C8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F3B52A8-3E61-FF61-E5F8-7F615345C72D}"/>
              </a:ext>
            </a:extLst>
          </p:cNvPr>
          <p:cNvSpPr txBox="1">
            <a:spLocks/>
          </p:cNvSpPr>
          <p:nvPr/>
        </p:nvSpPr>
        <p:spPr>
          <a:xfrm>
            <a:off x="502920" y="1325880"/>
            <a:ext cx="8138160" cy="219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0E2841"/>
                </a:solidFill>
              </a:rPr>
              <a:t>MiFID II took force 2018-01-03, the exact start of FAR-Trans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0E2841"/>
                </a:solidFill>
              </a:rPr>
              <a:t>Higher 2018 value hypothesized to be a transition-effect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endParaRPr lang="en-GB" dirty="0">
              <a:solidFill>
                <a:srgbClr val="0E2841"/>
              </a:solidFill>
            </a:endParaRPr>
          </a:p>
          <a:p>
            <a:pPr>
              <a:spcBef>
                <a:spcPts val="200"/>
              </a:spcBef>
              <a:spcAft>
                <a:spcPts val="600"/>
              </a:spcAft>
            </a:pPr>
            <a:endParaRPr lang="en-SG" dirty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Regression Study</a:t>
            </a:r>
            <a:endParaRPr sz="2000" b="1" dirty="0">
              <a:solidFill>
                <a:srgbClr val="15608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20" y="1325879"/>
                <a:ext cx="8138160" cy="3441383"/>
              </a:xfrm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b="0" dirty="0">
                    <a:solidFill>
                      <a:srgbClr val="202020"/>
                    </a:solidFill>
                  </a:rPr>
                  <a:t>Transaction-level </a:t>
                </a:r>
                <a:r>
                  <a:rPr lang="en-GB" b="1" dirty="0">
                    <a:solidFill>
                      <a:srgbClr val="0E2841"/>
                    </a:solidFill>
                  </a:rPr>
                  <a:t>OLS</a:t>
                </a:r>
                <a:r>
                  <a:rPr lang="en-GB" b="0" dirty="0">
                    <a:solidFill>
                      <a:srgbClr val="202020"/>
                    </a:solidFill>
                  </a:rPr>
                  <a:t> with </a:t>
                </a:r>
                <a:r>
                  <a:rPr lang="en-GB" dirty="0">
                    <a:solidFill>
                      <a:srgbClr val="202020"/>
                    </a:solidFill>
                  </a:rPr>
                  <a:t>2-</a:t>
                </a:r>
                <a:r>
                  <a:rPr lang="en-GB" b="0" dirty="0">
                    <a:solidFill>
                      <a:srgbClr val="202020"/>
                    </a:solidFill>
                  </a:rPr>
                  <a:t>sided </a:t>
                </a:r>
                <a:r>
                  <a:rPr lang="en-GB" dirty="0"/>
                  <a:t>hypothesis test (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SG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lang="en-GB" dirty="0"/>
                  <a:t>), clustered at customer level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/>
                  <a:t>For each term,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SG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(coefficient = 0) implies no conditional effect on the realised return</a:t>
                </a:r>
              </a:p>
              <a:p>
                <a:pPr marL="971550" lvl="1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GB" sz="1200" dirty="0"/>
              </a:p>
              <a:p>
                <a:pPr marL="971550" lvl="1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GB" sz="1200" dirty="0"/>
              </a:p>
              <a:p>
                <a:pPr marL="971550" lvl="1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GB" sz="1200" dirty="0"/>
              </a:p>
              <a:p>
                <a:pPr marL="685800" lvl="1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GB" sz="1200" dirty="0"/>
              </a:p>
              <a:p>
                <a:pPr marL="514350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202020"/>
                    </a:solidFill>
                  </a:rPr>
                  <a:t>Raw return gap (difference between coherent and discoherent buys): +3.31 pp</a:t>
                </a:r>
              </a:p>
              <a:p>
                <a:pPr marL="514350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SG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=0.0294</m:t>
                    </m:r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: Implies controls absorb only ~11% of the raw gap</a:t>
                </a:r>
              </a:p>
              <a:p>
                <a:pPr marL="514350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SG" b="0" i="1" dirty="0" smtClean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𝑐𝑜h𝑒𝑟𝑒𝑛𝑐𝑒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0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2.3×</m:t>
                    </m:r>
                    <m:sSup>
                      <m:sSupPr>
                        <m:ctrlPr>
                          <a:rPr lang="en-GB" b="0" i="1" dirty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GB" b="0" i="1" dirty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−13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, hence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SG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b="1" dirty="0">
                  <a:solidFill>
                    <a:srgbClr val="156082"/>
                  </a:solidFill>
                  <a:latin typeface="+mj-lt"/>
                </a:endParaRP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:endParaRPr b="0" dirty="0">
                  <a:solidFill>
                    <a:srgbClr val="202020"/>
                  </a:solidFill>
                </a:endParaRPr>
              </a:p>
            </p:txBody>
          </p:sp>
        </mc:Choice>
        <mc:Fallback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20" y="1325879"/>
                <a:ext cx="8138160" cy="344138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C1AFF36-32C6-6036-BC39-4540982FD4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BAAF96B-0190-E1A1-B8CF-C02F9CB21434}"/>
              </a:ext>
            </a:extLst>
          </p:cNvPr>
          <p:cNvGrpSpPr/>
          <p:nvPr/>
        </p:nvGrpSpPr>
        <p:grpSpPr>
          <a:xfrm>
            <a:off x="1692687" y="2094470"/>
            <a:ext cx="5623159" cy="869869"/>
            <a:chOff x="2013774" y="2389123"/>
            <a:chExt cx="5623159" cy="86986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F87817-58B0-99CC-06AA-481C523B0233}"/>
                    </a:ext>
                  </a:extLst>
                </p:cNvPr>
                <p:cNvSpPr txBox="1"/>
                <p:nvPr/>
              </p:nvSpPr>
              <p:spPr>
                <a:xfrm>
                  <a:off x="2013774" y="2389123"/>
                  <a:ext cx="5623159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𝑅𝑒𝑎𝑙𝑖𝑠𝑒𝑑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𝑟𝑒𝑡𝑢𝑟𝑛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 (6 </m:t>
                        </m:r>
                        <m:r>
                          <m:rPr>
                            <m:nor/>
                          </m:rPr>
                          <a:rPr lang="en-SG" sz="1200" b="0" i="0" smtClean="0">
                            <a:latin typeface="Cambria Math" panose="02040503050406030204" pitchFamily="18" charset="0"/>
                          </a:rPr>
                          <m:t>months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 ~ </m:t>
                        </m:r>
                        <m:sSub>
                          <m:sSubPr>
                            <m:ctrlP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𝑐𝑜h𝑒𝑟𝑒𝑛𝑡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𝑣𝑜𝑙𝑎𝑡𝑖𝑙𝑖𝑡</m:t>
                        </m:r>
                        <m:sSub>
                          <m:sSubPr>
                            <m:ctrlP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𝑎𝑠𝑠𝑒𝑡</m:t>
                            </m:r>
                          </m:sub>
                        </m:sSub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SG" sz="1200" dirty="0"/>
                </a:p>
                <a:p>
                  <a:endParaRPr lang="en-SG" sz="12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F87817-58B0-99CC-06AA-481C523B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774" y="2389123"/>
                  <a:ext cx="5623159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085" t="-1667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9F8891-3010-4A2C-0ABD-B951CAF77FCE}"/>
                    </a:ext>
                  </a:extLst>
                </p:cNvPr>
                <p:cNvSpPr txBox="1"/>
                <p:nvPr/>
              </p:nvSpPr>
              <p:spPr>
                <a:xfrm>
                  <a:off x="4106756" y="2649931"/>
                  <a:ext cx="2324100" cy="30482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𝑐𝑢𝑠𝑡𝑜𝑚𝑒</m:t>
                            </m:r>
                            <m:sSub>
                              <m:sSubPr>
                                <m:ctrlPr>
                                  <a:rPr lang="en-SG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SG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SG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𝑡𝑦𝑝𝑒</m:t>
                                </m:r>
                              </m:sub>
                            </m:sSub>
                          </m:e>
                        </m:d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SG" sz="12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9F8891-3010-4A2C-0ABD-B951CAF77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6756" y="2649931"/>
                  <a:ext cx="2324100" cy="304827"/>
                </a:xfrm>
                <a:prstGeom prst="rect">
                  <a:avLst/>
                </a:prstGeom>
                <a:blipFill>
                  <a:blip r:embed="rId5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8F32BBD-8187-593E-DFCB-616AE6E18A01}"/>
                    </a:ext>
                  </a:extLst>
                </p:cNvPr>
                <p:cNvSpPr txBox="1"/>
                <p:nvPr/>
              </p:nvSpPr>
              <p:spPr>
                <a:xfrm>
                  <a:off x="4115222" y="2981993"/>
                  <a:ext cx="230716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𝑦𝑒𝑎𝑟</m:t>
                            </m:r>
                          </m:e>
                        </m:d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oMath>
                    </m:oMathPara>
                  </a14:m>
                  <a:endParaRPr lang="en-SG" sz="1200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8F32BBD-8187-593E-DFCB-616AE6E18A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5222" y="2981993"/>
                  <a:ext cx="2307167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03 </a:t>
            </a:r>
            <a:r>
              <a:rPr b="1" dirty="0"/>
              <a:t>Methodology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SG" sz="1800" dirty="0"/>
              <a:t>Risk-based Segmentation </a:t>
            </a:r>
            <a:r>
              <a:rPr lang="en-SG" sz="1800" dirty="0" err="1"/>
              <a:t>Modeling</a:t>
            </a:r>
            <a:endParaRPr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9F76D-5B17-72DD-0C6B-90085D92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76913-596A-C358-42CD-FA5FB8613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 err="1">
                <a:solidFill>
                  <a:srgbClr val="156082"/>
                </a:solidFill>
              </a:rPr>
              <a:t>LightGCN</a:t>
            </a:r>
            <a:r>
              <a:rPr lang="en-SG" sz="2000" b="1" dirty="0">
                <a:solidFill>
                  <a:srgbClr val="156082"/>
                </a:solidFill>
              </a:rPr>
              <a:t>: Bipartite Graph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F84B2-A494-D745-1164-9FCE4402226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A094ED-2510-DC29-3878-A590FD65DB05}"/>
              </a:ext>
            </a:extLst>
          </p:cNvPr>
          <p:cNvGrpSpPr/>
          <p:nvPr/>
        </p:nvGrpSpPr>
        <p:grpSpPr>
          <a:xfrm>
            <a:off x="1018354" y="1316736"/>
            <a:ext cx="2550053" cy="2090830"/>
            <a:chOff x="991310" y="1673701"/>
            <a:chExt cx="2550053" cy="209083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4369CB3-E70B-8BBC-8E06-8839A95C0A80}"/>
                </a:ext>
              </a:extLst>
            </p:cNvPr>
            <p:cNvGrpSpPr/>
            <p:nvPr/>
          </p:nvGrpSpPr>
          <p:grpSpPr>
            <a:xfrm>
              <a:off x="1312002" y="2061049"/>
              <a:ext cx="264237" cy="264237"/>
              <a:chOff x="754056" y="2101530"/>
              <a:chExt cx="264237" cy="264237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FEE34CE-CB93-F257-CC81-DF4EA7E14B7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14" name="Graphic 13" descr="User with solid fill">
                <a:extLst>
                  <a:ext uri="{FF2B5EF4-FFF2-40B4-BE49-F238E27FC236}">
                    <a16:creationId xmlns:a16="http://schemas.microsoft.com/office/drawing/2014/main" id="{6831296B-3F88-0942-3D14-3CBB281DBC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3651EEF-AF21-892A-DBFE-A5AEC442AECD}"/>
                </a:ext>
              </a:extLst>
            </p:cNvPr>
            <p:cNvGrpSpPr/>
            <p:nvPr/>
          </p:nvGrpSpPr>
          <p:grpSpPr>
            <a:xfrm>
              <a:off x="1312002" y="2498542"/>
              <a:ext cx="264237" cy="264237"/>
              <a:chOff x="754056" y="2101530"/>
              <a:chExt cx="264237" cy="264237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88592D1-9C19-8E3E-475D-AE83967A4DB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18" name="Graphic 17" descr="User with solid fill">
                <a:extLst>
                  <a:ext uri="{FF2B5EF4-FFF2-40B4-BE49-F238E27FC236}">
                    <a16:creationId xmlns:a16="http://schemas.microsoft.com/office/drawing/2014/main" id="{C61D551F-82EB-3D74-85C3-4B03EF502D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5D2C59C-4FC0-4987-C29A-4F5EE8486D7A}"/>
                </a:ext>
              </a:extLst>
            </p:cNvPr>
            <p:cNvGrpSpPr/>
            <p:nvPr/>
          </p:nvGrpSpPr>
          <p:grpSpPr>
            <a:xfrm>
              <a:off x="1312002" y="2936035"/>
              <a:ext cx="264237" cy="264237"/>
              <a:chOff x="754056" y="2101530"/>
              <a:chExt cx="264237" cy="264237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92D223-9202-4205-533B-719533FFB665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21" name="Graphic 20" descr="User with solid fill">
                <a:extLst>
                  <a:ext uri="{FF2B5EF4-FFF2-40B4-BE49-F238E27FC236}">
                    <a16:creationId xmlns:a16="http://schemas.microsoft.com/office/drawing/2014/main" id="{EF882859-6C9B-D6CF-FBF0-E137D533B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A88A023-D060-D8A5-5ADC-2E86A827C7F9}"/>
                </a:ext>
              </a:extLst>
            </p:cNvPr>
            <p:cNvGrpSpPr/>
            <p:nvPr/>
          </p:nvGrpSpPr>
          <p:grpSpPr>
            <a:xfrm>
              <a:off x="2968415" y="1928930"/>
              <a:ext cx="264237" cy="264237"/>
              <a:chOff x="754056" y="2101530"/>
              <a:chExt cx="264237" cy="264237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BC8416B-6A86-9FE9-FC4F-3A568678D2C6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24" name="Graphic 23" descr="Document with solid fill">
                <a:extLst>
                  <a:ext uri="{FF2B5EF4-FFF2-40B4-BE49-F238E27FC236}">
                    <a16:creationId xmlns:a16="http://schemas.microsoft.com/office/drawing/2014/main" id="{5B57D2AA-957F-4148-27CB-F53EBF264A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D96FE3E-54CF-29B0-B72E-0F1B29956F5B}"/>
                </a:ext>
              </a:extLst>
            </p:cNvPr>
            <p:cNvGrpSpPr/>
            <p:nvPr/>
          </p:nvGrpSpPr>
          <p:grpSpPr>
            <a:xfrm>
              <a:off x="2968415" y="2377380"/>
              <a:ext cx="264237" cy="264237"/>
              <a:chOff x="754056" y="2101530"/>
              <a:chExt cx="264237" cy="264237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7CF01A0-83BA-32CD-C8EA-6DCB29DD4E90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33" name="Graphic 32" descr="Document with solid fill">
                <a:extLst>
                  <a:ext uri="{FF2B5EF4-FFF2-40B4-BE49-F238E27FC236}">
                    <a16:creationId xmlns:a16="http://schemas.microsoft.com/office/drawing/2014/main" id="{43726554-4FB5-47C2-1D76-79C33D38DC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3468A5BA-C0FC-1164-154D-14FB7646EDED}"/>
                </a:ext>
              </a:extLst>
            </p:cNvPr>
            <p:cNvGrpSpPr/>
            <p:nvPr/>
          </p:nvGrpSpPr>
          <p:grpSpPr>
            <a:xfrm>
              <a:off x="2968415" y="2807875"/>
              <a:ext cx="264237" cy="264237"/>
              <a:chOff x="754056" y="2101530"/>
              <a:chExt cx="264237" cy="264237"/>
            </a:xfrm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60D28464-61A7-6370-70A2-B9FA0B3BF22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39" name="Graphic 38" descr="Document with solid fill">
                <a:extLst>
                  <a:ext uri="{FF2B5EF4-FFF2-40B4-BE49-F238E27FC236}">
                    <a16:creationId xmlns:a16="http://schemas.microsoft.com/office/drawing/2014/main" id="{22D04983-AD0A-FAF7-AA9E-E8A0BBEC8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215EFEE-B9D7-C4C8-B20F-83395BBD6C70}"/>
                </a:ext>
              </a:extLst>
            </p:cNvPr>
            <p:cNvCxnSpPr>
              <a:cxnSpLocks/>
              <a:stCxn id="12" idx="6"/>
              <a:endCxn id="23" idx="2"/>
            </p:cNvCxnSpPr>
            <p:nvPr/>
          </p:nvCxnSpPr>
          <p:spPr>
            <a:xfrm flipV="1">
              <a:off x="1576239" y="2061049"/>
              <a:ext cx="1392176" cy="132119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854AB82-91F7-0C3F-3F04-0717AB02FDF6}"/>
                </a:ext>
              </a:extLst>
            </p:cNvPr>
            <p:cNvCxnSpPr>
              <a:cxnSpLocks/>
              <a:stCxn id="12" idx="6"/>
              <a:endCxn id="32" idx="2"/>
            </p:cNvCxnSpPr>
            <p:nvPr/>
          </p:nvCxnSpPr>
          <p:spPr>
            <a:xfrm>
              <a:off x="1576239" y="2193168"/>
              <a:ext cx="1392176" cy="31633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1130F0E6-2AE4-05AD-BE7F-CC0B090BE7A7}"/>
                </a:ext>
              </a:extLst>
            </p:cNvPr>
            <p:cNvCxnSpPr>
              <a:cxnSpLocks/>
              <a:stCxn id="12" idx="6"/>
              <a:endCxn id="38" idx="2"/>
            </p:cNvCxnSpPr>
            <p:nvPr/>
          </p:nvCxnSpPr>
          <p:spPr>
            <a:xfrm>
              <a:off x="1576239" y="2193168"/>
              <a:ext cx="1392176" cy="746826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D786A6E-7484-6E5D-3DB8-44473F1477C2}"/>
                </a:ext>
              </a:extLst>
            </p:cNvPr>
            <p:cNvCxnSpPr>
              <a:cxnSpLocks/>
              <a:stCxn id="17" idx="6"/>
              <a:endCxn id="23" idx="2"/>
            </p:cNvCxnSpPr>
            <p:nvPr/>
          </p:nvCxnSpPr>
          <p:spPr>
            <a:xfrm flipV="1">
              <a:off x="1576239" y="2061049"/>
              <a:ext cx="1392176" cy="56961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B60D770-3281-0E4C-0B05-AD430F8466D6}"/>
                </a:ext>
              </a:extLst>
            </p:cNvPr>
            <p:cNvCxnSpPr>
              <a:cxnSpLocks/>
              <a:stCxn id="20" idx="6"/>
              <a:endCxn id="38" idx="2"/>
            </p:cNvCxnSpPr>
            <p:nvPr/>
          </p:nvCxnSpPr>
          <p:spPr>
            <a:xfrm flipV="1">
              <a:off x="1576239" y="2939994"/>
              <a:ext cx="1392176" cy="12816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9440F76-BE39-3DEA-A0A2-D9E91E9EB9FB}"/>
                </a:ext>
              </a:extLst>
            </p:cNvPr>
            <p:cNvSpPr txBox="1"/>
            <p:nvPr/>
          </p:nvSpPr>
          <p:spPr>
            <a:xfrm>
              <a:off x="1064575" y="1804113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Users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CA21833-90C9-1310-21AF-212A996D423A}"/>
                </a:ext>
              </a:extLst>
            </p:cNvPr>
            <p:cNvSpPr txBox="1"/>
            <p:nvPr/>
          </p:nvSpPr>
          <p:spPr>
            <a:xfrm>
              <a:off x="2720988" y="1673701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Assets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77F5A32-5501-F7B5-DD19-84158D66A94D}"/>
                </a:ext>
              </a:extLst>
            </p:cNvPr>
            <p:cNvSpPr txBox="1"/>
            <p:nvPr/>
          </p:nvSpPr>
          <p:spPr>
            <a:xfrm>
              <a:off x="1054146" y="3242392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…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080A0B3-6AF2-6CC0-626E-97C9E1457E66}"/>
                </a:ext>
              </a:extLst>
            </p:cNvPr>
            <p:cNvSpPr txBox="1"/>
            <p:nvPr/>
          </p:nvSpPr>
          <p:spPr>
            <a:xfrm>
              <a:off x="2763157" y="3518310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…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B8FC6CB6-9735-3956-4D2E-F484D66D917F}"/>
                </a:ext>
              </a:extLst>
            </p:cNvPr>
            <p:cNvGrpSpPr/>
            <p:nvPr/>
          </p:nvGrpSpPr>
          <p:grpSpPr>
            <a:xfrm>
              <a:off x="2975523" y="3235332"/>
              <a:ext cx="264237" cy="264237"/>
              <a:chOff x="754056" y="2101530"/>
              <a:chExt cx="264237" cy="264237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AEEC8F2E-351B-F8B2-581D-E3E88A699D5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8" name="Graphic 77" descr="Document with solid fill">
                <a:extLst>
                  <a:ext uri="{FF2B5EF4-FFF2-40B4-BE49-F238E27FC236}">
                    <a16:creationId xmlns:a16="http://schemas.microsoft.com/office/drawing/2014/main" id="{9F5BF7DC-BD6A-DFBA-15FA-8EBB82994A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A75FD829-BD51-1FDE-E6FA-19601BE27A35}"/>
                </a:ext>
              </a:extLst>
            </p:cNvPr>
            <p:cNvCxnSpPr>
              <a:cxnSpLocks/>
              <a:stCxn id="17" idx="6"/>
              <a:endCxn id="77" idx="2"/>
            </p:cNvCxnSpPr>
            <p:nvPr/>
          </p:nvCxnSpPr>
          <p:spPr>
            <a:xfrm>
              <a:off x="1576239" y="2630661"/>
              <a:ext cx="1399284" cy="73679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3521258C-3633-4D19-DC9D-37E1B0350FCD}"/>
                    </a:ext>
                  </a:extLst>
                </p:cNvPr>
                <p:cNvSpPr txBox="1"/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3521258C-3633-4D19-DC9D-37E1B0350F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0ACAA995-DE1F-27DE-2B36-B336E954422C}"/>
                    </a:ext>
                  </a:extLst>
                </p:cNvPr>
                <p:cNvSpPr txBox="1"/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0ACAA995-DE1F-27DE-2B36-B336E95442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B21917E7-67AD-B500-EE89-D9DA22188259}"/>
                    </a:ext>
                  </a:extLst>
                </p:cNvPr>
                <p:cNvSpPr txBox="1"/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B21917E7-67AD-B500-EE89-D9DA22188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C5903E22-2F9B-CA57-62F5-3087E2724432}"/>
                    </a:ext>
                  </a:extLst>
                </p:cNvPr>
                <p:cNvSpPr txBox="1"/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C5903E22-2F9B-CA57-62F5-3087E27244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4EF1CD94-4E86-4204-6CC7-71A551608586}"/>
                    </a:ext>
                  </a:extLst>
                </p:cNvPr>
                <p:cNvSpPr txBox="1"/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4EF1CD94-4E86-4204-6CC7-71A5516085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6313D921-6F70-DF1A-FF7C-5F94F5FC5B3D}"/>
                    </a:ext>
                  </a:extLst>
                </p:cNvPr>
                <p:cNvSpPr txBox="1"/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6313D921-6F70-DF1A-FF7C-5F94F5FC5B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B06AC9-8D84-4868-7798-E8C6F2BEA4DD}"/>
                    </a:ext>
                  </a:extLst>
                </p:cNvPr>
                <p:cNvSpPr txBox="1"/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B06AC9-8D84-4868-7798-E8C6F2BEA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5ABF8E4-0F86-F90B-3D5F-830395C1D3A1}"/>
                </a:ext>
              </a:extLst>
            </p:cNvPr>
            <p:cNvSpPr txBox="1"/>
            <p:nvPr/>
          </p:nvSpPr>
          <p:spPr>
            <a:xfrm>
              <a:off x="1676550" y="3077858"/>
              <a:ext cx="10150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Positive</a:t>
              </a:r>
            </a:p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Interactions</a:t>
              </a:r>
              <a:endParaRPr lang="en-SG" sz="10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BAB444-8C59-9DD3-FC8D-6B57470C4A86}"/>
                  </a:ext>
                </a:extLst>
              </p:cNvPr>
              <p:cNvSpPr txBox="1"/>
              <p:nvPr/>
            </p:nvSpPr>
            <p:spPr>
              <a:xfrm>
                <a:off x="3955824" y="1316736"/>
                <a:ext cx="4734041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</a:rPr>
                  <a:t>: embeddings of size/dimension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sz="1200" dirty="0">
                  <a:solidFill>
                    <a:schemeClr val="tx1"/>
                  </a:solidFill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 err="1">
                    <a:solidFill>
                      <a:schemeClr val="tx1"/>
                    </a:solidFill>
                  </a:rPr>
                  <a:t>LightGCN</a:t>
                </a:r>
                <a:r>
                  <a:rPr lang="en-GB" sz="1200" dirty="0">
                    <a:solidFill>
                      <a:schemeClr val="tx1"/>
                    </a:solidFill>
                  </a:rPr>
                  <a:t> learns </a:t>
                </a:r>
                <a:r>
                  <a:rPr lang="en-GB" sz="1200" b="1" dirty="0">
                    <a:solidFill>
                      <a:schemeClr val="tx1"/>
                    </a:solidFill>
                  </a:rPr>
                  <a:t>embeddings</a:t>
                </a:r>
                <a:r>
                  <a:rPr lang="en-GB" sz="1200" dirty="0">
                    <a:solidFill>
                      <a:schemeClr val="tx1"/>
                    </a:solidFill>
                  </a:rPr>
                  <a:t> for every user and asset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</a:rPr>
                  <a:t>In a training set, every user has its own set of positive interactions (transacted with that asset)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BAB444-8C59-9DD3-FC8D-6B57470C4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824" y="1316736"/>
                <a:ext cx="4734041" cy="1323439"/>
              </a:xfrm>
              <a:prstGeom prst="rect">
                <a:avLst/>
              </a:prstGeom>
              <a:blipFill>
                <a:blip r:embed="rId12"/>
                <a:stretch>
                  <a:fillRect t="-46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3404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3D58E-83FE-5851-0178-79D96C375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A3F35-A0A4-1B59-B973-80B6B32F0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LightGCN baseline model – Forward Propagation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D46E30-A99A-4CF5-3695-975E8038BA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12723E-6CF8-21E0-55C6-BE4986A15846}"/>
                  </a:ext>
                </a:extLst>
              </p:cNvPr>
              <p:cNvSpPr txBox="1"/>
              <p:nvPr/>
            </p:nvSpPr>
            <p:spPr>
              <a:xfrm>
                <a:off x="3955824" y="1316736"/>
                <a:ext cx="4734041" cy="31234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sz="1200" b="1" dirty="0">
                    <a:solidFill>
                      <a:schemeClr val="tx1"/>
                    </a:solidFill>
                  </a:rPr>
                  <a:t>At step </a:t>
                </a:r>
                <a14:m>
                  <m:oMath xmlns:m="http://schemas.openxmlformats.org/officeDocument/2006/math">
                    <m:r>
                      <a:rPr lang="en-GB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GB" sz="1200" b="1" dirty="0">
                    <a:solidFill>
                      <a:schemeClr val="tx1"/>
                    </a:solidFill>
                  </a:rPr>
                  <a:t> of a training iteration: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A user embedding: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SG" sz="12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f>
                              <m:fPr>
                                <m:ctrlP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GB" sz="120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d>
                                      <m:dPr>
                                        <m:ctrlPr>
                                          <a:rPr lang="en-GB" sz="1200" b="0" i="1" dirty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GB" sz="1200" b="0" i="1" dirty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d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den>
                            </m:f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en-GB" sz="1200" dirty="0">
                  <a:solidFill>
                    <a:schemeClr val="tx1"/>
                  </a:solidFill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An asset embedding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1"/>
                          </m:r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SG" sz="12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f>
                              <m:fPr>
                                <m:ctrlP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d>
                                      <m:dPr>
                                        <m:ctrlPr>
                                          <a:rPr lang="en-GB" sz="1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GB" sz="1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d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den>
                            </m:f>
                            <m:r>
                              <a:rPr lang="en-GB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</a:rPr>
                  <a:t> is the number of assets the user transacted with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</a:rPr>
                  <a:t> is the number of users the asset transacted with</a:t>
                </a:r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Compute all embeddings from the previous step's values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sz="1200" b="1" dirty="0">
                    <a:solidFill>
                      <a:schemeClr val="tx1"/>
                    </a:solidFill>
                    <a:latin typeface="+mj-lt"/>
                  </a:rPr>
                  <a:t>Final respective embedding: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Average value across all steps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</a:rPr>
                  <a:t>Pairwise score: </a:t>
                </a:r>
                <a14:m>
                  <m:oMath xmlns:m="http://schemas.openxmlformats.org/officeDocument/2006/math">
                    <m:r>
                      <a:rPr lang="en-SG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𝑠𝑐𝑜𝑟𝑒</m:t>
                    </m:r>
                    <m:d>
                      <m:d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12723E-6CF8-21E0-55C6-BE4986A15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824" y="1316736"/>
                <a:ext cx="4734041" cy="3123419"/>
              </a:xfrm>
              <a:prstGeom prst="rect">
                <a:avLst/>
              </a:prstGeom>
              <a:blipFill>
                <a:blip r:embed="rId3"/>
                <a:stretch>
                  <a:fillRect l="-129" t="-19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E2B67B9-8F1F-3AB0-F523-052E073A5175}"/>
              </a:ext>
            </a:extLst>
          </p:cNvPr>
          <p:cNvGrpSpPr/>
          <p:nvPr/>
        </p:nvGrpSpPr>
        <p:grpSpPr>
          <a:xfrm>
            <a:off x="1018354" y="1316736"/>
            <a:ext cx="2550053" cy="2090830"/>
            <a:chOff x="991310" y="1673701"/>
            <a:chExt cx="2550053" cy="209083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215D7DC-5F40-72AD-DD63-32249874B845}"/>
                </a:ext>
              </a:extLst>
            </p:cNvPr>
            <p:cNvGrpSpPr/>
            <p:nvPr/>
          </p:nvGrpSpPr>
          <p:grpSpPr>
            <a:xfrm>
              <a:off x="1312002" y="2061049"/>
              <a:ext cx="264237" cy="264237"/>
              <a:chOff x="754056" y="2101530"/>
              <a:chExt cx="264237" cy="264237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5B90339-718D-9EE6-E075-B764453C3062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4" name="Graphic 73" descr="User with solid fill">
                <a:extLst>
                  <a:ext uri="{FF2B5EF4-FFF2-40B4-BE49-F238E27FC236}">
                    <a16:creationId xmlns:a16="http://schemas.microsoft.com/office/drawing/2014/main" id="{F37A39C9-5512-FA96-D860-05C5D7C8B9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00EA291-5F6C-A82B-E84F-483B168361D7}"/>
                </a:ext>
              </a:extLst>
            </p:cNvPr>
            <p:cNvGrpSpPr/>
            <p:nvPr/>
          </p:nvGrpSpPr>
          <p:grpSpPr>
            <a:xfrm>
              <a:off x="1312002" y="2498542"/>
              <a:ext cx="264237" cy="264237"/>
              <a:chOff x="754056" y="2101530"/>
              <a:chExt cx="264237" cy="264237"/>
            </a:xfrm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B370F87E-6960-D668-EABA-BDFB3B825ABD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2" name="Graphic 71" descr="User with solid fill">
                <a:extLst>
                  <a:ext uri="{FF2B5EF4-FFF2-40B4-BE49-F238E27FC236}">
                    <a16:creationId xmlns:a16="http://schemas.microsoft.com/office/drawing/2014/main" id="{EC5283E6-76D4-04C5-759B-D89257EA42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74502A6-066F-F4FA-42D0-946C9894E5D2}"/>
                </a:ext>
              </a:extLst>
            </p:cNvPr>
            <p:cNvGrpSpPr/>
            <p:nvPr/>
          </p:nvGrpSpPr>
          <p:grpSpPr>
            <a:xfrm>
              <a:off x="1312002" y="2936035"/>
              <a:ext cx="264237" cy="264237"/>
              <a:chOff x="754056" y="2101530"/>
              <a:chExt cx="264237" cy="264237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67B7266D-BE48-38D5-403F-85767948CD5F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0" name="Graphic 69" descr="User with solid fill">
                <a:extLst>
                  <a:ext uri="{FF2B5EF4-FFF2-40B4-BE49-F238E27FC236}">
                    <a16:creationId xmlns:a16="http://schemas.microsoft.com/office/drawing/2014/main" id="{7494AD24-D10E-E6A7-DA00-CD925F1068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3E835B-4E3D-CDDF-0CED-D32796CCF8D4}"/>
                </a:ext>
              </a:extLst>
            </p:cNvPr>
            <p:cNvGrpSpPr/>
            <p:nvPr/>
          </p:nvGrpSpPr>
          <p:grpSpPr>
            <a:xfrm>
              <a:off x="2968415" y="1928930"/>
              <a:ext cx="264237" cy="264237"/>
              <a:chOff x="754056" y="2101530"/>
              <a:chExt cx="264237" cy="264237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B60691E-7FA2-01A4-F84A-0D97001A4CF6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7" name="Graphic 66" descr="Document with solid fill">
                <a:extLst>
                  <a:ext uri="{FF2B5EF4-FFF2-40B4-BE49-F238E27FC236}">
                    <a16:creationId xmlns:a16="http://schemas.microsoft.com/office/drawing/2014/main" id="{434E7C55-8EB5-90C6-2DDC-3ED0DAF10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F831C24-F44B-78A0-E120-29DBF3E63312}"/>
                </a:ext>
              </a:extLst>
            </p:cNvPr>
            <p:cNvGrpSpPr/>
            <p:nvPr/>
          </p:nvGrpSpPr>
          <p:grpSpPr>
            <a:xfrm>
              <a:off x="2968415" y="2377380"/>
              <a:ext cx="264237" cy="264237"/>
              <a:chOff x="754056" y="2101530"/>
              <a:chExt cx="264237" cy="264237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CE77F2D8-9DE0-8E05-242F-534A25FFCED5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3" name="Graphic 62" descr="Document with solid fill">
                <a:extLst>
                  <a:ext uri="{FF2B5EF4-FFF2-40B4-BE49-F238E27FC236}">
                    <a16:creationId xmlns:a16="http://schemas.microsoft.com/office/drawing/2014/main" id="{F0DBB601-AF83-0FDF-E72D-25C2E3A977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65675F2-92FF-C4A1-4B78-7840A080D077}"/>
                </a:ext>
              </a:extLst>
            </p:cNvPr>
            <p:cNvGrpSpPr/>
            <p:nvPr/>
          </p:nvGrpSpPr>
          <p:grpSpPr>
            <a:xfrm>
              <a:off x="2968415" y="2807875"/>
              <a:ext cx="264237" cy="264237"/>
              <a:chOff x="754056" y="2101530"/>
              <a:chExt cx="264237" cy="264237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9FE0A23F-DCF3-8D2D-21F3-56CC3C59ADC9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9" name="Graphic 58" descr="Document with solid fill">
                <a:extLst>
                  <a:ext uri="{FF2B5EF4-FFF2-40B4-BE49-F238E27FC236}">
                    <a16:creationId xmlns:a16="http://schemas.microsoft.com/office/drawing/2014/main" id="{A7EEF087-9716-DDBE-D279-74D4C6333C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09CA26C-39B2-77EE-3AB1-DB4F0DBC0FDC}"/>
                </a:ext>
              </a:extLst>
            </p:cNvPr>
            <p:cNvCxnSpPr>
              <a:cxnSpLocks/>
              <a:stCxn id="73" idx="6"/>
              <a:endCxn id="65" idx="2"/>
            </p:cNvCxnSpPr>
            <p:nvPr/>
          </p:nvCxnSpPr>
          <p:spPr>
            <a:xfrm flipV="1">
              <a:off x="1576239" y="2061049"/>
              <a:ext cx="1392176" cy="13211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6D6D69D-863A-7AE9-0397-6C2CD65B444E}"/>
                </a:ext>
              </a:extLst>
            </p:cNvPr>
            <p:cNvCxnSpPr>
              <a:cxnSpLocks/>
              <a:stCxn id="73" idx="6"/>
              <a:endCxn id="61" idx="2"/>
            </p:cNvCxnSpPr>
            <p:nvPr/>
          </p:nvCxnSpPr>
          <p:spPr>
            <a:xfrm>
              <a:off x="1576239" y="2193168"/>
              <a:ext cx="1392176" cy="316331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C064052-134A-E5D4-4BFF-E45439CE03C2}"/>
                </a:ext>
              </a:extLst>
            </p:cNvPr>
            <p:cNvCxnSpPr>
              <a:cxnSpLocks/>
              <a:stCxn id="73" idx="6"/>
              <a:endCxn id="58" idx="2"/>
            </p:cNvCxnSpPr>
            <p:nvPr/>
          </p:nvCxnSpPr>
          <p:spPr>
            <a:xfrm>
              <a:off x="1576239" y="2193168"/>
              <a:ext cx="1392176" cy="74682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219DD5D-BCC6-316B-01E2-3396D581AA6D}"/>
                </a:ext>
              </a:extLst>
            </p:cNvPr>
            <p:cNvCxnSpPr>
              <a:cxnSpLocks/>
              <a:stCxn id="71" idx="6"/>
              <a:endCxn id="65" idx="2"/>
            </p:cNvCxnSpPr>
            <p:nvPr/>
          </p:nvCxnSpPr>
          <p:spPr>
            <a:xfrm flipV="1">
              <a:off x="1576239" y="2061049"/>
              <a:ext cx="1392176" cy="56961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B95E4E9-701A-7BFA-3BA5-927F32A9DB7B}"/>
                </a:ext>
              </a:extLst>
            </p:cNvPr>
            <p:cNvCxnSpPr>
              <a:cxnSpLocks/>
              <a:stCxn id="69" idx="6"/>
              <a:endCxn id="58" idx="2"/>
            </p:cNvCxnSpPr>
            <p:nvPr/>
          </p:nvCxnSpPr>
          <p:spPr>
            <a:xfrm flipV="1">
              <a:off x="1576239" y="2939994"/>
              <a:ext cx="1392176" cy="12816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2D02BAC-C8E0-733B-3E85-CF2BA0CDD1B0}"/>
                </a:ext>
              </a:extLst>
            </p:cNvPr>
            <p:cNvSpPr txBox="1"/>
            <p:nvPr/>
          </p:nvSpPr>
          <p:spPr>
            <a:xfrm>
              <a:off x="1064575" y="1804113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Users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5DD931D-1EC1-A1DB-AABF-057040E4BC19}"/>
                </a:ext>
              </a:extLst>
            </p:cNvPr>
            <p:cNvSpPr txBox="1"/>
            <p:nvPr/>
          </p:nvSpPr>
          <p:spPr>
            <a:xfrm>
              <a:off x="2720988" y="1673701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Assets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3714CF6-3FD0-BF70-80B4-7B411A7276A9}"/>
                </a:ext>
              </a:extLst>
            </p:cNvPr>
            <p:cNvSpPr txBox="1"/>
            <p:nvPr/>
          </p:nvSpPr>
          <p:spPr>
            <a:xfrm>
              <a:off x="1054146" y="3242392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…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09F508C-8D54-66FA-B8A1-5E10C129101C}"/>
                </a:ext>
              </a:extLst>
            </p:cNvPr>
            <p:cNvSpPr txBox="1"/>
            <p:nvPr/>
          </p:nvSpPr>
          <p:spPr>
            <a:xfrm>
              <a:off x="2763157" y="3518310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…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EDABFF7-3CCF-5695-9E5D-8218155D2024}"/>
                </a:ext>
              </a:extLst>
            </p:cNvPr>
            <p:cNvGrpSpPr/>
            <p:nvPr/>
          </p:nvGrpSpPr>
          <p:grpSpPr>
            <a:xfrm>
              <a:off x="2975523" y="3235332"/>
              <a:ext cx="264237" cy="264237"/>
              <a:chOff x="754056" y="2101530"/>
              <a:chExt cx="264237" cy="264237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9105E225-078C-E494-34B0-C50A271F1413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7" name="Graphic 56" descr="Document with solid fill">
                <a:extLst>
                  <a:ext uri="{FF2B5EF4-FFF2-40B4-BE49-F238E27FC236}">
                    <a16:creationId xmlns:a16="http://schemas.microsoft.com/office/drawing/2014/main" id="{AAE8DEEA-ED61-336A-271D-BA5250F40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4776A3E-104D-0621-FF15-6EDBE7D3DC57}"/>
                </a:ext>
              </a:extLst>
            </p:cNvPr>
            <p:cNvCxnSpPr>
              <a:cxnSpLocks/>
              <a:stCxn id="71" idx="6"/>
              <a:endCxn id="56" idx="2"/>
            </p:cNvCxnSpPr>
            <p:nvPr/>
          </p:nvCxnSpPr>
          <p:spPr>
            <a:xfrm>
              <a:off x="1576239" y="2630661"/>
              <a:ext cx="1399284" cy="736790"/>
            </a:xfrm>
            <a:prstGeom prst="line">
              <a:avLst/>
            </a:prstGeom>
            <a:ln w="19050">
              <a:solidFill>
                <a:srgbClr val="196B2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9E6ACCB-6F0B-444E-6A7F-5BE65B98301D}"/>
                    </a:ext>
                  </a:extLst>
                </p:cNvPr>
                <p:cNvSpPr txBox="1"/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9E6ACCB-6F0B-444E-6A7F-5BE65B9830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22DD8B1B-7A7A-DCE1-D82B-E6C2FA45246D}"/>
                    </a:ext>
                  </a:extLst>
                </p:cNvPr>
                <p:cNvSpPr txBox="1"/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22DD8B1B-7A7A-DCE1-D82B-E6C2FA452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81C723E7-BBA2-4B9C-8E9D-9947A69B1532}"/>
                    </a:ext>
                  </a:extLst>
                </p:cNvPr>
                <p:cNvSpPr txBox="1"/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81C723E7-BBA2-4B9C-8E9D-9947A69B15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38BB67-82A4-B14A-FB37-0407D3255CC8}"/>
                    </a:ext>
                  </a:extLst>
                </p:cNvPr>
                <p:cNvSpPr txBox="1"/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38BB67-82A4-B14A-FB37-0407D3255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DF325D6-C08F-CD5E-B90D-369F317587E4}"/>
                    </a:ext>
                  </a:extLst>
                </p:cNvPr>
                <p:cNvSpPr txBox="1"/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DF325D6-C08F-CD5E-B90D-369F31758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BBE6DB71-CEB4-2668-F6A1-769EC0962D42}"/>
                    </a:ext>
                  </a:extLst>
                </p:cNvPr>
                <p:cNvSpPr txBox="1"/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BBE6DB71-CEB4-2668-F6A1-769EC0962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28D9353-3294-B93F-07A5-A1758A8AE581}"/>
                    </a:ext>
                  </a:extLst>
                </p:cNvPr>
                <p:cNvSpPr txBox="1"/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28D9353-3294-B93F-07A5-A1758A8AE5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18055D1-7183-A1B7-0E81-E8B0EC8958B6}"/>
                </a:ext>
              </a:extLst>
            </p:cNvPr>
            <p:cNvSpPr txBox="1"/>
            <p:nvPr/>
          </p:nvSpPr>
          <p:spPr>
            <a:xfrm>
              <a:off x="1676550" y="3077858"/>
              <a:ext cx="10150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Positive</a:t>
              </a:r>
            </a:p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Interactions</a:t>
              </a:r>
              <a:endParaRPr lang="en-SG" sz="10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4469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96AAA-9CFB-AED1-BC59-DE3627DA5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A3019-3041-C78D-18F5-A1B5BE80C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LightGCN baseline model – Back Propagation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7DB0C-B94E-E090-5878-D67670E7C1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C79FC8-BF05-8CCF-09BE-70AE4A31F204}"/>
                  </a:ext>
                </a:extLst>
              </p:cNvPr>
              <p:cNvSpPr txBox="1"/>
              <p:nvPr/>
            </p:nvSpPr>
            <p:spPr>
              <a:xfrm>
                <a:off x="3955824" y="1316736"/>
                <a:ext cx="4734041" cy="25280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Build a mini-batch (size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) of positive interactions</a:t>
                </a: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For each </a:t>
                </a:r>
                <a:r>
                  <a:rPr lang="en-GB" sz="1200" b="1" dirty="0">
                    <a:solidFill>
                      <a:schemeClr val="tx1"/>
                    </a:solidFill>
                    <a:latin typeface="+mj-lt"/>
                  </a:rPr>
                  <a:t>positive</a:t>
                </a: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 interaction, randomly sample a </a:t>
                </a:r>
                <a:r>
                  <a:rPr lang="en-GB" sz="1200" b="1" dirty="0">
                    <a:solidFill>
                      <a:schemeClr val="tx1"/>
                    </a:solidFill>
                    <a:latin typeface="+mj-lt"/>
                  </a:rPr>
                  <a:t>negative</a:t>
                </a: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 asset that the user has not transacted with in the training set</a:t>
                </a:r>
              </a:p>
              <a:p>
                <a:pPr lvl="5">
                  <a:spcBef>
                    <a:spcPts val="2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Pairwise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preferential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probability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GB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1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GB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𝑠𝑐𝑜𝑟𝑒</m:t>
                              </m:r>
                            </m:e>
                            <m:sub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r>
                            <a:rPr lang="en-GB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𝑠𝑐𝑜𝑟</m:t>
                          </m:r>
                          <m:sSubSup>
                            <m:sSubSupPr>
                              <m:ctrlP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SG" sz="12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</a:rPr>
                  <a:t>Then the maximum likelihood: 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subHide m:val="on"/>
                        <m:supHide m:val="on"/>
                        <m:ctrlP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sz="12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b="0" dirty="0">
                    <a:solidFill>
                      <a:schemeClr val="tx1"/>
                    </a:solidFill>
                  </a:rPr>
                  <a:t>Likewise, the maximum log-likelihood: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∏"/>
                                <m:subHide m:val="on"/>
                                <m:supHide m:val="on"/>
                                <m:ctrlPr>
                                  <a:rPr lang="en-GB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b>
                                  <m:sSubPr>
                                    <m:ctrlPr>
                                      <a:rPr lang="en-GB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GB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SG" sz="12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Converting to a loss function (BPR loss): </a:t>
                </a:r>
                <a14:m>
                  <m:oMath xmlns:m="http://schemas.openxmlformats.org/officeDocument/2006/math">
                    <m:r>
                      <a:rPr lang="en-GB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p>
                      <m:e>
                        <m:func>
                          <m:funcPr>
                            <m:ctrlPr>
                              <a:rPr lang="en-GB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12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SG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SG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SG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Back propagate to update the user &amp; asset embedding weights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Continue with next mini-batch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C79FC8-BF05-8CCF-09BE-70AE4A31F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824" y="1316736"/>
                <a:ext cx="4734041" cy="2528064"/>
              </a:xfrm>
              <a:prstGeom prst="rect">
                <a:avLst/>
              </a:prstGeom>
              <a:blipFill>
                <a:blip r:embed="rId3"/>
                <a:stretch>
                  <a:fillRect t="-241" b="-72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3CF3875E-3214-ED7F-5BA6-0D78FAF4FB59}"/>
              </a:ext>
            </a:extLst>
          </p:cNvPr>
          <p:cNvGrpSpPr/>
          <p:nvPr/>
        </p:nvGrpSpPr>
        <p:grpSpPr>
          <a:xfrm>
            <a:off x="1018354" y="1316736"/>
            <a:ext cx="2550053" cy="2090830"/>
            <a:chOff x="991310" y="1673701"/>
            <a:chExt cx="2550053" cy="209083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09952E9-B3DB-D652-7CBD-7A8AF615100F}"/>
                </a:ext>
              </a:extLst>
            </p:cNvPr>
            <p:cNvGrpSpPr/>
            <p:nvPr/>
          </p:nvGrpSpPr>
          <p:grpSpPr>
            <a:xfrm>
              <a:off x="1312002" y="2061049"/>
              <a:ext cx="264237" cy="264237"/>
              <a:chOff x="754056" y="2101530"/>
              <a:chExt cx="264237" cy="264237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ADC53B-9A01-AFAD-FA2E-12F1288AE45B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4" name="Graphic 73" descr="User with solid fill">
                <a:extLst>
                  <a:ext uri="{FF2B5EF4-FFF2-40B4-BE49-F238E27FC236}">
                    <a16:creationId xmlns:a16="http://schemas.microsoft.com/office/drawing/2014/main" id="{7AFC1178-4C6F-DA04-DC7E-2CBE32F7F0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D0699F0-6982-55AF-5C4E-8D87B1CE4DB2}"/>
                </a:ext>
              </a:extLst>
            </p:cNvPr>
            <p:cNvGrpSpPr/>
            <p:nvPr/>
          </p:nvGrpSpPr>
          <p:grpSpPr>
            <a:xfrm>
              <a:off x="1312002" y="2498542"/>
              <a:ext cx="264237" cy="264237"/>
              <a:chOff x="754056" y="2101530"/>
              <a:chExt cx="264237" cy="264237"/>
            </a:xfrm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21BD638-74CA-BFA8-AF11-86A06FC69428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2" name="Graphic 71" descr="User with solid fill">
                <a:extLst>
                  <a:ext uri="{FF2B5EF4-FFF2-40B4-BE49-F238E27FC236}">
                    <a16:creationId xmlns:a16="http://schemas.microsoft.com/office/drawing/2014/main" id="{0372154A-371B-14A2-F0F4-59DB48AD2F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D8F51CD-E600-89D9-9830-D18CADEB7E77}"/>
                </a:ext>
              </a:extLst>
            </p:cNvPr>
            <p:cNvGrpSpPr/>
            <p:nvPr/>
          </p:nvGrpSpPr>
          <p:grpSpPr>
            <a:xfrm>
              <a:off x="1312002" y="2936035"/>
              <a:ext cx="264237" cy="264237"/>
              <a:chOff x="754056" y="2101530"/>
              <a:chExt cx="264237" cy="264237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2B8FA177-AE67-3F57-3911-2B6F8055C79E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0" name="Graphic 69" descr="User with solid fill">
                <a:extLst>
                  <a:ext uri="{FF2B5EF4-FFF2-40B4-BE49-F238E27FC236}">
                    <a16:creationId xmlns:a16="http://schemas.microsoft.com/office/drawing/2014/main" id="{1EE9FF87-6ACC-BE61-8CB4-E387CB43DA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5A2A7D9-4E3E-8620-2FCA-082ED3801F43}"/>
                </a:ext>
              </a:extLst>
            </p:cNvPr>
            <p:cNvGrpSpPr/>
            <p:nvPr/>
          </p:nvGrpSpPr>
          <p:grpSpPr>
            <a:xfrm>
              <a:off x="2968415" y="1928930"/>
              <a:ext cx="264237" cy="264237"/>
              <a:chOff x="754056" y="2101530"/>
              <a:chExt cx="264237" cy="264237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E180AC3B-2242-BF2C-9E25-ADB52FF6EC1B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7" name="Graphic 66" descr="Document with solid fill">
                <a:extLst>
                  <a:ext uri="{FF2B5EF4-FFF2-40B4-BE49-F238E27FC236}">
                    <a16:creationId xmlns:a16="http://schemas.microsoft.com/office/drawing/2014/main" id="{8817B8FD-9CC2-51BC-4B53-9A75D1B66C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8BB93DD-5867-C301-6B24-BECDA3F3F6E9}"/>
                </a:ext>
              </a:extLst>
            </p:cNvPr>
            <p:cNvGrpSpPr/>
            <p:nvPr/>
          </p:nvGrpSpPr>
          <p:grpSpPr>
            <a:xfrm>
              <a:off x="2968415" y="2377380"/>
              <a:ext cx="264237" cy="264237"/>
              <a:chOff x="754056" y="2101530"/>
              <a:chExt cx="264237" cy="264237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FF6042A9-E94A-F04B-A124-99DF038F6E21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3" name="Graphic 62" descr="Document with solid fill">
                <a:extLst>
                  <a:ext uri="{FF2B5EF4-FFF2-40B4-BE49-F238E27FC236}">
                    <a16:creationId xmlns:a16="http://schemas.microsoft.com/office/drawing/2014/main" id="{1A598045-F42D-32A1-2EA3-1116C89E8F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CA719F8-11D2-CD56-ED79-38A7B5BFCE8D}"/>
                </a:ext>
              </a:extLst>
            </p:cNvPr>
            <p:cNvGrpSpPr/>
            <p:nvPr/>
          </p:nvGrpSpPr>
          <p:grpSpPr>
            <a:xfrm>
              <a:off x="2968415" y="2807875"/>
              <a:ext cx="264237" cy="264237"/>
              <a:chOff x="754056" y="2101530"/>
              <a:chExt cx="264237" cy="264237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778D057A-721A-5D72-5C26-1F4013048B50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9" name="Graphic 58" descr="Document with solid fill">
                <a:extLst>
                  <a:ext uri="{FF2B5EF4-FFF2-40B4-BE49-F238E27FC236}">
                    <a16:creationId xmlns:a16="http://schemas.microsoft.com/office/drawing/2014/main" id="{9D644B2A-B414-F129-BA42-3C8B4040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2B4F177-72B4-CAEA-5A93-2FA55048A914}"/>
                </a:ext>
              </a:extLst>
            </p:cNvPr>
            <p:cNvCxnSpPr>
              <a:cxnSpLocks/>
              <a:stCxn id="73" idx="6"/>
              <a:endCxn id="65" idx="2"/>
            </p:cNvCxnSpPr>
            <p:nvPr/>
          </p:nvCxnSpPr>
          <p:spPr>
            <a:xfrm flipV="1">
              <a:off x="1576239" y="2061049"/>
              <a:ext cx="1392176" cy="132119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D0973-0B03-F092-CFC0-C8F641BAF2BF}"/>
                </a:ext>
              </a:extLst>
            </p:cNvPr>
            <p:cNvCxnSpPr>
              <a:cxnSpLocks/>
              <a:stCxn id="73" idx="6"/>
              <a:endCxn id="61" idx="2"/>
            </p:cNvCxnSpPr>
            <p:nvPr/>
          </p:nvCxnSpPr>
          <p:spPr>
            <a:xfrm>
              <a:off x="1576239" y="2193168"/>
              <a:ext cx="1392176" cy="31633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0DC1F7-814D-2F9B-9F71-2DE53460256C}"/>
                </a:ext>
              </a:extLst>
            </p:cNvPr>
            <p:cNvCxnSpPr>
              <a:cxnSpLocks/>
              <a:stCxn id="73" idx="6"/>
              <a:endCxn id="58" idx="2"/>
            </p:cNvCxnSpPr>
            <p:nvPr/>
          </p:nvCxnSpPr>
          <p:spPr>
            <a:xfrm>
              <a:off x="1576239" y="2193168"/>
              <a:ext cx="1392176" cy="746826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F313C4A-5B21-65AF-8264-0EB0B3E72ABD}"/>
                </a:ext>
              </a:extLst>
            </p:cNvPr>
            <p:cNvCxnSpPr>
              <a:cxnSpLocks/>
              <a:stCxn id="71" idx="6"/>
              <a:endCxn id="65" idx="2"/>
            </p:cNvCxnSpPr>
            <p:nvPr/>
          </p:nvCxnSpPr>
          <p:spPr>
            <a:xfrm flipV="1">
              <a:off x="1576239" y="2061049"/>
              <a:ext cx="1392176" cy="56961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CBEF7FA-6158-0CD1-3729-787872A11B00}"/>
                </a:ext>
              </a:extLst>
            </p:cNvPr>
            <p:cNvCxnSpPr>
              <a:cxnSpLocks/>
              <a:stCxn id="69" idx="6"/>
              <a:endCxn id="58" idx="2"/>
            </p:cNvCxnSpPr>
            <p:nvPr/>
          </p:nvCxnSpPr>
          <p:spPr>
            <a:xfrm flipV="1">
              <a:off x="1576239" y="2939994"/>
              <a:ext cx="1392176" cy="12816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D43D984-D95C-201E-4A19-2F4AAB802E86}"/>
                </a:ext>
              </a:extLst>
            </p:cNvPr>
            <p:cNvSpPr txBox="1"/>
            <p:nvPr/>
          </p:nvSpPr>
          <p:spPr>
            <a:xfrm>
              <a:off x="1064575" y="1804113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Users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4FF8A35-A24C-42BB-C2B1-2A93D2013245}"/>
                </a:ext>
              </a:extLst>
            </p:cNvPr>
            <p:cNvSpPr txBox="1"/>
            <p:nvPr/>
          </p:nvSpPr>
          <p:spPr>
            <a:xfrm>
              <a:off x="2720988" y="1673701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Assets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44047BC-7E7D-CA6F-F824-A8ACAF7E2C34}"/>
                </a:ext>
              </a:extLst>
            </p:cNvPr>
            <p:cNvSpPr txBox="1"/>
            <p:nvPr/>
          </p:nvSpPr>
          <p:spPr>
            <a:xfrm>
              <a:off x="1054146" y="3242392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…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26BD1E8-A898-202F-742C-E49CF8BCCB5E}"/>
                </a:ext>
              </a:extLst>
            </p:cNvPr>
            <p:cNvSpPr txBox="1"/>
            <p:nvPr/>
          </p:nvSpPr>
          <p:spPr>
            <a:xfrm>
              <a:off x="2763157" y="3518310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…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3701D3A-AA9B-B885-2420-229EAA5E6F7C}"/>
                </a:ext>
              </a:extLst>
            </p:cNvPr>
            <p:cNvGrpSpPr/>
            <p:nvPr/>
          </p:nvGrpSpPr>
          <p:grpSpPr>
            <a:xfrm>
              <a:off x="2975523" y="3235332"/>
              <a:ext cx="264237" cy="264237"/>
              <a:chOff x="754056" y="2101530"/>
              <a:chExt cx="264237" cy="264237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D8871411-64CC-1278-1E13-0F7AF0FEE2ED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7" name="Graphic 56" descr="Document with solid fill">
                <a:extLst>
                  <a:ext uri="{FF2B5EF4-FFF2-40B4-BE49-F238E27FC236}">
                    <a16:creationId xmlns:a16="http://schemas.microsoft.com/office/drawing/2014/main" id="{27F81F6C-07CF-FFAD-7CE3-554A65A1CC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E2B41A3-36C1-FAA0-E3EC-D3BCBAAEC2EB}"/>
                </a:ext>
              </a:extLst>
            </p:cNvPr>
            <p:cNvCxnSpPr>
              <a:cxnSpLocks/>
              <a:stCxn id="71" idx="6"/>
              <a:endCxn id="56" idx="2"/>
            </p:cNvCxnSpPr>
            <p:nvPr/>
          </p:nvCxnSpPr>
          <p:spPr>
            <a:xfrm>
              <a:off x="1576239" y="2630661"/>
              <a:ext cx="1399284" cy="73679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B88D9A3-819E-1B77-E4AA-3F912228B774}"/>
                    </a:ext>
                  </a:extLst>
                </p:cNvPr>
                <p:cNvSpPr txBox="1"/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B88D9A3-819E-1B77-E4AA-3F912228B7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4EB645B-639F-AC68-B87D-622BDE4584F0}"/>
                    </a:ext>
                  </a:extLst>
                </p:cNvPr>
                <p:cNvSpPr txBox="1"/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4EB645B-639F-AC68-B87D-622BDE4584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DEC443D-F4FA-6BA6-7C22-35BD9578786C}"/>
                    </a:ext>
                  </a:extLst>
                </p:cNvPr>
                <p:cNvSpPr txBox="1"/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DEC443D-F4FA-6BA6-7C22-35BD957878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3C3D316-85B7-A868-F355-333DBC02C8FF}"/>
                    </a:ext>
                  </a:extLst>
                </p:cNvPr>
                <p:cNvSpPr txBox="1"/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3C3D316-85B7-A868-F355-333DBC02C8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D153C21-474C-A849-0182-3045BC9B3433}"/>
                    </a:ext>
                  </a:extLst>
                </p:cNvPr>
                <p:cNvSpPr txBox="1"/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D153C21-474C-A849-0182-3045BC9B34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F6304B5-AC3E-3D65-840F-C8EE1AD84170}"/>
                    </a:ext>
                  </a:extLst>
                </p:cNvPr>
                <p:cNvSpPr txBox="1"/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F6304B5-AC3E-3D65-840F-C8EE1AD841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7DA8F17-DE01-A723-8C60-4B47FB1B64BE}"/>
                    </a:ext>
                  </a:extLst>
                </p:cNvPr>
                <p:cNvSpPr txBox="1"/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7DA8F17-DE01-A723-8C60-4B47FB1B64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ACB7C399-B70E-91F6-5B9E-05F0CCC0EA8C}"/>
                </a:ext>
              </a:extLst>
            </p:cNvPr>
            <p:cNvSpPr txBox="1"/>
            <p:nvPr/>
          </p:nvSpPr>
          <p:spPr>
            <a:xfrm>
              <a:off x="1756352" y="1711806"/>
              <a:ext cx="10150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Positive</a:t>
              </a:r>
            </a:p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Interactions</a:t>
              </a:r>
              <a:endParaRPr lang="en-SG" sz="10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B8BAB96-A952-97B7-EC98-A5CEEB94D0BC}"/>
              </a:ext>
            </a:extLst>
          </p:cNvPr>
          <p:cNvCxnSpPr>
            <a:cxnSpLocks/>
            <a:stCxn id="69" idx="6"/>
            <a:endCxn id="56" idx="2"/>
          </p:cNvCxnSpPr>
          <p:nvPr/>
        </p:nvCxnSpPr>
        <p:spPr>
          <a:xfrm>
            <a:off x="1603283" y="2711189"/>
            <a:ext cx="1399284" cy="299297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72F15A3-B860-9674-9B08-E80D99A1A786}"/>
              </a:ext>
            </a:extLst>
          </p:cNvPr>
          <p:cNvCxnSpPr>
            <a:cxnSpLocks/>
            <a:stCxn id="69" idx="6"/>
            <a:endCxn id="61" idx="2"/>
          </p:cNvCxnSpPr>
          <p:nvPr/>
        </p:nvCxnSpPr>
        <p:spPr>
          <a:xfrm flipV="1">
            <a:off x="1603283" y="2152534"/>
            <a:ext cx="1392176" cy="558655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57771D1-E777-D447-0EED-D13B13FDC2FE}"/>
              </a:ext>
            </a:extLst>
          </p:cNvPr>
          <p:cNvCxnSpPr>
            <a:cxnSpLocks/>
            <a:stCxn id="69" idx="6"/>
            <a:endCxn id="65" idx="2"/>
          </p:cNvCxnSpPr>
          <p:nvPr/>
        </p:nvCxnSpPr>
        <p:spPr>
          <a:xfrm flipV="1">
            <a:off x="1603283" y="1704084"/>
            <a:ext cx="1392176" cy="1007105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942E1D6-F03C-9742-7535-BD6CEE5025F5}"/>
              </a:ext>
            </a:extLst>
          </p:cNvPr>
          <p:cNvCxnSpPr>
            <a:cxnSpLocks/>
            <a:stCxn id="71" idx="6"/>
            <a:endCxn id="61" idx="2"/>
          </p:cNvCxnSpPr>
          <p:nvPr/>
        </p:nvCxnSpPr>
        <p:spPr>
          <a:xfrm flipV="1">
            <a:off x="1603283" y="2152534"/>
            <a:ext cx="1392176" cy="121162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77AD9EBD-4A5B-D960-669B-1D3C1D68FA6E}"/>
              </a:ext>
            </a:extLst>
          </p:cNvPr>
          <p:cNvCxnSpPr>
            <a:cxnSpLocks/>
            <a:stCxn id="71" idx="6"/>
            <a:endCxn id="58" idx="2"/>
          </p:cNvCxnSpPr>
          <p:nvPr/>
        </p:nvCxnSpPr>
        <p:spPr>
          <a:xfrm>
            <a:off x="1603283" y="2273696"/>
            <a:ext cx="1392176" cy="309333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CAF89BC9-B306-40BE-108F-216394E1AB21}"/>
              </a:ext>
            </a:extLst>
          </p:cNvPr>
          <p:cNvCxnSpPr>
            <a:cxnSpLocks/>
            <a:stCxn id="73" idx="6"/>
            <a:endCxn id="56" idx="2"/>
          </p:cNvCxnSpPr>
          <p:nvPr/>
        </p:nvCxnSpPr>
        <p:spPr>
          <a:xfrm>
            <a:off x="1603283" y="1836203"/>
            <a:ext cx="1399284" cy="1174283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00D00D2A-B863-7411-A9B6-675AF9325C86}"/>
              </a:ext>
            </a:extLst>
          </p:cNvPr>
          <p:cNvSpPr txBox="1"/>
          <p:nvPr/>
        </p:nvSpPr>
        <p:spPr>
          <a:xfrm>
            <a:off x="1771535" y="2994644"/>
            <a:ext cx="10150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000" dirty="0">
                <a:solidFill>
                  <a:srgbClr val="F5ADAD"/>
                </a:solidFill>
              </a:rPr>
              <a:t>Negative</a:t>
            </a:r>
          </a:p>
          <a:p>
            <a:pPr algn="ctr"/>
            <a:r>
              <a:rPr lang="en-GB" sz="1000" dirty="0">
                <a:solidFill>
                  <a:srgbClr val="F5ADAD"/>
                </a:solidFill>
              </a:rPr>
              <a:t>Interactions</a:t>
            </a:r>
            <a:endParaRPr lang="en-SG" sz="1000" dirty="0">
              <a:solidFill>
                <a:srgbClr val="F5ADA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18120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Risk-based segmentation</a:t>
            </a:r>
            <a:r>
              <a:rPr lang="en-SG" sz="2000" b="1" dirty="0">
                <a:solidFill>
                  <a:srgbClr val="156082"/>
                </a:solidFill>
              </a:rPr>
              <a:t> approach</a:t>
            </a:r>
            <a:endParaRPr sz="2000" b="1" dirty="0">
              <a:solidFill>
                <a:srgbClr val="156082"/>
              </a:solidFill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D108C794-A7AA-DFF2-4F32-4EA02ABDF502}"/>
              </a:ext>
            </a:extLst>
          </p:cNvPr>
          <p:cNvGrpSpPr/>
          <p:nvPr/>
        </p:nvGrpSpPr>
        <p:grpSpPr>
          <a:xfrm>
            <a:off x="1505795" y="1348147"/>
            <a:ext cx="1820333" cy="988658"/>
            <a:chOff x="1505795" y="1348147"/>
            <a:chExt cx="1820333" cy="988658"/>
          </a:xfrm>
        </p:grpSpPr>
        <p:sp>
          <p:nvSpPr>
            <p:cNvPr id="19" name="Rounded Rectangle 18"/>
            <p:cNvSpPr/>
            <p:nvPr/>
          </p:nvSpPr>
          <p:spPr>
            <a:xfrm>
              <a:off x="1505795" y="1348147"/>
              <a:ext cx="1820333" cy="566928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E9713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u="sng" dirty="0">
                  <a:solidFill>
                    <a:srgbClr val="E97132"/>
                  </a:solidFill>
                  <a:latin typeface="Arial"/>
                </a:rPr>
                <a:t>Approach 2 (data lever):</a:t>
              </a:r>
            </a:p>
            <a:p>
              <a:pPr algn="ctr"/>
              <a:r>
                <a:rPr lang="en-SG" sz="1000" dirty="0">
                  <a:solidFill>
                    <a:srgbClr val="E97132"/>
                  </a:solidFill>
                  <a:latin typeface="Arial"/>
                </a:rPr>
                <a:t>Re</a:t>
              </a:r>
              <a:r>
                <a:rPr sz="1000" dirty="0">
                  <a:solidFill>
                    <a:srgbClr val="E97132"/>
                  </a:solidFill>
                  <a:latin typeface="Arial"/>
                </a:rPr>
                <a:t>group </a:t>
              </a:r>
              <a:r>
                <a:rPr lang="en-SG" sz="1000" dirty="0">
                  <a:solidFill>
                    <a:srgbClr val="E97132"/>
                  </a:solidFill>
                  <a:latin typeface="Arial"/>
                </a:rPr>
                <a:t>customers </a:t>
              </a:r>
              <a:r>
                <a:rPr sz="1000" dirty="0">
                  <a:solidFill>
                    <a:srgbClr val="E97132"/>
                  </a:solidFill>
                  <a:latin typeface="Arial"/>
                </a:rPr>
                <a:t>to revealed band</a:t>
              </a:r>
            </a:p>
          </p:txBody>
        </p:sp>
        <p:cxnSp>
          <p:nvCxnSpPr>
            <p:cNvPr id="20" name="Connector 19"/>
            <p:cNvCxnSpPr>
              <a:cxnSpLocks/>
              <a:stCxn id="19" idx="2"/>
              <a:endCxn id="4" idx="0"/>
            </p:cNvCxnSpPr>
            <p:nvPr/>
          </p:nvCxnSpPr>
          <p:spPr>
            <a:xfrm>
              <a:off x="2415962" y="1915075"/>
              <a:ext cx="1" cy="421730"/>
            </a:xfrm>
            <a:prstGeom prst="line">
              <a:avLst/>
            </a:prstGeom>
            <a:ln w="15875">
              <a:solidFill>
                <a:srgbClr val="E97132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4CAA58E4-F916-C23C-929B-DF96DC402B5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FA0F9005-6B0D-FC13-F506-BEA6C18DD9C0}"/>
              </a:ext>
            </a:extLst>
          </p:cNvPr>
          <p:cNvGrpSpPr/>
          <p:nvPr/>
        </p:nvGrpSpPr>
        <p:grpSpPr>
          <a:xfrm>
            <a:off x="1227241" y="3619839"/>
            <a:ext cx="3612940" cy="619093"/>
            <a:chOff x="1227241" y="3619839"/>
            <a:chExt cx="3612940" cy="619093"/>
          </a:xfrm>
        </p:grpSpPr>
        <p:sp>
          <p:nvSpPr>
            <p:cNvPr id="21" name="Rounded Rectangle 20"/>
            <p:cNvSpPr/>
            <p:nvPr/>
          </p:nvSpPr>
          <p:spPr>
            <a:xfrm>
              <a:off x="1227241" y="3690292"/>
              <a:ext cx="2377440" cy="5486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96B24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u="sng" dirty="0">
                  <a:solidFill>
                    <a:srgbClr val="196B24"/>
                  </a:solidFill>
                  <a:latin typeface="Arial"/>
                </a:rPr>
                <a:t>Approach 1 (model lever):</a:t>
              </a:r>
            </a:p>
            <a:p>
              <a:pPr algn="ctr"/>
              <a:r>
                <a:rPr lang="en-SG" sz="1000" dirty="0">
                  <a:solidFill>
                    <a:srgbClr val="196B24"/>
                  </a:solidFill>
                  <a:latin typeface="Arial"/>
                </a:rPr>
                <a:t>Add a </a:t>
              </a:r>
              <a:r>
                <a:rPr sz="1000" dirty="0">
                  <a:solidFill>
                    <a:srgbClr val="196B24"/>
                  </a:solidFill>
                  <a:latin typeface="Arial"/>
                </a:rPr>
                <a:t>coherence margin loss</a:t>
              </a:r>
            </a:p>
          </p:txBody>
        </p: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0498DFD7-C019-C1E2-C419-52BBBD10BB47}"/>
                </a:ext>
              </a:extLst>
            </p:cNvPr>
            <p:cNvCxnSpPr>
              <a:cxnSpLocks/>
              <a:stCxn id="21" idx="3"/>
              <a:endCxn id="8" idx="2"/>
            </p:cNvCxnSpPr>
            <p:nvPr/>
          </p:nvCxnSpPr>
          <p:spPr>
            <a:xfrm flipV="1">
              <a:off x="3604681" y="3619839"/>
              <a:ext cx="1235500" cy="344773"/>
            </a:xfrm>
            <a:prstGeom prst="bentConnector2">
              <a:avLst/>
            </a:prstGeom>
            <a:ln w="12700">
              <a:solidFill>
                <a:srgbClr val="196B2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11B9A3F-CC96-382F-42C1-EDD413A00442}"/>
              </a:ext>
            </a:extLst>
          </p:cNvPr>
          <p:cNvGrpSpPr/>
          <p:nvPr/>
        </p:nvGrpSpPr>
        <p:grpSpPr>
          <a:xfrm>
            <a:off x="522815" y="1489287"/>
            <a:ext cx="7997191" cy="2654534"/>
            <a:chOff x="522815" y="1489287"/>
            <a:chExt cx="7997191" cy="2654534"/>
          </a:xfrm>
        </p:grpSpPr>
        <p:sp>
          <p:nvSpPr>
            <p:cNvPr id="3" name="Rounded Rectangle 2"/>
            <p:cNvSpPr/>
            <p:nvPr/>
          </p:nvSpPr>
          <p:spPr>
            <a:xfrm>
              <a:off x="522815" y="2358395"/>
              <a:ext cx="982980" cy="5969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FAR-Trans</a:t>
              </a:r>
            </a:p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Data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943099" y="2336805"/>
              <a:ext cx="945727" cy="64008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Risk-band</a:t>
              </a:r>
            </a:p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router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989495" y="1489287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Conservative sub-model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989495" y="2047071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Income sub-model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89495" y="2604855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Balanced sub-model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989495" y="3162639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Aggressive sub-model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71166" y="2016765"/>
              <a:ext cx="2148840" cy="128016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u="sng" dirty="0">
                  <a:solidFill>
                    <a:schemeClr val="tx1"/>
                  </a:solidFill>
                  <a:latin typeface="Arial"/>
                </a:rPr>
                <a:t>Evaluate o</a:t>
              </a:r>
              <a:r>
                <a:rPr lang="en-SG" sz="1000" b="1" u="sng" dirty="0">
                  <a:solidFill>
                    <a:schemeClr val="tx1"/>
                  </a:solidFill>
                  <a:latin typeface="Arial"/>
                </a:rPr>
                <a:t>n: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Ranking accuracy (</a:t>
              </a:r>
              <a:r>
                <a:rPr lang="en-SG" sz="1000" dirty="0" err="1">
                  <a:solidFill>
                    <a:schemeClr val="tx1"/>
                  </a:solidFill>
                  <a:latin typeface="Arial"/>
                </a:rPr>
                <a:t>nDCG</a:t>
              </a: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Returns (ROI)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Risk suitability (PC)</a:t>
              </a:r>
            </a:p>
            <a:p>
              <a:pPr marL="171450" indent="-171450" algn="ctr">
                <a:buFontTx/>
                <a:buChar char="-"/>
              </a:pPr>
              <a:endParaRPr lang="en-SG" sz="1000" dirty="0">
                <a:solidFill>
                  <a:schemeClr val="tx1"/>
                </a:solidFill>
                <a:latin typeface="Arial"/>
              </a:endParaRPr>
            </a:p>
            <a:p>
              <a:pPr algn="ctr"/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With a </a:t>
              </a:r>
              <a:r>
                <a:rPr sz="1000" dirty="0">
                  <a:solidFill>
                    <a:schemeClr val="tx1"/>
                  </a:solidFill>
                  <a:latin typeface="Arial"/>
                </a:rPr>
                <a:t>harmonic </a:t>
              </a: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balance</a:t>
              </a:r>
              <a:endParaRPr sz="1000" dirty="0">
                <a:solidFill>
                  <a:schemeClr val="tx1"/>
                </a:solidFill>
                <a:latin typeface="Arial"/>
              </a:endParaRPr>
            </a:p>
          </p:txBody>
        </p:sp>
        <p:cxnSp>
          <p:nvCxnSpPr>
            <p:cNvPr id="10" name="Connector 9"/>
            <p:cNvCxnSpPr>
              <a:cxnSpLocks/>
              <a:stCxn id="3" idx="3"/>
              <a:endCxn id="4" idx="1"/>
            </p:cNvCxnSpPr>
            <p:nvPr/>
          </p:nvCxnSpPr>
          <p:spPr>
            <a:xfrm>
              <a:off x="1505795" y="2656845"/>
              <a:ext cx="437304" cy="0"/>
            </a:xfrm>
            <a:prstGeom prst="line">
              <a:avLst/>
            </a:prstGeom>
            <a:ln w="12700">
              <a:solidFill>
                <a:schemeClr val="tx1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BF4ED2B7-E02E-A2F7-CE11-B4734E447EB4}"/>
                </a:ext>
              </a:extLst>
            </p:cNvPr>
            <p:cNvCxnSpPr>
              <a:stCxn id="4" idx="3"/>
              <a:endCxn id="8" idx="1"/>
            </p:cNvCxnSpPr>
            <p:nvPr/>
          </p:nvCxnSpPr>
          <p:spPr>
            <a:xfrm>
              <a:off x="2888826" y="2656845"/>
              <a:ext cx="1100669" cy="734394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89235EC7-9DEA-2C3B-8AF7-86D6B4D52073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>
              <a:off x="2888826" y="2656845"/>
              <a:ext cx="1100669" cy="176610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BC1A43FC-6249-3B66-D52D-5606E70EE687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 flipV="1">
              <a:off x="2888826" y="2275671"/>
              <a:ext cx="1100669" cy="381174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98FDB82F-56FA-34FF-FB38-A2A13B1C03F7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 flipV="1">
              <a:off x="2888826" y="1717887"/>
              <a:ext cx="1100669" cy="938958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82775369-4680-E898-0536-D079A7877B6F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5690867" y="2656845"/>
              <a:ext cx="680299" cy="17661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D938682C-574D-8E81-C33D-E0EDCF699FD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690867" y="2656845"/>
              <a:ext cx="680299" cy="734394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AC80B136-88A8-3073-6B99-7A49C8903313}"/>
                </a:ext>
              </a:extLst>
            </p:cNvPr>
            <p:cNvCxnSpPr>
              <a:cxnSpLocks/>
              <a:stCxn id="6" idx="3"/>
              <a:endCxn id="9" idx="1"/>
            </p:cNvCxnSpPr>
            <p:nvPr/>
          </p:nvCxnSpPr>
          <p:spPr>
            <a:xfrm>
              <a:off x="5690867" y="2275671"/>
              <a:ext cx="680299" cy="381174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: Elbow 54">
              <a:extLst>
                <a:ext uri="{FF2B5EF4-FFF2-40B4-BE49-F238E27FC236}">
                  <a16:creationId xmlns:a16="http://schemas.microsoft.com/office/drawing/2014/main" id="{96AFE7B7-E09E-7309-3423-F6F192BC7199}"/>
                </a:ext>
              </a:extLst>
            </p:cNvPr>
            <p:cNvCxnSpPr>
              <a:cxnSpLocks/>
              <a:stCxn id="5" idx="3"/>
              <a:endCxn id="9" idx="1"/>
            </p:cNvCxnSpPr>
            <p:nvPr/>
          </p:nvCxnSpPr>
          <p:spPr>
            <a:xfrm>
              <a:off x="5690867" y="1717887"/>
              <a:ext cx="680299" cy="938958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75F6FBDF-9EFF-F2CB-477E-D53AF6D9EB40}"/>
                    </a:ext>
                  </a:extLst>
                </p:cNvPr>
                <p:cNvSpPr txBox="1"/>
                <p:nvPr/>
              </p:nvSpPr>
              <p:spPr>
                <a:xfrm>
                  <a:off x="6398408" y="3387881"/>
                  <a:ext cx="2094355" cy="3758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𝐵𝑎𝑙𝑎𝑛𝑐𝑒</m:t>
                        </m:r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=3</m:t>
                        </m:r>
                        <m:sSup>
                          <m:sSupPr>
                            <m:ctrlP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𝑅𝑂</m:t>
                                    </m:r>
                                    <m:sSup>
                                      <m:sSupPr>
                                        <m:ctrlPr>
                                          <a:rPr lang="en-SG" sz="1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SG" sz="1000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p>
                                        <m:r>
                                          <a:rPr lang="en-SG" sz="1000" b="0" i="1" smtClean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𝑛𝐷𝐶𝐺</m:t>
                                    </m:r>
                                  </m:den>
                                </m:f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𝑃𝐶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SG" sz="1000" dirty="0"/>
                </a:p>
              </p:txBody>
            </p:sp>
          </mc:Choice>
          <mc:Fallback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75F6FBDF-9EFF-F2CB-477E-D53AF6D9E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8408" y="3387881"/>
                  <a:ext cx="2094355" cy="375872"/>
                </a:xfrm>
                <a:prstGeom prst="rect">
                  <a:avLst/>
                </a:prstGeom>
                <a:blipFill>
                  <a:blip r:embed="rId3"/>
                  <a:stretch>
                    <a:fillRect l="-1166" r="-292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346ECDC-DC6F-8626-21C4-849D4B8D7B39}"/>
                    </a:ext>
                  </a:extLst>
                </p:cNvPr>
                <p:cNvSpPr txBox="1"/>
                <p:nvPr/>
              </p:nvSpPr>
              <p:spPr>
                <a:xfrm>
                  <a:off x="6603478" y="3850086"/>
                  <a:ext cx="1228285" cy="2937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𝑅𝑂</m:t>
                        </m:r>
                        <m:sSup>
                          <m:sSupPr>
                            <m:ctrlP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𝑅𝑂𝐼</m:t>
                                </m:r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/0.01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SG" sz="1000" dirty="0"/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346ECDC-DC6F-8626-21C4-849D4B8D7B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478" y="3850086"/>
                  <a:ext cx="1228285" cy="293735"/>
                </a:xfrm>
                <a:prstGeom prst="rect">
                  <a:avLst/>
                </a:prstGeom>
                <a:blipFill>
                  <a:blip r:embed="rId4"/>
                  <a:stretch>
                    <a:fillRect l="-1485" t="-2083" b="-16667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Alternative approaches</a:t>
            </a:r>
            <a:endParaRPr sz="2000" b="1" dirty="0">
              <a:solidFill>
                <a:srgbClr val="15608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19" y="1325879"/>
                <a:ext cx="4093511" cy="2614417"/>
              </a:xfrm>
            </p:spPr>
            <p:txBody>
              <a:bodyPr wrap="square">
                <a:normAutofit/>
              </a:bodyPr>
              <a:lstStyle/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:r>
                  <a:rPr lang="en-GB" b="1" dirty="0">
                    <a:solidFill>
                      <a:srgbClr val="202020"/>
                    </a:solidFill>
                  </a:rPr>
                  <a:t>Approach 1: Adding coherence margin loss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b="0" dirty="0">
                    <a:solidFill>
                      <a:srgbClr val="202020"/>
                    </a:solidFill>
                  </a:rPr>
                  <a:t>Draw a pair of </a:t>
                </a:r>
                <a:r>
                  <a:rPr lang="en-GB" b="1" dirty="0">
                    <a:solidFill>
                      <a:srgbClr val="0E2841"/>
                    </a:solidFill>
                  </a:rPr>
                  <a:t>coherent</a:t>
                </a:r>
                <a:r>
                  <a:rPr lang="en-GB" b="0" dirty="0">
                    <a:solidFill>
                      <a:srgbClr val="20202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0" dirty="0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GB" b="0" dirty="0">
                    <a:solidFill>
                      <a:srgbClr val="202020"/>
                    </a:solidFill>
                  </a:rPr>
                  <a:t>) and </a:t>
                </a:r>
                <a:r>
                  <a:rPr lang="en-GB" b="1" dirty="0">
                    <a:solidFill>
                      <a:srgbClr val="0E2841"/>
                    </a:solidFill>
                  </a:rPr>
                  <a:t>discordant</a:t>
                </a:r>
                <a:r>
                  <a:rPr lang="en-GB" b="0" dirty="0">
                    <a:solidFill>
                      <a:srgbClr val="20202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dirty="0">
                        <a:solidFill>
                          <a:srgbClr val="20202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SG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) asset</a:t>
                </a:r>
                <a:r>
                  <a:rPr lang="en-GB" b="0" dirty="0">
                    <a:solidFill>
                      <a:srgbClr val="202020"/>
                    </a:solidFill>
                  </a:rPr>
                  <a:t> to push the coherent score above the discordant one: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𝑐𝑜h𝑒𝑟𝑒𝑛𝑐𝑒</m:t>
                          </m:r>
                        </m:sub>
                      </m:sSub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SG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p>
                                <m:sSupPr>
                                  <m:ctrlP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d>
                                    <m:d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 </m:t>
                                      </m:r>
                                      <m:sSub>
                                        <m:sSubPr>
                                          <m:ctrlP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  <m:sub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d>
                                    <m:d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  </m:t>
                                      </m:r>
                                      <m:sSub>
                                        <m:sSubPr>
                                          <m:ctrlP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  <m:sub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GB" b="0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b="0" dirty="0">
                    <a:solidFill>
                      <a:srgbClr val="202020"/>
                    </a:solidFill>
                  </a:rPr>
                  <a:t>Adding the new loss term to original BPR loss and L2 regularizer with weight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SG" b="0" i="1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b="0" dirty="0">
                    <a:solidFill>
                      <a:srgbClr val="202020"/>
                    </a:solidFill>
                  </a:rPr>
                  <a:t>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𝑇𝑜𝑡𝑎𝑙</m:t>
                          </m:r>
                        </m:sub>
                      </m:sSub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𝐵𝑃𝑅</m:t>
                              </m:r>
                            </m:sub>
                          </m:s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sSup>
                            <m:sSupPr>
                              <m:ctrlP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𝑐𝑜h𝑒𝑟𝑒𝑛𝑐𝑒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19" y="1325879"/>
                <a:ext cx="4093511" cy="261441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F56F9CF-F6B0-7BD7-0EA7-E810F9FA474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DA46A98-BCD6-96FC-FC78-9E02F8006583}"/>
              </a:ext>
            </a:extLst>
          </p:cNvPr>
          <p:cNvGrpSpPr/>
          <p:nvPr/>
        </p:nvGrpSpPr>
        <p:grpSpPr>
          <a:xfrm>
            <a:off x="4596429" y="1325879"/>
            <a:ext cx="4093511" cy="3067813"/>
            <a:chOff x="4596429" y="1325879"/>
            <a:chExt cx="4093511" cy="3067813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F885DE-D8BC-3937-9E07-CB94757103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906" t="11107" r="13121" b="-1"/>
            <a:stretch>
              <a:fillRect/>
            </a:stretch>
          </p:blipFill>
          <p:spPr>
            <a:xfrm>
              <a:off x="4958423" y="2027707"/>
              <a:ext cx="3369522" cy="2365985"/>
            </a:xfrm>
            <a:prstGeom prst="rect">
              <a:avLst/>
            </a:prstGeom>
          </p:spPr>
        </p:pic>
        <p:sp>
          <p:nvSpPr>
            <p:cNvPr id="12" name="Text Placeholder 2">
              <a:extLst>
                <a:ext uri="{FF2B5EF4-FFF2-40B4-BE49-F238E27FC236}">
                  <a16:creationId xmlns:a16="http://schemas.microsoft.com/office/drawing/2014/main" id="{8F6170D9-0D2A-CB24-A06E-E6F0776233E7}"/>
                </a:ext>
              </a:extLst>
            </p:cNvPr>
            <p:cNvSpPr txBox="1">
              <a:spLocks/>
            </p:cNvSpPr>
            <p:nvPr/>
          </p:nvSpPr>
          <p:spPr>
            <a:xfrm>
              <a:off x="4596429" y="1325879"/>
              <a:ext cx="4093511" cy="26144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rm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228600" algn="l" rtl="0">
                <a:lnSpc>
                  <a:spcPct val="90000"/>
                </a:lnSpc>
                <a:spcBef>
                  <a:spcPts val="8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 panose="020B0604020202020204" pitchFamily="34" charset="0"/>
                <a:buChar char="•"/>
                <a:defRPr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L="914400" marR="0" lvl="1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  <a:def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L="1371600" marR="0" lvl="2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Font typeface="Arial"/>
                <a:buNone/>
                <a:defRPr sz="9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L="1828800" marR="0" lvl="3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L="2286000" marR="0" lvl="4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L="2743200" marR="0" lvl="5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L="3200400" marR="0" lvl="6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L="3657600" marR="0" lvl="7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L="4114800" marR="0" lvl="8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228600" indent="0">
                <a:lnSpc>
                  <a:spcPct val="100000"/>
                </a:lnSpc>
                <a:spcBef>
                  <a:spcPts val="200"/>
                </a:spcBef>
                <a:spcAft>
                  <a:spcPts val="600"/>
                </a:spcAft>
                <a:buFont typeface="Arial" panose="020B0604020202020204" pitchFamily="34" charset="0"/>
                <a:buNone/>
              </a:pPr>
              <a:r>
                <a:rPr lang="en-GB" b="1" dirty="0">
                  <a:solidFill>
                    <a:srgbClr val="202020"/>
                  </a:solidFill>
                </a:rPr>
                <a:t>Approach 2: Regrouping Customers</a:t>
              </a:r>
            </a:p>
            <a:p>
              <a:pPr>
                <a:spcBef>
                  <a:spcPts val="200"/>
                </a:spcBef>
                <a:spcAft>
                  <a:spcPts val="600"/>
                </a:spcAft>
              </a:pPr>
              <a:r>
                <a:rPr lang="en-SG" dirty="0">
                  <a:solidFill>
                    <a:srgbClr val="202020"/>
                  </a:solidFill>
                </a:rPr>
                <a:t>Regroup customers based on their lower median purchase:</a:t>
              </a:r>
              <a:endParaRPr lang="en-GB" dirty="0">
                <a:solidFill>
                  <a:srgbClr val="202020"/>
                </a:solidFill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04 </a:t>
            </a:r>
            <a:r>
              <a:rPr b="1" dirty="0"/>
              <a:t>Experimental Setup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Data preparation</a:t>
            </a:r>
            <a:r>
              <a:rPr lang="en-SG" sz="1800" dirty="0"/>
              <a:t> and hyperparameters</a:t>
            </a:r>
            <a:endParaRPr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Normalisation of risk suitability metric</a:t>
            </a:r>
            <a:endParaRPr sz="2000" b="1" dirty="0">
              <a:solidFill>
                <a:srgbClr val="15608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20" y="1325879"/>
                <a:ext cx="8138160" cy="3015776"/>
              </a:xfrm>
            </p:spPr>
            <p:txBody>
              <a:bodyPr wrap="square"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sz="1200" dirty="0">
                    <a:solidFill>
                      <a:srgbClr val="0E2841"/>
                    </a:solidFill>
                  </a:rPr>
                  <a:t>77.9% of assets sit in Conservative/Income/Balanced risk-band</a:t>
                </a:r>
                <a:endParaRPr lang="en-GB" dirty="0">
                  <a:solidFill>
                    <a:srgbClr val="0E2841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sz="1200" dirty="0">
                    <a:solidFill>
                      <a:srgbClr val="0E2841"/>
                    </a:solidFill>
                  </a:rPr>
                  <a:t>A model assigning Income to everyone scores high in our profile coherence metric</a:t>
                </a:r>
                <a:endParaRPr lang="en-GB" sz="1200" b="0" dirty="0">
                  <a:solidFill>
                    <a:srgbClr val="202020"/>
                  </a:solidFill>
                  <a:latin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202020"/>
                    </a:solidFill>
                  </a:rPr>
                  <a:t>Over a total of 806 assets, the risk-band distribution: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190</m:t>
                    </m:r>
                    <m:r>
                      <a:rPr lang="en-GB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333</m:t>
                    </m:r>
                    <m:r>
                      <a:rPr lang="en-GB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105</m:t>
                    </m:r>
                    <m:r>
                      <a:rPr lang="en-GB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178</m:t>
                    </m:r>
                    <m:r>
                      <a:rPr lang="en-GB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0E2841"/>
                    </a:solidFill>
                  </a:rPr>
                  <a:t>Fraction of assets within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±</m:t>
                    </m:r>
                    <m:r>
                      <a:rPr lang="en-SG" b="0" i="1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 of own risk-band: 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r>
                        <a:rPr lang="en-SG" b="0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65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78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76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35</m:t>
                      </m:r>
                      <m:r>
                        <a:rPr lang="en-SG" i="1" dirty="0" smtClean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>
                  <a:solidFill>
                    <a:srgbClr val="0E2841"/>
                  </a:solidFill>
                  <a:ea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202020"/>
                    </a:solidFill>
                  </a:rPr>
                  <a:t>So for a given customer (</a:t>
                </a:r>
                <a14:m>
                  <m:oMath xmlns:m="http://schemas.openxmlformats.org/officeDocument/2006/math">
                    <m:r>
                      <a:rPr lang="en-SG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 with risk-band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 the normalized PC (</a:t>
                </a:r>
                <a14:m>
                  <m:oMath xmlns:m="http://schemas.openxmlformats.org/officeDocument/2006/math">
                    <m:r>
                      <a:rPr lang="en-SG" i="1">
                        <a:latin typeface="Cambria Math" panose="02040503050406030204" pitchFamily="18" charset="0"/>
                      </a:rPr>
                      <m:t>𝑃</m:t>
                    </m:r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SG" i="1">
                            <a:latin typeface="Cambria Math" panose="02040503050406030204" pitchFamily="18" charset="0"/>
                          </a:rPr>
                          <m:t>𝑙𝑖𝑓𝑡</m:t>
                        </m:r>
                      </m:sub>
                    </m:sSub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 is: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𝑙𝑖𝑓𝑡</m:t>
                          </m:r>
                        </m:sub>
                      </m:sSub>
                      <m:r>
                        <a:rPr lang="en-SG" i="1"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𝑃𝐶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@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202020"/>
                    </a:solidFill>
                  </a:rPr>
                  <a:t>Aggregate </a:t>
                </a:r>
                <a14:m>
                  <m:oMath xmlns:m="http://schemas.openxmlformats.org/officeDocument/2006/math">
                    <m:r>
                      <a:rPr lang="en-SG" b="0" i="1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sSub>
                      <m:sSubPr>
                        <m:ctrlPr>
                          <a:rPr lang="en-SG" b="0" i="1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b="0" i="1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SG" b="0" i="1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𝑙𝑖𝑓𝑡</m:t>
                        </m:r>
                      </m:sub>
                    </m:sSub>
                    <m:r>
                      <a:rPr lang="en-SG" b="0" i="1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SG" b="0" i="1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 implies the model is more risk coherent than random on average</a:t>
                </a:r>
              </a:p>
            </p:txBody>
          </p:sp>
        </mc:Choice>
        <mc:Fallback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20" y="1325879"/>
                <a:ext cx="8138160" cy="301577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73EF22-AD8B-1430-2781-EA9B76A9E4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64A6E1D3-FC19-CDF3-789B-1D8C9E77C309}"/>
              </a:ext>
            </a:extLst>
          </p:cNvPr>
          <p:cNvSpPr/>
          <p:nvPr/>
        </p:nvSpPr>
        <p:spPr>
          <a:xfrm>
            <a:off x="7246379" y="1140067"/>
            <a:ext cx="1547715" cy="5669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GB" sz="2000" b="1" dirty="0">
                <a:solidFill>
                  <a:srgbClr val="156082"/>
                </a:solidFill>
              </a:rPr>
              <a:t>Data</a:t>
            </a:r>
            <a:r>
              <a:rPr sz="2000" b="1" dirty="0">
                <a:solidFill>
                  <a:srgbClr val="156082"/>
                </a:solidFill>
              </a:rPr>
              <a:t> </a:t>
            </a:r>
            <a:r>
              <a:rPr lang="en-SG" sz="2000" b="1" dirty="0">
                <a:solidFill>
                  <a:srgbClr val="156082"/>
                </a:solidFill>
              </a:rPr>
              <a:t>training test </a:t>
            </a:r>
            <a:r>
              <a:rPr sz="2000" b="1" dirty="0">
                <a:solidFill>
                  <a:srgbClr val="156082"/>
                </a:solidFill>
              </a:rPr>
              <a:t>split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5A862-5934-C007-2D7F-59BD01DEF4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C02D73-3708-657C-148F-3187FB897EFB}"/>
              </a:ext>
            </a:extLst>
          </p:cNvPr>
          <p:cNvSpPr txBox="1"/>
          <p:nvPr/>
        </p:nvSpPr>
        <p:spPr>
          <a:xfrm>
            <a:off x="589717" y="1638449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570E97-8D85-CDD4-FDDE-CBCE2A073689}"/>
              </a:ext>
            </a:extLst>
          </p:cNvPr>
          <p:cNvSpPr txBox="1"/>
          <p:nvPr/>
        </p:nvSpPr>
        <p:spPr>
          <a:xfrm>
            <a:off x="589717" y="1827046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4AE6B0-2074-EDC6-D84E-749DA7091ED8}"/>
              </a:ext>
            </a:extLst>
          </p:cNvPr>
          <p:cNvSpPr txBox="1"/>
          <p:nvPr/>
        </p:nvSpPr>
        <p:spPr>
          <a:xfrm>
            <a:off x="589717" y="2015415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3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D5DCD83-08E3-EABA-B191-4628196B8E02}"/>
              </a:ext>
            </a:extLst>
          </p:cNvPr>
          <p:cNvCxnSpPr>
            <a:cxnSpLocks/>
          </p:cNvCxnSpPr>
          <p:nvPr/>
        </p:nvCxnSpPr>
        <p:spPr>
          <a:xfrm flipV="1">
            <a:off x="1333473" y="1361130"/>
            <a:ext cx="7360" cy="2439020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7F7E61-F484-AD5F-C74A-223D9B2B0C3B}"/>
              </a:ext>
            </a:extLst>
          </p:cNvPr>
          <p:cNvCxnSpPr>
            <a:cxnSpLocks/>
          </p:cNvCxnSpPr>
          <p:nvPr/>
        </p:nvCxnSpPr>
        <p:spPr>
          <a:xfrm flipH="1">
            <a:off x="1341447" y="3798718"/>
            <a:ext cx="6874193" cy="1432"/>
          </a:xfrm>
          <a:prstGeom prst="line">
            <a:avLst/>
          </a:prstGeom>
          <a:ln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152EBE49-8058-89A4-8872-0284EF58F8CE}"/>
              </a:ext>
            </a:extLst>
          </p:cNvPr>
          <p:cNvSpPr/>
          <p:nvPr/>
        </p:nvSpPr>
        <p:spPr>
          <a:xfrm>
            <a:off x="7340769" y="1241631"/>
            <a:ext cx="318433" cy="146026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EFF474-68FD-12C1-0482-5B3587869041}"/>
              </a:ext>
            </a:extLst>
          </p:cNvPr>
          <p:cNvSpPr/>
          <p:nvPr/>
        </p:nvSpPr>
        <p:spPr>
          <a:xfrm>
            <a:off x="7340769" y="1429595"/>
            <a:ext cx="318433" cy="146026"/>
          </a:xfrm>
          <a:prstGeom prst="rect">
            <a:avLst/>
          </a:prstGeom>
          <a:solidFill>
            <a:srgbClr val="C69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59D457-4FBC-9AB8-1391-C623FE7F1E9E}"/>
              </a:ext>
            </a:extLst>
          </p:cNvPr>
          <p:cNvSpPr txBox="1"/>
          <p:nvPr/>
        </p:nvSpPr>
        <p:spPr>
          <a:xfrm>
            <a:off x="7630316" y="1374636"/>
            <a:ext cx="911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dirty="0">
                <a:solidFill>
                  <a:srgbClr val="C69213"/>
                </a:solidFill>
              </a:rPr>
              <a:t>Test window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D7465D8-1B58-9C17-FC58-19EBB77D3DBE}"/>
              </a:ext>
            </a:extLst>
          </p:cNvPr>
          <p:cNvSpPr txBox="1"/>
          <p:nvPr/>
        </p:nvSpPr>
        <p:spPr>
          <a:xfrm>
            <a:off x="7630315" y="1197484"/>
            <a:ext cx="11208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dirty="0">
                <a:solidFill>
                  <a:srgbClr val="156082"/>
                </a:solidFill>
              </a:rPr>
              <a:t>Training window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419E54-8F2A-320D-EB89-667F86D9C0E0}"/>
              </a:ext>
            </a:extLst>
          </p:cNvPr>
          <p:cNvSpPr txBox="1"/>
          <p:nvPr/>
        </p:nvSpPr>
        <p:spPr>
          <a:xfrm>
            <a:off x="589717" y="2710152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…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61A1F8-79E5-B70D-2DAA-ADA1206E88A3}"/>
              </a:ext>
            </a:extLst>
          </p:cNvPr>
          <p:cNvSpPr txBox="1"/>
          <p:nvPr/>
        </p:nvSpPr>
        <p:spPr>
          <a:xfrm>
            <a:off x="588490" y="3557359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69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4F0F340-F5CF-DF01-5ABC-4079094CA13B}"/>
              </a:ext>
            </a:extLst>
          </p:cNvPr>
          <p:cNvGrpSpPr/>
          <p:nvPr/>
        </p:nvGrpSpPr>
        <p:grpSpPr>
          <a:xfrm>
            <a:off x="3994251" y="1645160"/>
            <a:ext cx="4317050" cy="2405048"/>
            <a:chOff x="3994251" y="1645160"/>
            <a:chExt cx="4317050" cy="2405048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48129D4-0256-17DE-67AF-0AAB3E04DDDE}"/>
                </a:ext>
              </a:extLst>
            </p:cNvPr>
            <p:cNvSpPr/>
            <p:nvPr/>
          </p:nvSpPr>
          <p:spPr>
            <a:xfrm>
              <a:off x="6736098" y="3425212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170110F-F485-301F-130B-2ACA63C123C9}"/>
                </a:ext>
              </a:extLst>
            </p:cNvPr>
            <p:cNvSpPr/>
            <p:nvPr/>
          </p:nvSpPr>
          <p:spPr>
            <a:xfrm>
              <a:off x="6890573" y="3607456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242E17C-C77D-4F8B-300D-2E776ECD7146}"/>
                </a:ext>
              </a:extLst>
            </p:cNvPr>
            <p:cNvSpPr/>
            <p:nvPr/>
          </p:nvSpPr>
          <p:spPr>
            <a:xfrm>
              <a:off x="3994251" y="1696241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6DBF6EC-B0AF-B858-39B1-311CD1FA5B49}"/>
                </a:ext>
              </a:extLst>
            </p:cNvPr>
            <p:cNvSpPr/>
            <p:nvPr/>
          </p:nvSpPr>
          <p:spPr>
            <a:xfrm>
              <a:off x="4148721" y="1885653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27EE185-0341-FD03-09B4-D0480F85376D}"/>
                </a:ext>
              </a:extLst>
            </p:cNvPr>
            <p:cNvSpPr/>
            <p:nvPr/>
          </p:nvSpPr>
          <p:spPr>
            <a:xfrm>
              <a:off x="4303200" y="2074250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4C6C6AD-3E11-E2D5-4D15-A7A1101DC7D2}"/>
                </a:ext>
              </a:extLst>
            </p:cNvPr>
            <p:cNvSpPr txBox="1"/>
            <p:nvPr/>
          </p:nvSpPr>
          <p:spPr>
            <a:xfrm>
              <a:off x="4855239" y="1645160"/>
              <a:ext cx="172638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SG" sz="1000" dirty="0">
                  <a:solidFill>
                    <a:srgbClr val="C69213"/>
                  </a:solidFill>
                </a:rPr>
                <a:t>Each test window is ~5.5 months (semi-annual)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8922A21-639D-5BC8-433B-26609E7C741B}"/>
                </a:ext>
              </a:extLst>
            </p:cNvPr>
            <p:cNvSpPr txBox="1"/>
            <p:nvPr/>
          </p:nvSpPr>
          <p:spPr>
            <a:xfrm>
              <a:off x="6869773" y="3803987"/>
              <a:ext cx="144152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May 2022 (End)</a:t>
              </a:r>
            </a:p>
          </p:txBody>
        </p: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D4808D38-459A-37A7-1DB4-73AD30528F80}"/>
              </a:ext>
            </a:extLst>
          </p:cNvPr>
          <p:cNvSpPr txBox="1"/>
          <p:nvPr/>
        </p:nvSpPr>
        <p:spPr>
          <a:xfrm>
            <a:off x="588490" y="3370606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68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D3D5BBB-0DA0-59AC-1DAF-8907423904B1}"/>
              </a:ext>
            </a:extLst>
          </p:cNvPr>
          <p:cNvGrpSpPr/>
          <p:nvPr/>
        </p:nvGrpSpPr>
        <p:grpSpPr>
          <a:xfrm>
            <a:off x="769925" y="1454860"/>
            <a:ext cx="6120648" cy="2593917"/>
            <a:chOff x="769925" y="1454860"/>
            <a:chExt cx="6120648" cy="25939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250E7D6-8869-9768-2D36-9C9A89286DC8}"/>
                </a:ext>
              </a:extLst>
            </p:cNvPr>
            <p:cNvSpPr txBox="1"/>
            <p:nvPr/>
          </p:nvSpPr>
          <p:spPr>
            <a:xfrm>
              <a:off x="769925" y="3802556"/>
              <a:ext cx="112937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Jan 2018 (Start)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9DD7C92-19DA-B49A-E39C-58EF42C2B5E3}"/>
                </a:ext>
              </a:extLst>
            </p:cNvPr>
            <p:cNvSpPr/>
            <p:nvPr/>
          </p:nvSpPr>
          <p:spPr>
            <a:xfrm>
              <a:off x="1340219" y="3607456"/>
              <a:ext cx="4203061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6664888-C18E-75F7-665C-22273857DB22}"/>
                </a:ext>
              </a:extLst>
            </p:cNvPr>
            <p:cNvSpPr/>
            <p:nvPr/>
          </p:nvSpPr>
          <p:spPr>
            <a:xfrm>
              <a:off x="1341446" y="1696241"/>
              <a:ext cx="2652803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21905A-344E-B9EE-DCF9-23F7D4222AD7}"/>
                </a:ext>
              </a:extLst>
            </p:cNvPr>
            <p:cNvSpPr/>
            <p:nvPr/>
          </p:nvSpPr>
          <p:spPr>
            <a:xfrm>
              <a:off x="1341446" y="1884838"/>
              <a:ext cx="2807275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BEE15-3DC4-F7CF-280D-5B1C0BAA6B04}"/>
                </a:ext>
              </a:extLst>
            </p:cNvPr>
            <p:cNvSpPr/>
            <p:nvPr/>
          </p:nvSpPr>
          <p:spPr>
            <a:xfrm>
              <a:off x="1341446" y="2073435"/>
              <a:ext cx="2961753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0013238-C90D-7CF4-9753-366A0B69C1D4}"/>
                </a:ext>
              </a:extLst>
            </p:cNvPr>
            <p:cNvSpPr txBox="1"/>
            <p:nvPr/>
          </p:nvSpPr>
          <p:spPr>
            <a:xfrm>
              <a:off x="1330038" y="1454860"/>
              <a:ext cx="214771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SG" sz="1000" dirty="0">
                  <a:solidFill>
                    <a:srgbClr val="156082"/>
                  </a:solidFill>
                </a:rPr>
                <a:t>Cumulative buys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226B50A-046C-D024-D881-49539A6881BE}"/>
                </a:ext>
              </a:extLst>
            </p:cNvPr>
            <p:cNvSpPr txBox="1"/>
            <p:nvPr/>
          </p:nvSpPr>
          <p:spPr>
            <a:xfrm>
              <a:off x="5272425" y="3557359"/>
              <a:ext cx="824155" cy="24622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SG" sz="1000" dirty="0"/>
                <a:t>…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1156D8A-5F01-5F09-B19A-DCB9D7F49A72}"/>
                </a:ext>
              </a:extLst>
            </p:cNvPr>
            <p:cNvSpPr/>
            <p:nvPr/>
          </p:nvSpPr>
          <p:spPr>
            <a:xfrm>
              <a:off x="5796162" y="3607456"/>
              <a:ext cx="1094411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D9DE5C-B769-CEBA-4253-5661C0418CFD}"/>
                </a:ext>
              </a:extLst>
            </p:cNvPr>
            <p:cNvSpPr/>
            <p:nvPr/>
          </p:nvSpPr>
          <p:spPr>
            <a:xfrm>
              <a:off x="1330038" y="3425212"/>
              <a:ext cx="4203061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F84077A-4E6C-EB8B-7136-01B73BCB1FB6}"/>
                </a:ext>
              </a:extLst>
            </p:cNvPr>
            <p:cNvSpPr/>
            <p:nvPr/>
          </p:nvSpPr>
          <p:spPr>
            <a:xfrm>
              <a:off x="5785982" y="3425212"/>
              <a:ext cx="950116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D31FD1E-4034-402D-D2A7-6886535B2E8A}"/>
                </a:ext>
              </a:extLst>
            </p:cNvPr>
            <p:cNvSpPr txBox="1"/>
            <p:nvPr/>
          </p:nvSpPr>
          <p:spPr>
            <a:xfrm>
              <a:off x="5272425" y="3354435"/>
              <a:ext cx="824155" cy="24622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SG" sz="1000" dirty="0"/>
                <a:t>…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5DBC93B-CCB5-17E2-9919-F877211B5872}"/>
              </a:ext>
            </a:extLst>
          </p:cNvPr>
          <p:cNvGrpSpPr/>
          <p:nvPr/>
        </p:nvGrpSpPr>
        <p:grpSpPr>
          <a:xfrm>
            <a:off x="2745082" y="1189965"/>
            <a:ext cx="4690980" cy="3239388"/>
            <a:chOff x="2745082" y="1189965"/>
            <a:chExt cx="4690980" cy="3239388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EDA0AEE-41E5-1444-F7C4-166921CC5805}"/>
                </a:ext>
              </a:extLst>
            </p:cNvPr>
            <p:cNvSpPr txBox="1"/>
            <p:nvPr/>
          </p:nvSpPr>
          <p:spPr>
            <a:xfrm>
              <a:off x="3747845" y="4029243"/>
              <a:ext cx="82415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1</a:t>
              </a:r>
              <a:r>
                <a:rPr lang="en-SG" sz="1000" baseline="30000" dirty="0">
                  <a:solidFill>
                    <a:srgbClr val="FF0000"/>
                  </a:solidFill>
                </a:rPr>
                <a:t>st</a:t>
              </a:r>
              <a:r>
                <a:rPr lang="en-SG" sz="1000" dirty="0">
                  <a:solidFill>
                    <a:srgbClr val="FF0000"/>
                  </a:solidFill>
                </a:rPr>
                <a:t> cutoff</a:t>
              </a:r>
            </a:p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Aug 2019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1FFDDEE-AC5E-D96E-DBF6-AC05DE84A3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94250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E162664-53AD-949C-45C4-701837F140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8726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A9667-E42C-F32F-4A80-2523411F90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3201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EAAB8B5-D58D-44F3-DFFA-84D48BF0077E}"/>
                </a:ext>
              </a:extLst>
            </p:cNvPr>
            <p:cNvSpPr txBox="1"/>
            <p:nvPr/>
          </p:nvSpPr>
          <p:spPr>
            <a:xfrm>
              <a:off x="2745082" y="1189965"/>
              <a:ext cx="295421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SG" sz="1000" dirty="0">
                  <a:solidFill>
                    <a:srgbClr val="FF0000"/>
                  </a:solidFill>
                </a:rPr>
                <a:t>Each cutoff walk forwards ~13 days (biweekly)</a:t>
              </a: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E3F0AE-0764-24E5-AEB8-6B415E32D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573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B8F440A-666A-44FC-90A6-FCF83A5624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6098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3193DAA-723B-9ED4-A88E-8BA9B4B00792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3994249" y="3798718"/>
              <a:ext cx="165674" cy="23052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D54FDFF-CA52-2618-05D6-2387A1797595}"/>
                </a:ext>
              </a:extLst>
            </p:cNvPr>
            <p:cNvSpPr txBox="1"/>
            <p:nvPr/>
          </p:nvSpPr>
          <p:spPr>
            <a:xfrm>
              <a:off x="6611907" y="4029243"/>
              <a:ext cx="82415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Last cutoff</a:t>
              </a:r>
            </a:p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Dec 2021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DBA83B05-3069-1092-8DC0-0B29C1C9FEDB}"/>
                </a:ext>
              </a:extLst>
            </p:cNvPr>
            <p:cNvCxnSpPr>
              <a:cxnSpLocks/>
              <a:endCxn id="108" idx="0"/>
            </p:cNvCxnSpPr>
            <p:nvPr/>
          </p:nvCxnSpPr>
          <p:spPr>
            <a:xfrm>
              <a:off x="6890573" y="3798718"/>
              <a:ext cx="133412" cy="23052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Configurations &amp; hyperparameter grids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02919" y="3329675"/>
            <a:ext cx="8266177" cy="1513516"/>
          </a:xfrm>
        </p:spPr>
        <p:txBody>
          <a:bodyPr wrap="square">
            <a:normAutofit/>
          </a:bodyPr>
          <a:lstStyle/>
          <a:p>
            <a:pPr marL="228600" indent="0">
              <a:spcBef>
                <a:spcPts val="200"/>
              </a:spcBef>
              <a:spcAft>
                <a:spcPts val="600"/>
              </a:spcAft>
              <a:buNone/>
            </a:pPr>
            <a:r>
              <a:rPr lang="en-SG" b="1" dirty="0">
                <a:solidFill>
                  <a:srgbClr val="202020"/>
                </a:solidFill>
              </a:rPr>
              <a:t>With the best LightGCN setting:</a:t>
            </a:r>
            <a:endParaRPr lang="en-SG" b="1" dirty="0">
              <a:solidFill>
                <a:srgbClr val="202020"/>
              </a:solidFill>
              <a:latin typeface="Arial"/>
            </a:endParaRP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202020"/>
                </a:solidFill>
              </a:rPr>
              <a:t>LightGCN with risk-based segmentation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b="0" dirty="0">
                <a:solidFill>
                  <a:srgbClr val="202020"/>
                </a:solidFill>
                <a:latin typeface="Arial"/>
              </a:rPr>
              <a:t>LightGC</a:t>
            </a:r>
            <a:r>
              <a:rPr lang="en-SG" dirty="0">
                <a:solidFill>
                  <a:srgbClr val="202020"/>
                </a:solidFill>
              </a:rPr>
              <a:t>N with risk-based segmentation + Coherence margin loss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202020"/>
                </a:solidFill>
              </a:rPr>
              <a:t>LightGCN with risk-based segmentation + Customer risk-band regrouping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202020"/>
                </a:solidFill>
              </a:rPr>
              <a:t>LightGCN with risk-based segmentation + Both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8220049"/>
              </p:ext>
            </p:extLst>
          </p:nvPr>
        </p:nvGraphicFramePr>
        <p:xfrm>
          <a:off x="1798352" y="1916053"/>
          <a:ext cx="5547295" cy="12738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00341">
                  <a:extLst>
                    <a:ext uri="{9D8B030D-6E8A-4147-A177-3AD203B41FA5}">
                      <a16:colId xmlns:a16="http://schemas.microsoft.com/office/drawing/2014/main" val="170166288"/>
                    </a:ext>
                  </a:extLst>
                </a:gridCol>
                <a:gridCol w="22957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313">
                <a:tc>
                  <a:txBody>
                    <a:bodyPr/>
                    <a:lstStyle/>
                    <a:p>
                      <a:pPr algn="ctr"/>
                      <a:r>
                        <a:rPr lang="en-SG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  <a:endParaRPr sz="1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Search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rial"/>
                        </a:rPr>
                        <a:t>Best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31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Dimension of Embedding layers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64, 128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64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31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Number of layers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2, 3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3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31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Learning rate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0.01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, 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0.001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>
                          <a:solidFill>
                            <a:srgbClr val="202020"/>
                          </a:solidFill>
                          <a:latin typeface="+mn-lt"/>
                        </a:rPr>
                        <a:t>0.001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31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Random Forest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Number of estimators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20,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 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30,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 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40,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 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50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40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3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Random Forest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Maximum tree depth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15, 25, 50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9EEDC-5E6D-A553-E028-04B81E7FB38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627457E-CF4F-72CB-2CF8-E8A545635240}"/>
              </a:ext>
            </a:extLst>
          </p:cNvPr>
          <p:cNvSpPr txBox="1">
            <a:spLocks/>
          </p:cNvSpPr>
          <p:nvPr/>
        </p:nvSpPr>
        <p:spPr>
          <a:xfrm>
            <a:off x="502919" y="1280160"/>
            <a:ext cx="8266177" cy="1033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202020"/>
                </a:solidFill>
              </a:rPr>
              <a:t>Random Forest (scored highest return in original paper)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202020"/>
                </a:solidFill>
              </a:rPr>
              <a:t>LightGCN (scored highest ranking accuracy in original paper)</a:t>
            </a:r>
          </a:p>
          <a:p>
            <a:pPr marL="228600" indent="0">
              <a:spcBef>
                <a:spcPts val="200"/>
              </a:spcBef>
              <a:spcAft>
                <a:spcPts val="600"/>
              </a:spcAft>
              <a:buNone/>
            </a:pPr>
            <a:endParaRPr lang="en-SG" dirty="0">
              <a:solidFill>
                <a:srgbClr val="20202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b="1" dirty="0"/>
              <a:t>Result</a:t>
            </a:r>
            <a:r>
              <a:rPr lang="en-SG" b="1" dirty="0"/>
              <a:t>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Findings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Aggregate results over 69 splits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144563"/>
              </p:ext>
            </p:extLst>
          </p:nvPr>
        </p:nvGraphicFramePr>
        <p:xfrm>
          <a:off x="728548" y="1379721"/>
          <a:ext cx="7686903" cy="32015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3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83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1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7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4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36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Ranking Accuracy</a:t>
                      </a:r>
                    </a:p>
                    <a:p>
                      <a:pPr algn="ctr"/>
                      <a:r>
                        <a:rPr lang="en-GB" sz="1000" b="0" dirty="0">
                          <a:solidFill>
                            <a:srgbClr val="FFFFFF"/>
                          </a:solidFill>
                          <a:latin typeface="Arial"/>
                        </a:rPr>
                        <a:t>nDCG@10</a:t>
                      </a:r>
                      <a:endParaRPr sz="1000" b="0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Returns</a:t>
                      </a:r>
                    </a:p>
                    <a:p>
                      <a:pPr algn="ctr"/>
                      <a:r>
                        <a:rPr sz="1000" b="0" dirty="0">
                          <a:solidFill>
                            <a:srgbClr val="FFFFFF"/>
                          </a:solidFill>
                          <a:latin typeface="Arial"/>
                        </a:rPr>
                        <a:t>ROI@10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Risk Suitability</a:t>
                      </a:r>
                    </a:p>
                    <a:p>
                      <a:pPr algn="ctr"/>
                      <a:r>
                        <a:rPr sz="1000" b="0" dirty="0">
                          <a:solidFill>
                            <a:srgbClr val="FFFFFF"/>
                          </a:solidFill>
                          <a:latin typeface="Arial"/>
                        </a:rPr>
                        <a:t>PC@10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Harmonic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Arial"/>
                        </a:rPr>
                        <a:t>Balance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Normalized PC</a:t>
                      </a:r>
                      <a:endParaRPr sz="1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 algn="l"/>
                      <a:r>
                        <a:rPr lang="en-GB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Random Forest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0.019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+0.014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0.054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 algn="l"/>
                      <a:r>
                        <a:rPr lang="en-GB" sz="1000" b="0" dirty="0" err="1">
                          <a:solidFill>
                            <a:srgbClr val="202020"/>
                          </a:solidFill>
                          <a:latin typeface="Arial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0.330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−0.005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0.794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1.17×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LightGCN with risk-based segmentation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−0.007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0.821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1.19×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</a:t>
                      </a: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N with risk-based segmentation + Coherence margin loss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0.309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−0.007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0.918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0.407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1.40×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LightGCN with risk-based segmentation + Customer risk-band regrouping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0.352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−0.006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0.949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0.452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202020"/>
                          </a:solidFill>
                          <a:latin typeface="Arial"/>
                        </a:rPr>
                        <a:t>-</a:t>
                      </a:r>
                      <a:endParaRPr sz="1000" b="1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LightGCN with risk-based segmentation + Both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0.333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−0.005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0.982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0.444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rgbClr val="202020"/>
                          </a:solidFill>
                          <a:latin typeface="Arial"/>
                        </a:rPr>
                        <a:t>-</a:t>
                      </a:r>
                      <a:endParaRPr sz="105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D68F2-B7C2-2183-55CD-90754672459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GB" sz="2000" b="1" dirty="0">
                <a:solidFill>
                  <a:srgbClr val="156082"/>
                </a:solidFill>
              </a:rPr>
              <a:t>Comparison to baseline </a:t>
            </a:r>
            <a:r>
              <a:rPr lang="en-GB" sz="2000" b="1" dirty="0" err="1">
                <a:solidFill>
                  <a:srgbClr val="156082"/>
                </a:solidFill>
              </a:rPr>
              <a:t>LightGCN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DD1513-502C-AFF8-974F-36079FDBA09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C3870A-FC3C-73AF-F43B-F8AB45E9F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781" y="1247561"/>
            <a:ext cx="6093813" cy="35197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>
            <a:normAutofit/>
          </a:bodyPr>
          <a:lstStyle/>
          <a:p>
            <a:r>
              <a:rPr lang="en-GB" sz="2000" b="1" dirty="0">
                <a:solidFill>
                  <a:srgbClr val="156082"/>
                </a:solidFill>
              </a:rPr>
              <a:t>Normalized Profile Coherence at band-level</a:t>
            </a:r>
            <a:endParaRPr sz="2000" b="1" dirty="0">
              <a:solidFill>
                <a:srgbClr val="156082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122382"/>
              </p:ext>
            </p:extLst>
          </p:nvPr>
        </p:nvGraphicFramePr>
        <p:xfrm>
          <a:off x="502920" y="1506265"/>
          <a:ext cx="8266176" cy="22665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9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99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0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66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66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66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66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713497"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Risk band</a:t>
                      </a:r>
                      <a:endParaRPr sz="1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Random Forest</a:t>
                      </a:r>
                      <a:endParaRPr sz="1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LightGCN</a:t>
                      </a:r>
                      <a:endParaRPr sz="1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LightGCN with risk-based seg.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LightGCN</a:t>
                      </a:r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 with risk-based seg. + Coherence margin loss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LightGCN</a:t>
                      </a:r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 with risk-based seg. + Customer risk-band regrouping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LightGCN</a:t>
                      </a:r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 with risk-based seg. + Both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25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Conservative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25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Income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1.13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1.20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1.26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1.25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1.26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25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Balanced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253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Aggressive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1.88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1.35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1.17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1.97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2.24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2.68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012385-B588-C5A8-4F7A-DFC6E9E13F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Conclusion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SG" sz="1800" dirty="0"/>
              <a:t>Limitations and Future Work</a:t>
            </a:r>
            <a:endParaRPr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Limitations &amp; future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0936" y="1404620"/>
            <a:ext cx="7882127" cy="3063240"/>
          </a:xfrm>
        </p:spPr>
        <p:txBody>
          <a:bodyPr wrap="square"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lang="en-SG" b="1" dirty="0">
                <a:solidFill>
                  <a:schemeClr val="tx1"/>
                </a:solidFill>
                <a:latin typeface="Arial"/>
              </a:rPr>
              <a:t>Robustness of Methodology</a:t>
            </a:r>
            <a:endParaRPr lang="en-SG" b="1" dirty="0">
              <a:solidFill>
                <a:schemeClr val="tx1"/>
              </a:solidFill>
            </a:endParaRPr>
          </a:p>
          <a:p>
            <a:pPr marL="971550" lvl="1" indent="-285750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dirty="0">
                <a:solidFill>
                  <a:schemeClr val="tx1"/>
                </a:solidFill>
                <a:latin typeface="Arial"/>
              </a:rPr>
              <a:t>Only </a:t>
            </a:r>
            <a:r>
              <a:rPr lang="en-SG" sz="1200" dirty="0">
                <a:solidFill>
                  <a:schemeClr val="tx1"/>
                </a:solidFill>
              </a:rPr>
              <a:t>L</a:t>
            </a:r>
            <a:r>
              <a:rPr lang="en-SG" sz="1200" dirty="0">
                <a:solidFill>
                  <a:schemeClr val="tx1"/>
                </a:solidFill>
                <a:latin typeface="Arial"/>
              </a:rPr>
              <a:t>ightGCN experimented on</a:t>
            </a:r>
          </a:p>
          <a:p>
            <a:pPr marL="971550" lvl="1" indent="-285750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dirty="0">
                <a:solidFill>
                  <a:schemeClr val="tx1"/>
                </a:solidFill>
              </a:rPr>
              <a:t>Lack of full pareto sweep for the coherence margin loss function</a:t>
            </a:r>
            <a:endParaRPr sz="1200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lang="en-GB" b="1" dirty="0">
                <a:solidFill>
                  <a:schemeClr val="tx1"/>
                </a:solidFill>
                <a:latin typeface="Arial"/>
              </a:rPr>
              <a:t>Regrouping leakage</a:t>
            </a:r>
          </a:p>
          <a:p>
            <a:pPr marL="971550" lvl="1" indent="-285750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200" dirty="0">
                <a:solidFill>
                  <a:schemeClr val="tx1"/>
                </a:solidFill>
              </a:rPr>
              <a:t>R</a:t>
            </a:r>
            <a:r>
              <a:rPr lang="en-GB" sz="1200" dirty="0">
                <a:solidFill>
                  <a:schemeClr val="tx1"/>
                </a:solidFill>
                <a:latin typeface="Arial"/>
              </a:rPr>
              <a:t>evealed bands use entire buy history of a customer</a:t>
            </a:r>
            <a:endParaRPr lang="en-GB" sz="1200" dirty="0">
              <a:solidFill>
                <a:schemeClr val="tx1"/>
              </a:solidFill>
            </a:endParaRPr>
          </a:p>
          <a:p>
            <a:pPr marL="971550" lvl="1" indent="-285750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dirty="0">
                <a:solidFill>
                  <a:schemeClr val="tx1"/>
                </a:solidFill>
              </a:rPr>
              <a:t>Future work to implement a p</a:t>
            </a:r>
            <a:r>
              <a:rPr sz="1200" dirty="0">
                <a:solidFill>
                  <a:schemeClr val="tx1"/>
                </a:solidFill>
                <a:latin typeface="Arial"/>
              </a:rPr>
              <a:t>er-split rolling variant using only training-window buys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lang="en-SG" b="1" dirty="0">
                <a:solidFill>
                  <a:schemeClr val="tx1"/>
                </a:solidFill>
                <a:latin typeface="Arial"/>
              </a:rPr>
              <a:t>Associative premium</a:t>
            </a:r>
            <a:endParaRPr lang="en-SG" b="1" dirty="0">
              <a:solidFill>
                <a:schemeClr val="tx1"/>
              </a:solidFill>
            </a:endParaRPr>
          </a:p>
          <a:p>
            <a:pPr marL="971550" lvl="1" indent="-285750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dirty="0">
                <a:solidFill>
                  <a:schemeClr val="tx1"/>
                </a:solidFill>
                <a:latin typeface="Arial"/>
              </a:rPr>
              <a:t>Conduct a </a:t>
            </a:r>
            <a:r>
              <a:rPr lang="en-SG" sz="1200" dirty="0">
                <a:solidFill>
                  <a:schemeClr val="tx1"/>
                </a:solidFill>
              </a:rPr>
              <a:t>Difference-in-Differences (</a:t>
            </a:r>
            <a:r>
              <a:rPr lang="en-SG" sz="1200" dirty="0" err="1">
                <a:solidFill>
                  <a:schemeClr val="tx1"/>
                </a:solidFill>
              </a:rPr>
              <a:t>DiD</a:t>
            </a:r>
            <a:r>
              <a:rPr lang="en-SG" sz="1200" dirty="0">
                <a:solidFill>
                  <a:schemeClr val="tx1"/>
                </a:solidFill>
              </a:rPr>
              <a:t>) regression to estimate causal effects</a:t>
            </a:r>
            <a:endParaRPr lang="en-SG" sz="1200" dirty="0">
              <a:solidFill>
                <a:schemeClr val="tx1"/>
              </a:solidFill>
              <a:latin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CE9B-0649-82A9-6301-E239D84E10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Conclusion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0936" y="1417320"/>
            <a:ext cx="7882127" cy="2976372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b="1" dirty="0">
                <a:solidFill>
                  <a:schemeClr val="tx1"/>
                </a:solidFill>
                <a:latin typeface="Arial"/>
              </a:rPr>
              <a:t>Central finding</a:t>
            </a:r>
            <a:endParaRPr lang="en-SG" dirty="0">
              <a:solidFill>
                <a:schemeClr val="tx1"/>
              </a:solidFill>
            </a:endParaRPr>
          </a:p>
          <a:p>
            <a:pPr lvl="1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b="0" dirty="0">
                <a:solidFill>
                  <a:schemeClr val="tx1"/>
                </a:solidFill>
                <a:latin typeface="Arial"/>
              </a:rPr>
              <a:t>A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recommender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 system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 can be made 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risk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suitable while </a:t>
            </a:r>
            <a:r>
              <a:rPr lang="en-SG" sz="1200" dirty="0">
                <a:solidFill>
                  <a:schemeClr val="tx1"/>
                </a:solidFill>
                <a:latin typeface="Arial"/>
              </a:rPr>
              <a:t>improving</a:t>
            </a:r>
            <a:r>
              <a:rPr lang="en-SG" sz="1200" b="1" dirty="0">
                <a:solidFill>
                  <a:schemeClr val="tx1"/>
                </a:solidFill>
                <a:latin typeface="Arial"/>
              </a:rPr>
              <a:t>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accuracy and return</a:t>
            </a:r>
            <a:endParaRPr lang="en-SG" sz="1200" dirty="0">
              <a:solidFill>
                <a:schemeClr val="tx1"/>
              </a:solidFill>
            </a:endParaRPr>
          </a:p>
          <a:p>
            <a:pPr lvl="1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dirty="0">
                <a:solidFill>
                  <a:schemeClr val="tx1"/>
                </a:solidFill>
              </a:rPr>
              <a:t>Customer r</a:t>
            </a:r>
            <a:r>
              <a:rPr lang="en-SG" sz="1200" dirty="0">
                <a:solidFill>
                  <a:schemeClr val="tx1"/>
                </a:solidFill>
                <a:latin typeface="Arial"/>
              </a:rPr>
              <a:t>egrouping </a:t>
            </a:r>
            <a:r>
              <a:rPr lang="en-SG" sz="1200" dirty="0">
                <a:solidFill>
                  <a:schemeClr val="tx1"/>
                </a:solidFill>
              </a:rPr>
              <a:t>approach raises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 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risk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suitability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 and ranking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 accuracy at no cost to return</a:t>
            </a:r>
            <a:endParaRPr lang="en-SG" sz="1200" dirty="0">
              <a:solidFill>
                <a:schemeClr val="tx1"/>
              </a:solidFill>
            </a:endParaRPr>
          </a:p>
          <a:p>
            <a:pPr lvl="1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b="0" dirty="0">
                <a:solidFill>
                  <a:schemeClr val="tx1"/>
                </a:solidFill>
                <a:latin typeface="Arial"/>
              </a:rPr>
              <a:t>Coherence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margin loss </a:t>
            </a:r>
            <a:r>
              <a:rPr lang="en-SG" sz="1200" dirty="0">
                <a:solidFill>
                  <a:schemeClr val="tx1"/>
                </a:solidFill>
              </a:rPr>
              <a:t>approach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buys 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risk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suitability 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at the cost of ranking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accuracy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b="1" dirty="0">
                <a:solidFill>
                  <a:schemeClr val="tx1"/>
                </a:solidFill>
                <a:latin typeface="Arial"/>
              </a:rPr>
              <a:t>Broader impact</a:t>
            </a:r>
            <a:endParaRPr lang="en-SG" b="1" dirty="0">
              <a:solidFill>
                <a:schemeClr val="tx1"/>
              </a:solidFill>
            </a:endParaRPr>
          </a:p>
          <a:p>
            <a:pPr lvl="1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dirty="0">
                <a:solidFill>
                  <a:schemeClr val="tx1"/>
                </a:solidFill>
                <a:latin typeface="Arial"/>
              </a:rPr>
              <a:t>A regulatory 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risk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suitability can be encoded </a:t>
            </a:r>
            <a:r>
              <a:rPr lang="en-SG" sz="1200" b="0" dirty="0">
                <a:solidFill>
                  <a:schemeClr val="tx1"/>
                </a:solidFill>
                <a:latin typeface="Arial"/>
              </a:rPr>
              <a:t>or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 </a:t>
            </a:r>
            <a:r>
              <a:rPr sz="1200" dirty="0">
                <a:solidFill>
                  <a:schemeClr val="tx1"/>
                </a:solidFill>
                <a:latin typeface="Arial"/>
              </a:rPr>
              <a:t>corrected at </a:t>
            </a:r>
            <a:r>
              <a:rPr lang="en-SG" sz="1200" dirty="0">
                <a:solidFill>
                  <a:schemeClr val="tx1"/>
                </a:solidFill>
                <a:latin typeface="Arial"/>
              </a:rPr>
              <a:t>its</a:t>
            </a:r>
            <a:r>
              <a:rPr sz="1200" dirty="0">
                <a:solidFill>
                  <a:schemeClr val="tx1"/>
                </a:solidFill>
                <a:latin typeface="Arial"/>
              </a:rPr>
              <a:t> data source</a:t>
            </a:r>
            <a:endParaRPr lang="en-SG" sz="1200" dirty="0">
              <a:solidFill>
                <a:schemeClr val="tx1"/>
              </a:solidFill>
              <a:latin typeface="Arial"/>
            </a:endParaRPr>
          </a:p>
          <a:p>
            <a:pPr lvl="1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SG" sz="1200" dirty="0">
                <a:solidFill>
                  <a:schemeClr val="tx1"/>
                </a:solidFill>
              </a:rPr>
              <a:t>A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 path for recommenders in other regulated domains</a:t>
            </a:r>
            <a:r>
              <a:rPr lang="en-SG" sz="1200" dirty="0">
                <a:solidFill>
                  <a:schemeClr val="tx1"/>
                </a:solidFill>
              </a:rPr>
              <a:t> </a:t>
            </a:r>
            <a:r>
              <a:rPr sz="1200" b="0" dirty="0">
                <a:solidFill>
                  <a:schemeClr val="tx1"/>
                </a:solidFill>
                <a:latin typeface="Arial"/>
              </a:rPr>
              <a:t>(e.g. insurance product suitability)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736E1-4FDE-2E81-8B53-31EC61EACED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b="1" dirty="0"/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Questions &amp; Answer</a:t>
            </a:r>
            <a:r>
              <a:rPr lang="en-SG" sz="1800" dirty="0"/>
              <a:t>s</a:t>
            </a:r>
            <a:endParaRPr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Appendix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endParaRPr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Full </a:t>
            </a:r>
            <a:r>
              <a:rPr sz="2000" b="1" dirty="0">
                <a:solidFill>
                  <a:srgbClr val="156082"/>
                </a:solidFill>
              </a:rPr>
              <a:t>OLS coefficient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498965"/>
              </p:ext>
            </p:extLst>
          </p:nvPr>
        </p:nvGraphicFramePr>
        <p:xfrm>
          <a:off x="1210215" y="1316735"/>
          <a:ext cx="7127577" cy="3124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7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9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29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51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33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95% C</a:t>
                      </a:r>
                      <a:r>
                        <a:rPr lang="en-SG" sz="1050" b="1" dirty="0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  <a:endParaRPr sz="10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050" b="1" dirty="0">
                          <a:solidFill>
                            <a:srgbClr val="FFFFFF"/>
                          </a:solidFill>
                          <a:latin typeface="Arial"/>
                        </a:rPr>
                        <a:t>p-value</a:t>
                      </a:r>
                      <a:endParaRPr sz="10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Intercept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−0.0471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[−0.0746, −0.0195]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8.1e-4</a:t>
                      </a:r>
                      <a:endParaRPr sz="105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1" dirty="0" err="1">
                          <a:solidFill>
                            <a:srgbClr val="202020"/>
                          </a:solidFill>
                          <a:latin typeface="Arial"/>
                        </a:rPr>
                        <a:t>is_coherent</a:t>
                      </a:r>
                      <a:endParaRPr sz="1050" b="1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02020"/>
                          </a:solidFill>
                          <a:latin typeface="Arial"/>
                        </a:rPr>
                        <a:t>+0.0294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02020"/>
                          </a:solidFill>
                          <a:latin typeface="Arial"/>
                        </a:rPr>
                        <a:t>[+0.0215, +0.0372]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202020"/>
                          </a:solidFill>
                          <a:latin typeface="Arial"/>
                        </a:rPr>
                        <a:t>2.3e-13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asset_volatility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−0.1025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[−0.1349, −0.0701]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5.5e-10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C(type)[Legal Entity]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+0.0154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[−0.0798, +0.1106]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0.751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202020"/>
                          </a:solidFill>
                          <a:latin typeface="Arial"/>
                        </a:rPr>
                        <a:t>C(type)[Mass]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+0.0011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[−0.0248, +0.0269]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0.936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C(type)[Premium]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+0.0058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[−0.0206, +0.0322]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C(type)[Professional]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+0.0247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[−0.0084, +0.0578]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C(year)[2019]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+0.1759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[+0.1507, +0.2012]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1.4e-42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C(year)[2020]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+0.2107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[+0.1986, +0.2227]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6e-259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C(year)[2021]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+0.0754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[+0.0651, +0.0858]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4.1e-46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C(year)[2022]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−0.0195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202020"/>
                          </a:solidFill>
                          <a:latin typeface="Arial"/>
                        </a:rPr>
                        <a:t>[−0.0283, −0.0107]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202020"/>
                          </a:solidFill>
                          <a:latin typeface="Arial"/>
                        </a:rPr>
                        <a:t>1.4e-5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2919E6-1A5F-5574-654C-FF13F6BD00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1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82E6697-FCEA-4942-8E03-F4B279207A42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0e27d877-9c63-403c-987a-390b4a586a7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997</TotalTime>
  <Words>2414</Words>
  <Application>Microsoft Office PowerPoint</Application>
  <PresentationFormat>On-screen Show (16:9)</PresentationFormat>
  <Paragraphs>525</Paragraphs>
  <Slides>32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Play</vt:lpstr>
      <vt:lpstr>Arial</vt:lpstr>
      <vt:lpstr>Cambria Math</vt:lpstr>
      <vt:lpstr>Calibri</vt:lpstr>
      <vt:lpstr>Office Theme</vt:lpstr>
      <vt:lpstr>Risk-Based Segmentation for Financial Asset Recommendation</vt:lpstr>
      <vt:lpstr>01 Introduction</vt:lpstr>
      <vt:lpstr>What is Financial Asset Recommendation (FAR)?</vt:lpstr>
      <vt:lpstr>1st Open Public Dataset: FAR-Trans</vt:lpstr>
      <vt:lpstr>The FAR-Trans benchmarking</vt:lpstr>
      <vt:lpstr>The FAR-Trans benchmarking</vt:lpstr>
      <vt:lpstr>Filling in the missing gap of risk suitability</vt:lpstr>
      <vt:lpstr>02 Analytical Study</vt:lpstr>
      <vt:lpstr>Measuring Risk Suitability via Profile Coherence</vt:lpstr>
      <vt:lpstr>Discordance is prevalent and it is a customer-level trait</vt:lpstr>
      <vt:lpstr>Discordance is not a single-year artefact</vt:lpstr>
      <vt:lpstr>Regression Study</vt:lpstr>
      <vt:lpstr>03 Methodology</vt:lpstr>
      <vt:lpstr>LightGCN: Bipartite Graph</vt:lpstr>
      <vt:lpstr>LightGCN baseline model – Forward Propagation</vt:lpstr>
      <vt:lpstr>LightGCN baseline model – Back Propagation</vt:lpstr>
      <vt:lpstr>Risk-based segmentation approach</vt:lpstr>
      <vt:lpstr>Alternative approaches</vt:lpstr>
      <vt:lpstr>04 Experimental Setup</vt:lpstr>
      <vt:lpstr>Normalisation of risk suitability metric</vt:lpstr>
      <vt:lpstr>Data training test split</vt:lpstr>
      <vt:lpstr>Configurations &amp; hyperparameter grids</vt:lpstr>
      <vt:lpstr>Results</vt:lpstr>
      <vt:lpstr>Aggregate results over 69 splits</vt:lpstr>
      <vt:lpstr>Comparison to baseline LightGCN</vt:lpstr>
      <vt:lpstr>Normalized Profile Coherence at band-level</vt:lpstr>
      <vt:lpstr>Conclusion</vt:lpstr>
      <vt:lpstr>Limitations &amp; future work</vt:lpstr>
      <vt:lpstr>Conclusion</vt:lpstr>
      <vt:lpstr>Thank You</vt:lpstr>
      <vt:lpstr>Appendix</vt:lpstr>
      <vt:lpstr>Full OLS coefficient table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Samuel Sim</cp:lastModifiedBy>
  <cp:revision>27</cp:revision>
  <dcterms:modified xsi:type="dcterms:W3CDTF">2026-06-28T23:14:47Z</dcterms:modified>
</cp:coreProperties>
</file>