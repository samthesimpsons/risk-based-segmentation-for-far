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8" r:id="rId4"/>
    <p:sldId id="263" r:id="rId5"/>
    <p:sldId id="305" r:id="rId6"/>
    <p:sldId id="307" r:id="rId7"/>
    <p:sldId id="260" r:id="rId8"/>
    <p:sldId id="265" r:id="rId9"/>
    <p:sldId id="266" r:id="rId10"/>
    <p:sldId id="269" r:id="rId11"/>
    <p:sldId id="272" r:id="rId12"/>
    <p:sldId id="273" r:id="rId13"/>
    <p:sldId id="276" r:id="rId14"/>
    <p:sldId id="310" r:id="rId15"/>
    <p:sldId id="311" r:id="rId16"/>
    <p:sldId id="308" r:id="rId17"/>
    <p:sldId id="278" r:id="rId18"/>
    <p:sldId id="279" r:id="rId19"/>
    <p:sldId id="282" r:id="rId20"/>
    <p:sldId id="285" r:id="rId21"/>
    <p:sldId id="283" r:id="rId22"/>
    <p:sldId id="287" r:id="rId23"/>
    <p:sldId id="288" r:id="rId24"/>
    <p:sldId id="289" r:id="rId25"/>
    <p:sldId id="295" r:id="rId26"/>
    <p:sldId id="291" r:id="rId27"/>
    <p:sldId id="297" r:id="rId28"/>
    <p:sldId id="298" r:id="rId29"/>
    <p:sldId id="300" r:id="rId30"/>
    <p:sldId id="301" r:id="rId31"/>
    <p:sldId id="302" r:id="rId32"/>
    <p:sldId id="303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Play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itle" id="{CCD770D5-EB03-4C30-B8C3-5DDE48A2CE67}">
          <p14:sldIdLst>
            <p14:sldId id="256"/>
          </p14:sldIdLst>
        </p14:section>
        <p14:section name="Introduction" id="{5DCE38E6-734D-44AD-AB17-BCA344A78DF2}">
          <p14:sldIdLst>
            <p14:sldId id="257"/>
            <p14:sldId id="258"/>
            <p14:sldId id="263"/>
            <p14:sldId id="305"/>
            <p14:sldId id="307"/>
            <p14:sldId id="260"/>
          </p14:sldIdLst>
        </p14:section>
        <p14:section name="Analytical Study" id="{8065F342-6DB2-429F-AD3C-45C76140A577}">
          <p14:sldIdLst>
            <p14:sldId id="265"/>
            <p14:sldId id="266"/>
            <p14:sldId id="269"/>
            <p14:sldId id="272"/>
            <p14:sldId id="273"/>
          </p14:sldIdLst>
        </p14:section>
        <p14:section name="Methodology" id="{7694989F-F2C8-449A-B6B1-3F1BBED4E16D}">
          <p14:sldIdLst>
            <p14:sldId id="276"/>
            <p14:sldId id="310"/>
            <p14:sldId id="311"/>
            <p14:sldId id="308"/>
            <p14:sldId id="278"/>
            <p14:sldId id="279"/>
          </p14:sldIdLst>
        </p14:section>
        <p14:section name="Experimental Setup" id="{F38E2082-6B8B-4B53-9820-FCB13FA54525}">
          <p14:sldIdLst>
            <p14:sldId id="282"/>
            <p14:sldId id="285"/>
            <p14:sldId id="283"/>
            <p14:sldId id="287"/>
          </p14:sldIdLst>
        </p14:section>
        <p14:section name="Results" id="{1CD4AB61-8244-4959-B3F5-E9BC3851EBBE}">
          <p14:sldIdLst>
            <p14:sldId id="288"/>
            <p14:sldId id="289"/>
            <p14:sldId id="295"/>
            <p14:sldId id="291"/>
          </p14:sldIdLst>
        </p14:section>
        <p14:section name="Conclusion" id="{8B0F6DDA-CC68-4B6B-87C2-51FBAE6101F7}">
          <p14:sldIdLst>
            <p14:sldId id="297"/>
            <p14:sldId id="298"/>
            <p14:sldId id="300"/>
            <p14:sldId id="301"/>
          </p14:sldIdLst>
        </p14:section>
        <p14:section name="Appendix" id="{6B0C326C-7B81-40D3-9C3A-BC6160B48E7F}">
          <p14:sldIdLst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9213"/>
    <a:srgbClr val="CCD2D8"/>
    <a:srgbClr val="156082"/>
    <a:srgbClr val="FFFFFF"/>
    <a:srgbClr val="E7EAED"/>
    <a:srgbClr val="196B24"/>
    <a:srgbClr val="459E2A"/>
    <a:srgbClr val="D4F1CB"/>
    <a:srgbClr val="E6F7E0"/>
    <a:srgbClr val="C4E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11" autoAdjust="0"/>
    <p:restoredTop sz="82353" autoAdjust="0"/>
  </p:normalViewPr>
  <p:slideViewPr>
    <p:cSldViewPr snapToGrid="0">
      <p:cViewPr varScale="1">
        <p:scale>
          <a:sx n="102" d="100"/>
          <a:sy n="102" d="100"/>
        </p:scale>
        <p:origin x="870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4245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DCC23E-2445-8927-9D31-EFE409D3E0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4729C-C9ED-3513-1AEF-159C7C56D0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4A861-0892-45E9-A6FF-42AA72AD79D6}" type="datetimeFigureOut">
              <a:rPr lang="en-SG" smtClean="0"/>
              <a:t>28/6/2026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6FFB-0EEF-6E09-9A5D-A5462A8773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0A69C-82A5-2C96-A5C0-8ADD11750A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557BD-F81B-4A99-9A73-0863D2076FB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5515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68426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100" dirty="0">
                <a:solidFill>
                  <a:srgbClr val="202020"/>
                </a:solidFill>
              </a:rPr>
              <a:t>Closes the gap left by proprietary or simulated datasets</a:t>
            </a:r>
          </a:p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1089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500" b="1" dirty="0">
                <a:solidFill>
                  <a:srgbClr val="0E2841"/>
                </a:solidFill>
                <a:latin typeface="Arial"/>
              </a:rPr>
              <a:t>LightGCN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: graph collaborative filter over the user–item bipartite graph, </a:t>
            </a:r>
            <a:r>
              <a:rPr lang="en-SG" sz="1500" b="1" dirty="0">
                <a:solidFill>
                  <a:srgbClr val="0E2841"/>
                </a:solidFill>
                <a:latin typeface="Arial"/>
              </a:rPr>
              <a:t>strongest ranking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 model (</a:t>
            </a:r>
            <a:r>
              <a:rPr lang="en-SG" sz="1500" b="0" dirty="0" err="1">
                <a:solidFill>
                  <a:srgbClr val="202020"/>
                </a:solidFill>
                <a:latin typeface="Arial"/>
              </a:rPr>
              <a:t>nDCG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500" b="1" dirty="0">
                <a:solidFill>
                  <a:srgbClr val="0E2841"/>
                </a:solidFill>
                <a:latin typeface="Arial"/>
              </a:rPr>
              <a:t>Random Forest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: tree ensemble over tabular customer/asset features, </a:t>
            </a:r>
            <a:r>
              <a:rPr lang="en-SG" sz="1500" b="1" dirty="0">
                <a:solidFill>
                  <a:srgbClr val="0E2841"/>
                </a:solidFill>
                <a:latin typeface="Arial"/>
              </a:rPr>
              <a:t>strongest profitability</a:t>
            </a:r>
            <a:r>
              <a:rPr lang="en-SG" sz="1500" b="0" dirty="0">
                <a:solidFill>
                  <a:srgbClr val="202020"/>
                </a:solidFill>
                <a:latin typeface="Arial"/>
              </a:rPr>
              <a:t> model (ROI)</a:t>
            </a:r>
          </a:p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629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100" b="1" dirty="0">
                <a:solidFill>
                  <a:srgbClr val="0E2841"/>
                </a:solidFill>
                <a:latin typeface="Arial"/>
              </a:rPr>
              <a:t>Step 1: subcategory metadata.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Mutual funds: Money-Market to Conservative, Bond to Income, Balanced to Balanced, Equity/Large-Cap to Aggressive. Bonds by issuer: Government to Conservative, Corporate to Income, else Income.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100" b="1" dirty="0">
                <a:solidFill>
                  <a:srgbClr val="0E2841"/>
                </a:solidFill>
                <a:latin typeface="Arial"/>
              </a:rPr>
              <a:t>Step 2: volatility quartiles.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Untagged assets (mostly stocks): annualised SD of daily log-returns over a trailing 252-day window, bucketed into 4 bands by stock-calibrated quartiles (q₁, q₂, q₃).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100" b="1" dirty="0">
                <a:solidFill>
                  <a:srgbClr val="0E2841"/>
                </a:solidFill>
                <a:latin typeface="Arial"/>
              </a:rPr>
              <a:t>Step 3: residual default.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Anything left to Balanced.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100" b="0" dirty="0">
                <a:solidFill>
                  <a:srgbClr val="202020"/>
                </a:solidFill>
                <a:latin typeface="Arial"/>
              </a:rPr>
              <a:t>Resulting asset-band distribution over 806 assets: </a:t>
            </a:r>
            <a:r>
              <a:rPr lang="en-GB" sz="1100" b="1" dirty="0">
                <a:solidFill>
                  <a:srgbClr val="0E2841"/>
                </a:solidFill>
                <a:latin typeface="Arial"/>
              </a:rPr>
              <a:t>(190, 333, 105, 178)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for (Conservative, Income, Balanced, Aggressive).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GB" sz="1100" b="0" dirty="0">
              <a:solidFill>
                <a:srgbClr val="202020"/>
              </a:solidFill>
              <a:latin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100" dirty="0">
                <a:solidFill>
                  <a:srgbClr val="0E2841"/>
                </a:solidFill>
              </a:rPr>
              <a:t>±1 tolerance is </a:t>
            </a:r>
            <a:r>
              <a:rPr lang="en-GB" sz="1100" dirty="0">
                <a:solidFill>
                  <a:srgbClr val="202020"/>
                </a:solidFill>
              </a:rPr>
              <a:t>allowance for borderline suitability</a:t>
            </a:r>
          </a:p>
          <a:p>
            <a:pPr marL="158750" indent="0">
              <a:spcBef>
                <a:spcPts val="200"/>
              </a:spcBef>
              <a:spcAft>
                <a:spcPts val="600"/>
              </a:spcAft>
              <a:buNone/>
            </a:pPr>
            <a:endParaRPr lang="en-GB" sz="1100" b="0" dirty="0">
              <a:solidFill>
                <a:srgbClr val="202020"/>
              </a:solidFill>
              <a:latin typeface="Arial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476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Hartigan's dip test: the max distance between the empirical CDF and the best-fit unimodal CDF</a:t>
            </a:r>
          </a:p>
          <a:p>
            <a:r>
              <a:rPr lang="en-GB" dirty="0"/>
              <a:t>Empirical CDF is just the fraction of customers whose discordant share ≤ x</a:t>
            </a:r>
          </a:p>
          <a:p>
            <a:r>
              <a:rPr lang="en-GB" dirty="0"/>
              <a:t>A high D / low p rejects unimodality</a:t>
            </a:r>
          </a:p>
          <a:p>
            <a:r>
              <a:rPr lang="en-GB" dirty="0"/>
              <a:t>Our D = 0.086, p &lt; 10⁻¹⁵ confirms the discordant-share distribution is not a single bump with noise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73407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100" b="0" dirty="0">
                <a:solidFill>
                  <a:srgbClr val="202020"/>
                </a:solidFill>
                <a:latin typeface="Arial"/>
              </a:rPr>
              <a:t>MiFID II took force 2018-01-03, the exact start of FAR-Trans </a:t>
            </a:r>
            <a:r>
              <a:rPr lang="en-GB" sz="1100" dirty="0">
                <a:solidFill>
                  <a:srgbClr val="202020"/>
                </a:solidFill>
              </a:rPr>
              <a:t>indicates 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a </a:t>
            </a:r>
            <a:r>
              <a:rPr lang="en-GB" sz="1100" b="1" dirty="0">
                <a:solidFill>
                  <a:srgbClr val="0E2841"/>
                </a:solidFill>
                <a:latin typeface="Arial"/>
              </a:rPr>
              <a:t>transition-effect</a:t>
            </a:r>
            <a:endParaRPr lang="en-GB" sz="1100" b="0" dirty="0">
              <a:solidFill>
                <a:srgbClr val="202020"/>
              </a:solidFill>
              <a:latin typeface="Arial"/>
            </a:endParaRPr>
          </a:p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83252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On </a:t>
            </a:r>
            <a:r>
              <a:rPr lang="en-SG" sz="1100" b="1" dirty="0">
                <a:solidFill>
                  <a:srgbClr val="0E2841"/>
                </a:solidFill>
                <a:latin typeface="Arial"/>
              </a:rPr>
              <a:t>208,029</a:t>
            </a:r>
            <a:r>
              <a:rPr lang="en-SG" sz="1100" b="0" dirty="0">
                <a:solidFill>
                  <a:srgbClr val="202020"/>
                </a:solidFill>
                <a:latin typeface="Arial"/>
              </a:rPr>
              <a:t> priced buys</a:t>
            </a:r>
          </a:p>
          <a:p>
            <a:r>
              <a:rPr lang="en-SG" sz="1100" b="0" dirty="0">
                <a:solidFill>
                  <a:srgbClr val="202020"/>
                </a:solidFill>
                <a:latin typeface="Arial"/>
              </a:rPr>
              <a:t>For each term, we need to hold </a:t>
            </a:r>
            <a:r>
              <a:rPr lang="en-GB" sz="1100" dirty="0"/>
              <a:t>other covariates fixed</a:t>
            </a:r>
            <a:endParaRPr lang="en-SG" sz="1100" b="0" dirty="0">
              <a:solidFill>
                <a:srgbClr val="202020"/>
              </a:solidFill>
              <a:latin typeface="Arial"/>
            </a:endParaRPr>
          </a:p>
          <a:p>
            <a:r>
              <a:rPr lang="en-SG" sz="1100" b="0" dirty="0">
                <a:solidFill>
                  <a:srgbClr val="202020"/>
                </a:solidFill>
                <a:latin typeface="Arial"/>
              </a:rPr>
              <a:t>Year effect all significant</a:t>
            </a:r>
          </a:p>
          <a:p>
            <a:r>
              <a:rPr lang="en-SG" sz="1100" b="0" dirty="0">
                <a:solidFill>
                  <a:srgbClr val="202020"/>
                </a:solidFill>
                <a:latin typeface="Arial"/>
              </a:rPr>
              <a:t>Customer type all not significant</a:t>
            </a:r>
          </a:p>
          <a:p>
            <a:r>
              <a:rPr lang="en-SG" sz="1100" b="0" dirty="0">
                <a:solidFill>
                  <a:srgbClr val="202020"/>
                </a:solidFill>
                <a:latin typeface="Arial"/>
              </a:rPr>
              <a:t>Realised return is 6 months</a:t>
            </a:r>
          </a:p>
        </p:txBody>
      </p:sp>
    </p:spTree>
    <p:extLst>
      <p:ext uri="{BB962C8B-B14F-4D97-AF65-F5344CB8AC3E}">
        <p14:creationId xmlns:p14="http://schemas.microsoft.com/office/powerpoint/2010/main" val="1347602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3FB90-8EE1-E51A-8612-A3006AA4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E5ECE-51EC-0A40-72EB-787F32020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57710-622E-1929-FA29-0FFC0F028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100" b="0" dirty="0">
                <a:solidFill>
                  <a:srgbClr val="202020"/>
                </a:solidFill>
                <a:latin typeface="Arial"/>
              </a:rPr>
              <a:t>Top ranking accuracy model: </a:t>
            </a:r>
            <a:r>
              <a:rPr lang="en-GB" sz="1100" b="0" dirty="0" err="1">
                <a:solidFill>
                  <a:srgbClr val="202020"/>
                </a:solidFill>
                <a:latin typeface="Arial"/>
              </a:rPr>
              <a:t>LightGCN</a:t>
            </a:r>
            <a:endParaRPr lang="en-GB" sz="1100" b="0" dirty="0">
              <a:solidFill>
                <a:srgbClr val="202020"/>
              </a:solidFill>
              <a:latin typeface="Arial"/>
            </a:endParaRPr>
          </a:p>
          <a:p>
            <a:r>
              <a:rPr lang="en-GB" sz="1100" b="0" dirty="0">
                <a:solidFill>
                  <a:srgbClr val="202020"/>
                </a:solidFill>
                <a:latin typeface="Arial"/>
              </a:rPr>
              <a:t>Top return model: Random Forest carries no customer-level signal to segment, so not extended</a:t>
            </a:r>
          </a:p>
        </p:txBody>
      </p:sp>
    </p:spTree>
    <p:extLst>
      <p:ext uri="{BB962C8B-B14F-4D97-AF65-F5344CB8AC3E}">
        <p14:creationId xmlns:p14="http://schemas.microsoft.com/office/powerpoint/2010/main" val="712094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CA9A-30E8-7B9F-2283-28AF5358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065ED-6681-7F78-3831-EFC6AA2DC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EE615-0903-F0A4-0AB8-ED342E02A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100" b="0" dirty="0">
                <a:solidFill>
                  <a:srgbClr val="202020"/>
                </a:solidFill>
                <a:latin typeface="Arial"/>
              </a:rPr>
              <a:t>Top ranking accuracy model: </a:t>
            </a:r>
            <a:r>
              <a:rPr lang="en-GB" sz="1100" b="0" dirty="0" err="1">
                <a:solidFill>
                  <a:srgbClr val="202020"/>
                </a:solidFill>
                <a:latin typeface="Arial"/>
              </a:rPr>
              <a:t>LightGCN</a:t>
            </a:r>
            <a:endParaRPr lang="en-GB" sz="1100" b="0" dirty="0">
              <a:solidFill>
                <a:srgbClr val="202020"/>
              </a:solidFill>
              <a:latin typeface="Arial"/>
            </a:endParaRPr>
          </a:p>
          <a:p>
            <a:r>
              <a:rPr lang="en-GB" sz="1100" b="0" dirty="0">
                <a:solidFill>
                  <a:srgbClr val="202020"/>
                </a:solidFill>
                <a:latin typeface="Arial"/>
              </a:rPr>
              <a:t>Top return model: Random Forest carries no customer-level signal to segment, so not extended</a:t>
            </a:r>
          </a:p>
        </p:txBody>
      </p:sp>
    </p:spTree>
    <p:extLst>
      <p:ext uri="{BB962C8B-B14F-4D97-AF65-F5344CB8AC3E}">
        <p14:creationId xmlns:p14="http://schemas.microsoft.com/office/powerpoint/2010/main" val="3182006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1B01-44C0-973F-DEB6-A11231AE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E2AE9-CFF4-5CE2-3B06-7CF240120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AB0FA-873F-9DC8-A357-93F2D6811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100" b="0" dirty="0">
                <a:solidFill>
                  <a:srgbClr val="202020"/>
                </a:solidFill>
                <a:latin typeface="Arial"/>
              </a:rPr>
              <a:t>We use this BPR loss as it is differentiable (surrogate loss) compared to </a:t>
            </a:r>
            <a:r>
              <a:rPr lang="en-GB" sz="1100" b="0" dirty="0" err="1">
                <a:solidFill>
                  <a:srgbClr val="202020"/>
                </a:solidFill>
                <a:latin typeface="Arial"/>
              </a:rPr>
              <a:t>nDCG</a:t>
            </a:r>
            <a:r>
              <a:rPr lang="en-GB" sz="1100" b="0" dirty="0">
                <a:solidFill>
                  <a:srgbClr val="202020"/>
                </a:solidFill>
                <a:latin typeface="Arial"/>
              </a:rPr>
              <a:t> which is non-differentiable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8685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err="1"/>
              <a:t>Softplus</a:t>
            </a:r>
            <a:r>
              <a:rPr lang="en-SG" dirty="0"/>
              <a:t> is just smooth version of </a:t>
            </a:r>
            <a:r>
              <a:rPr lang="en-SG" dirty="0" err="1"/>
              <a:t>ReLU</a:t>
            </a:r>
            <a:r>
              <a:rPr lang="en-SG" dirty="0"/>
              <a:t> </a:t>
            </a:r>
          </a:p>
          <a:p>
            <a:r>
              <a:rPr lang="en-GB" dirty="0"/>
              <a:t>Bands are ordinal, so the median is the scale-correct, outlier-robust summary that returns a real band</a:t>
            </a:r>
          </a:p>
          <a:p>
            <a:r>
              <a:rPr lang="en-GB" dirty="0"/>
              <a:t>Rounding ties down keeps the bias conservative, the safe direction under MiFID II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2355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62762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Following the original FAR-trans paper split</a:t>
            </a:r>
          </a:p>
        </p:txBody>
      </p:sp>
    </p:spTree>
    <p:extLst>
      <p:ext uri="{BB962C8B-B14F-4D97-AF65-F5344CB8AC3E}">
        <p14:creationId xmlns:p14="http://schemas.microsoft.com/office/powerpoint/2010/main" val="1875996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9875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b="0" dirty="0">
                <a:solidFill>
                  <a:srgbClr val="202020"/>
                </a:solidFill>
                <a:latin typeface="Arial"/>
              </a:rPr>
              <a:t>Only one intervention beats the </a:t>
            </a:r>
            <a:r>
              <a:rPr lang="en-GB" b="0" dirty="0" err="1">
                <a:solidFill>
                  <a:srgbClr val="202020"/>
                </a:solidFill>
                <a:latin typeface="Arial"/>
              </a:rPr>
              <a:t>LightGCN</a:t>
            </a:r>
            <a:r>
              <a:rPr lang="en-GB" b="0" dirty="0">
                <a:solidFill>
                  <a:srgbClr val="202020"/>
                </a:solidFill>
                <a:latin typeface="Arial"/>
              </a:rPr>
              <a:t> baseline overall, highest balance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56276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9166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Both approaches clear the random baseline for all bands</a:t>
            </a:r>
          </a:p>
          <a:p>
            <a:r>
              <a:rPr lang="en-GB" dirty="0"/>
              <a:t>Best is with both implemented but recall at the cost of lower accuracy compared to just regrouping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73547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65801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74570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61611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6937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800"/>
              <a:buFont typeface="Arial"/>
              <a:buNone/>
              <a:defRPr sz="38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800"/>
              <a:buFont typeface="Arial"/>
              <a:buNone/>
              <a:defRPr sz="38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40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769A-75CA-A068-D878-A2394AF7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26830"/>
            <a:ext cx="7886700" cy="541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A3A03-D095-203F-98BC-2272FB2446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8E21F-7EE7-9836-9F73-5C4D4F4057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 sz="800" i="1"/>
            </a:lvl1pPr>
          </a:lstStyle>
          <a:p>
            <a:r>
              <a:rPr lang="en-SG"/>
              <a:t>github.com/Samthesimpsons/Risk-Based-Segmentation-for-FAR</a:t>
            </a:r>
            <a:endParaRPr lang="en-SG" sz="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29DD4-C35A-F96F-4DC8-FF1C95CDE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Google Shape;58;p9">
            <a:extLst>
              <a:ext uri="{FF2B5EF4-FFF2-40B4-BE49-F238E27FC236}">
                <a16:creationId xmlns:a16="http://schemas.microsoft.com/office/drawing/2014/main" id="{65E63A31-3A41-37BD-E8AF-724EAD4810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8650" y="1363955"/>
            <a:ext cx="7886700" cy="303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318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80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1"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 dirty="0"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629841" y="1623646"/>
            <a:ext cx="2949300" cy="277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userDrawn="1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80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1">
                <a:latin typeface="+mj-l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" name="Google Shape;58;p9">
            <a:extLst>
              <a:ext uri="{FF2B5EF4-FFF2-40B4-BE49-F238E27FC236}">
                <a16:creationId xmlns:a16="http://schemas.microsoft.com/office/drawing/2014/main" id="{D3C5BA6B-0163-B42D-92BF-6C035280FB45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29841" y="1623646"/>
            <a:ext cx="2949300" cy="277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/>
              <a:t>github.com/Samthesimpsons/Risk-Based-Segmentation-for-FAR</a:t>
            </a: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110038" y="47625"/>
            <a:ext cx="940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SMU Classification: Restricted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0" r:id="rId3"/>
    <p:sldLayoutId id="2147483655" r:id="rId4"/>
    <p:sldLayoutId id="2147483656" r:id="rId5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png"/><Relationship Id="rId3" Type="http://schemas.openxmlformats.org/officeDocument/2006/relationships/image" Target="../media/image7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8.sv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0" Type="http://schemas.openxmlformats.org/officeDocument/2006/relationships/image" Target="../media/image18.png"/><Relationship Id="rId4" Type="http://schemas.openxmlformats.org/officeDocument/2006/relationships/image" Target="../media/image8.sv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211.pn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8.sv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5449" y="898796"/>
            <a:ext cx="7153102" cy="17907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sz="2400" b="1" dirty="0"/>
              <a:t>Risk-Based Segmentation for</a:t>
            </a:r>
            <a:br>
              <a:rPr lang="en-SG" sz="2400" dirty="0"/>
            </a:br>
            <a:r>
              <a:rPr sz="2400" b="1" dirty="0"/>
              <a:t>Financial Asset</a:t>
            </a:r>
            <a:r>
              <a:rPr lang="en-SG" sz="2400" b="1" dirty="0"/>
              <a:t> </a:t>
            </a:r>
            <a:r>
              <a:rPr sz="2400" b="1" dirty="0"/>
              <a:t>Recommendation</a:t>
            </a:r>
            <a:br>
              <a:rPr lang="en-SG" sz="2400" b="1" dirty="0"/>
            </a:br>
            <a:r>
              <a:rPr lang="en-SG" sz="2400" b="1" dirty="0"/>
              <a:t>Balancing Return, Accuracy and Risk Suitability </a:t>
            </a:r>
            <a:endParaRPr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89496"/>
            <a:ext cx="6858000" cy="1241700"/>
          </a:xfrm>
        </p:spPr>
        <p:txBody>
          <a:bodyPr>
            <a:normAutofit/>
          </a:bodyPr>
          <a:lstStyle/>
          <a:p>
            <a:r>
              <a:rPr sz="1400" b="1" dirty="0"/>
              <a:t>Samuel Sim</a:t>
            </a:r>
            <a:endParaRPr lang="en-SG" sz="1400" b="1" dirty="0"/>
          </a:p>
          <a:p>
            <a:r>
              <a:rPr lang="en-SG" sz="1400" dirty="0"/>
              <a:t>Master of Science</a:t>
            </a:r>
            <a:r>
              <a:rPr sz="1400" dirty="0"/>
              <a:t> in Computing (Capstone)</a:t>
            </a:r>
          </a:p>
          <a:p>
            <a:r>
              <a:rPr sz="1400" dirty="0"/>
              <a:t>samuel.sim.2024@msc.smu.edu.sg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Financial Asset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What is Financial Asset Recommendation (FAR)?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3063240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lang="en-GB" sz="1400" dirty="0">
                <a:solidFill>
                  <a:srgbClr val="202020"/>
                </a:solidFill>
              </a:rPr>
              <a:t>Ranking financial products 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for an </a:t>
            </a:r>
            <a:r>
              <a:rPr lang="en-GB" sz="1400" b="0" dirty="0">
                <a:solidFill>
                  <a:srgbClr val="202020"/>
                </a:solidFill>
                <a:latin typeface="Arial"/>
              </a:rPr>
              <a:t>investor</a:t>
            </a:r>
            <a:endParaRPr sz="1400" b="0" dirty="0">
              <a:solidFill>
                <a:srgbClr val="20202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lang="en-GB" sz="1400" b="0" dirty="0">
                <a:solidFill>
                  <a:srgbClr val="202020"/>
                </a:solidFill>
                <a:latin typeface="Arial"/>
              </a:rPr>
              <a:t>Contains many 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signals:</a:t>
            </a:r>
          </a:p>
          <a:p>
            <a:pPr marL="971550" lvl="1" indent="-28575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0E2841"/>
                </a:solidFill>
                <a:latin typeface="Arial"/>
              </a:rPr>
              <a:t>Investor side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: past transactions, declared risk tolerance</a:t>
            </a:r>
            <a:r>
              <a:rPr lang="en-GB" sz="1400" b="0" dirty="0">
                <a:solidFill>
                  <a:srgbClr val="202020"/>
                </a:solidFill>
                <a:latin typeface="Arial"/>
              </a:rPr>
              <a:t>, etc.</a:t>
            </a:r>
            <a:endParaRPr sz="1400" b="0" dirty="0">
              <a:solidFill>
                <a:srgbClr val="202020"/>
              </a:solidFill>
              <a:latin typeface="Arial"/>
            </a:endParaRPr>
          </a:p>
          <a:p>
            <a:pPr marL="971550" lvl="1" indent="-28575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0E2841"/>
                </a:solidFill>
                <a:latin typeface="Arial"/>
              </a:rPr>
              <a:t>Market side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: asset prices, returns, volatility, inflation</a:t>
            </a:r>
            <a:r>
              <a:rPr lang="en-GB" sz="1400" b="0" dirty="0">
                <a:solidFill>
                  <a:srgbClr val="202020"/>
                </a:solidFill>
                <a:latin typeface="Arial"/>
              </a:rPr>
              <a:t>, etc.</a:t>
            </a:r>
            <a:endParaRPr sz="1400" b="0" dirty="0">
              <a:solidFill>
                <a:srgbClr val="20202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0E2841"/>
                </a:solidFill>
                <a:latin typeface="Arial"/>
              </a:rPr>
              <a:t>MiFID II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 (EU</a:t>
            </a:r>
            <a:r>
              <a:rPr lang="en-GB" sz="1400" b="0" dirty="0">
                <a:solidFill>
                  <a:srgbClr val="202020"/>
                </a:solidFill>
                <a:latin typeface="Arial"/>
              </a:rPr>
              <a:t> regulation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) requires a suitability check </a:t>
            </a:r>
            <a:r>
              <a:rPr sz="1400" dirty="0">
                <a:solidFill>
                  <a:srgbClr val="0E2841"/>
                </a:solidFill>
                <a:latin typeface="Arial"/>
              </a:rPr>
              <a:t>before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n-GB" sz="1400" dirty="0">
                <a:solidFill>
                  <a:srgbClr val="202020"/>
                </a:solidFill>
              </a:rPr>
              <a:t>product recommendation</a:t>
            </a:r>
          </a:p>
          <a:p>
            <a:pPr marL="971550" lvl="1" indent="-28575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202020"/>
                </a:solidFill>
              </a:rPr>
              <a:t>Product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 risk </a:t>
            </a:r>
            <a:r>
              <a:rPr lang="en-GB" sz="1400" b="0" dirty="0">
                <a:solidFill>
                  <a:srgbClr val="202020"/>
                </a:solidFill>
                <a:latin typeface="Arial"/>
              </a:rPr>
              <a:t>needs to</a:t>
            </a:r>
            <a:r>
              <a:rPr sz="1400" b="0" dirty="0">
                <a:solidFill>
                  <a:srgbClr val="202020"/>
                </a:solidFill>
                <a:latin typeface="Arial"/>
              </a:rPr>
              <a:t> align with the customer's declared </a:t>
            </a:r>
            <a:r>
              <a:rPr lang="en-GB" sz="1400" b="0" dirty="0">
                <a:solidFill>
                  <a:srgbClr val="202020"/>
                </a:solidFill>
                <a:latin typeface="Arial"/>
              </a:rPr>
              <a:t>risk band</a:t>
            </a:r>
            <a:endParaRPr sz="1400" b="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F370F-E9E0-9185-E296-301863E377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DDE12-D8A0-BB6C-C86C-EC0D1D8DF969}"/>
              </a:ext>
            </a:extLst>
          </p:cNvPr>
          <p:cNvSpPr txBox="1"/>
          <p:nvPr/>
        </p:nvSpPr>
        <p:spPr>
          <a:xfrm>
            <a:off x="2931908" y="4581144"/>
            <a:ext cx="3280181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SG" sz="800" i="1" dirty="0"/>
              <a:t>*MiFID II: Markets in Financial Instruments Directive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The FAR-Trans dataset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43297-7880-C1BA-E6E3-3D2FB77A6C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BFD57D-C608-4206-A957-E3AE9F8FB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117469"/>
              </p:ext>
            </p:extLst>
          </p:nvPr>
        </p:nvGraphicFramePr>
        <p:xfrm>
          <a:off x="502918" y="2154593"/>
          <a:ext cx="8178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361233124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337650652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586071066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592355887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17498722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4198576758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358049171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375518701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3828871949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3455840503"/>
                    </a:ext>
                  </a:extLst>
                </a:gridCol>
              </a:tblGrid>
              <a:tr h="182723">
                <a:tc>
                  <a:txBody>
                    <a:bodyPr/>
                    <a:lstStyle/>
                    <a:p>
                      <a:r>
                        <a:rPr lang="en-GB" sz="900" dirty="0"/>
                        <a:t>Customer ID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Customer Type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solidFill>
                            <a:schemeClr val="bg1"/>
                          </a:solidFill>
                        </a:rPr>
                        <a:t>Risk level</a:t>
                      </a:r>
                      <a:endParaRPr lang="en-SG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Capacity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ISIN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Type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Date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Value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Units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Channel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172683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73D…534D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</a:rPr>
                        <a:t>Conservative</a:t>
                      </a:r>
                      <a:endParaRPr lang="en-SG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Less than 30k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GRS260333000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Buy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2018-01-02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47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4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Branch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52782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2AF…44B2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</a:rPr>
                        <a:t>Income</a:t>
                      </a:r>
                      <a:endParaRPr lang="en-SG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Less than 30k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GRS343313003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Buy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2021-07-12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1876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7000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Branch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401253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6F8…71BC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Premium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</a:rPr>
                        <a:t>Balanced</a:t>
                      </a:r>
                      <a:endParaRPr lang="en-SG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30k to 80k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GRS343313003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Buy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2018-01-02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1869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1600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Internet Banking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692009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8C9…43BB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Premium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</a:rPr>
                        <a:t>Aggressive</a:t>
                      </a:r>
                      <a:endParaRPr lang="en-SG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80k to 300k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GRS298343005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Buy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2022-09-22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500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80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Phone Banking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86458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4BA2B00-B177-456A-1A2C-3953B9160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942303"/>
              </p:ext>
            </p:extLst>
          </p:nvPr>
        </p:nvGraphicFramePr>
        <p:xfrm>
          <a:off x="502919" y="3444911"/>
          <a:ext cx="817879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458">
                  <a:extLst>
                    <a:ext uri="{9D8B030D-6E8A-4147-A177-3AD203B41FA5}">
                      <a16:colId xmlns:a16="http://schemas.microsoft.com/office/drawing/2014/main" val="3612331248"/>
                    </a:ext>
                  </a:extLst>
                </a:gridCol>
                <a:gridCol w="2277922">
                  <a:extLst>
                    <a:ext uri="{9D8B030D-6E8A-4147-A177-3AD203B41FA5}">
                      <a16:colId xmlns:a16="http://schemas.microsoft.com/office/drawing/2014/main" val="2337650652"/>
                    </a:ext>
                  </a:extLst>
                </a:gridCol>
                <a:gridCol w="796363">
                  <a:extLst>
                    <a:ext uri="{9D8B030D-6E8A-4147-A177-3AD203B41FA5}">
                      <a16:colId xmlns:a16="http://schemas.microsoft.com/office/drawing/2014/main" val="586071066"/>
                    </a:ext>
                  </a:extLst>
                </a:gridCol>
                <a:gridCol w="1334186">
                  <a:extLst>
                    <a:ext uri="{9D8B030D-6E8A-4147-A177-3AD203B41FA5}">
                      <a16:colId xmlns:a16="http://schemas.microsoft.com/office/drawing/2014/main" val="2592355887"/>
                    </a:ext>
                  </a:extLst>
                </a:gridCol>
                <a:gridCol w="658859">
                  <a:extLst>
                    <a:ext uri="{9D8B030D-6E8A-4147-A177-3AD203B41FA5}">
                      <a16:colId xmlns:a16="http://schemas.microsoft.com/office/drawing/2014/main" val="217498722"/>
                    </a:ext>
                  </a:extLst>
                </a:gridCol>
                <a:gridCol w="897069">
                  <a:extLst>
                    <a:ext uri="{9D8B030D-6E8A-4147-A177-3AD203B41FA5}">
                      <a16:colId xmlns:a16="http://schemas.microsoft.com/office/drawing/2014/main" val="4198576758"/>
                    </a:ext>
                  </a:extLst>
                </a:gridCol>
                <a:gridCol w="1053942">
                  <a:extLst>
                    <a:ext uri="{9D8B030D-6E8A-4147-A177-3AD203B41FA5}">
                      <a16:colId xmlns:a16="http://schemas.microsoft.com/office/drawing/2014/main" val="2358049171"/>
                    </a:ext>
                  </a:extLst>
                </a:gridCol>
              </a:tblGrid>
              <a:tr h="182723">
                <a:tc>
                  <a:txBody>
                    <a:bodyPr/>
                    <a:lstStyle/>
                    <a:p>
                      <a:r>
                        <a:rPr lang="en-GB" sz="900" dirty="0"/>
                        <a:t>ISIN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Asset Name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Category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Sub-category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Market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Date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Closing Price</a:t>
                      </a:r>
                      <a:endParaRPr lang="en-SG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172683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CH0198251305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Coca-Cola Hellenic Bottling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Stock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Large Cap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XATH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2022-11-29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23.240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52782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AU3CB0237881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Apple Inc.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Bond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Corporate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XETR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2020-05-27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67.893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401253"/>
                  </a:ext>
                </a:extLst>
              </a:tr>
              <a:tr h="199334">
                <a:tc>
                  <a:txBody>
                    <a:bodyPr/>
                    <a:lstStyle/>
                    <a:p>
                      <a:r>
                        <a:rPr lang="en-SG" sz="900" dirty="0"/>
                        <a:t>DE0005933956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iShares Core EURO STOXX 50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MTF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XETR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2022-11-29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900" dirty="0"/>
                        <a:t>39.660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692009"/>
                  </a:ext>
                </a:extLst>
              </a:tr>
            </a:tbl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0F31452-75FE-0546-4BE5-02984E960C98}"/>
              </a:ext>
            </a:extLst>
          </p:cNvPr>
          <p:cNvSpPr txBox="1">
            <a:spLocks/>
          </p:cNvSpPr>
          <p:nvPr/>
        </p:nvSpPr>
        <p:spPr>
          <a:xfrm>
            <a:off x="630936" y="1417320"/>
            <a:ext cx="7882127" cy="771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400" dirty="0">
                <a:solidFill>
                  <a:srgbClr val="202020"/>
                </a:solidFill>
              </a:rPr>
              <a:t>1</a:t>
            </a:r>
            <a:r>
              <a:rPr lang="en-GB" sz="1400" baseline="30000" dirty="0">
                <a:solidFill>
                  <a:srgbClr val="202020"/>
                </a:solidFill>
              </a:rPr>
              <a:t>st</a:t>
            </a:r>
            <a:r>
              <a:rPr lang="en-GB" sz="1400" dirty="0">
                <a:solidFill>
                  <a:srgbClr val="202020"/>
                </a:solidFill>
              </a:rPr>
              <a:t> open public FAR dataset of 29,090 customers and 806 assets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400" dirty="0">
                <a:solidFill>
                  <a:srgbClr val="202020"/>
                </a:solidFill>
              </a:rPr>
              <a:t>Collected from a large EU institution between Jan 2018 and Nov 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2F55-0891-CC89-7A58-A635743EA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E7E5A-A35E-EB3B-92CF-1789D243F6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972102" cy="1248762"/>
          </a:xfrm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400" dirty="0">
                <a:solidFill>
                  <a:srgbClr val="0E2841"/>
                </a:solidFill>
              </a:rPr>
              <a:t>Benchmarked against 11 machine learning approaches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400" dirty="0">
                <a:solidFill>
                  <a:srgbClr val="0E2841"/>
                </a:solidFill>
                <a:latin typeface="Arial"/>
              </a:rPr>
              <a:t>Evaluated on </a:t>
            </a:r>
            <a:r>
              <a:rPr lang="en-SG" sz="1400" b="1" dirty="0">
                <a:solidFill>
                  <a:srgbClr val="0E2841"/>
                </a:solidFill>
                <a:latin typeface="Arial"/>
              </a:rPr>
              <a:t>(1) ranking accuracy </a:t>
            </a:r>
            <a:r>
              <a:rPr lang="en-SG" sz="1400" dirty="0">
                <a:solidFill>
                  <a:srgbClr val="0E2841"/>
                </a:solidFill>
                <a:latin typeface="Arial"/>
              </a:rPr>
              <a:t>and (2) realised return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400" dirty="0">
                <a:solidFill>
                  <a:srgbClr val="0E2841"/>
                </a:solidFill>
                <a:latin typeface="Arial"/>
              </a:rPr>
              <a:t>For ranking accuracy, </a:t>
            </a:r>
            <a:r>
              <a:rPr lang="en-SG" sz="1400" b="1" dirty="0">
                <a:solidFill>
                  <a:srgbClr val="0E2841"/>
                </a:solidFill>
                <a:latin typeface="Arial"/>
              </a:rPr>
              <a:t>Normalized Discounted Gain (nDCG@10) </a:t>
            </a:r>
            <a:r>
              <a:rPr lang="en-SG" sz="1400" dirty="0">
                <a:solidFill>
                  <a:srgbClr val="0E2841"/>
                </a:solidFill>
                <a:latin typeface="Arial"/>
              </a:rPr>
              <a:t>was used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B8D7CEA-EF04-E2C5-EA68-B97272D90FD6}"/>
              </a:ext>
            </a:extLst>
          </p:cNvPr>
          <p:cNvGrpSpPr/>
          <p:nvPr/>
        </p:nvGrpSpPr>
        <p:grpSpPr>
          <a:xfrm>
            <a:off x="1224450" y="2433885"/>
            <a:ext cx="6299030" cy="1773067"/>
            <a:chOff x="580818" y="2620993"/>
            <a:chExt cx="7882127" cy="17730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82086D4-E663-0D4E-F7FB-9CA4790ECDE1}"/>
                    </a:ext>
                  </a:extLst>
                </p:cNvPr>
                <p:cNvSpPr txBox="1"/>
                <p:nvPr/>
              </p:nvSpPr>
              <p:spPr>
                <a:xfrm>
                  <a:off x="580818" y="3710283"/>
                  <a:ext cx="7882127" cy="683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nDCG</m:t>
                        </m:r>
                        <m:r>
                          <m:rPr>
                            <m:nor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@10 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GB" sz="1200" b="0" i="1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sz="1200" b="0" i="1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b="0" i="1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b="0" i="1" smtClean="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 b="0" i="0" smtClean="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b="0" i="1" smtClean="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b="0" i="1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1+1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GB" sz="1200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b="0" i="1" smtClean="0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1+1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f>
                              <m:fPr>
                                <m:ctrlPr>
                                  <a:rPr lang="en-GB" sz="12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GB" sz="1200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1+10</m:t>
                                    </m:r>
                                  </m:e>
                                </m:func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SG" sz="1200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1+2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SG" sz="1200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SG" sz="1200" b="0" i="1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200" i="1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chemeClr val="tx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sz="1200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chemeClr val="tx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GB" sz="1200" i="1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1+10</m:t>
                                    </m:r>
                                  </m:e>
                                </m:func>
                              </m:den>
                            </m:f>
                          </m:den>
                        </m:f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=0.681</m:t>
                        </m:r>
                      </m:oMath>
                    </m:oMathPara>
                  </a14:m>
                  <a:endParaRPr lang="en-SG" sz="12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82086D4-E663-0D4E-F7FB-9CA4790ECD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818" y="3710283"/>
                  <a:ext cx="7882127" cy="683777"/>
                </a:xfrm>
                <a:prstGeom prst="rect">
                  <a:avLst/>
                </a:prstGeom>
                <a:blipFill>
                  <a:blip r:embed="rId2"/>
                  <a:stretch>
                    <a:fillRect b="-8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22DE90D-696A-5E47-8A29-51B245512314}"/>
                </a:ext>
              </a:extLst>
            </p:cNvPr>
            <p:cNvGrpSpPr/>
            <p:nvPr/>
          </p:nvGrpSpPr>
          <p:grpSpPr>
            <a:xfrm>
              <a:off x="707739" y="2620993"/>
              <a:ext cx="7005931" cy="951065"/>
              <a:chOff x="134862" y="2548656"/>
              <a:chExt cx="7005931" cy="951065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494828B-3F40-BE5C-D2A2-72216B5F8BB0}"/>
                  </a:ext>
                </a:extLst>
              </p:cNvPr>
              <p:cNvSpPr/>
              <p:nvPr/>
            </p:nvSpPr>
            <p:spPr>
              <a:xfrm>
                <a:off x="2060153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4ACF0284-ED0A-E8A2-BAD9-820331F95D28}"/>
                  </a:ext>
                </a:extLst>
              </p:cNvPr>
              <p:cNvSpPr/>
              <p:nvPr/>
            </p:nvSpPr>
            <p:spPr>
              <a:xfrm>
                <a:off x="2571009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CB37FA5-215A-D095-461F-AB5990B85683}"/>
                  </a:ext>
                </a:extLst>
              </p:cNvPr>
              <p:cNvSpPr/>
              <p:nvPr/>
            </p:nvSpPr>
            <p:spPr>
              <a:xfrm>
                <a:off x="3081865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6D58055-FAE0-3DC2-C666-405023B796FD}"/>
                  </a:ext>
                </a:extLst>
              </p:cNvPr>
              <p:cNvSpPr/>
              <p:nvPr/>
            </p:nvSpPr>
            <p:spPr>
              <a:xfrm>
                <a:off x="3592721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8B64B45-92E6-1A24-3FD0-6EE84992E381}"/>
                  </a:ext>
                </a:extLst>
              </p:cNvPr>
              <p:cNvSpPr/>
              <p:nvPr/>
            </p:nvSpPr>
            <p:spPr>
              <a:xfrm>
                <a:off x="4103577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DA53106-7F6E-2CBE-8C57-ACEC35DC61BE}"/>
                  </a:ext>
                </a:extLst>
              </p:cNvPr>
              <p:cNvSpPr/>
              <p:nvPr/>
            </p:nvSpPr>
            <p:spPr>
              <a:xfrm>
                <a:off x="4614433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E3690FA-4661-F4D5-8D2E-D494B7AFD046}"/>
                  </a:ext>
                </a:extLst>
              </p:cNvPr>
              <p:cNvSpPr/>
              <p:nvPr/>
            </p:nvSpPr>
            <p:spPr>
              <a:xfrm>
                <a:off x="5125289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B582C22-4A95-B80B-18B9-7DC5CB8A830B}"/>
                  </a:ext>
                </a:extLst>
              </p:cNvPr>
              <p:cNvSpPr/>
              <p:nvPr/>
            </p:nvSpPr>
            <p:spPr>
              <a:xfrm>
                <a:off x="5636145" y="290988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1976D7E2-B6B3-31A4-D014-78E80C3C23AE}"/>
                  </a:ext>
                </a:extLst>
              </p:cNvPr>
              <p:cNvSpPr/>
              <p:nvPr/>
            </p:nvSpPr>
            <p:spPr>
              <a:xfrm>
                <a:off x="6147001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56D91FD-A21E-0CEE-FE28-B231EA7B7093}"/>
                  </a:ext>
                </a:extLst>
              </p:cNvPr>
              <p:cNvSpPr/>
              <p:nvPr/>
            </p:nvSpPr>
            <p:spPr>
              <a:xfrm>
                <a:off x="6657855" y="290988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C086D9D-81AD-1970-DCDF-4F3EAF185438}"/>
                  </a:ext>
                </a:extLst>
              </p:cNvPr>
              <p:cNvSpPr txBox="1"/>
              <p:nvPr/>
            </p:nvSpPr>
            <p:spPr>
              <a:xfrm>
                <a:off x="824633" y="2880484"/>
                <a:ext cx="11347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G" sz="1200" dirty="0"/>
                  <a:t>Predicted: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B8BEAAB-B250-BC2A-4A07-D74B32084D70}"/>
                  </a:ext>
                </a:extLst>
              </p:cNvPr>
              <p:cNvSpPr txBox="1"/>
              <p:nvPr/>
            </p:nvSpPr>
            <p:spPr>
              <a:xfrm>
                <a:off x="134862" y="3220501"/>
                <a:ext cx="18245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SG" sz="1200" dirty="0"/>
                  <a:t>Reordered (ideal):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987F826-7E9F-EFC5-F2D4-422F8E096251}"/>
                  </a:ext>
                </a:extLst>
              </p:cNvPr>
              <p:cNvSpPr/>
              <p:nvPr/>
            </p:nvSpPr>
            <p:spPr>
              <a:xfrm>
                <a:off x="4616478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1AB1ED7-E07A-AECD-E55F-250A6CA7E6AB}"/>
                  </a:ext>
                </a:extLst>
              </p:cNvPr>
              <p:cNvSpPr/>
              <p:nvPr/>
            </p:nvSpPr>
            <p:spPr>
              <a:xfrm>
                <a:off x="2571418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7CDA2B1-25EE-DBD0-B9BA-54E1344227EA}"/>
                  </a:ext>
                </a:extLst>
              </p:cNvPr>
              <p:cNvSpPr/>
              <p:nvPr/>
            </p:nvSpPr>
            <p:spPr>
              <a:xfrm>
                <a:off x="5127743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EA00FFBF-DA53-215A-BA6C-EAE203E302CD}"/>
                  </a:ext>
                </a:extLst>
              </p:cNvPr>
              <p:cNvSpPr/>
              <p:nvPr/>
            </p:nvSpPr>
            <p:spPr>
              <a:xfrm>
                <a:off x="3082683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F304B37-8D7F-76F5-C283-706F360FA91A}"/>
                  </a:ext>
                </a:extLst>
              </p:cNvPr>
              <p:cNvSpPr/>
              <p:nvPr/>
            </p:nvSpPr>
            <p:spPr>
              <a:xfrm>
                <a:off x="5639008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BE35C5E-D8FC-90B5-8628-996B9B2C7C27}"/>
                  </a:ext>
                </a:extLst>
              </p:cNvPr>
              <p:cNvSpPr/>
              <p:nvPr/>
            </p:nvSpPr>
            <p:spPr>
              <a:xfrm>
                <a:off x="3593948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FD9EBF5-9CD2-4902-A996-C06F07C3A716}"/>
                  </a:ext>
                </a:extLst>
              </p:cNvPr>
              <p:cNvSpPr/>
              <p:nvPr/>
            </p:nvSpPr>
            <p:spPr>
              <a:xfrm>
                <a:off x="6150273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9AF923F-F373-7885-0424-4D69EFC630C0}"/>
                  </a:ext>
                </a:extLst>
              </p:cNvPr>
              <p:cNvSpPr/>
              <p:nvPr/>
            </p:nvSpPr>
            <p:spPr>
              <a:xfrm>
                <a:off x="6661534" y="3250746"/>
                <a:ext cx="422313" cy="248975"/>
              </a:xfrm>
              <a:prstGeom prst="rect">
                <a:avLst/>
              </a:prstGeom>
              <a:solidFill>
                <a:schemeClr val="tx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BB9FEFB6-B8FE-7E48-D107-DEE76C93E71E}"/>
                  </a:ext>
                </a:extLst>
              </p:cNvPr>
              <p:cNvSpPr/>
              <p:nvPr/>
            </p:nvSpPr>
            <p:spPr>
              <a:xfrm>
                <a:off x="2060153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9CD5D6F5-6B1C-88D0-3D73-E794425E62E4}"/>
                  </a:ext>
                </a:extLst>
              </p:cNvPr>
              <p:cNvSpPr/>
              <p:nvPr/>
            </p:nvSpPr>
            <p:spPr>
              <a:xfrm>
                <a:off x="4105213" y="3250746"/>
                <a:ext cx="422313" cy="24897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CFB3858-0B38-1FF6-3A8B-7983F02243F9}"/>
                  </a:ext>
                </a:extLst>
              </p:cNvPr>
              <p:cNvSpPr/>
              <p:nvPr/>
            </p:nvSpPr>
            <p:spPr>
              <a:xfrm>
                <a:off x="2060153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5526F33-3062-795E-2223-90FC42CB12BA}"/>
                  </a:ext>
                </a:extLst>
              </p:cNvPr>
              <p:cNvSpPr/>
              <p:nvPr/>
            </p:nvSpPr>
            <p:spPr>
              <a:xfrm>
                <a:off x="2571009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7203A5D2-380A-7904-9E09-B590384FA5C8}"/>
                  </a:ext>
                </a:extLst>
              </p:cNvPr>
              <p:cNvSpPr/>
              <p:nvPr/>
            </p:nvSpPr>
            <p:spPr>
              <a:xfrm>
                <a:off x="3081865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335A8F72-9FAD-48B0-BA01-672829AC475E}"/>
                  </a:ext>
                </a:extLst>
              </p:cNvPr>
              <p:cNvSpPr/>
              <p:nvPr/>
            </p:nvSpPr>
            <p:spPr>
              <a:xfrm>
                <a:off x="3592721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B236FD4C-9396-09DB-7854-B9CD0A11D2AF}"/>
                  </a:ext>
                </a:extLst>
              </p:cNvPr>
              <p:cNvSpPr/>
              <p:nvPr/>
            </p:nvSpPr>
            <p:spPr>
              <a:xfrm>
                <a:off x="4103577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32F1A3D-29CC-A483-188A-A4CA29574BA3}"/>
                  </a:ext>
                </a:extLst>
              </p:cNvPr>
              <p:cNvSpPr/>
              <p:nvPr/>
            </p:nvSpPr>
            <p:spPr>
              <a:xfrm>
                <a:off x="4614433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E5A29D8F-D1D7-32F8-009C-3A88A1E9D415}"/>
                  </a:ext>
                </a:extLst>
              </p:cNvPr>
              <p:cNvSpPr/>
              <p:nvPr/>
            </p:nvSpPr>
            <p:spPr>
              <a:xfrm>
                <a:off x="5125289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BDDAE659-430C-73CC-FA7D-480673A4694F}"/>
                  </a:ext>
                </a:extLst>
              </p:cNvPr>
              <p:cNvSpPr/>
              <p:nvPr/>
            </p:nvSpPr>
            <p:spPr>
              <a:xfrm>
                <a:off x="5636145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7999BB06-A737-C587-EE2D-A5E0C9479FC8}"/>
                  </a:ext>
                </a:extLst>
              </p:cNvPr>
              <p:cNvSpPr/>
              <p:nvPr/>
            </p:nvSpPr>
            <p:spPr>
              <a:xfrm>
                <a:off x="6147001" y="2548656"/>
                <a:ext cx="422313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87FA08F-ACD0-7E5B-7056-A98DCDF97120}"/>
                  </a:ext>
                </a:extLst>
              </p:cNvPr>
              <p:cNvSpPr/>
              <p:nvPr/>
            </p:nvSpPr>
            <p:spPr>
              <a:xfrm>
                <a:off x="6597227" y="2556449"/>
                <a:ext cx="543566" cy="462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CD7AC5-0BDA-1064-4DA4-C64A168A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The FAR-Trans benchmarking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15AA8-81FE-97A9-60BF-CC74A9A11B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</p:spTree>
    <p:extLst>
      <p:ext uri="{BB962C8B-B14F-4D97-AF65-F5344CB8AC3E}">
        <p14:creationId xmlns:p14="http://schemas.microsoft.com/office/powerpoint/2010/main" val="169625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FA86-BCA6-2035-5FFA-35F53267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91F343-41FD-A9CE-D076-F2A66C2778F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30936" y="1417319"/>
                <a:ext cx="7882127" cy="2794848"/>
              </a:xfrm>
            </p:spPr>
            <p:txBody>
              <a:bodyPr wrap="square">
                <a:normAutofit/>
              </a:bodyPr>
              <a:lstStyle/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sz="1400" dirty="0">
                    <a:solidFill>
                      <a:srgbClr val="0E2841"/>
                    </a:solidFill>
                  </a:rPr>
                  <a:t>Benchmarked against 11 machine learning approaches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sz="1400" dirty="0">
                    <a:solidFill>
                      <a:srgbClr val="0E2841"/>
                    </a:solidFill>
                    <a:latin typeface="Arial"/>
                  </a:rPr>
                  <a:t>Evaluated on (1) ranking accuracy and </a:t>
                </a:r>
                <a:r>
                  <a:rPr lang="en-SG" sz="1400" b="1" dirty="0">
                    <a:solidFill>
                      <a:srgbClr val="0E2841"/>
                    </a:solidFill>
                    <a:latin typeface="Arial"/>
                  </a:rPr>
                  <a:t>(2) realised return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sz="1400" dirty="0">
                    <a:solidFill>
                      <a:srgbClr val="0E2841"/>
                    </a:solidFill>
                    <a:latin typeface="Arial"/>
                  </a:rPr>
                  <a:t>For realised return, </a:t>
                </a:r>
                <a:r>
                  <a:rPr lang="en-SG" sz="1400" b="1" dirty="0">
                    <a:solidFill>
                      <a:srgbClr val="0E2841"/>
                    </a:solidFill>
                    <a:latin typeface="Arial"/>
                  </a:rPr>
                  <a:t>Return on Investment (</a:t>
                </a:r>
                <a:r>
                  <a:rPr lang="en-SG" sz="1400" b="1" dirty="0">
                    <a:solidFill>
                      <a:srgbClr val="0E2841"/>
                    </a:solidFill>
                  </a:rPr>
                  <a:t>ROI</a:t>
                </a:r>
                <a:r>
                  <a:rPr lang="en-SG" sz="1400" b="1" dirty="0">
                    <a:solidFill>
                      <a:srgbClr val="0E2841"/>
                    </a:solidFill>
                    <a:latin typeface="Arial"/>
                  </a:rPr>
                  <a:t>@10) </a:t>
                </a:r>
                <a:r>
                  <a:rPr lang="en-SG" sz="1400" dirty="0">
                    <a:solidFill>
                      <a:srgbClr val="0E2841"/>
                    </a:solidFill>
                    <a:latin typeface="Arial"/>
                  </a:rPr>
                  <a:t>was used</a:t>
                </a:r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endParaRPr lang="en-SG" sz="1400" dirty="0">
                  <a:solidFill>
                    <a:srgbClr val="0E2841"/>
                  </a:solidFill>
                  <a:latin typeface="Arial"/>
                </a:endParaRPr>
              </a:p>
              <a:p>
                <a:pPr marL="228600" indent="0"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400" i="1">
                          <a:latin typeface="Cambria Math" panose="02040503050406030204" pitchFamily="18" charset="0"/>
                        </a:rPr>
                        <m:t>𝑅𝑂</m:t>
                      </m:r>
                      <m:sSub>
                        <m:sSubPr>
                          <m:ctrlPr>
                            <a:rPr lang="en-SG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1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SG" sz="1400" i="1">
                              <a:latin typeface="Cambria Math" panose="02040503050406030204" pitchFamily="18" charset="0"/>
                            </a:rPr>
                            <m:t>𝑚𝑜𝑛𝑡h</m:t>
                          </m:r>
                        </m:sub>
                      </m:sSub>
                      <m:r>
                        <a:rPr lang="en-SG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SG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SG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𝑃𝑟𝑖𝑐</m:t>
                                  </m:r>
                                  <m:sSub>
                                    <m:sSubPr>
                                      <m:ctrlP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𝑒𝑛𝑑</m:t>
                                      </m:r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𝑃𝑟𝑖𝑐</m:t>
                                  </m:r>
                                  <m:sSub>
                                    <m:sSubPr>
                                      <m:ctrlP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𝑠𝑡𝑎𝑟𝑡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𝑃𝑟𝑖𝑐</m:t>
                                  </m:r>
                                  <m:sSub>
                                    <m:sSubPr>
                                      <m:ctrlP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𝑠𝑡𝑎𝑟𝑡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SG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1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num>
                            <m:den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SG" sz="1400" i="1">
                                  <a:latin typeface="Cambria Math" panose="02040503050406030204" pitchFamily="18" charset="0"/>
                                </a:rPr>
                                <m:t>166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 (5.5 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𝑚𝑜𝑛𝑡h𝑠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1400" dirty="0"/>
              </a:p>
              <a:p>
                <a:pPr marL="228600" indent="0">
                  <a:spcBef>
                    <a:spcPts val="200"/>
                  </a:spcBef>
                  <a:spcAft>
                    <a:spcPts val="600"/>
                  </a:spcAft>
                  <a:buNone/>
                </a:pPr>
                <a:br>
                  <a:rPr lang="en-GB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400" i="1">
                          <a:latin typeface="Cambria Math" panose="02040503050406030204" pitchFamily="18" charset="0"/>
                        </a:rPr>
                        <m:t>𝑅𝑂𝐼</m:t>
                      </m:r>
                      <m:r>
                        <a:rPr lang="en-SG" sz="1400" i="1">
                          <a:latin typeface="Cambria Math" panose="02040503050406030204" pitchFamily="18" charset="0"/>
                        </a:rPr>
                        <m:t>@10=</m:t>
                      </m:r>
                      <m:f>
                        <m:fPr>
                          <m:ctrlPr>
                            <a:rPr lang="en-SG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SG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𝑠𝑠𝑒𝑡</m:t>
                                  </m:r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,   </m:t>
                                  </m:r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  <m:e>
                                  <m:r>
                                    <a:rPr lang="en-SG" sz="1400" i="1">
                                      <a:latin typeface="Cambria Math" panose="02040503050406030204" pitchFamily="18" charset="0"/>
                                    </a:rPr>
                                    <m:t>𝑅𝑂</m:t>
                                  </m:r>
                                  <m:sSub>
                                    <m:sSubPr>
                                      <m:ctrlP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SG" sz="1400" i="1">
                                          <a:latin typeface="Cambria Math" panose="02040503050406030204" pitchFamily="18" charset="0"/>
                                        </a:rPr>
                                        <m:t>𝑚𝑜𝑛𝑡h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en-SG" sz="14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SG" sz="1400" dirty="0"/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endParaRPr lang="en-SG" sz="1400" dirty="0"/>
              </a:p>
              <a:p>
                <a:pPr>
                  <a:spcBef>
                    <a:spcPts val="200"/>
                  </a:spcBef>
                  <a:spcAft>
                    <a:spcPts val="600"/>
                  </a:spcAft>
                </a:pPr>
                <a:endParaRPr lang="en-SG" sz="1400" dirty="0">
                  <a:solidFill>
                    <a:srgbClr val="0E2841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F91F343-41FD-A9CE-D076-F2A66C277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30936" y="1417319"/>
                <a:ext cx="7882127" cy="2794848"/>
              </a:xfrm>
              <a:blipFill>
                <a:blip r:embed="rId3"/>
                <a:stretch>
                  <a:fillRect t="-4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E36BD14-5BCB-F9EC-B9BC-D59BC659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The FAR-Trans benchmarking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CA594-31AB-3835-90D9-F1E561586E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</p:spTree>
    <p:extLst>
      <p:ext uri="{BB962C8B-B14F-4D97-AF65-F5344CB8AC3E}">
        <p14:creationId xmlns:p14="http://schemas.microsoft.com/office/powerpoint/2010/main" val="218414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Filling in the missing gap of risk suitability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1060634"/>
          </a:xfrm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400" b="0" dirty="0">
                <a:solidFill>
                  <a:srgbClr val="202020"/>
                </a:solidFill>
                <a:latin typeface="Arial"/>
              </a:rPr>
              <a:t>Current gap: </a:t>
            </a:r>
            <a:r>
              <a:rPr lang="en-SG" sz="1400" dirty="0">
                <a:solidFill>
                  <a:srgbClr val="202020"/>
                </a:solidFill>
                <a:latin typeface="Arial"/>
              </a:rPr>
              <a:t>Risk suitability </a:t>
            </a:r>
            <a:r>
              <a:rPr lang="en-SG" sz="1400" b="0" dirty="0">
                <a:solidFill>
                  <a:srgbClr val="202020"/>
                </a:solidFill>
                <a:latin typeface="Arial"/>
              </a:rPr>
              <a:t>is not evaluated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400" dirty="0">
                <a:solidFill>
                  <a:srgbClr val="202020"/>
                </a:solidFill>
              </a:rPr>
              <a:t>Existing Work: Post-hoc re-ranking of recommendations to adjust for risk </a:t>
            </a:r>
            <a:r>
              <a:rPr lang="en-SG" sz="1400" baseline="30000" dirty="0">
                <a:solidFill>
                  <a:srgbClr val="202020"/>
                </a:solidFill>
              </a:rPr>
              <a:t>[1]</a:t>
            </a:r>
            <a:endParaRPr lang="en-SG" sz="1400" b="0" dirty="0">
              <a:solidFill>
                <a:srgbClr val="202020"/>
              </a:solidFill>
              <a:latin typeface="Arial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sz="1400" b="1" dirty="0">
                <a:solidFill>
                  <a:srgbClr val="202020"/>
                </a:solidFill>
                <a:latin typeface="Arial"/>
              </a:rPr>
              <a:t>3 contributions:</a:t>
            </a:r>
            <a:endParaRPr lang="en-SG" sz="1400" b="1" baseline="3000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556D6-7EC0-7A6B-6974-5B3AA3D937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03445-E7FF-CB50-6438-61C382CF9229}"/>
              </a:ext>
            </a:extLst>
          </p:cNvPr>
          <p:cNvSpPr txBox="1"/>
          <p:nvPr/>
        </p:nvSpPr>
        <p:spPr>
          <a:xfrm>
            <a:off x="2135996" y="4551819"/>
            <a:ext cx="51280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800" i="1" dirty="0"/>
              <a:t>[1] Sakurai et al., Risk-Aware Utility Re-Ranking for Financial Asset Recommendation (RURA), WSDM '26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E5AE26-E952-312A-237D-069B3A6F4823}"/>
              </a:ext>
            </a:extLst>
          </p:cNvPr>
          <p:cNvGrpSpPr/>
          <p:nvPr/>
        </p:nvGrpSpPr>
        <p:grpSpPr>
          <a:xfrm>
            <a:off x="811754" y="2477953"/>
            <a:ext cx="2343684" cy="1127294"/>
            <a:chOff x="431800" y="2477954"/>
            <a:chExt cx="2819399" cy="904804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64D454A-5F1B-95BA-194E-2638C34CC784}"/>
                </a:ext>
              </a:extLst>
            </p:cNvPr>
            <p:cNvSpPr/>
            <p:nvPr/>
          </p:nvSpPr>
          <p:spPr>
            <a:xfrm>
              <a:off x="431800" y="2477954"/>
              <a:ext cx="2819399" cy="904804"/>
            </a:xfrm>
            <a:prstGeom prst="roundRect">
              <a:avLst>
                <a:gd name="adj" fmla="val 10408"/>
              </a:avLst>
            </a:prstGeom>
            <a:noFill/>
            <a:ln w="1905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84AD078-8116-ACB3-D47F-FEACA8D25CDD}"/>
                </a:ext>
              </a:extLst>
            </p:cNvPr>
            <p:cNvGrpSpPr/>
            <p:nvPr/>
          </p:nvGrpSpPr>
          <p:grpSpPr>
            <a:xfrm>
              <a:off x="561188" y="2533130"/>
              <a:ext cx="2500588" cy="753447"/>
              <a:chOff x="946422" y="2477954"/>
              <a:chExt cx="2500588" cy="753447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FC398D8-989C-AC13-F48D-60A87340B689}"/>
                  </a:ext>
                </a:extLst>
              </p:cNvPr>
              <p:cNvSpPr/>
              <p:nvPr/>
            </p:nvSpPr>
            <p:spPr>
              <a:xfrm>
                <a:off x="946422" y="2523228"/>
                <a:ext cx="241804" cy="162868"/>
              </a:xfrm>
              <a:prstGeom prst="ellipse">
                <a:avLst/>
              </a:prstGeom>
              <a:solidFill>
                <a:srgbClr val="C6921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1200" dirty="0"/>
                  <a:t>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DE854C-27DB-15F2-C13A-6B5BF965A3D4}"/>
                  </a:ext>
                </a:extLst>
              </p:cNvPr>
              <p:cNvSpPr txBox="1"/>
              <p:nvPr/>
            </p:nvSpPr>
            <p:spPr>
              <a:xfrm>
                <a:off x="1289097" y="2477954"/>
                <a:ext cx="2157913" cy="753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100" b="1" dirty="0"/>
                  <a:t>Analytical Study:</a:t>
                </a:r>
              </a:p>
              <a:p>
                <a:r>
                  <a:rPr lang="en-SG" sz="1100" dirty="0"/>
                  <a:t>Measure of dis-coherence (mismatch of purchased asset to customer’s risk band)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233F3FA-7BB1-9B90-3F32-55E75D31CF67}"/>
              </a:ext>
            </a:extLst>
          </p:cNvPr>
          <p:cNvGrpSpPr/>
          <p:nvPr/>
        </p:nvGrpSpPr>
        <p:grpSpPr>
          <a:xfrm>
            <a:off x="3387611" y="2477954"/>
            <a:ext cx="2343684" cy="1127294"/>
            <a:chOff x="431800" y="2477955"/>
            <a:chExt cx="2819399" cy="90480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3887AB0-9766-26E6-7FBA-9EB22F16887F}"/>
                </a:ext>
              </a:extLst>
            </p:cNvPr>
            <p:cNvSpPr/>
            <p:nvPr/>
          </p:nvSpPr>
          <p:spPr>
            <a:xfrm>
              <a:off x="431800" y="2477955"/>
              <a:ext cx="2819399" cy="904804"/>
            </a:xfrm>
            <a:prstGeom prst="roundRect">
              <a:avLst>
                <a:gd name="adj" fmla="val 10408"/>
              </a:avLst>
            </a:prstGeom>
            <a:noFill/>
            <a:ln w="1905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C3E8CCB-5664-7ADE-62D6-A5105EE2A946}"/>
                </a:ext>
              </a:extLst>
            </p:cNvPr>
            <p:cNvGrpSpPr/>
            <p:nvPr/>
          </p:nvGrpSpPr>
          <p:grpSpPr>
            <a:xfrm>
              <a:off x="561188" y="2533130"/>
              <a:ext cx="2500588" cy="617579"/>
              <a:chOff x="946422" y="2477954"/>
              <a:chExt cx="2500588" cy="617579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82324D8-E010-6BFE-2007-6939CAF84D61}"/>
                  </a:ext>
                </a:extLst>
              </p:cNvPr>
              <p:cNvSpPr/>
              <p:nvPr/>
            </p:nvSpPr>
            <p:spPr>
              <a:xfrm>
                <a:off x="946422" y="2523228"/>
                <a:ext cx="241804" cy="162868"/>
              </a:xfrm>
              <a:prstGeom prst="ellipse">
                <a:avLst/>
              </a:prstGeom>
              <a:solidFill>
                <a:srgbClr val="C6921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/>
                  <a:t>2</a:t>
                </a:r>
                <a:endParaRPr lang="en-SG" sz="12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109B2-CA64-3B1D-8994-8CCC446DE411}"/>
                  </a:ext>
                </a:extLst>
              </p:cNvPr>
              <p:cNvSpPr txBox="1"/>
              <p:nvPr/>
            </p:nvSpPr>
            <p:spPr>
              <a:xfrm>
                <a:off x="1289097" y="2477954"/>
                <a:ext cx="2157913" cy="617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100" b="1" dirty="0"/>
                  <a:t>Methodology</a:t>
                </a:r>
              </a:p>
              <a:p>
                <a:r>
                  <a:rPr lang="en-SG" sz="1100" dirty="0"/>
                  <a:t>Risk-based segmentation LightGCN modelling with 2 extra extensions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DFE12C-9DD5-3710-EE34-18DEB2C156ED}"/>
              </a:ext>
            </a:extLst>
          </p:cNvPr>
          <p:cNvGrpSpPr/>
          <p:nvPr/>
        </p:nvGrpSpPr>
        <p:grpSpPr>
          <a:xfrm>
            <a:off x="5963468" y="2477954"/>
            <a:ext cx="2343684" cy="1127292"/>
            <a:chOff x="431800" y="2477954"/>
            <a:chExt cx="2819399" cy="90480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586AE49-31C4-4B7D-2740-2ABCB88D2545}"/>
                </a:ext>
              </a:extLst>
            </p:cNvPr>
            <p:cNvSpPr/>
            <p:nvPr/>
          </p:nvSpPr>
          <p:spPr>
            <a:xfrm>
              <a:off x="431800" y="2477954"/>
              <a:ext cx="2819399" cy="904802"/>
            </a:xfrm>
            <a:prstGeom prst="roundRect">
              <a:avLst>
                <a:gd name="adj" fmla="val 10408"/>
              </a:avLst>
            </a:prstGeom>
            <a:noFill/>
            <a:ln w="1905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4D7F8E-EDD2-9DFE-AE49-8035360F8B22}"/>
                </a:ext>
              </a:extLst>
            </p:cNvPr>
            <p:cNvGrpSpPr/>
            <p:nvPr/>
          </p:nvGrpSpPr>
          <p:grpSpPr>
            <a:xfrm>
              <a:off x="561188" y="2533130"/>
              <a:ext cx="2500588" cy="753446"/>
              <a:chOff x="946422" y="2477954"/>
              <a:chExt cx="2500588" cy="75344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C0568FC-F8C3-46B5-3E8E-535A9FF7733B}"/>
                  </a:ext>
                </a:extLst>
              </p:cNvPr>
              <p:cNvSpPr/>
              <p:nvPr/>
            </p:nvSpPr>
            <p:spPr>
              <a:xfrm>
                <a:off x="946422" y="2523228"/>
                <a:ext cx="241804" cy="162868"/>
              </a:xfrm>
              <a:prstGeom prst="ellipse">
                <a:avLst/>
              </a:prstGeom>
              <a:solidFill>
                <a:srgbClr val="C6921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dirty="0"/>
                  <a:t>3</a:t>
                </a:r>
                <a:endParaRPr lang="en-SG" sz="12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CCE2C5-239B-11C5-7605-CD952274AFF7}"/>
                  </a:ext>
                </a:extLst>
              </p:cNvPr>
              <p:cNvSpPr txBox="1"/>
              <p:nvPr/>
            </p:nvSpPr>
            <p:spPr>
              <a:xfrm>
                <a:off x="1289097" y="2477954"/>
                <a:ext cx="2157913" cy="753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1100" b="1" dirty="0"/>
                  <a:t>Experimental Study:</a:t>
                </a:r>
              </a:p>
              <a:p>
                <a:r>
                  <a:rPr lang="en-SG" sz="1100" dirty="0"/>
                  <a:t>Ablation studies over 2 baseline models, evaluated on accuracy, returns and risk suitability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Analytical </a:t>
            </a:r>
            <a:r>
              <a:rPr lang="en-SG" b="1" dirty="0"/>
              <a:t>Study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FAR-Trans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Measuring Risk Suitability: Profile Coherence</a:t>
            </a:r>
            <a:endParaRPr sz="2000" b="1" dirty="0">
              <a:solidFill>
                <a:srgbClr val="15608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02920" y="1325880"/>
                <a:ext cx="8138160" cy="3347720"/>
              </a:xfrm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0E2841"/>
                    </a:solidFill>
                  </a:rPr>
                  <a:t>For customers, use existing customer’s risk band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>
                    <a:solidFill>
                      <a:srgbClr val="0E2841"/>
                    </a:solidFill>
                  </a:rPr>
                  <a:t>:</a:t>
                </a:r>
              </a:p>
              <a:p>
                <a:pPr marL="971550" lvl="1" indent="-285750"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SG" sz="1200" dirty="0">
                    <a:solidFill>
                      <a:srgbClr val="0E2841"/>
                    </a:solidFill>
                  </a:rPr>
                  <a:t>Ordinal scale of 0 to 3 mapped to Conservative, Income, Balanced and Aggressive</a:t>
                </a:r>
                <a:endParaRPr lang="en-SG" sz="1200" b="1" dirty="0">
                  <a:solidFill>
                    <a:srgbClr val="0E2841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202020"/>
                    </a:solidFill>
                  </a:rPr>
                  <a:t>For </a:t>
                </a:r>
                <a:r>
                  <a:rPr lang="en-SG" dirty="0">
                    <a:solidFill>
                      <a:srgbClr val="0E2841"/>
                    </a:solidFill>
                  </a:rPr>
                  <a:t>assets,</a:t>
                </a:r>
                <a:r>
                  <a:rPr lang="en-SG" dirty="0">
                    <a:solidFill>
                      <a:srgbClr val="202020"/>
                    </a:solidFill>
                  </a:rPr>
                  <a:t> </a:t>
                </a:r>
                <a:r>
                  <a:rPr lang="en-SG" b="0" dirty="0">
                    <a:solidFill>
                      <a:srgbClr val="202020"/>
                    </a:solidFill>
                  </a:rPr>
                  <a:t>we apply a </a:t>
                </a:r>
                <a:r>
                  <a:rPr lang="en-SG" dirty="0">
                    <a:solidFill>
                      <a:srgbClr val="0E2841"/>
                    </a:solidFill>
                  </a:rPr>
                  <a:t>3-step hierarchical heuristic</a:t>
                </a:r>
                <a:r>
                  <a:rPr lang="en-SG" dirty="0">
                    <a:solidFill>
                      <a:srgbClr val="202020"/>
                    </a:solidFill>
                  </a:rPr>
                  <a:t> to map each asset to a band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rgbClr val="202020"/>
                    </a:solidFill>
                  </a:rPr>
                  <a:t>)</a:t>
                </a:r>
              </a:p>
              <a:p>
                <a:pPr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202020"/>
                    </a:solidFill>
                  </a:rPr>
                  <a:t>For a given customer (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SG" dirty="0">
                    <a:solidFill>
                      <a:srgbClr val="202020"/>
                    </a:solidFill>
                  </a:rPr>
                  <a:t>) and purchased/recommended asset (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SG" dirty="0">
                    <a:solidFill>
                      <a:srgbClr val="202020"/>
                    </a:solidFill>
                  </a:rPr>
                  <a:t>):</a:t>
                </a:r>
              </a:p>
              <a:p>
                <a:pPr marL="228600" indent="0"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Pairwise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discordance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S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SG" dirty="0"/>
              </a:p>
              <a:p>
                <a:pPr marL="228600" indent="0"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Coherent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pair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SG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SG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SG" dirty="0">
                  <a:solidFill>
                    <a:srgbClr val="20202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202020"/>
                    </a:solidFill>
                  </a:rPr>
                  <a:t>Following this, </a:t>
                </a:r>
                <a:r>
                  <a:rPr lang="en-SG" b="1" dirty="0">
                    <a:solidFill>
                      <a:srgbClr val="202020"/>
                    </a:solidFill>
                  </a:rPr>
                  <a:t>Profile Coherence </a:t>
                </a:r>
                <a:r>
                  <a:rPr lang="en-SG" dirty="0">
                    <a:solidFill>
                      <a:srgbClr val="202020"/>
                    </a:solidFill>
                  </a:rPr>
                  <a:t>metric</a:t>
                </a:r>
                <a:r>
                  <a:rPr lang="en-SG" b="1" dirty="0">
                    <a:solidFill>
                      <a:srgbClr val="202020"/>
                    </a:solidFill>
                  </a:rPr>
                  <a:t> </a:t>
                </a:r>
                <a:r>
                  <a:rPr lang="en-SG" dirty="0">
                    <a:solidFill>
                      <a:srgbClr val="202020"/>
                    </a:solidFill>
                  </a:rPr>
                  <a:t>defined as:</a:t>
                </a:r>
              </a:p>
              <a:p>
                <a:pPr marL="228600" indent="0"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SG" i="1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SG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coherent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SG">
                          <a:latin typeface="Cambria Math" panose="02040503050406030204" pitchFamily="18" charset="0"/>
                        </a:rPr>
                        <m:t>pairs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SG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SG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02920" y="1325880"/>
                <a:ext cx="8138160" cy="334772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B0231-C5F0-C8D0-AD04-F0F9AE1809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Discordance is prevalent</a:t>
            </a:r>
            <a:r>
              <a:rPr lang="en-SG" sz="2000" b="1" dirty="0">
                <a:solidFill>
                  <a:srgbClr val="156082"/>
                </a:solidFill>
              </a:rPr>
              <a:t> </a:t>
            </a:r>
            <a:r>
              <a:rPr lang="en-GB" sz="2000" dirty="0">
                <a:solidFill>
                  <a:srgbClr val="156082"/>
                </a:solidFill>
              </a:rPr>
              <a:t>and it is a customer-level trait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12165-9E5D-094E-F3AC-AB81D53FB7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p:pic>
        <p:nvPicPr>
          <p:cNvPr id="9" name="Picture 8" descr="self_discordance.png">
            <a:extLst>
              <a:ext uri="{FF2B5EF4-FFF2-40B4-BE49-F238E27FC236}">
                <a16:creationId xmlns:a16="http://schemas.microsoft.com/office/drawing/2014/main" id="{1AE00C0E-945A-6E90-4BE9-4FAE7EEAF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55" y="1843120"/>
            <a:ext cx="4953090" cy="277768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0D524-0E32-D5AA-DEDA-3F9E58703C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2920" y="1325880"/>
            <a:ext cx="8138160" cy="2194560"/>
          </a:xfrm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sz="1400" dirty="0">
                <a:solidFill>
                  <a:srgbClr val="0E2841"/>
                </a:solidFill>
              </a:rPr>
              <a:t>Additionally, a Hartigan's dip test, p &lt; 10⁻¹⁵ rejects unimodality</a:t>
            </a:r>
            <a:endParaRPr lang="en-SG" sz="1200" dirty="0">
              <a:solidFill>
                <a:srgbClr val="202020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SG" sz="1400" dirty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dirty="0">
                <a:solidFill>
                  <a:srgbClr val="156082"/>
                </a:solidFill>
              </a:rPr>
              <a:t>Discordance is n</a:t>
            </a:r>
            <a:r>
              <a:rPr sz="2000" b="1" dirty="0" err="1">
                <a:solidFill>
                  <a:srgbClr val="156082"/>
                </a:solidFill>
              </a:rPr>
              <a:t>ot</a:t>
            </a:r>
            <a:r>
              <a:rPr sz="2000" b="1" dirty="0">
                <a:solidFill>
                  <a:srgbClr val="156082"/>
                </a:solidFill>
              </a:rPr>
              <a:t> a single-year artefact</a:t>
            </a:r>
          </a:p>
        </p:txBody>
      </p:sp>
      <p:pic>
        <p:nvPicPr>
          <p:cNvPr id="4" name="Picture 3" descr="yearly_discor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102" y="1316736"/>
            <a:ext cx="5573796" cy="307928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08E04-226E-8626-1514-1B070233C8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Regression Study</a:t>
            </a:r>
            <a:endParaRPr sz="2000" b="1" dirty="0">
              <a:solidFill>
                <a:srgbClr val="15608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02920" y="1325879"/>
                <a:ext cx="8138160" cy="3441383"/>
              </a:xfrm>
            </p:spPr>
            <p:txBody>
              <a:bodyPr wrap="square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sz="1400" b="0" dirty="0">
                    <a:solidFill>
                      <a:srgbClr val="202020"/>
                    </a:solidFill>
                  </a:rPr>
                  <a:t>Transaction-level </a:t>
                </a:r>
                <a:r>
                  <a:rPr lang="en-GB" sz="1400" b="1" dirty="0">
                    <a:solidFill>
                      <a:srgbClr val="0E2841"/>
                    </a:solidFill>
                  </a:rPr>
                  <a:t>OLS</a:t>
                </a:r>
                <a:r>
                  <a:rPr lang="en-GB" sz="1400" b="0" dirty="0">
                    <a:solidFill>
                      <a:srgbClr val="202020"/>
                    </a:solidFill>
                  </a:rPr>
                  <a:t> with </a:t>
                </a:r>
                <a:r>
                  <a:rPr lang="en-GB" sz="1400" dirty="0">
                    <a:solidFill>
                      <a:srgbClr val="202020"/>
                    </a:solidFill>
                  </a:rPr>
                  <a:t>2-</a:t>
                </a:r>
                <a:r>
                  <a:rPr lang="en-GB" sz="1400" b="0" dirty="0">
                    <a:solidFill>
                      <a:srgbClr val="202020"/>
                    </a:solidFill>
                  </a:rPr>
                  <a:t>sided </a:t>
                </a:r>
                <a:r>
                  <a:rPr lang="en-GB" sz="1400" dirty="0"/>
                  <a:t>hypothesis test (</a:t>
                </a:r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SG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GB" sz="1400" dirty="0"/>
                  <a:t>), clustered at customer level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sz="1400" dirty="0"/>
                  <a:t>For each term,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4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SG" sz="1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400" dirty="0"/>
                  <a:t>(coefficient = 0) implies no conditional effect on the realised return</a:t>
                </a:r>
              </a:p>
              <a:p>
                <a:pPr marL="971550" lvl="1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GB" sz="1400" dirty="0"/>
              </a:p>
              <a:p>
                <a:pPr marL="971550" lvl="1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GB" sz="1400" dirty="0"/>
              </a:p>
              <a:p>
                <a:pPr marL="971550" lvl="1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GB" sz="1400" dirty="0"/>
              </a:p>
              <a:p>
                <a:pPr marL="685800" lvl="1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GB" sz="1400" dirty="0"/>
              </a:p>
              <a:p>
                <a:pPr marL="514350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sz="1400" dirty="0">
                    <a:solidFill>
                      <a:srgbClr val="202020"/>
                    </a:solidFill>
                  </a:rPr>
                  <a:t>Raw return gap (difference between coherent and </a:t>
                </a:r>
                <a:r>
                  <a:rPr lang="en-GB" sz="1400" dirty="0" err="1">
                    <a:solidFill>
                      <a:srgbClr val="202020"/>
                    </a:solidFill>
                  </a:rPr>
                  <a:t>discoherent</a:t>
                </a:r>
                <a:r>
                  <a:rPr lang="en-GB" sz="1400" dirty="0">
                    <a:solidFill>
                      <a:srgbClr val="202020"/>
                    </a:solidFill>
                  </a:rPr>
                  <a:t> buys): +3.31 pp</a:t>
                </a:r>
              </a:p>
              <a:p>
                <a:pPr marL="514350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=0.0294</m:t>
                    </m:r>
                  </m:oMath>
                </a14:m>
                <a:r>
                  <a:rPr lang="en-GB" sz="1400" dirty="0">
                    <a:solidFill>
                      <a:srgbClr val="202020"/>
                    </a:solidFill>
                  </a:rPr>
                  <a:t>: Implies controls absorb only ~11% of the raw gap</a:t>
                </a:r>
              </a:p>
              <a:p>
                <a:pPr marL="514350" indent="-28575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dirty="0" smtClean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dirty="0" smtClean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sz="1400" b="0" i="1" dirty="0" smtClean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</a:rPr>
                          <m:t>𝑐𝑜h𝑒𝑟𝑒𝑛𝑐𝑒</m:t>
                        </m:r>
                      </m:sub>
                    </m:sSub>
                    <m:r>
                      <a:rPr lang="en-GB" sz="1400" b="0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1400" b="0" i="1" dirty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2.3×</m:t>
                    </m:r>
                    <m:sSup>
                      <m:sSupPr>
                        <m:ctrlPr>
                          <a:rPr lang="en-GB" sz="1400" b="0" i="1" dirty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dirty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1400" b="0" i="1" dirty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</a:rPr>
                          <m:t>−13</m:t>
                        </m:r>
                      </m:sup>
                    </m:sSup>
                  </m:oMath>
                </a14:m>
                <a:r>
                  <a:rPr lang="en-GB" sz="1400" dirty="0">
                    <a:solidFill>
                      <a:srgbClr val="202020"/>
                    </a:solidFill>
                  </a:rPr>
                  <a:t>, hence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SG" sz="1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1400" b="1" dirty="0">
                  <a:solidFill>
                    <a:srgbClr val="156082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sz="1400" b="0" dirty="0">
                  <a:solidFill>
                    <a:srgbClr val="202020"/>
                  </a:solidFill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02920" y="1325879"/>
                <a:ext cx="8138160" cy="344138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1AFF36-32C6-6036-BC39-4540982FD4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AAF96B-0190-E1A1-B8CF-C02F9CB21434}"/>
              </a:ext>
            </a:extLst>
          </p:cNvPr>
          <p:cNvGrpSpPr/>
          <p:nvPr/>
        </p:nvGrpSpPr>
        <p:grpSpPr>
          <a:xfrm>
            <a:off x="2392056" y="2094470"/>
            <a:ext cx="4923790" cy="900647"/>
            <a:chOff x="2713143" y="2389123"/>
            <a:chExt cx="4923790" cy="9006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7F87817-58B0-99CC-06AA-481C523B0233}"/>
                    </a:ext>
                  </a:extLst>
                </p:cNvPr>
                <p:cNvSpPr txBox="1"/>
                <p:nvPr/>
              </p:nvSpPr>
              <p:spPr>
                <a:xfrm>
                  <a:off x="2713143" y="2389123"/>
                  <a:ext cx="492379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𝑅𝑒𝑎𝑙𝑖𝑠𝑒𝑑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𝑟𝑒𝑡𝑢𝑟𝑛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sSub>
                          <m:sSubPr>
                            <m:ctrlP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𝑐𝑜h𝑒𝑟𝑒𝑛𝑡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𝑣𝑜𝑙𝑎𝑡𝑖𝑙𝑖𝑡</m:t>
                        </m:r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𝑎𝑠𝑠𝑒𝑡</m:t>
                            </m:r>
                          </m:sub>
                        </m:sSub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SG" dirty="0"/>
                </a:p>
                <a:p>
                  <a:endParaRPr lang="en-SG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7F87817-58B0-99CC-06AA-481C523B0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3143" y="2389123"/>
                  <a:ext cx="4923790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2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19F8891-3010-4A2C-0ABD-B951CAF77FCE}"/>
                    </a:ext>
                  </a:extLst>
                </p:cNvPr>
                <p:cNvSpPr txBox="1"/>
                <p:nvPr/>
              </p:nvSpPr>
              <p:spPr>
                <a:xfrm>
                  <a:off x="4106756" y="2649931"/>
                  <a:ext cx="2324100" cy="3401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𝑐𝑢𝑠𝑡𝑜𝑚𝑒</m:t>
                            </m:r>
                            <m:sSub>
                              <m:sSubPr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𝑡𝑦𝑝𝑒</m:t>
                                </m:r>
                              </m:sub>
                            </m:sSub>
                          </m:e>
                        </m:d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19F8891-3010-4A2C-0ABD-B951CAF77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6756" y="2649931"/>
                  <a:ext cx="2324100" cy="340158"/>
                </a:xfrm>
                <a:prstGeom prst="rect">
                  <a:avLst/>
                </a:prstGeom>
                <a:blipFill>
                  <a:blip r:embed="rId5"/>
                  <a:stretch>
                    <a:fillRect b="-178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8F32BBD-8187-593E-DFCB-616AE6E18A01}"/>
                    </a:ext>
                  </a:extLst>
                </p:cNvPr>
                <p:cNvSpPr txBox="1"/>
                <p:nvPr/>
              </p:nvSpPr>
              <p:spPr>
                <a:xfrm>
                  <a:off x="4115222" y="2981993"/>
                  <a:ext cx="230716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𝑦𝑒𝑎𝑟</m:t>
                            </m:r>
                          </m:e>
                        </m:d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8F32BBD-8187-593E-DFCB-616AE6E18A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5222" y="2981993"/>
                  <a:ext cx="2307167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Methodology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SG" sz="1800" dirty="0"/>
              <a:t>Risk-based Segmentation </a:t>
            </a:r>
            <a:r>
              <a:rPr lang="en-SG" sz="1800" dirty="0" err="1"/>
              <a:t>Modeling</a:t>
            </a:r>
            <a:endParaRPr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F76D-5B17-72DD-0C6B-90085D92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6913-596A-C358-42CD-FA5FB861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LightGCN baseline model – Embedding Based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F84B2-A494-D745-1164-9FCE440222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369CB3-E70B-8BBC-8E06-8839A95C0A80}"/>
              </a:ext>
            </a:extLst>
          </p:cNvPr>
          <p:cNvGrpSpPr/>
          <p:nvPr/>
        </p:nvGrpSpPr>
        <p:grpSpPr>
          <a:xfrm>
            <a:off x="1312002" y="2061049"/>
            <a:ext cx="264237" cy="264237"/>
            <a:chOff x="754056" y="2101530"/>
            <a:chExt cx="264237" cy="26423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EE34CE-CB93-F257-CC81-DF4EA7E14B74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14" name="Graphic 13" descr="User with solid fill">
              <a:extLst>
                <a:ext uri="{FF2B5EF4-FFF2-40B4-BE49-F238E27FC236}">
                  <a16:creationId xmlns:a16="http://schemas.microsoft.com/office/drawing/2014/main" id="{6831296B-3F88-0942-3D14-3CBB281DBC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651EEF-AF21-892A-DBFE-A5AEC442AECD}"/>
              </a:ext>
            </a:extLst>
          </p:cNvPr>
          <p:cNvGrpSpPr/>
          <p:nvPr/>
        </p:nvGrpSpPr>
        <p:grpSpPr>
          <a:xfrm>
            <a:off x="1312002" y="2498542"/>
            <a:ext cx="264237" cy="264237"/>
            <a:chOff x="754056" y="2101530"/>
            <a:chExt cx="264237" cy="26423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88592D1-9C19-8E3E-475D-AE83967A4DB4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C61D551F-82EB-3D74-85C3-4B03EF502D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D2C59C-4FC0-4987-C29A-4F5EE8486D7A}"/>
              </a:ext>
            </a:extLst>
          </p:cNvPr>
          <p:cNvGrpSpPr/>
          <p:nvPr/>
        </p:nvGrpSpPr>
        <p:grpSpPr>
          <a:xfrm>
            <a:off x="1312002" y="2936035"/>
            <a:ext cx="264237" cy="264237"/>
            <a:chOff x="754056" y="2101530"/>
            <a:chExt cx="264237" cy="26423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B92D223-9202-4205-533B-719533FFB665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EF882859-6C9B-D6CF-FBF0-E137D533BB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88A023-D060-D8A5-5ADC-2E86A827C7F9}"/>
              </a:ext>
            </a:extLst>
          </p:cNvPr>
          <p:cNvGrpSpPr/>
          <p:nvPr/>
        </p:nvGrpSpPr>
        <p:grpSpPr>
          <a:xfrm>
            <a:off x="2968415" y="1928930"/>
            <a:ext cx="264237" cy="264237"/>
            <a:chOff x="754056" y="2101530"/>
            <a:chExt cx="264237" cy="26423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BC8416B-6A86-9FE9-FC4F-3A568678D2C6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5B57D2AA-957F-4148-27CB-F53EBF264A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96FE3E-54CF-29B0-B72E-0F1B29956F5B}"/>
              </a:ext>
            </a:extLst>
          </p:cNvPr>
          <p:cNvGrpSpPr/>
          <p:nvPr/>
        </p:nvGrpSpPr>
        <p:grpSpPr>
          <a:xfrm>
            <a:off x="2968415" y="2377380"/>
            <a:ext cx="264237" cy="264237"/>
            <a:chOff x="754056" y="2101530"/>
            <a:chExt cx="264237" cy="26423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7CF01A0-83BA-32CD-C8EA-6DCB29DD4E90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33" name="Graphic 32" descr="Document with solid fill">
              <a:extLst>
                <a:ext uri="{FF2B5EF4-FFF2-40B4-BE49-F238E27FC236}">
                  <a16:creationId xmlns:a16="http://schemas.microsoft.com/office/drawing/2014/main" id="{43726554-4FB5-47C2-1D76-79C33D38DC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68A5BA-C0FC-1164-154D-14FB7646EDED}"/>
              </a:ext>
            </a:extLst>
          </p:cNvPr>
          <p:cNvGrpSpPr/>
          <p:nvPr/>
        </p:nvGrpSpPr>
        <p:grpSpPr>
          <a:xfrm>
            <a:off x="2968415" y="2807875"/>
            <a:ext cx="264237" cy="264237"/>
            <a:chOff x="754056" y="2101530"/>
            <a:chExt cx="264237" cy="26423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0D28464-61A7-6370-70A2-B9FA0B3BF224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39" name="Graphic 38" descr="Document with solid fill">
              <a:extLst>
                <a:ext uri="{FF2B5EF4-FFF2-40B4-BE49-F238E27FC236}">
                  <a16:creationId xmlns:a16="http://schemas.microsoft.com/office/drawing/2014/main" id="{22D04983-AD0A-FAF7-AA9E-E8A0BBEC83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215EFEE-B9D7-C4C8-B20F-83395BBD6C70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 flipV="1">
            <a:off x="1576239" y="2061049"/>
            <a:ext cx="1392176" cy="1321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54AB82-91F7-0C3F-3F04-0717AB02FDF6}"/>
              </a:ext>
            </a:extLst>
          </p:cNvPr>
          <p:cNvCxnSpPr>
            <a:cxnSpLocks/>
            <a:stCxn id="12" idx="6"/>
            <a:endCxn id="32" idx="2"/>
          </p:cNvCxnSpPr>
          <p:nvPr/>
        </p:nvCxnSpPr>
        <p:spPr>
          <a:xfrm>
            <a:off x="1576239" y="2193168"/>
            <a:ext cx="1392176" cy="31633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130F0E6-2AE4-05AD-BE7F-CC0B090BE7A7}"/>
              </a:ext>
            </a:extLst>
          </p:cNvPr>
          <p:cNvCxnSpPr>
            <a:cxnSpLocks/>
            <a:stCxn id="12" idx="6"/>
            <a:endCxn id="38" idx="2"/>
          </p:cNvCxnSpPr>
          <p:nvPr/>
        </p:nvCxnSpPr>
        <p:spPr>
          <a:xfrm>
            <a:off x="1576239" y="2193168"/>
            <a:ext cx="1392176" cy="74682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786A6E-7484-6E5D-3DB8-44473F1477C2}"/>
              </a:ext>
            </a:extLst>
          </p:cNvPr>
          <p:cNvCxnSpPr>
            <a:cxnSpLocks/>
            <a:stCxn id="17" idx="6"/>
            <a:endCxn id="23" idx="2"/>
          </p:cNvCxnSpPr>
          <p:nvPr/>
        </p:nvCxnSpPr>
        <p:spPr>
          <a:xfrm flipV="1">
            <a:off x="1576239" y="2061049"/>
            <a:ext cx="1392176" cy="5696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60D770-3281-0E4C-0B05-AD430F8466D6}"/>
              </a:ext>
            </a:extLst>
          </p:cNvPr>
          <p:cNvCxnSpPr>
            <a:cxnSpLocks/>
            <a:stCxn id="20" idx="6"/>
            <a:endCxn id="38" idx="2"/>
          </p:cNvCxnSpPr>
          <p:nvPr/>
        </p:nvCxnSpPr>
        <p:spPr>
          <a:xfrm flipV="1">
            <a:off x="1576239" y="2939994"/>
            <a:ext cx="1392176" cy="1281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9440F76-BE39-3DEA-A0A2-D9E91E9EB9FB}"/>
              </a:ext>
            </a:extLst>
          </p:cNvPr>
          <p:cNvSpPr txBox="1"/>
          <p:nvPr/>
        </p:nvSpPr>
        <p:spPr>
          <a:xfrm>
            <a:off x="1064575" y="1804113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156082"/>
                </a:solidFill>
              </a:rPr>
              <a:t>Users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A21833-90C9-1310-21AF-212A996D423A}"/>
              </a:ext>
            </a:extLst>
          </p:cNvPr>
          <p:cNvSpPr txBox="1"/>
          <p:nvPr/>
        </p:nvSpPr>
        <p:spPr>
          <a:xfrm>
            <a:off x="2720988" y="1673701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C69213"/>
                </a:solidFill>
              </a:rPr>
              <a:t>Assets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7F5A32-5501-F7B5-DD19-84158D66A94D}"/>
              </a:ext>
            </a:extLst>
          </p:cNvPr>
          <p:cNvSpPr txBox="1"/>
          <p:nvPr/>
        </p:nvSpPr>
        <p:spPr>
          <a:xfrm>
            <a:off x="1054146" y="3242392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156082"/>
                </a:solidFill>
              </a:rPr>
              <a:t>…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80A0B3-6AF2-6CC0-626E-97C9E1457E66}"/>
              </a:ext>
            </a:extLst>
          </p:cNvPr>
          <p:cNvSpPr txBox="1"/>
          <p:nvPr/>
        </p:nvSpPr>
        <p:spPr>
          <a:xfrm>
            <a:off x="2763157" y="3518310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C69213"/>
                </a:solidFill>
              </a:rPr>
              <a:t>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4BBC6A-0FA4-212A-D8B0-A1367E7C5785}"/>
              </a:ext>
            </a:extLst>
          </p:cNvPr>
          <p:cNvSpPr txBox="1"/>
          <p:nvPr/>
        </p:nvSpPr>
        <p:spPr>
          <a:xfrm>
            <a:off x="514576" y="1316736"/>
            <a:ext cx="3441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200" b="1" u="sng" dirty="0">
                <a:solidFill>
                  <a:schemeClr val="tx1"/>
                </a:solidFill>
              </a:rPr>
              <a:t>Bipartite graph of customers and assets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8FC6CB6-9735-3956-4D2E-F484D66D917F}"/>
              </a:ext>
            </a:extLst>
          </p:cNvPr>
          <p:cNvGrpSpPr/>
          <p:nvPr/>
        </p:nvGrpSpPr>
        <p:grpSpPr>
          <a:xfrm>
            <a:off x="2975523" y="3235332"/>
            <a:ext cx="264237" cy="264237"/>
            <a:chOff x="754056" y="2101530"/>
            <a:chExt cx="264237" cy="264237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EEC8F2E-351B-F8B2-581D-E3E88A699D54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78" name="Graphic 77" descr="Document with solid fill">
              <a:extLst>
                <a:ext uri="{FF2B5EF4-FFF2-40B4-BE49-F238E27FC236}">
                  <a16:creationId xmlns:a16="http://schemas.microsoft.com/office/drawing/2014/main" id="{9F5BF7DC-BD6A-DFBA-15FA-8EBB82994A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75FD829-BD51-1FDE-E6FA-19601BE27A35}"/>
              </a:ext>
            </a:extLst>
          </p:cNvPr>
          <p:cNvCxnSpPr>
            <a:cxnSpLocks/>
            <a:stCxn id="17" idx="6"/>
            <a:endCxn id="77" idx="2"/>
          </p:cNvCxnSpPr>
          <p:nvPr/>
        </p:nvCxnSpPr>
        <p:spPr>
          <a:xfrm>
            <a:off x="1576239" y="2630661"/>
            <a:ext cx="1399284" cy="73679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521258C-3633-4D19-DC9D-37E1B0350FCD}"/>
                  </a:ext>
                </a:extLst>
              </p:cNvPr>
              <p:cNvSpPr txBox="1"/>
              <p:nvPr/>
            </p:nvSpPr>
            <p:spPr>
              <a:xfrm>
                <a:off x="991310" y="2502202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521258C-3633-4D19-DC9D-37E1B0350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502202"/>
                <a:ext cx="312188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ACAA995-DE1F-27DE-2B36-B336E954422C}"/>
                  </a:ext>
                </a:extLst>
              </p:cNvPr>
              <p:cNvSpPr txBox="1"/>
              <p:nvPr/>
            </p:nvSpPr>
            <p:spPr>
              <a:xfrm>
                <a:off x="991310" y="2948585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ACAA995-DE1F-27DE-2B36-B336E9544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948585"/>
                <a:ext cx="312188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21917E7-67AD-B500-EE89-D9DA22188259}"/>
                  </a:ext>
                </a:extLst>
              </p:cNvPr>
              <p:cNvSpPr txBox="1"/>
              <p:nvPr/>
            </p:nvSpPr>
            <p:spPr>
              <a:xfrm>
                <a:off x="3229175" y="1904779"/>
                <a:ext cx="30596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21917E7-67AD-B500-EE89-D9DA22188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1904779"/>
                <a:ext cx="30596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5903E22-2F9B-CA57-62F5-3087E2724432}"/>
                  </a:ext>
                </a:extLst>
              </p:cNvPr>
              <p:cNvSpPr txBox="1"/>
              <p:nvPr/>
            </p:nvSpPr>
            <p:spPr>
              <a:xfrm>
                <a:off x="3229175" y="2336925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5903E22-2F9B-CA57-62F5-3087E2724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2336925"/>
                <a:ext cx="312188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EF1CD94-4E86-4204-6CC7-71A551608586}"/>
                  </a:ext>
                </a:extLst>
              </p:cNvPr>
              <p:cNvSpPr txBox="1"/>
              <p:nvPr/>
            </p:nvSpPr>
            <p:spPr>
              <a:xfrm>
                <a:off x="3229175" y="2783308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EF1CD94-4E86-4204-6CC7-71A551608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2783308"/>
                <a:ext cx="312188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313D921-6F70-DF1A-FF7C-5F94F5FC5B3D}"/>
                  </a:ext>
                </a:extLst>
              </p:cNvPr>
              <p:cNvSpPr txBox="1"/>
              <p:nvPr/>
            </p:nvSpPr>
            <p:spPr>
              <a:xfrm>
                <a:off x="3222950" y="3203037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313D921-6F70-DF1A-FF7C-5F94F5FC5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950" y="3203037"/>
                <a:ext cx="312188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06AC9-8D84-4868-7798-E8C6F2BEA4DD}"/>
                  </a:ext>
                </a:extLst>
              </p:cNvPr>
              <p:cNvSpPr txBox="1"/>
              <p:nvPr/>
            </p:nvSpPr>
            <p:spPr>
              <a:xfrm>
                <a:off x="991310" y="2045752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06AC9-8D84-4868-7798-E8C6F2BE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045752"/>
                <a:ext cx="312188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15ABF8E4-0F86-F90B-3D5F-830395C1D3A1}"/>
              </a:ext>
            </a:extLst>
          </p:cNvPr>
          <p:cNvSpPr txBox="1"/>
          <p:nvPr/>
        </p:nvSpPr>
        <p:spPr>
          <a:xfrm>
            <a:off x="1676550" y="3077858"/>
            <a:ext cx="1015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dirty="0">
                <a:solidFill>
                  <a:schemeClr val="tx2">
                    <a:lumMod val="50000"/>
                  </a:schemeClr>
                </a:solidFill>
              </a:rPr>
              <a:t>Positive</a:t>
            </a:r>
          </a:p>
          <a:p>
            <a:pPr algn="ctr"/>
            <a:r>
              <a:rPr lang="en-GB" sz="1000" dirty="0">
                <a:solidFill>
                  <a:schemeClr val="tx2">
                    <a:lumMod val="50000"/>
                  </a:schemeClr>
                </a:solidFill>
              </a:rPr>
              <a:t>Interactions</a:t>
            </a:r>
            <a:endParaRPr lang="en-SG" sz="1000" dirty="0">
              <a:solidFill>
                <a:schemeClr val="tx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BAB444-8C59-9DD3-FC8D-6B57470C4A86}"/>
                  </a:ext>
                </a:extLst>
              </p:cNvPr>
              <p:cNvSpPr txBox="1"/>
              <p:nvPr/>
            </p:nvSpPr>
            <p:spPr>
              <a:xfrm>
                <a:off x="3955824" y="1316736"/>
                <a:ext cx="4734041" cy="12742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1050" dirty="0">
                    <a:solidFill>
                      <a:schemeClr val="tx1"/>
                    </a:solidFill>
                  </a:rPr>
                  <a:t>: embeddings of size/dimension </a:t>
                </a:r>
                <a14:m>
                  <m:oMath xmlns:m="http://schemas.openxmlformats.org/officeDocument/2006/math">
                    <m:r>
                      <a:rPr lang="en-GB" sz="105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GB" sz="105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 err="1">
                    <a:solidFill>
                      <a:schemeClr val="tx1"/>
                    </a:solidFill>
                  </a:rPr>
                  <a:t>LightGCN</a:t>
                </a:r>
                <a:r>
                  <a:rPr lang="en-GB" sz="1050" dirty="0">
                    <a:solidFill>
                      <a:schemeClr val="tx1"/>
                    </a:solidFill>
                  </a:rPr>
                  <a:t> learns </a:t>
                </a:r>
                <a:r>
                  <a:rPr lang="en-GB" sz="1050" b="1" dirty="0">
                    <a:solidFill>
                      <a:schemeClr val="tx1"/>
                    </a:solidFill>
                  </a:rPr>
                  <a:t>embeddings</a:t>
                </a:r>
                <a:r>
                  <a:rPr lang="en-GB" sz="1050" dirty="0">
                    <a:solidFill>
                      <a:schemeClr val="tx1"/>
                    </a:solidFill>
                  </a:rPr>
                  <a:t> for every user and asset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</a:rPr>
                  <a:t>In a training set, every user has its own set of positive interactions (transacted with that asset)</a:t>
                </a:r>
              </a:p>
              <a:p>
                <a:pPr>
                  <a:lnSpc>
                    <a:spcPct val="150000"/>
                  </a:lnSpc>
                </a:pPr>
                <a:endParaRPr lang="en-GB" sz="105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BAB444-8C59-9DD3-FC8D-6B57470C4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824" y="1316736"/>
                <a:ext cx="4734041" cy="12742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404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3D58E-83FE-5851-0178-79D96C37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3F35-A0A4-1B59-B973-80B6B32F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LightGCN baseline model – Forward Propagation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46E30-A99A-4CF5-3695-975E8038BA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0D9B2E-FA45-2E35-AF69-890E799A0E97}"/>
              </a:ext>
            </a:extLst>
          </p:cNvPr>
          <p:cNvGrpSpPr/>
          <p:nvPr/>
        </p:nvGrpSpPr>
        <p:grpSpPr>
          <a:xfrm>
            <a:off x="1312002" y="2061049"/>
            <a:ext cx="264237" cy="264237"/>
            <a:chOff x="754056" y="2101530"/>
            <a:chExt cx="264237" cy="26423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C3A5805-CEE4-3420-B40E-7B4464E923D5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14" name="Graphic 13" descr="User with solid fill">
              <a:extLst>
                <a:ext uri="{FF2B5EF4-FFF2-40B4-BE49-F238E27FC236}">
                  <a16:creationId xmlns:a16="http://schemas.microsoft.com/office/drawing/2014/main" id="{C1291E27-D7DC-5D78-1F3F-CE2998723E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CFD898-419D-2DD9-4432-24D1BF3709FE}"/>
              </a:ext>
            </a:extLst>
          </p:cNvPr>
          <p:cNvGrpSpPr/>
          <p:nvPr/>
        </p:nvGrpSpPr>
        <p:grpSpPr>
          <a:xfrm>
            <a:off x="1312002" y="2498542"/>
            <a:ext cx="264237" cy="264237"/>
            <a:chOff x="754056" y="2101530"/>
            <a:chExt cx="264237" cy="26423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78D3677-BFDC-989A-7394-52F029EA42FC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6E90AB28-D3E3-9F2B-BE56-C3368DE777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8074F7-BC63-F6FF-4642-446E848FCD2D}"/>
              </a:ext>
            </a:extLst>
          </p:cNvPr>
          <p:cNvGrpSpPr/>
          <p:nvPr/>
        </p:nvGrpSpPr>
        <p:grpSpPr>
          <a:xfrm>
            <a:off x="1312002" y="2936035"/>
            <a:ext cx="264237" cy="264237"/>
            <a:chOff x="754056" y="2101530"/>
            <a:chExt cx="264237" cy="26423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032DA22-41B5-1A79-E420-661FBADFB4D8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1C5008C7-F0E5-A4E4-D44B-ADC3E862EA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876EFA-E45C-A18C-A56B-A72062A68BFF}"/>
              </a:ext>
            </a:extLst>
          </p:cNvPr>
          <p:cNvGrpSpPr/>
          <p:nvPr/>
        </p:nvGrpSpPr>
        <p:grpSpPr>
          <a:xfrm>
            <a:off x="2968415" y="1928930"/>
            <a:ext cx="264237" cy="264237"/>
            <a:chOff x="754056" y="2101530"/>
            <a:chExt cx="264237" cy="26423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13C0EA7-CFDA-27B9-534F-272BA21E7FB0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09EDD64B-D0A3-254F-FD2D-028D6C5297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9E456-33F7-77FE-0963-5E1997F9C5C7}"/>
              </a:ext>
            </a:extLst>
          </p:cNvPr>
          <p:cNvGrpSpPr/>
          <p:nvPr/>
        </p:nvGrpSpPr>
        <p:grpSpPr>
          <a:xfrm>
            <a:off x="2968415" y="2377380"/>
            <a:ext cx="264237" cy="264237"/>
            <a:chOff x="754056" y="2101530"/>
            <a:chExt cx="264237" cy="26423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5B56F70-D357-FC38-CD11-6694E93CF1D7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33" name="Graphic 32" descr="Document with solid fill">
              <a:extLst>
                <a:ext uri="{FF2B5EF4-FFF2-40B4-BE49-F238E27FC236}">
                  <a16:creationId xmlns:a16="http://schemas.microsoft.com/office/drawing/2014/main" id="{65983DC6-C20D-CA7C-84F2-DE13D61074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8D7ABD-3F5D-9E79-CC15-ED82B83B0230}"/>
              </a:ext>
            </a:extLst>
          </p:cNvPr>
          <p:cNvGrpSpPr/>
          <p:nvPr/>
        </p:nvGrpSpPr>
        <p:grpSpPr>
          <a:xfrm>
            <a:off x="2968415" y="2807875"/>
            <a:ext cx="264237" cy="264237"/>
            <a:chOff x="754056" y="2101530"/>
            <a:chExt cx="264237" cy="26423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E9C8FD1-F766-78E6-C45E-4781ACF4166C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39" name="Graphic 38" descr="Document with solid fill">
              <a:extLst>
                <a:ext uri="{FF2B5EF4-FFF2-40B4-BE49-F238E27FC236}">
                  <a16:creationId xmlns:a16="http://schemas.microsoft.com/office/drawing/2014/main" id="{CB230A6C-0D51-D1F1-C249-8D1726F428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CC06735-6BDF-B0C6-E7D6-135E3C20BDD3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 flipV="1">
            <a:off x="1576239" y="2061049"/>
            <a:ext cx="1392176" cy="1321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A6D638-2258-F0BB-10AB-C433D195ED57}"/>
              </a:ext>
            </a:extLst>
          </p:cNvPr>
          <p:cNvCxnSpPr>
            <a:cxnSpLocks/>
            <a:stCxn id="12" idx="6"/>
            <a:endCxn id="32" idx="2"/>
          </p:cNvCxnSpPr>
          <p:nvPr/>
        </p:nvCxnSpPr>
        <p:spPr>
          <a:xfrm>
            <a:off x="1576239" y="2193168"/>
            <a:ext cx="1392176" cy="31633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E6272C5-EE7D-C178-88D9-92D02D7DDB94}"/>
              </a:ext>
            </a:extLst>
          </p:cNvPr>
          <p:cNvCxnSpPr>
            <a:cxnSpLocks/>
            <a:stCxn id="12" idx="6"/>
            <a:endCxn id="38" idx="2"/>
          </p:cNvCxnSpPr>
          <p:nvPr/>
        </p:nvCxnSpPr>
        <p:spPr>
          <a:xfrm>
            <a:off x="1576239" y="2193168"/>
            <a:ext cx="1392176" cy="74682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8193C07-7F94-07B6-1A67-3A0AB1E8885E}"/>
              </a:ext>
            </a:extLst>
          </p:cNvPr>
          <p:cNvCxnSpPr>
            <a:cxnSpLocks/>
            <a:stCxn id="17" idx="6"/>
            <a:endCxn id="23" idx="2"/>
          </p:cNvCxnSpPr>
          <p:nvPr/>
        </p:nvCxnSpPr>
        <p:spPr>
          <a:xfrm flipV="1">
            <a:off x="1576239" y="2061049"/>
            <a:ext cx="1392176" cy="5696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440C705-BC77-EEE6-0D4A-2AE105A3DA9C}"/>
              </a:ext>
            </a:extLst>
          </p:cNvPr>
          <p:cNvCxnSpPr>
            <a:cxnSpLocks/>
            <a:stCxn id="20" idx="6"/>
            <a:endCxn id="38" idx="2"/>
          </p:cNvCxnSpPr>
          <p:nvPr/>
        </p:nvCxnSpPr>
        <p:spPr>
          <a:xfrm flipV="1">
            <a:off x="1576239" y="2939994"/>
            <a:ext cx="1392176" cy="1281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245BC7B-DDE1-9231-305D-FFEF5F8EB27B}"/>
              </a:ext>
            </a:extLst>
          </p:cNvPr>
          <p:cNvSpPr txBox="1"/>
          <p:nvPr/>
        </p:nvSpPr>
        <p:spPr>
          <a:xfrm>
            <a:off x="1064575" y="1804113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156082"/>
                </a:solidFill>
              </a:rPr>
              <a:t>Users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82D2BE-A78F-A021-5169-CB6FF7200612}"/>
              </a:ext>
            </a:extLst>
          </p:cNvPr>
          <p:cNvSpPr txBox="1"/>
          <p:nvPr/>
        </p:nvSpPr>
        <p:spPr>
          <a:xfrm>
            <a:off x="2720988" y="1673701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C69213"/>
                </a:solidFill>
              </a:rPr>
              <a:t>Assets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21065A-877B-EFD3-0307-FACFA36ECBC5}"/>
              </a:ext>
            </a:extLst>
          </p:cNvPr>
          <p:cNvSpPr txBox="1"/>
          <p:nvPr/>
        </p:nvSpPr>
        <p:spPr>
          <a:xfrm>
            <a:off x="1054146" y="3242392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156082"/>
                </a:solidFill>
              </a:rPr>
              <a:t>…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E5CF9E-F0BD-DFF7-31CE-2F2A77CC0D29}"/>
              </a:ext>
            </a:extLst>
          </p:cNvPr>
          <p:cNvSpPr txBox="1"/>
          <p:nvPr/>
        </p:nvSpPr>
        <p:spPr>
          <a:xfrm>
            <a:off x="2763157" y="3518310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C69213"/>
                </a:solidFill>
              </a:rPr>
              <a:t>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D7BF8E-C17E-FD2D-99E7-0F42B7E0F43C}"/>
              </a:ext>
            </a:extLst>
          </p:cNvPr>
          <p:cNvSpPr txBox="1"/>
          <p:nvPr/>
        </p:nvSpPr>
        <p:spPr>
          <a:xfrm>
            <a:off x="514576" y="1316736"/>
            <a:ext cx="3441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200" b="1" u="sng" dirty="0">
                <a:solidFill>
                  <a:schemeClr val="tx1"/>
                </a:solidFill>
              </a:rPr>
              <a:t>Bipartite graph of customers and assets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A5415CA-2E13-64BE-D8D8-763CD1AE6F82}"/>
              </a:ext>
            </a:extLst>
          </p:cNvPr>
          <p:cNvGrpSpPr/>
          <p:nvPr/>
        </p:nvGrpSpPr>
        <p:grpSpPr>
          <a:xfrm>
            <a:off x="2975523" y="3235332"/>
            <a:ext cx="264237" cy="264237"/>
            <a:chOff x="754056" y="2101530"/>
            <a:chExt cx="264237" cy="264237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A56F7F1-1560-99F1-8018-E5EA2C5538D9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78" name="Graphic 77" descr="Document with solid fill">
              <a:extLst>
                <a:ext uri="{FF2B5EF4-FFF2-40B4-BE49-F238E27FC236}">
                  <a16:creationId xmlns:a16="http://schemas.microsoft.com/office/drawing/2014/main" id="{C79612C6-8627-FCBC-66C5-CF55634F50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567923-7778-026A-58B5-4ED5CEC735BB}"/>
              </a:ext>
            </a:extLst>
          </p:cNvPr>
          <p:cNvCxnSpPr>
            <a:cxnSpLocks/>
            <a:stCxn id="17" idx="6"/>
            <a:endCxn id="77" idx="2"/>
          </p:cNvCxnSpPr>
          <p:nvPr/>
        </p:nvCxnSpPr>
        <p:spPr>
          <a:xfrm>
            <a:off x="1576239" y="2630661"/>
            <a:ext cx="1399284" cy="73679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F87176B-485C-1D48-1B84-9228A5204415}"/>
                  </a:ext>
                </a:extLst>
              </p:cNvPr>
              <p:cNvSpPr txBox="1"/>
              <p:nvPr/>
            </p:nvSpPr>
            <p:spPr>
              <a:xfrm>
                <a:off x="991310" y="2502202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F87176B-485C-1D48-1B84-9228A5204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502202"/>
                <a:ext cx="312188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A9CBC4B-2CD0-0387-27BD-969B739335A7}"/>
                  </a:ext>
                </a:extLst>
              </p:cNvPr>
              <p:cNvSpPr txBox="1"/>
              <p:nvPr/>
            </p:nvSpPr>
            <p:spPr>
              <a:xfrm>
                <a:off x="991310" y="2948585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A9CBC4B-2CD0-0387-27BD-969B73933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948585"/>
                <a:ext cx="312188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9883566-C5D3-459F-9F89-D78D5B9FD535}"/>
                  </a:ext>
                </a:extLst>
              </p:cNvPr>
              <p:cNvSpPr txBox="1"/>
              <p:nvPr/>
            </p:nvSpPr>
            <p:spPr>
              <a:xfrm>
                <a:off x="3229175" y="1904779"/>
                <a:ext cx="30596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21917E7-67AD-B500-EE89-D9DA22188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1904779"/>
                <a:ext cx="30596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1C6E8D0-0131-A09F-9F8D-BE205E9CF76C}"/>
                  </a:ext>
                </a:extLst>
              </p:cNvPr>
              <p:cNvSpPr txBox="1"/>
              <p:nvPr/>
            </p:nvSpPr>
            <p:spPr>
              <a:xfrm>
                <a:off x="3229175" y="2336925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5903E22-2F9B-CA57-62F5-3087E2724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2336925"/>
                <a:ext cx="312188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D1F9B6E-BC08-320F-B41D-C342BEC372FE}"/>
                  </a:ext>
                </a:extLst>
              </p:cNvPr>
              <p:cNvSpPr txBox="1"/>
              <p:nvPr/>
            </p:nvSpPr>
            <p:spPr>
              <a:xfrm>
                <a:off x="3229175" y="2783308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EF1CD94-4E86-4204-6CC7-71A551608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2783308"/>
                <a:ext cx="312188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58B9C94-3847-3747-C069-D805C154AA15}"/>
                  </a:ext>
                </a:extLst>
              </p:cNvPr>
              <p:cNvSpPr txBox="1"/>
              <p:nvPr/>
            </p:nvSpPr>
            <p:spPr>
              <a:xfrm>
                <a:off x="3222950" y="3203037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313D921-6F70-DF1A-FF7C-5F94F5FC5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950" y="3203037"/>
                <a:ext cx="312188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12723E-6CF8-21E0-55C6-BE4986A15846}"/>
                  </a:ext>
                </a:extLst>
              </p:cNvPr>
              <p:cNvSpPr txBox="1"/>
              <p:nvPr/>
            </p:nvSpPr>
            <p:spPr>
              <a:xfrm>
                <a:off x="3955824" y="1316736"/>
                <a:ext cx="4734041" cy="3201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Then for a given user 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 at step </a:t>
                </a:r>
                <a14:m>
                  <m:oMath xmlns:m="http://schemas.openxmlformats.org/officeDocument/2006/math">
                    <m:r>
                      <a:rPr lang="en-GB" sz="105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sz="105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GB" sz="105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SG" sz="105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SG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f>
                                <m:fPr>
                                  <m:ctrlPr>
                                    <a:rPr lang="en-SG" sz="105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SG" sz="105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sz="105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ctrlPr>
                                            <a:rPr lang="en-GB" sz="105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5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SG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SG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SG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SG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SG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 is the number of assets the user transacted with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05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050" dirty="0">
                    <a:solidFill>
                      <a:schemeClr val="tx1"/>
                    </a:solidFill>
                  </a:rPr>
                  <a:t> is the number of users the asset transacted with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Likewise for a given asset 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05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05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GB" sz="1050" dirty="0">
                    <a:solidFill>
                      <a:schemeClr val="tx1"/>
                    </a:solidFill>
                  </a:rPr>
                  <a:t>at step </a:t>
                </a:r>
                <a14:m>
                  <m:oMath xmlns:m="http://schemas.openxmlformats.org/officeDocument/2006/math">
                    <m:r>
                      <a:rPr lang="en-GB" sz="105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sz="105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GB" sz="105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SG" sz="105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SG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f>
                                <m:fPr>
                                  <m:ctrlPr>
                                    <a:rPr lang="en-SG" sz="105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SG" sz="105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sz="105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05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ctrlPr>
                                            <a:rPr lang="en-GB" sz="105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5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  <m:r>
                                        <a:rPr lang="en-GB" sz="105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GB" sz="105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GB" sz="105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  <m:r>
                                        <a:rPr lang="en-GB" sz="105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GB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SG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SG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SG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Each step computes all embeddings from the previous step's values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Then final embedding for each is the average across all steps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</a:rPr>
                  <a:t>From the final embeddings, then pairwise score: </a:t>
                </a:r>
                <a:br>
                  <a:rPr lang="en-GB" sz="105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SG" sz="105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𝑠𝑐𝑜𝑟𝑒</m:t>
                    </m:r>
                    <m:d>
                      <m:dPr>
                        <m:ctrlP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GB" sz="105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5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GB" sz="105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05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05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GB" sz="105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12723E-6CF8-21E0-55C6-BE4986A15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824" y="1316736"/>
                <a:ext cx="4734041" cy="320196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BD1304-FAD6-0B07-83EE-CC481B435C00}"/>
                  </a:ext>
                </a:extLst>
              </p:cNvPr>
              <p:cNvSpPr txBox="1"/>
              <p:nvPr/>
            </p:nvSpPr>
            <p:spPr>
              <a:xfrm>
                <a:off x="991310" y="2045752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B06AC9-8D84-4868-7798-E8C6F2BE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045752"/>
                <a:ext cx="312188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AA99B06-974C-51B2-063E-274BF92CF952}"/>
              </a:ext>
            </a:extLst>
          </p:cNvPr>
          <p:cNvSpPr txBox="1"/>
          <p:nvPr/>
        </p:nvSpPr>
        <p:spPr>
          <a:xfrm>
            <a:off x="1676550" y="3077858"/>
            <a:ext cx="1015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dirty="0">
                <a:solidFill>
                  <a:schemeClr val="tx2">
                    <a:lumMod val="50000"/>
                  </a:schemeClr>
                </a:solidFill>
              </a:rPr>
              <a:t>Positive</a:t>
            </a:r>
          </a:p>
          <a:p>
            <a:pPr algn="ctr"/>
            <a:r>
              <a:rPr lang="en-GB" sz="1000" dirty="0">
                <a:solidFill>
                  <a:schemeClr val="tx2">
                    <a:lumMod val="50000"/>
                  </a:schemeClr>
                </a:solidFill>
              </a:rPr>
              <a:t>Interactions</a:t>
            </a:r>
            <a:endParaRPr lang="en-SG" sz="1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469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6AAA-9CFB-AED1-BC59-DE3627DA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3019-3041-C78D-18F5-A1B5BE80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LightGCN baseline model – Back Propagation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DB0C-B94E-E090-5878-D67670E7C1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92CE0EE-00CF-1BC8-6758-BD896CC0B528}"/>
              </a:ext>
            </a:extLst>
          </p:cNvPr>
          <p:cNvGrpSpPr/>
          <p:nvPr/>
        </p:nvGrpSpPr>
        <p:grpSpPr>
          <a:xfrm>
            <a:off x="1312002" y="2061049"/>
            <a:ext cx="264237" cy="264237"/>
            <a:chOff x="754056" y="2101530"/>
            <a:chExt cx="264237" cy="26423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7875BD4-F665-A312-2901-C5C6DAA68E9B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14" name="Graphic 13" descr="User with solid fill">
              <a:extLst>
                <a:ext uri="{FF2B5EF4-FFF2-40B4-BE49-F238E27FC236}">
                  <a16:creationId xmlns:a16="http://schemas.microsoft.com/office/drawing/2014/main" id="{4A88847D-5A03-79BB-E88D-A64E5E2D1A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B64F10-DB00-C583-5356-4BF4E061E464}"/>
              </a:ext>
            </a:extLst>
          </p:cNvPr>
          <p:cNvGrpSpPr/>
          <p:nvPr/>
        </p:nvGrpSpPr>
        <p:grpSpPr>
          <a:xfrm>
            <a:off x="1312002" y="2498542"/>
            <a:ext cx="264237" cy="264237"/>
            <a:chOff x="754056" y="2101530"/>
            <a:chExt cx="264237" cy="26423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21B3A35-E4F0-6600-6F5D-B798BC78B543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01C4B217-F6BE-6CEA-A62B-DDA04CE878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C628AF-08AB-1677-893A-98596BC35431}"/>
              </a:ext>
            </a:extLst>
          </p:cNvPr>
          <p:cNvGrpSpPr/>
          <p:nvPr/>
        </p:nvGrpSpPr>
        <p:grpSpPr>
          <a:xfrm>
            <a:off x="1312002" y="2936035"/>
            <a:ext cx="264237" cy="264237"/>
            <a:chOff x="754056" y="2101530"/>
            <a:chExt cx="264237" cy="26423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0920AF7-53A0-059C-B5D2-2C30BC033098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88E04C46-0849-E18A-DF25-115DBC6695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9419" y="2116893"/>
              <a:ext cx="233511" cy="233511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48A455-2820-6A39-3125-17A2579B955C}"/>
              </a:ext>
            </a:extLst>
          </p:cNvPr>
          <p:cNvGrpSpPr/>
          <p:nvPr/>
        </p:nvGrpSpPr>
        <p:grpSpPr>
          <a:xfrm>
            <a:off x="2968415" y="1928930"/>
            <a:ext cx="264237" cy="264237"/>
            <a:chOff x="754056" y="2101530"/>
            <a:chExt cx="264237" cy="26423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575A5AB-2A39-5569-56D0-0A8398FCD17B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6F37CBA9-8122-B644-F3A5-31312DFEBB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3CEB35-1B5E-49F0-DA1D-28D6D0036D39}"/>
              </a:ext>
            </a:extLst>
          </p:cNvPr>
          <p:cNvGrpSpPr/>
          <p:nvPr/>
        </p:nvGrpSpPr>
        <p:grpSpPr>
          <a:xfrm>
            <a:off x="2968415" y="2377380"/>
            <a:ext cx="264237" cy="264237"/>
            <a:chOff x="754056" y="2101530"/>
            <a:chExt cx="264237" cy="26423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B2A157-85D4-CAA4-9301-ACBDA539D85C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33" name="Graphic 32" descr="Document with solid fill">
              <a:extLst>
                <a:ext uri="{FF2B5EF4-FFF2-40B4-BE49-F238E27FC236}">
                  <a16:creationId xmlns:a16="http://schemas.microsoft.com/office/drawing/2014/main" id="{D1DEC6D8-5029-69EC-EC01-9D16C38F81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F1F0671-9047-F9B8-1E73-3FA4A897154B}"/>
              </a:ext>
            </a:extLst>
          </p:cNvPr>
          <p:cNvGrpSpPr/>
          <p:nvPr/>
        </p:nvGrpSpPr>
        <p:grpSpPr>
          <a:xfrm>
            <a:off x="2968415" y="2807875"/>
            <a:ext cx="264237" cy="264237"/>
            <a:chOff x="754056" y="2101530"/>
            <a:chExt cx="264237" cy="26423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C0EB497-0401-7DE6-09F9-6C485C8A9A6C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39" name="Graphic 38" descr="Document with solid fill">
              <a:extLst>
                <a:ext uri="{FF2B5EF4-FFF2-40B4-BE49-F238E27FC236}">
                  <a16:creationId xmlns:a16="http://schemas.microsoft.com/office/drawing/2014/main" id="{2A69342F-D4C4-2FE0-2986-5EB7C25BF2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2653BCA-708B-7CAB-2184-AB34FD33F8F6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 flipV="1">
            <a:off x="1576239" y="2061049"/>
            <a:ext cx="1392176" cy="1321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44D238-ADE7-2770-CB07-543243DD1D49}"/>
              </a:ext>
            </a:extLst>
          </p:cNvPr>
          <p:cNvCxnSpPr>
            <a:cxnSpLocks/>
            <a:stCxn id="12" idx="6"/>
            <a:endCxn id="32" idx="2"/>
          </p:cNvCxnSpPr>
          <p:nvPr/>
        </p:nvCxnSpPr>
        <p:spPr>
          <a:xfrm>
            <a:off x="1576239" y="2193168"/>
            <a:ext cx="1392176" cy="31633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AF0737-A9B8-88FB-2915-E4238CAB5F36}"/>
              </a:ext>
            </a:extLst>
          </p:cNvPr>
          <p:cNvCxnSpPr>
            <a:cxnSpLocks/>
            <a:stCxn id="12" idx="6"/>
            <a:endCxn id="38" idx="2"/>
          </p:cNvCxnSpPr>
          <p:nvPr/>
        </p:nvCxnSpPr>
        <p:spPr>
          <a:xfrm>
            <a:off x="1576239" y="2193168"/>
            <a:ext cx="1392176" cy="74682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A29C0FD-4ED1-95FE-6031-B66749049062}"/>
              </a:ext>
            </a:extLst>
          </p:cNvPr>
          <p:cNvCxnSpPr>
            <a:cxnSpLocks/>
            <a:stCxn id="17" idx="6"/>
            <a:endCxn id="23" idx="2"/>
          </p:cNvCxnSpPr>
          <p:nvPr/>
        </p:nvCxnSpPr>
        <p:spPr>
          <a:xfrm flipV="1">
            <a:off x="1576239" y="2061049"/>
            <a:ext cx="1392176" cy="56961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C55B03-AB10-E727-59AB-5FEEC03E125A}"/>
              </a:ext>
            </a:extLst>
          </p:cNvPr>
          <p:cNvCxnSpPr>
            <a:cxnSpLocks/>
            <a:stCxn id="20" idx="6"/>
            <a:endCxn id="38" idx="2"/>
          </p:cNvCxnSpPr>
          <p:nvPr/>
        </p:nvCxnSpPr>
        <p:spPr>
          <a:xfrm flipV="1">
            <a:off x="1576239" y="2939994"/>
            <a:ext cx="1392176" cy="1281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B63D97D-EE49-FDF9-13AA-4100CABE69E9}"/>
              </a:ext>
            </a:extLst>
          </p:cNvPr>
          <p:cNvSpPr txBox="1"/>
          <p:nvPr/>
        </p:nvSpPr>
        <p:spPr>
          <a:xfrm>
            <a:off x="1064575" y="1804113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156082"/>
                </a:solidFill>
              </a:rPr>
              <a:t>Users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57977E-9488-2746-BA4B-4B3B02800E45}"/>
              </a:ext>
            </a:extLst>
          </p:cNvPr>
          <p:cNvSpPr txBox="1"/>
          <p:nvPr/>
        </p:nvSpPr>
        <p:spPr>
          <a:xfrm>
            <a:off x="2720988" y="1673701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C69213"/>
                </a:solidFill>
              </a:rPr>
              <a:t>Assets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913407-0526-3A41-A292-9D59608824DE}"/>
              </a:ext>
            </a:extLst>
          </p:cNvPr>
          <p:cNvSpPr txBox="1"/>
          <p:nvPr/>
        </p:nvSpPr>
        <p:spPr>
          <a:xfrm>
            <a:off x="1054146" y="3242392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156082"/>
                </a:solidFill>
              </a:rPr>
              <a:t>…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598EA0-6F86-3562-081E-AF9944F90622}"/>
              </a:ext>
            </a:extLst>
          </p:cNvPr>
          <p:cNvSpPr txBox="1"/>
          <p:nvPr/>
        </p:nvSpPr>
        <p:spPr>
          <a:xfrm>
            <a:off x="2763157" y="3518310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dirty="0">
                <a:solidFill>
                  <a:srgbClr val="C69213"/>
                </a:solidFill>
              </a:rPr>
              <a:t>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DDA823-AD51-3873-2A16-4D8CD021176F}"/>
              </a:ext>
            </a:extLst>
          </p:cNvPr>
          <p:cNvSpPr txBox="1"/>
          <p:nvPr/>
        </p:nvSpPr>
        <p:spPr>
          <a:xfrm>
            <a:off x="514576" y="1316736"/>
            <a:ext cx="3441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200" b="1" u="sng" dirty="0">
                <a:solidFill>
                  <a:schemeClr val="tx1"/>
                </a:solidFill>
              </a:rPr>
              <a:t>Bipartite graph of customers and assets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627362F-854A-D65D-745D-318EF3FA5607}"/>
              </a:ext>
            </a:extLst>
          </p:cNvPr>
          <p:cNvGrpSpPr/>
          <p:nvPr/>
        </p:nvGrpSpPr>
        <p:grpSpPr>
          <a:xfrm>
            <a:off x="2975523" y="3235332"/>
            <a:ext cx="264237" cy="264237"/>
            <a:chOff x="754056" y="2101530"/>
            <a:chExt cx="264237" cy="264237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C51CB17-47B5-7D81-E842-3680AB254D63}"/>
                </a:ext>
              </a:extLst>
            </p:cNvPr>
            <p:cNvSpPr/>
            <p:nvPr/>
          </p:nvSpPr>
          <p:spPr>
            <a:xfrm>
              <a:off x="754056" y="2101530"/>
              <a:ext cx="264237" cy="264237"/>
            </a:xfrm>
            <a:prstGeom prst="ellipse">
              <a:avLst/>
            </a:prstGeom>
            <a:noFill/>
            <a:ln w="12700">
              <a:solidFill>
                <a:srgbClr val="C692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78" name="Graphic 77" descr="Document with solid fill">
              <a:extLst>
                <a:ext uri="{FF2B5EF4-FFF2-40B4-BE49-F238E27FC236}">
                  <a16:creationId xmlns:a16="http://schemas.microsoft.com/office/drawing/2014/main" id="{7B2EBBBA-C856-FE56-F749-AB84070FA2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01791" y="2144111"/>
              <a:ext cx="179073" cy="179073"/>
            </a:xfrm>
            <a:prstGeom prst="rect">
              <a:avLst/>
            </a:prstGeom>
          </p:spPr>
        </p:pic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F0EDC2C-BE8C-03BA-4C1B-6F2C44A9EAE7}"/>
              </a:ext>
            </a:extLst>
          </p:cNvPr>
          <p:cNvCxnSpPr>
            <a:cxnSpLocks/>
            <a:stCxn id="17" idx="6"/>
            <a:endCxn id="77" idx="2"/>
          </p:cNvCxnSpPr>
          <p:nvPr/>
        </p:nvCxnSpPr>
        <p:spPr>
          <a:xfrm>
            <a:off x="1576239" y="2630661"/>
            <a:ext cx="1399284" cy="73679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E42FB7-B011-50F8-5F3C-7089FCCEEFEA}"/>
                  </a:ext>
                </a:extLst>
              </p:cNvPr>
              <p:cNvSpPr txBox="1"/>
              <p:nvPr/>
            </p:nvSpPr>
            <p:spPr>
              <a:xfrm>
                <a:off x="991310" y="2502202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E42FB7-B011-50F8-5F3C-7089FCCEE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502202"/>
                <a:ext cx="312188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DDDE2D5-309B-494C-2EE7-147C87BAC2D5}"/>
                  </a:ext>
                </a:extLst>
              </p:cNvPr>
              <p:cNvSpPr txBox="1"/>
              <p:nvPr/>
            </p:nvSpPr>
            <p:spPr>
              <a:xfrm>
                <a:off x="991310" y="2948585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DDDE2D5-309B-494C-2EE7-147C87BAC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948585"/>
                <a:ext cx="312188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45E9A78-6A21-95F5-03D3-F3C69EDE91E5}"/>
                  </a:ext>
                </a:extLst>
              </p:cNvPr>
              <p:cNvSpPr txBox="1"/>
              <p:nvPr/>
            </p:nvSpPr>
            <p:spPr>
              <a:xfrm>
                <a:off x="3229175" y="1904779"/>
                <a:ext cx="30596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45E9A78-6A21-95F5-03D3-F3C69EDE9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1904779"/>
                <a:ext cx="30596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9614247-8CD9-F222-3C16-A9BC3158E571}"/>
                  </a:ext>
                </a:extLst>
              </p:cNvPr>
              <p:cNvSpPr txBox="1"/>
              <p:nvPr/>
            </p:nvSpPr>
            <p:spPr>
              <a:xfrm>
                <a:off x="3229175" y="2336925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9614247-8CD9-F222-3C16-A9BC3158E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2336925"/>
                <a:ext cx="312188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DB98CEE-9EE6-B988-F7CE-4338A0C68393}"/>
                  </a:ext>
                </a:extLst>
              </p:cNvPr>
              <p:cNvSpPr txBox="1"/>
              <p:nvPr/>
            </p:nvSpPr>
            <p:spPr>
              <a:xfrm>
                <a:off x="3229175" y="2783308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DB98CEE-9EE6-B988-F7CE-4338A0C68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75" y="2783308"/>
                <a:ext cx="312188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341CE6B-0C66-365A-1187-80C37F2B52DA}"/>
                  </a:ext>
                </a:extLst>
              </p:cNvPr>
              <p:cNvSpPr txBox="1"/>
              <p:nvPr/>
            </p:nvSpPr>
            <p:spPr>
              <a:xfrm>
                <a:off x="3222950" y="3203037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C6921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C69213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341CE6B-0C66-365A-1187-80C37F2B5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950" y="3203037"/>
                <a:ext cx="312188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C79FC8-BF05-8CCF-09BE-70AE4A31F204}"/>
                  </a:ext>
                </a:extLst>
              </p:cNvPr>
              <p:cNvSpPr txBox="1"/>
              <p:nvPr/>
            </p:nvSpPr>
            <p:spPr>
              <a:xfrm>
                <a:off x="3955824" y="1316736"/>
                <a:ext cx="4734041" cy="3195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lvl="5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Build a mini-batch (size </a:t>
                </a:r>
                <a14:m>
                  <m:oMath xmlns:m="http://schemas.openxmlformats.org/officeDocument/2006/math">
                    <m:r>
                      <a:rPr lang="en-GB" sz="105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) of (positive) user-asset interaction</a:t>
                </a:r>
              </a:p>
              <a:p>
                <a:pPr marL="171450" lvl="5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For each </a:t>
                </a:r>
                <a:r>
                  <a:rPr lang="en-GB" sz="1050" b="1" dirty="0">
                    <a:solidFill>
                      <a:schemeClr val="tx1"/>
                    </a:solidFill>
                    <a:latin typeface="+mj-lt"/>
                  </a:rPr>
                  <a:t>positive</a:t>
                </a: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 interaction, randomly sample a </a:t>
                </a:r>
                <a:r>
                  <a:rPr lang="en-GB" sz="1050" b="1" dirty="0">
                    <a:solidFill>
                      <a:schemeClr val="tx1"/>
                    </a:solidFill>
                    <a:latin typeface="+mj-lt"/>
                  </a:rPr>
                  <a:t>negative</a:t>
                </a: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 asset that the user has not transacted with in the training set</a:t>
                </a:r>
              </a:p>
              <a:p>
                <a:pPr marL="171450" lvl="5" indent="-171450">
                  <a:buFont typeface="Arial" panose="020B0604020202020204" pitchFamily="34" charset="0"/>
                  <a:buChar char="•"/>
                </a:pPr>
                <a:endParaRPr lang="en-GB" sz="1050" dirty="0">
                  <a:solidFill>
                    <a:schemeClr val="tx1"/>
                  </a:solidFill>
                  <a:latin typeface="+mj-lt"/>
                </a:endParaRPr>
              </a:p>
              <a:p>
                <a:pPr lvl="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05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Pairwise</m:t>
                      </m:r>
                      <m:r>
                        <m:rPr>
                          <m:nor/>
                        </m:rPr>
                        <a:rPr lang="en-GB" sz="105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05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preferential</m:t>
                      </m:r>
                      <m:r>
                        <m:rPr>
                          <m:nor/>
                        </m:rPr>
                        <a:rPr lang="en-GB" sz="105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05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probability</m:t>
                      </m:r>
                      <m:r>
                        <m:rPr>
                          <m:nor/>
                        </m:rPr>
                        <a:rPr lang="en-GB" sz="105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05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05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05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𝑠𝑐𝑜𝑟𝑒</m:t>
                              </m:r>
                            </m:e>
                            <m:sub>
                              <m: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𝑠𝑐𝑜𝑟</m:t>
                          </m:r>
                          <m:sSubSup>
                            <m:sSubSupPr>
                              <m:ctrlP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GB" sz="105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5"/>
                <a:endParaRPr lang="en-GB" sz="105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Maximum</m:t>
                      </m:r>
                      <m:r>
                        <m:rPr>
                          <m:nor/>
                        </m:rPr>
                        <a:rPr lang="en-GB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likelihood</m:t>
                      </m:r>
                      <m:r>
                        <a:rPr lang="en-GB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GB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Maximum</m:t>
                      </m:r>
                      <m:r>
                        <m:rPr>
                          <m:nor/>
                        </m:rPr>
                        <a:rPr lang="en-GB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m:rPr>
                          <m:nor/>
                        </m:rPr>
                        <a:rPr lang="en-GB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GB" sz="105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likelihood</m:t>
                      </m:r>
                      <m:r>
                        <a:rPr lang="en-GB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05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bHide m:val="on"/>
                                  <m:supHide m:val="on"/>
                                  <m:ctrlPr>
                                    <a:rPr lang="en-GB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GB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GB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05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GB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GB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05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𝐵𝑃</m:t>
                      </m:r>
                      <m:sSub>
                        <m:sSubPr>
                          <m:ctrlP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𝐿𝑜𝑠𝑠</m:t>
                          </m:r>
                        </m:sub>
                      </m:sSub>
                      <m:r>
                        <a:rPr lang="en-GB" sz="105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05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func>
                            <m:funcPr>
                              <m:ctrlPr>
                                <a:rPr lang="en-GB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05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sz="105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GB" sz="105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𝑠𝑐𝑜𝑟𝑒</m:t>
                                      </m:r>
                                    </m:e>
                                    <m:sub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GB" sz="105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bSup>
                                  <m:r>
                                    <a:rPr lang="en-GB" sz="105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05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𝑠𝑐𝑜𝑟</m:t>
                                  </m:r>
                                  <m:sSubSup>
                                    <m:sSubSupPr>
                                      <m:ctrlP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GB" sz="105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  <a:latin typeface="+mj-lt"/>
                </a:endParaRPr>
              </a:p>
              <a:p>
                <a:pPr lvl="5"/>
                <a:endParaRPr lang="en-GB" sz="1050" dirty="0">
                  <a:solidFill>
                    <a:schemeClr val="tx1"/>
                  </a:solidFill>
                  <a:latin typeface="+mj-lt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Then back propagate back to update the user &amp; asset embeddings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050" dirty="0">
                    <a:solidFill>
                      <a:schemeClr val="tx1"/>
                    </a:solidFill>
                    <a:latin typeface="+mj-lt"/>
                  </a:rPr>
                  <a:t>Then next mini-batch in training loop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C79FC8-BF05-8CCF-09BE-70AE4A31F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824" y="1316736"/>
                <a:ext cx="4734041" cy="3195170"/>
              </a:xfrm>
              <a:prstGeom prst="rect">
                <a:avLst/>
              </a:prstGeom>
              <a:blipFill>
                <a:blip r:embed="rId11"/>
                <a:stretch>
                  <a:fillRect b="-419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0E69E1-C63B-945F-4793-DC39CF446CB3}"/>
                  </a:ext>
                </a:extLst>
              </p:cNvPr>
              <p:cNvSpPr txBox="1"/>
              <p:nvPr/>
            </p:nvSpPr>
            <p:spPr>
              <a:xfrm>
                <a:off x="991310" y="2045752"/>
                <a:ext cx="31218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000" b="0" i="1" dirty="0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000" b="0" i="1" dirty="0">
                  <a:solidFill>
                    <a:srgbClr val="15608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0E69E1-C63B-945F-4793-DC39CF446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10" y="2045752"/>
                <a:ext cx="312188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04B4BAD-B079-8DE4-8DE5-7CDB1913D011}"/>
              </a:ext>
            </a:extLst>
          </p:cNvPr>
          <p:cNvSpPr txBox="1"/>
          <p:nvPr/>
        </p:nvSpPr>
        <p:spPr>
          <a:xfrm>
            <a:off x="1676550" y="3077858"/>
            <a:ext cx="1015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dirty="0">
                <a:solidFill>
                  <a:schemeClr val="tx2">
                    <a:lumMod val="50000"/>
                  </a:schemeClr>
                </a:solidFill>
              </a:rPr>
              <a:t>Positive</a:t>
            </a:r>
          </a:p>
          <a:p>
            <a:pPr algn="ctr"/>
            <a:r>
              <a:rPr lang="en-GB" sz="1000" dirty="0">
                <a:solidFill>
                  <a:schemeClr val="tx2">
                    <a:lumMod val="50000"/>
                  </a:schemeClr>
                </a:solidFill>
              </a:rPr>
              <a:t>Interactions</a:t>
            </a:r>
            <a:endParaRPr lang="en-SG" sz="1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812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Risk-based </a:t>
            </a:r>
            <a:r>
              <a:rPr lang="en-SG" sz="2000" b="1" dirty="0">
                <a:solidFill>
                  <a:srgbClr val="156082"/>
                </a:solidFill>
              </a:rPr>
              <a:t>s</a:t>
            </a:r>
            <a:r>
              <a:rPr sz="2000" b="1" dirty="0" err="1">
                <a:solidFill>
                  <a:srgbClr val="156082"/>
                </a:solidFill>
              </a:rPr>
              <a:t>egmentation</a:t>
            </a:r>
            <a:r>
              <a:rPr lang="en-SG" sz="2000" b="1" dirty="0">
                <a:solidFill>
                  <a:srgbClr val="156082"/>
                </a:solidFill>
              </a:rPr>
              <a:t> approach</a:t>
            </a:r>
            <a:endParaRPr sz="2000" b="1" dirty="0">
              <a:solidFill>
                <a:srgbClr val="156082"/>
              </a:solidFill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108C794-A7AA-DFF2-4F32-4EA02ABDF502}"/>
              </a:ext>
            </a:extLst>
          </p:cNvPr>
          <p:cNvGrpSpPr/>
          <p:nvPr/>
        </p:nvGrpSpPr>
        <p:grpSpPr>
          <a:xfrm>
            <a:off x="1505795" y="1348147"/>
            <a:ext cx="1820333" cy="988658"/>
            <a:chOff x="1505795" y="1348147"/>
            <a:chExt cx="1820333" cy="988658"/>
          </a:xfrm>
        </p:grpSpPr>
        <p:sp>
          <p:nvSpPr>
            <p:cNvPr id="19" name="Rounded Rectangle 18"/>
            <p:cNvSpPr/>
            <p:nvPr/>
          </p:nvSpPr>
          <p:spPr>
            <a:xfrm>
              <a:off x="1505795" y="1348147"/>
              <a:ext cx="1820333" cy="56692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9713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u="sng" dirty="0">
                  <a:solidFill>
                    <a:srgbClr val="E97132"/>
                  </a:solidFill>
                  <a:latin typeface="Arial"/>
                </a:rPr>
                <a:t>Approach 2 (data lever):</a:t>
              </a:r>
            </a:p>
            <a:p>
              <a:pPr algn="ctr"/>
              <a:r>
                <a:rPr lang="en-SG" sz="1000" dirty="0">
                  <a:solidFill>
                    <a:srgbClr val="E97132"/>
                  </a:solidFill>
                  <a:latin typeface="Arial"/>
                </a:rPr>
                <a:t>Re</a:t>
              </a:r>
              <a:r>
                <a:rPr sz="1000" dirty="0">
                  <a:solidFill>
                    <a:srgbClr val="E97132"/>
                  </a:solidFill>
                  <a:latin typeface="Arial"/>
                </a:rPr>
                <a:t>group </a:t>
              </a:r>
              <a:r>
                <a:rPr lang="en-SG" sz="1000" dirty="0">
                  <a:solidFill>
                    <a:srgbClr val="E97132"/>
                  </a:solidFill>
                  <a:latin typeface="Arial"/>
                </a:rPr>
                <a:t>customers </a:t>
              </a:r>
              <a:r>
                <a:rPr sz="1000" dirty="0">
                  <a:solidFill>
                    <a:srgbClr val="E97132"/>
                  </a:solidFill>
                  <a:latin typeface="Arial"/>
                </a:rPr>
                <a:t>to revealed band</a:t>
              </a:r>
            </a:p>
          </p:txBody>
        </p:sp>
        <p:cxnSp>
          <p:nvCxnSpPr>
            <p:cNvPr id="20" name="Connector 19"/>
            <p:cNvCxnSpPr>
              <a:cxnSpLocks/>
              <a:stCxn id="19" idx="2"/>
              <a:endCxn id="4" idx="0"/>
            </p:cNvCxnSpPr>
            <p:nvPr/>
          </p:nvCxnSpPr>
          <p:spPr>
            <a:xfrm>
              <a:off x="2415962" y="1915075"/>
              <a:ext cx="1" cy="421730"/>
            </a:xfrm>
            <a:prstGeom prst="line">
              <a:avLst/>
            </a:prstGeom>
            <a:ln w="15875">
              <a:solidFill>
                <a:srgbClr val="E97132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CAA58E4-F916-C23C-929B-DF96DC402B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A0F9005-6B0D-FC13-F506-BEA6C18DD9C0}"/>
              </a:ext>
            </a:extLst>
          </p:cNvPr>
          <p:cNvGrpSpPr/>
          <p:nvPr/>
        </p:nvGrpSpPr>
        <p:grpSpPr>
          <a:xfrm>
            <a:off x="1227241" y="3619839"/>
            <a:ext cx="3612940" cy="619093"/>
            <a:chOff x="1227241" y="3619839"/>
            <a:chExt cx="3612940" cy="619093"/>
          </a:xfrm>
        </p:grpSpPr>
        <p:sp>
          <p:nvSpPr>
            <p:cNvPr id="21" name="Rounded Rectangle 20"/>
            <p:cNvSpPr/>
            <p:nvPr/>
          </p:nvSpPr>
          <p:spPr>
            <a:xfrm>
              <a:off x="1227241" y="3690292"/>
              <a:ext cx="2377440" cy="54864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96B2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u="sng" dirty="0">
                  <a:solidFill>
                    <a:srgbClr val="196B24"/>
                  </a:solidFill>
                  <a:latin typeface="Arial"/>
                </a:rPr>
                <a:t>Approach 1 (model lever):</a:t>
              </a:r>
            </a:p>
            <a:p>
              <a:pPr algn="ctr"/>
              <a:r>
                <a:rPr lang="en-SG" sz="1000" dirty="0">
                  <a:solidFill>
                    <a:srgbClr val="196B24"/>
                  </a:solidFill>
                  <a:latin typeface="Arial"/>
                </a:rPr>
                <a:t>Add a </a:t>
              </a:r>
              <a:r>
                <a:rPr sz="1000" dirty="0">
                  <a:solidFill>
                    <a:srgbClr val="196B24"/>
                  </a:solidFill>
                  <a:latin typeface="Arial"/>
                </a:rPr>
                <a:t>coherence margin loss</a:t>
              </a:r>
            </a:p>
          </p:txBody>
        </p: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0498DFD7-C019-C1E2-C419-52BBBD10BB47}"/>
                </a:ext>
              </a:extLst>
            </p:cNvPr>
            <p:cNvCxnSpPr>
              <a:cxnSpLocks/>
              <a:stCxn id="21" idx="3"/>
              <a:endCxn id="8" idx="2"/>
            </p:cNvCxnSpPr>
            <p:nvPr/>
          </p:nvCxnSpPr>
          <p:spPr>
            <a:xfrm flipV="1">
              <a:off x="3604681" y="3619839"/>
              <a:ext cx="1235500" cy="344773"/>
            </a:xfrm>
            <a:prstGeom prst="bentConnector2">
              <a:avLst/>
            </a:prstGeom>
            <a:ln w="12700">
              <a:solidFill>
                <a:srgbClr val="196B2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11B9A3F-CC96-382F-42C1-EDD413A00442}"/>
              </a:ext>
            </a:extLst>
          </p:cNvPr>
          <p:cNvGrpSpPr/>
          <p:nvPr/>
        </p:nvGrpSpPr>
        <p:grpSpPr>
          <a:xfrm>
            <a:off x="522815" y="1489287"/>
            <a:ext cx="7997191" cy="2654534"/>
            <a:chOff x="522815" y="1489287"/>
            <a:chExt cx="7997191" cy="2654534"/>
          </a:xfrm>
        </p:grpSpPr>
        <p:sp>
          <p:nvSpPr>
            <p:cNvPr id="3" name="Rounded Rectangle 2"/>
            <p:cNvSpPr/>
            <p:nvPr/>
          </p:nvSpPr>
          <p:spPr>
            <a:xfrm>
              <a:off x="522815" y="2358395"/>
              <a:ext cx="982980" cy="5969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Arial"/>
                </a:rPr>
                <a:t>FAR-Trans</a:t>
              </a:r>
            </a:p>
            <a:p>
              <a:pPr algn="ctr"/>
              <a:r>
                <a:rPr sz="1000" b="1" dirty="0">
                  <a:solidFill>
                    <a:schemeClr val="tx1"/>
                  </a:solidFill>
                  <a:latin typeface="Arial"/>
                </a:rPr>
                <a:t>Data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943099" y="2336805"/>
              <a:ext cx="945727" cy="64008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Arial"/>
                </a:rPr>
                <a:t>Risk-band</a:t>
              </a:r>
            </a:p>
            <a:p>
              <a:pPr algn="ctr"/>
              <a:r>
                <a:rPr sz="1000" b="1" dirty="0">
                  <a:solidFill>
                    <a:schemeClr val="tx1"/>
                  </a:solidFill>
                  <a:latin typeface="Arial"/>
                </a:rPr>
                <a:t>router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989495" y="1489287"/>
              <a:ext cx="1701372" cy="4572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Arial"/>
                </a:rPr>
                <a:t>Conservative sub-model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89495" y="2047071"/>
              <a:ext cx="1701372" cy="4572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Arial"/>
                </a:rPr>
                <a:t>Income sub-model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89495" y="2604855"/>
              <a:ext cx="1701372" cy="4572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Arial"/>
                </a:rPr>
                <a:t>Balanced sub-model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989495" y="3162639"/>
              <a:ext cx="1701372" cy="4572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dirty="0">
                  <a:solidFill>
                    <a:schemeClr val="tx1"/>
                  </a:solidFill>
                  <a:latin typeface="Arial"/>
                </a:rPr>
                <a:t>Aggressive sub-model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71166" y="2016765"/>
              <a:ext cx="2148840" cy="128016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sz="1000" b="1" u="sng" dirty="0">
                  <a:solidFill>
                    <a:schemeClr val="tx1"/>
                  </a:solidFill>
                  <a:latin typeface="Arial"/>
                </a:rPr>
                <a:t>Evaluate o</a:t>
              </a:r>
              <a:r>
                <a:rPr lang="en-SG" sz="1000" b="1" u="sng" dirty="0">
                  <a:solidFill>
                    <a:schemeClr val="tx1"/>
                  </a:solidFill>
                  <a:latin typeface="Arial"/>
                </a:rPr>
                <a:t>n: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00" dirty="0">
                  <a:solidFill>
                    <a:schemeClr val="tx1"/>
                  </a:solidFill>
                  <a:latin typeface="Arial"/>
                </a:rPr>
                <a:t>Ranking accuracy (</a:t>
              </a:r>
              <a:r>
                <a:rPr lang="en-SG" sz="1000" dirty="0" err="1">
                  <a:solidFill>
                    <a:schemeClr val="tx1"/>
                  </a:solidFill>
                  <a:latin typeface="Arial"/>
                </a:rPr>
                <a:t>nDCG</a:t>
              </a:r>
              <a:r>
                <a:rPr lang="en-SG" sz="1000" dirty="0">
                  <a:solidFill>
                    <a:schemeClr val="tx1"/>
                  </a:solidFill>
                  <a:latin typeface="Arial"/>
                </a:rPr>
                <a:t>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00" dirty="0">
                  <a:solidFill>
                    <a:schemeClr val="tx1"/>
                  </a:solidFill>
                  <a:latin typeface="Arial"/>
                </a:rPr>
                <a:t>Returns (ROI)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00" dirty="0">
                  <a:solidFill>
                    <a:schemeClr val="tx1"/>
                  </a:solidFill>
                  <a:latin typeface="Arial"/>
                </a:rPr>
                <a:t>Risk suitability (PC)</a:t>
              </a:r>
            </a:p>
            <a:p>
              <a:pPr marL="171450" indent="-171450" algn="ctr">
                <a:buFontTx/>
                <a:buChar char="-"/>
              </a:pPr>
              <a:endParaRPr lang="en-SG" sz="1000" dirty="0">
                <a:solidFill>
                  <a:schemeClr val="tx1"/>
                </a:solidFill>
                <a:latin typeface="Arial"/>
              </a:endParaRPr>
            </a:p>
            <a:p>
              <a:pPr algn="ctr"/>
              <a:r>
                <a:rPr lang="en-SG" sz="1000" dirty="0">
                  <a:solidFill>
                    <a:schemeClr val="tx1"/>
                  </a:solidFill>
                  <a:latin typeface="Arial"/>
                </a:rPr>
                <a:t>With a </a:t>
              </a:r>
              <a:r>
                <a:rPr sz="1000" dirty="0">
                  <a:solidFill>
                    <a:schemeClr val="tx1"/>
                  </a:solidFill>
                  <a:latin typeface="Arial"/>
                </a:rPr>
                <a:t>harmonic </a:t>
              </a:r>
              <a:r>
                <a:rPr lang="en-SG" sz="1000" dirty="0">
                  <a:solidFill>
                    <a:schemeClr val="tx1"/>
                  </a:solidFill>
                  <a:latin typeface="Arial"/>
                </a:rPr>
                <a:t>balance</a:t>
              </a:r>
              <a:endParaRPr sz="1000" dirty="0">
                <a:solidFill>
                  <a:schemeClr val="tx1"/>
                </a:solidFill>
                <a:latin typeface="Arial"/>
              </a:endParaRPr>
            </a:p>
          </p:txBody>
        </p:sp>
        <p:cxnSp>
          <p:nvCxnSpPr>
            <p:cNvPr id="10" name="Connector 9"/>
            <p:cNvCxnSpPr>
              <a:cxnSpLocks/>
              <a:stCxn id="3" idx="3"/>
              <a:endCxn id="4" idx="1"/>
            </p:cNvCxnSpPr>
            <p:nvPr/>
          </p:nvCxnSpPr>
          <p:spPr>
            <a:xfrm>
              <a:off x="1505795" y="2656845"/>
              <a:ext cx="43730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BF4ED2B7-E02E-A2F7-CE11-B4734E447EB4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>
              <a:off x="2888826" y="2656845"/>
              <a:ext cx="1100669" cy="734394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89235EC7-9DEA-2C3B-8AF7-86D6B4D52073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2888826" y="2656845"/>
              <a:ext cx="1100669" cy="176610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BC1A43FC-6249-3B66-D52D-5606E70EE687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 flipV="1">
              <a:off x="2888826" y="2275671"/>
              <a:ext cx="1100669" cy="381174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98FDB82F-56FA-34FF-FB38-A2A13B1C03F7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 flipV="1">
              <a:off x="2888826" y="1717887"/>
              <a:ext cx="1100669" cy="938958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82775369-4680-E898-0536-D079A7877B6F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5690867" y="2656845"/>
              <a:ext cx="680299" cy="17661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D938682C-574D-8E81-C33D-E0EDCF699FD8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5690867" y="2656845"/>
              <a:ext cx="680299" cy="73439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AC80B136-88A8-3073-6B99-7A49C8903313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5690867" y="2275671"/>
              <a:ext cx="680299" cy="38117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96AFE7B7-E09E-7309-3423-F6F192BC7199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>
              <a:off x="5690867" y="1717887"/>
              <a:ext cx="680299" cy="93895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5F6FBDF-9EFF-F2CB-477E-D53AF6D9EB40}"/>
                    </a:ext>
                  </a:extLst>
                </p:cNvPr>
                <p:cNvSpPr txBox="1"/>
                <p:nvPr/>
              </p:nvSpPr>
              <p:spPr>
                <a:xfrm>
                  <a:off x="6398408" y="3387881"/>
                  <a:ext cx="2094355" cy="3758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000" b="0" i="1" smtClean="0">
                            <a:latin typeface="Cambria Math" panose="02040503050406030204" pitchFamily="18" charset="0"/>
                          </a:rPr>
                          <m:t>𝐵𝑎𝑙𝑎𝑛𝑐𝑒</m:t>
                        </m:r>
                        <m:r>
                          <a:rPr lang="en-SG" sz="1000" b="0" i="1" smtClean="0">
                            <a:latin typeface="Cambria Math" panose="02040503050406030204" pitchFamily="18" charset="0"/>
                          </a:rPr>
                          <m:t>=3</m:t>
                        </m:r>
                        <m:sSup>
                          <m:sSupPr>
                            <m:ctrlPr>
                              <a:rPr lang="en-SG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SG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  <m:t>𝑅𝑂</m:t>
                                    </m:r>
                                    <m:sSup>
                                      <m:sSupPr>
                                        <m:ctrlPr>
                                          <a:rPr lang="en-SG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SG" sz="1000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p>
                                        <m:r>
                                          <a:rPr lang="en-SG" sz="1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SG" sz="1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  <m:t>𝑛𝐷𝐶𝐺</m:t>
                                    </m:r>
                                  </m:den>
                                </m:f>
                                <m:r>
                                  <a:rPr lang="en-SG" sz="1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SG" sz="1000" b="0" i="1" smtClean="0">
                                        <a:latin typeface="Cambria Math" panose="02040503050406030204" pitchFamily="18" charset="0"/>
                                      </a:rPr>
                                      <m:t>𝑃𝐶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SG" sz="1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SG" sz="10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5F6FBDF-9EFF-F2CB-477E-D53AF6D9E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408" y="3387881"/>
                  <a:ext cx="2094355" cy="375872"/>
                </a:xfrm>
                <a:prstGeom prst="rect">
                  <a:avLst/>
                </a:prstGeom>
                <a:blipFill>
                  <a:blip r:embed="rId2"/>
                  <a:stretch>
                    <a:fillRect l="-1166" r="-292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346ECDC-DC6F-8626-21C4-849D4B8D7B39}"/>
                    </a:ext>
                  </a:extLst>
                </p:cNvPr>
                <p:cNvSpPr txBox="1"/>
                <p:nvPr/>
              </p:nvSpPr>
              <p:spPr>
                <a:xfrm>
                  <a:off x="6603478" y="3850086"/>
                  <a:ext cx="1228285" cy="2937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000" b="0" i="1" smtClean="0">
                            <a:latin typeface="Cambria Math" panose="02040503050406030204" pitchFamily="18" charset="0"/>
                          </a:rPr>
                          <m:t>𝑅𝑂</m:t>
                        </m:r>
                        <m:sSup>
                          <m:sSupPr>
                            <m:ctrlPr>
                              <a:rPr lang="en-SG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1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SG" sz="1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SG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SG" sz="1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sz="1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SG" sz="1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SG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SG" sz="1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SG" sz="1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SG" sz="1000" b="0" i="1" smtClean="0">
                                    <a:latin typeface="Cambria Math" panose="02040503050406030204" pitchFamily="18" charset="0"/>
                                  </a:rPr>
                                  <m:t>𝑅𝑂𝐼</m:t>
                                </m:r>
                                <m:r>
                                  <a:rPr lang="en-SG" sz="1000" b="0" i="1" smtClean="0">
                                    <a:latin typeface="Cambria Math" panose="02040503050406030204" pitchFamily="18" charset="0"/>
                                  </a:rPr>
                                  <m:t>/0.01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SG" sz="10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346ECDC-DC6F-8626-21C4-849D4B8D7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478" y="3850086"/>
                  <a:ext cx="1228285" cy="293735"/>
                </a:xfrm>
                <a:prstGeom prst="rect">
                  <a:avLst/>
                </a:prstGeom>
                <a:blipFill>
                  <a:blip r:embed="rId3"/>
                  <a:stretch>
                    <a:fillRect l="-1485" t="-2083" b="-16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7F885DE-D8BC-3937-9E07-CB94757103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6" t="11107" r="13121" b="-1"/>
          <a:stretch>
            <a:fillRect/>
          </a:stretch>
        </p:blipFill>
        <p:spPr>
          <a:xfrm>
            <a:off x="4958423" y="2027707"/>
            <a:ext cx="3369522" cy="23659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Alternative approaches</a:t>
            </a:r>
            <a:endParaRPr sz="2000" b="1" dirty="0">
              <a:solidFill>
                <a:srgbClr val="15608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02919" y="1325879"/>
                <a:ext cx="4093511" cy="2614417"/>
              </a:xfrm>
            </p:spPr>
            <p:txBody>
              <a:bodyPr wrap="square">
                <a:normAutofit/>
              </a:bodyPr>
              <a:lstStyle/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:r>
                  <a:rPr lang="en-GB" b="1" dirty="0">
                    <a:solidFill>
                      <a:srgbClr val="202020"/>
                    </a:solidFill>
                  </a:rPr>
                  <a:t>Approach 1: Adding coherence margin loss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b="0" dirty="0">
                    <a:solidFill>
                      <a:srgbClr val="202020"/>
                    </a:solidFill>
                  </a:rPr>
                  <a:t>Draw a pair of </a:t>
                </a:r>
                <a:r>
                  <a:rPr lang="en-GB" b="1" dirty="0">
                    <a:solidFill>
                      <a:srgbClr val="0E2841"/>
                    </a:solidFill>
                  </a:rPr>
                  <a:t>coherent</a:t>
                </a:r>
                <a:r>
                  <a:rPr lang="en-GB" b="0" dirty="0">
                    <a:solidFill>
                      <a:srgbClr val="20202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b="0" dirty="0">
                    <a:solidFill>
                      <a:srgbClr val="202020"/>
                    </a:solidFill>
                  </a:rPr>
                  <a:t>) and </a:t>
                </a:r>
                <a:r>
                  <a:rPr lang="en-GB" b="1" dirty="0">
                    <a:solidFill>
                      <a:srgbClr val="0E2841"/>
                    </a:solidFill>
                  </a:rPr>
                  <a:t>discordant</a:t>
                </a:r>
                <a:r>
                  <a:rPr lang="en-GB" b="0" dirty="0">
                    <a:solidFill>
                      <a:srgbClr val="20202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dirty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SG" b="0" i="1" dirty="0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202020"/>
                    </a:solidFill>
                  </a:rPr>
                  <a:t>) asset</a:t>
                </a:r>
                <a:r>
                  <a:rPr lang="en-GB" b="0" dirty="0">
                    <a:solidFill>
                      <a:srgbClr val="202020"/>
                    </a:solidFill>
                  </a:rPr>
                  <a:t> to push the coherent score above the discordant one:</a:t>
                </a:r>
              </a:p>
              <a:p>
                <a:pPr marL="228600" inden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buNone/>
                </a:pPr>
                <a:endParaRPr lang="en-GB" dirty="0">
                  <a:solidFill>
                    <a:srgbClr val="20202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GB" b="0" dirty="0">
                  <a:solidFill>
                    <a:srgbClr val="20202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b="0" dirty="0">
                    <a:solidFill>
                      <a:srgbClr val="202020"/>
                    </a:solidFill>
                  </a:rPr>
                  <a:t>Adding the new loss term to original BPR loss and L2 regularizer with weight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SG" b="0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SG" b="0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b="0" dirty="0">
                    <a:solidFill>
                      <a:srgbClr val="202020"/>
                    </a:solidFill>
                  </a:rPr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GB" b="0" dirty="0">
                  <a:solidFill>
                    <a:srgbClr val="202020"/>
                  </a:solidFill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02919" y="1325879"/>
                <a:ext cx="4093511" cy="2614417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F56F9CF-F6B0-7BD7-0EA7-E810F9FA47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FCD42B-4609-8626-48E4-DF0519A0BC2F}"/>
                  </a:ext>
                </a:extLst>
              </p:cNvPr>
              <p:cNvSpPr txBox="1"/>
              <p:nvPr/>
            </p:nvSpPr>
            <p:spPr>
              <a:xfrm>
                <a:off x="1039549" y="2396199"/>
                <a:ext cx="2591350" cy="211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</m:t>
                          </m:r>
                          <m: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𝑒𝑟𝑒𝑛𝑐𝑒</m:t>
                          </m:r>
                        </m:sub>
                      </m:sSub>
                      <m:d>
                        <m:dPr>
                          <m:ctrlP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SG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SG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SG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SG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SG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SG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SG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en-SG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SG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SG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 </m:t>
                                      </m:r>
                                      <m:sSub>
                                        <m:sSubPr>
                                          <m:ctrlPr>
                                            <a:rPr lang="en-SG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SG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SG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SG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SG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ctrlPr>
                                        <a:rPr lang="en-SG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SG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SG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  </m:t>
                                      </m:r>
                                      <m:sSub>
                                        <m:sSubPr>
                                          <m:ctrlPr>
                                            <a:rPr lang="en-SG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SG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FCD42B-4609-8626-48E4-DF0519A0B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49" y="2396199"/>
                <a:ext cx="2591350" cy="211981"/>
              </a:xfrm>
              <a:prstGeom prst="rect">
                <a:avLst/>
              </a:prstGeom>
              <a:blipFill>
                <a:blip r:embed="rId5"/>
                <a:stretch>
                  <a:fillRect l="-706" b="-85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6E9469-2FEC-0BEB-4031-18710982AC20}"/>
                  </a:ext>
                </a:extLst>
              </p:cNvPr>
              <p:cNvSpPr txBox="1"/>
              <p:nvPr/>
            </p:nvSpPr>
            <p:spPr>
              <a:xfrm>
                <a:off x="1039549" y="3505251"/>
                <a:ext cx="2718565" cy="278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sub>
                      </m:sSub>
                      <m:r>
                        <a:rPr lang="en-SG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SG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SG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𝐵𝑃𝑅</m:t>
                              </m:r>
                            </m:sub>
                          </m:sSub>
                          <m: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SG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sSup>
                            <m:sSupPr>
                              <m:ctrlPr>
                                <a:rPr lang="en-SG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SG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SG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SG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SG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SG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SG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SG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</m:t>
                          </m:r>
                          <m:r>
                            <a:rPr lang="en-SG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SG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𝑒𝑟𝑒𝑛𝑐𝑒</m:t>
                          </m:r>
                        </m:sub>
                      </m:sSub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6E9469-2FEC-0BEB-4031-18710982A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49" y="3505251"/>
                <a:ext cx="2718565" cy="278923"/>
              </a:xfrm>
              <a:prstGeom prst="rect">
                <a:avLst/>
              </a:prstGeom>
              <a:blipFill>
                <a:blip r:embed="rId6"/>
                <a:stretch>
                  <a:fillRect l="-674" r="-22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F6170D9-0D2A-CB24-A06E-E6F0776233E7}"/>
              </a:ext>
            </a:extLst>
          </p:cNvPr>
          <p:cNvSpPr txBox="1">
            <a:spLocks/>
          </p:cNvSpPr>
          <p:nvPr/>
        </p:nvSpPr>
        <p:spPr>
          <a:xfrm>
            <a:off x="4596429" y="1325879"/>
            <a:ext cx="4093511" cy="261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b="1" dirty="0">
                <a:solidFill>
                  <a:srgbClr val="202020"/>
                </a:solidFill>
              </a:rPr>
              <a:t>Approach 2: Regrouping Customers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202020"/>
                </a:solidFill>
              </a:rPr>
              <a:t>Regroup customers based on their lower median purchase:</a:t>
            </a:r>
            <a:endParaRPr lang="en-GB" dirty="0">
              <a:solidFill>
                <a:srgbClr val="20202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8" grpId="0" build="allAtOnce"/>
      <p:bldP spid="11" grpId="0" build="allAtOnce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Experimental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Data preparation</a:t>
            </a:r>
            <a:r>
              <a:rPr lang="en-SG" sz="1800" dirty="0"/>
              <a:t> and hyperparameters</a:t>
            </a:r>
            <a:endParaRPr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Normalisation of Profile Coherence metric</a:t>
            </a:r>
            <a:endParaRPr sz="2000" b="1" dirty="0">
              <a:solidFill>
                <a:srgbClr val="15608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02920" y="1325879"/>
                <a:ext cx="8138160" cy="3015776"/>
              </a:xfrm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b="0" dirty="0">
                    <a:solidFill>
                      <a:srgbClr val="202020"/>
                    </a:solidFill>
                    <a:latin typeface="Arial"/>
                  </a:rPr>
                  <a:t>To allow us to compare </a:t>
                </a:r>
                <a:r>
                  <a:rPr lang="en-GB" dirty="0">
                    <a:solidFill>
                      <a:srgbClr val="0E2841"/>
                    </a:solidFill>
                    <a:latin typeface="Arial"/>
                  </a:rPr>
                  <a:t>across bands for our experiments</a:t>
                </a:r>
              </a:p>
              <a:p>
                <a:pPr lvl="1">
                  <a:lnSpc>
                    <a:spcPct val="11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200" b="0" dirty="0">
                    <a:solidFill>
                      <a:srgbClr val="0E2841"/>
                    </a:solidFill>
                  </a:rPr>
                  <a:t>E.g. </a:t>
                </a:r>
                <a:r>
                  <a:rPr lang="en-GB" sz="1200" dirty="0">
                    <a:solidFill>
                      <a:srgbClr val="0E2841"/>
                    </a:solidFill>
                  </a:rPr>
                  <a:t>77.9% of assets sit in Conservative/Income/Balanced band, hence a model assigning Income to everyone scores high in PC metric</a:t>
                </a:r>
                <a:endParaRPr lang="en-GB" sz="1200" b="0" dirty="0">
                  <a:solidFill>
                    <a:srgbClr val="202020"/>
                  </a:solidFill>
                  <a:latin typeface="Arial"/>
                </a:endParaRPr>
              </a:p>
              <a:p>
                <a:pPr>
                  <a:lnSpc>
                    <a:spcPct val="11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dirty="0">
                    <a:solidFill>
                      <a:srgbClr val="202020"/>
                    </a:solidFill>
                  </a:rPr>
                  <a:t>Over a total of 806 assets, the band distribution: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a:rPr lang="en-GB" i="1" dirty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333</m:t>
                    </m:r>
                    <m:r>
                      <a:rPr lang="en-GB" i="1" dirty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a:rPr lang="en-GB" i="1" dirty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178</m:t>
                    </m:r>
                    <m:r>
                      <a:rPr lang="en-GB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20202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dirty="0">
                    <a:solidFill>
                      <a:srgbClr val="0E2841"/>
                    </a:solidFill>
                  </a:rPr>
                  <a:t>Fraction of assets within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SG" b="0" i="1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>
                    <a:solidFill>
                      <a:srgbClr val="202020"/>
                    </a:solidFill>
                  </a:rPr>
                  <a:t> of own band: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SG" b="0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65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78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76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  <m:r>
                      <a:rPr lang="en-SG" i="1" dirty="0" smtClean="0">
                        <a:solidFill>
                          <a:srgbClr val="0E284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>
                  <a:solidFill>
                    <a:srgbClr val="0E2841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SG" dirty="0">
                    <a:solidFill>
                      <a:srgbClr val="202020"/>
                    </a:solidFill>
                  </a:rPr>
                  <a:t>So for a given customer (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SG" dirty="0">
                    <a:solidFill>
                      <a:srgbClr val="202020"/>
                    </a:solidFill>
                  </a:rPr>
                  <a:t>) with risk-band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rgbClr val="202020"/>
                    </a:solidFill>
                  </a:rPr>
                  <a:t>) the normalized PC (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𝑙𝑖𝑓𝑡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rgbClr val="202020"/>
                    </a:solidFill>
                  </a:rPr>
                  <a:t>) is:</a:t>
                </a:r>
              </a:p>
              <a:p>
                <a:pPr>
                  <a:lnSpc>
                    <a:spcPct val="11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endParaRPr lang="en-SG" dirty="0">
                  <a:solidFill>
                    <a:srgbClr val="20202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200"/>
                  </a:spcBef>
                  <a:spcAft>
                    <a:spcPts val="600"/>
                  </a:spcAft>
                </a:pPr>
                <a:r>
                  <a:rPr lang="en-GB" dirty="0">
                    <a:solidFill>
                      <a:srgbClr val="202020"/>
                    </a:solidFill>
                  </a:rPr>
                  <a:t>Aggregate </a:t>
                </a:r>
                <a14:m>
                  <m:oMath xmlns:m="http://schemas.openxmlformats.org/officeDocument/2006/math">
                    <m:r>
                      <a:rPr lang="en-SG" b="0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SG" b="0" i="1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SG" b="0" i="1" smtClean="0">
                            <a:solidFill>
                              <a:srgbClr val="202020"/>
                            </a:solidFill>
                            <a:latin typeface="Cambria Math" panose="02040503050406030204" pitchFamily="18" charset="0"/>
                          </a:rPr>
                          <m:t>𝑙𝑖𝑓𝑡</m:t>
                        </m:r>
                      </m:sub>
                    </m:sSub>
                    <m:r>
                      <a:rPr lang="en-SG" b="0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SG" b="0" i="1" smtClean="0">
                        <a:solidFill>
                          <a:srgbClr val="20202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>
                    <a:solidFill>
                      <a:srgbClr val="202020"/>
                    </a:solidFill>
                  </a:rPr>
                  <a:t> implies the model is more risk coherent than random on average</a:t>
                </a:r>
                <a:endParaRPr lang="en-SG" dirty="0">
                  <a:solidFill>
                    <a:srgbClr val="202020"/>
                  </a:solidFill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02920" y="1325879"/>
                <a:ext cx="8138160" cy="301577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3EF22-AD8B-1430-2781-EA9B76A9E4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EC2ED4-3336-4A66-98C9-79D8B5EBF766}"/>
                  </a:ext>
                </a:extLst>
              </p:cNvPr>
              <p:cNvSpPr txBox="1"/>
              <p:nvPr/>
            </p:nvSpPr>
            <p:spPr>
              <a:xfrm>
                <a:off x="2771121" y="3192324"/>
                <a:ext cx="2959585" cy="448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𝑙𝑖𝑓𝑡</m:t>
                          </m:r>
                        </m:sub>
                      </m:sSub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@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EC2ED4-3336-4A66-98C9-79D8B5EBF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121" y="3192324"/>
                <a:ext cx="2959585" cy="448584"/>
              </a:xfrm>
              <a:prstGeom prst="rect">
                <a:avLst/>
              </a:prstGeom>
              <a:blipFill>
                <a:blip r:embed="rId4"/>
                <a:stretch>
                  <a:fillRect t="-2740" b="-164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64A6E1D3-FC19-CDF3-789B-1D8C9E77C309}"/>
              </a:ext>
            </a:extLst>
          </p:cNvPr>
          <p:cNvSpPr/>
          <p:nvPr/>
        </p:nvSpPr>
        <p:spPr>
          <a:xfrm>
            <a:off x="7246379" y="1140067"/>
            <a:ext cx="1547715" cy="5669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GB" sz="2000" b="1" dirty="0">
                <a:solidFill>
                  <a:srgbClr val="156082"/>
                </a:solidFill>
              </a:rPr>
              <a:t>Data</a:t>
            </a:r>
            <a:r>
              <a:rPr sz="2000" b="1" dirty="0">
                <a:solidFill>
                  <a:srgbClr val="156082"/>
                </a:solidFill>
              </a:rPr>
              <a:t> </a:t>
            </a:r>
            <a:r>
              <a:rPr lang="en-SG" sz="2000" b="1" dirty="0">
                <a:solidFill>
                  <a:srgbClr val="156082"/>
                </a:solidFill>
              </a:rPr>
              <a:t>training test </a:t>
            </a:r>
            <a:r>
              <a:rPr sz="2000" b="1" dirty="0">
                <a:solidFill>
                  <a:srgbClr val="156082"/>
                </a:solidFill>
              </a:rPr>
              <a:t>split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5A862-5934-C007-2D7F-59BD01DEF4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C02D73-3708-657C-148F-3187FB897EFB}"/>
              </a:ext>
            </a:extLst>
          </p:cNvPr>
          <p:cNvSpPr txBox="1"/>
          <p:nvPr/>
        </p:nvSpPr>
        <p:spPr>
          <a:xfrm>
            <a:off x="589717" y="1638449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/>
              <a:t>Split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570E97-8D85-CDD4-FDDE-CBCE2A073689}"/>
              </a:ext>
            </a:extLst>
          </p:cNvPr>
          <p:cNvSpPr txBox="1"/>
          <p:nvPr/>
        </p:nvSpPr>
        <p:spPr>
          <a:xfrm>
            <a:off x="589717" y="1827046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/>
              <a:t>Split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AE6B0-2074-EDC6-D84E-749DA7091ED8}"/>
              </a:ext>
            </a:extLst>
          </p:cNvPr>
          <p:cNvSpPr txBox="1"/>
          <p:nvPr/>
        </p:nvSpPr>
        <p:spPr>
          <a:xfrm>
            <a:off x="589717" y="2015415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/>
              <a:t>Split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5DCD83-08E3-EABA-B191-4628196B8E02}"/>
              </a:ext>
            </a:extLst>
          </p:cNvPr>
          <p:cNvCxnSpPr>
            <a:cxnSpLocks/>
          </p:cNvCxnSpPr>
          <p:nvPr/>
        </p:nvCxnSpPr>
        <p:spPr>
          <a:xfrm flipV="1">
            <a:off x="1333473" y="1361130"/>
            <a:ext cx="7360" cy="2439020"/>
          </a:xfrm>
          <a:prstGeom prst="line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7F7E61-F484-AD5F-C74A-223D9B2B0C3B}"/>
              </a:ext>
            </a:extLst>
          </p:cNvPr>
          <p:cNvCxnSpPr>
            <a:cxnSpLocks/>
          </p:cNvCxnSpPr>
          <p:nvPr/>
        </p:nvCxnSpPr>
        <p:spPr>
          <a:xfrm flipH="1">
            <a:off x="1341447" y="3798718"/>
            <a:ext cx="6874193" cy="1432"/>
          </a:xfrm>
          <a:prstGeom prst="line">
            <a:avLst/>
          </a:prstGeom>
          <a:ln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52EBE49-8058-89A4-8872-0284EF58F8CE}"/>
              </a:ext>
            </a:extLst>
          </p:cNvPr>
          <p:cNvSpPr/>
          <p:nvPr/>
        </p:nvSpPr>
        <p:spPr>
          <a:xfrm>
            <a:off x="7340769" y="1241631"/>
            <a:ext cx="318433" cy="14602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EFF474-68FD-12C1-0482-5B3587869041}"/>
              </a:ext>
            </a:extLst>
          </p:cNvPr>
          <p:cNvSpPr/>
          <p:nvPr/>
        </p:nvSpPr>
        <p:spPr>
          <a:xfrm>
            <a:off x="7340769" y="1429595"/>
            <a:ext cx="318433" cy="146026"/>
          </a:xfrm>
          <a:prstGeom prst="rect">
            <a:avLst/>
          </a:prstGeom>
          <a:solidFill>
            <a:srgbClr val="C692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59D457-4FBC-9AB8-1391-C623FE7F1E9E}"/>
              </a:ext>
            </a:extLst>
          </p:cNvPr>
          <p:cNvSpPr txBox="1"/>
          <p:nvPr/>
        </p:nvSpPr>
        <p:spPr>
          <a:xfrm>
            <a:off x="7630316" y="1374636"/>
            <a:ext cx="911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dirty="0">
                <a:solidFill>
                  <a:srgbClr val="C69213"/>
                </a:solidFill>
              </a:rPr>
              <a:t>Test window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7465D8-1B58-9C17-FC58-19EBB77D3DBE}"/>
              </a:ext>
            </a:extLst>
          </p:cNvPr>
          <p:cNvSpPr txBox="1"/>
          <p:nvPr/>
        </p:nvSpPr>
        <p:spPr>
          <a:xfrm>
            <a:off x="7630315" y="1197484"/>
            <a:ext cx="11208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dirty="0">
                <a:solidFill>
                  <a:srgbClr val="156082"/>
                </a:solidFill>
              </a:rPr>
              <a:t>Training window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419E54-8F2A-320D-EB89-667F86D9C0E0}"/>
              </a:ext>
            </a:extLst>
          </p:cNvPr>
          <p:cNvSpPr txBox="1"/>
          <p:nvPr/>
        </p:nvSpPr>
        <p:spPr>
          <a:xfrm>
            <a:off x="589717" y="2710152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/>
              <a:t>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61A1F8-79E5-B70D-2DAA-ADA1206E88A3}"/>
              </a:ext>
            </a:extLst>
          </p:cNvPr>
          <p:cNvSpPr txBox="1"/>
          <p:nvPr/>
        </p:nvSpPr>
        <p:spPr>
          <a:xfrm>
            <a:off x="588490" y="3557359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/>
              <a:t>Split 69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4F0F340-F5CF-DF01-5ABC-4079094CA13B}"/>
              </a:ext>
            </a:extLst>
          </p:cNvPr>
          <p:cNvGrpSpPr/>
          <p:nvPr/>
        </p:nvGrpSpPr>
        <p:grpSpPr>
          <a:xfrm>
            <a:off x="3994251" y="1645160"/>
            <a:ext cx="4317050" cy="2405048"/>
            <a:chOff x="3994251" y="1645160"/>
            <a:chExt cx="4317050" cy="240504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48129D4-0256-17DE-67AF-0AAB3E04DDDE}"/>
                </a:ext>
              </a:extLst>
            </p:cNvPr>
            <p:cNvSpPr/>
            <p:nvPr/>
          </p:nvSpPr>
          <p:spPr>
            <a:xfrm>
              <a:off x="6736098" y="3425212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170110F-F485-301F-130B-2ACA63C123C9}"/>
                </a:ext>
              </a:extLst>
            </p:cNvPr>
            <p:cNvSpPr/>
            <p:nvPr/>
          </p:nvSpPr>
          <p:spPr>
            <a:xfrm>
              <a:off x="6890573" y="3607456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242E17C-C77D-4F8B-300D-2E776ECD7146}"/>
                </a:ext>
              </a:extLst>
            </p:cNvPr>
            <p:cNvSpPr/>
            <p:nvPr/>
          </p:nvSpPr>
          <p:spPr>
            <a:xfrm>
              <a:off x="3994251" y="1696241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6DBF6EC-B0AF-B858-39B1-311CD1FA5B49}"/>
                </a:ext>
              </a:extLst>
            </p:cNvPr>
            <p:cNvSpPr/>
            <p:nvPr/>
          </p:nvSpPr>
          <p:spPr>
            <a:xfrm>
              <a:off x="4148721" y="1885653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27EE185-0341-FD03-09B4-D0480F85376D}"/>
                </a:ext>
              </a:extLst>
            </p:cNvPr>
            <p:cNvSpPr/>
            <p:nvPr/>
          </p:nvSpPr>
          <p:spPr>
            <a:xfrm>
              <a:off x="4303200" y="2074250"/>
              <a:ext cx="699964" cy="146026"/>
            </a:xfrm>
            <a:prstGeom prst="rect">
              <a:avLst/>
            </a:prstGeom>
            <a:solidFill>
              <a:srgbClr val="C692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4C6C6AD-3E11-E2D5-4D15-A7A1101DC7D2}"/>
                </a:ext>
              </a:extLst>
            </p:cNvPr>
            <p:cNvSpPr txBox="1"/>
            <p:nvPr/>
          </p:nvSpPr>
          <p:spPr>
            <a:xfrm>
              <a:off x="4855239" y="1645160"/>
              <a:ext cx="17263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00" dirty="0">
                  <a:solidFill>
                    <a:srgbClr val="C69213"/>
                  </a:solidFill>
                </a:rPr>
                <a:t>Each test window is ~5.5 months (semi-annual)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8922A21-639D-5BC8-433B-26609E7C741B}"/>
                </a:ext>
              </a:extLst>
            </p:cNvPr>
            <p:cNvSpPr txBox="1"/>
            <p:nvPr/>
          </p:nvSpPr>
          <p:spPr>
            <a:xfrm>
              <a:off x="6869773" y="3803987"/>
              <a:ext cx="144152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C69213"/>
                  </a:solidFill>
                </a:rPr>
                <a:t>May 2022 (End)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D4808D38-459A-37A7-1DB4-73AD30528F80}"/>
              </a:ext>
            </a:extLst>
          </p:cNvPr>
          <p:cNvSpPr txBox="1"/>
          <p:nvPr/>
        </p:nvSpPr>
        <p:spPr>
          <a:xfrm>
            <a:off x="588490" y="3370606"/>
            <a:ext cx="759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SG" sz="1000" dirty="0"/>
              <a:t>Split 68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D3D5BBB-0DA0-59AC-1DAF-8907423904B1}"/>
              </a:ext>
            </a:extLst>
          </p:cNvPr>
          <p:cNvGrpSpPr/>
          <p:nvPr/>
        </p:nvGrpSpPr>
        <p:grpSpPr>
          <a:xfrm>
            <a:off x="769925" y="1454860"/>
            <a:ext cx="6120648" cy="2593917"/>
            <a:chOff x="769925" y="1454860"/>
            <a:chExt cx="6120648" cy="25939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50E7D6-8869-9768-2D36-9C9A89286DC8}"/>
                </a:ext>
              </a:extLst>
            </p:cNvPr>
            <p:cNvSpPr txBox="1"/>
            <p:nvPr/>
          </p:nvSpPr>
          <p:spPr>
            <a:xfrm>
              <a:off x="769925" y="3802556"/>
              <a:ext cx="112937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156082"/>
                  </a:solidFill>
                </a:rPr>
                <a:t>Jan 2018 (Start)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9DD7C92-19DA-B49A-E39C-58EF42C2B5E3}"/>
                </a:ext>
              </a:extLst>
            </p:cNvPr>
            <p:cNvSpPr/>
            <p:nvPr/>
          </p:nvSpPr>
          <p:spPr>
            <a:xfrm>
              <a:off x="1340219" y="3607456"/>
              <a:ext cx="4203061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664888-C18E-75F7-665C-22273857DB22}"/>
                </a:ext>
              </a:extLst>
            </p:cNvPr>
            <p:cNvSpPr/>
            <p:nvPr/>
          </p:nvSpPr>
          <p:spPr>
            <a:xfrm>
              <a:off x="1341446" y="1696241"/>
              <a:ext cx="2652803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21905A-344E-B9EE-DCF9-23F7D4222AD7}"/>
                </a:ext>
              </a:extLst>
            </p:cNvPr>
            <p:cNvSpPr/>
            <p:nvPr/>
          </p:nvSpPr>
          <p:spPr>
            <a:xfrm>
              <a:off x="1341446" y="1884838"/>
              <a:ext cx="2807275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2BEE15-3DC4-F7CF-280D-5B1C0BAA6B04}"/>
                </a:ext>
              </a:extLst>
            </p:cNvPr>
            <p:cNvSpPr/>
            <p:nvPr/>
          </p:nvSpPr>
          <p:spPr>
            <a:xfrm>
              <a:off x="1341446" y="2073435"/>
              <a:ext cx="2961753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0013238-C90D-7CF4-9753-366A0B69C1D4}"/>
                </a:ext>
              </a:extLst>
            </p:cNvPr>
            <p:cNvSpPr txBox="1"/>
            <p:nvPr/>
          </p:nvSpPr>
          <p:spPr>
            <a:xfrm>
              <a:off x="1330038" y="1454860"/>
              <a:ext cx="21477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00" dirty="0">
                  <a:solidFill>
                    <a:srgbClr val="156082"/>
                  </a:solidFill>
                </a:rPr>
                <a:t>Cumulative buys before cutoff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226B50A-046C-D024-D881-49539A6881BE}"/>
                </a:ext>
              </a:extLst>
            </p:cNvPr>
            <p:cNvSpPr txBox="1"/>
            <p:nvPr/>
          </p:nvSpPr>
          <p:spPr>
            <a:xfrm>
              <a:off x="5272425" y="3557359"/>
              <a:ext cx="824155" cy="2462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SG" sz="1000" dirty="0"/>
                <a:t>…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1156D8A-5F01-5F09-B19A-DCB9D7F49A72}"/>
                </a:ext>
              </a:extLst>
            </p:cNvPr>
            <p:cNvSpPr/>
            <p:nvPr/>
          </p:nvSpPr>
          <p:spPr>
            <a:xfrm>
              <a:off x="5796162" y="3607456"/>
              <a:ext cx="1094411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D9DE5C-B769-CEBA-4253-5661C0418CFD}"/>
                </a:ext>
              </a:extLst>
            </p:cNvPr>
            <p:cNvSpPr/>
            <p:nvPr/>
          </p:nvSpPr>
          <p:spPr>
            <a:xfrm>
              <a:off x="1330038" y="3425212"/>
              <a:ext cx="4203061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F84077A-4E6C-EB8B-7136-01B73BCB1FB6}"/>
                </a:ext>
              </a:extLst>
            </p:cNvPr>
            <p:cNvSpPr/>
            <p:nvPr/>
          </p:nvSpPr>
          <p:spPr>
            <a:xfrm>
              <a:off x="5785982" y="3425212"/>
              <a:ext cx="950116" cy="146026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D31FD1E-4034-402D-D2A7-6886535B2E8A}"/>
                </a:ext>
              </a:extLst>
            </p:cNvPr>
            <p:cNvSpPr txBox="1"/>
            <p:nvPr/>
          </p:nvSpPr>
          <p:spPr>
            <a:xfrm>
              <a:off x="5272425" y="3354435"/>
              <a:ext cx="824155" cy="2462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SG" sz="1000" dirty="0"/>
                <a:t>…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5DBC93B-CCB5-17E2-9919-F877211B5872}"/>
              </a:ext>
            </a:extLst>
          </p:cNvPr>
          <p:cNvGrpSpPr/>
          <p:nvPr/>
        </p:nvGrpSpPr>
        <p:grpSpPr>
          <a:xfrm>
            <a:off x="2745082" y="1189965"/>
            <a:ext cx="4690980" cy="3239388"/>
            <a:chOff x="2745082" y="1189965"/>
            <a:chExt cx="4690980" cy="323938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EDA0AEE-41E5-1444-F7C4-166921CC5805}"/>
                </a:ext>
              </a:extLst>
            </p:cNvPr>
            <p:cNvSpPr txBox="1"/>
            <p:nvPr/>
          </p:nvSpPr>
          <p:spPr>
            <a:xfrm>
              <a:off x="3747845" y="4029243"/>
              <a:ext cx="8241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FF0000"/>
                  </a:solidFill>
                </a:rPr>
                <a:t>1</a:t>
              </a:r>
              <a:r>
                <a:rPr lang="en-SG" sz="1000" baseline="30000" dirty="0">
                  <a:solidFill>
                    <a:srgbClr val="FF0000"/>
                  </a:solidFill>
                </a:rPr>
                <a:t>st</a:t>
              </a:r>
              <a:r>
                <a:rPr lang="en-SG" sz="1000" dirty="0">
                  <a:solidFill>
                    <a:srgbClr val="FF0000"/>
                  </a:solidFill>
                </a:rPr>
                <a:t> cutoff</a:t>
              </a:r>
            </a:p>
            <a:p>
              <a:pPr algn="ctr"/>
              <a:r>
                <a:rPr lang="en-SG" sz="1000" dirty="0">
                  <a:solidFill>
                    <a:srgbClr val="FF0000"/>
                  </a:solidFill>
                </a:rPr>
                <a:t>Aug 2019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1FFDDEE-AC5E-D96E-DBF6-AC05DE84A3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250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E162664-53AD-949C-45C4-701837F14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8726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A9667-E42C-F32F-4A80-2523411F90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3201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EAAB8B5-D58D-44F3-DFFA-84D48BF0077E}"/>
                </a:ext>
              </a:extLst>
            </p:cNvPr>
            <p:cNvSpPr txBox="1"/>
            <p:nvPr/>
          </p:nvSpPr>
          <p:spPr>
            <a:xfrm>
              <a:off x="2745082" y="1189965"/>
              <a:ext cx="295421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00" dirty="0">
                  <a:solidFill>
                    <a:srgbClr val="FF0000"/>
                  </a:solidFill>
                </a:rPr>
                <a:t>Each cutoff walk forwards ~13 days (biweekly)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E3F0AE-0764-24E5-AEB8-6B415E32D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0573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B8F440A-666A-44FC-90A6-FCF83A5624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6098" y="1472718"/>
              <a:ext cx="0" cy="231240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3193DAA-723B-9ED4-A88E-8BA9B4B00792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3994249" y="3798718"/>
              <a:ext cx="165674" cy="2305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D54FDFF-CA52-2618-05D6-2387A1797595}"/>
                </a:ext>
              </a:extLst>
            </p:cNvPr>
            <p:cNvSpPr txBox="1"/>
            <p:nvPr/>
          </p:nvSpPr>
          <p:spPr>
            <a:xfrm>
              <a:off x="6611907" y="4029243"/>
              <a:ext cx="8241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dirty="0">
                  <a:solidFill>
                    <a:srgbClr val="FF0000"/>
                  </a:solidFill>
                </a:rPr>
                <a:t>Last cutoff</a:t>
              </a:r>
            </a:p>
            <a:p>
              <a:pPr algn="ctr"/>
              <a:r>
                <a:rPr lang="en-SG" sz="1000" dirty="0">
                  <a:solidFill>
                    <a:srgbClr val="FF0000"/>
                  </a:solidFill>
                </a:rPr>
                <a:t>Dec 2021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BA83B05-3069-1092-8DC0-0B29C1C9FEDB}"/>
                </a:ext>
              </a:extLst>
            </p:cNvPr>
            <p:cNvCxnSpPr>
              <a:cxnSpLocks/>
              <a:endCxn id="108" idx="0"/>
            </p:cNvCxnSpPr>
            <p:nvPr/>
          </p:nvCxnSpPr>
          <p:spPr>
            <a:xfrm>
              <a:off x="6890573" y="3798718"/>
              <a:ext cx="133412" cy="23052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Configurations &amp; hyperparameter grids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2919" y="3329675"/>
            <a:ext cx="8266177" cy="1513516"/>
          </a:xfrm>
        </p:spPr>
        <p:txBody>
          <a:bodyPr wrap="square">
            <a:normAutofit/>
          </a:bodyPr>
          <a:lstStyle/>
          <a:p>
            <a:pPr marL="228600" indent="0">
              <a:spcBef>
                <a:spcPts val="200"/>
              </a:spcBef>
              <a:spcAft>
                <a:spcPts val="600"/>
              </a:spcAft>
              <a:buNone/>
            </a:pPr>
            <a:r>
              <a:rPr lang="en-SG" b="1" dirty="0">
                <a:solidFill>
                  <a:srgbClr val="202020"/>
                </a:solidFill>
              </a:rPr>
              <a:t>With the best LightGCN setting:</a:t>
            </a:r>
            <a:endParaRPr lang="en-SG" b="1" dirty="0">
              <a:solidFill>
                <a:srgbClr val="202020"/>
              </a:solidFill>
              <a:latin typeface="Arial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202020"/>
                </a:solidFill>
              </a:rPr>
              <a:t>LightGCN with risk-based segmentation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b="0" dirty="0">
                <a:solidFill>
                  <a:srgbClr val="202020"/>
                </a:solidFill>
                <a:latin typeface="Arial"/>
              </a:rPr>
              <a:t>LightGC</a:t>
            </a:r>
            <a:r>
              <a:rPr lang="en-SG" dirty="0">
                <a:solidFill>
                  <a:srgbClr val="202020"/>
                </a:solidFill>
              </a:rPr>
              <a:t>N with risk-based segmentation + Coherence margin loss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202020"/>
                </a:solidFill>
              </a:rPr>
              <a:t>LightGCN with risk-based segmentation + Customer risk-band regrouping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202020"/>
                </a:solidFill>
              </a:rPr>
              <a:t>LightGCN with risk-based segmentation + Both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SG" dirty="0">
              <a:solidFill>
                <a:srgbClr val="202020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SG" b="0" dirty="0">
              <a:solidFill>
                <a:srgbClr val="202020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351368"/>
              </p:ext>
            </p:extLst>
          </p:nvPr>
        </p:nvGraphicFramePr>
        <p:xfrm>
          <a:off x="1798352" y="1916053"/>
          <a:ext cx="5547295" cy="12738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0341">
                  <a:extLst>
                    <a:ext uri="{9D8B030D-6E8A-4147-A177-3AD203B41FA5}">
                      <a16:colId xmlns:a16="http://schemas.microsoft.com/office/drawing/2014/main" val="170166288"/>
                    </a:ext>
                  </a:extLst>
                </a:gridCol>
                <a:gridCol w="2295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313">
                <a:tc>
                  <a:txBody>
                    <a:bodyPr/>
                    <a:lstStyle/>
                    <a:p>
                      <a:pPr algn="ctr"/>
                      <a:r>
                        <a:rPr lang="en-SG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Param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Search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313"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LightGCN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Dimension of Embedding layers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64, 128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313"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LightGCN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Number of layers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2, 3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313"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LightGCN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Learning rate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0.01</a:t>
                      </a:r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, </a:t>
                      </a:r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0.001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0.001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313"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Random Forest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Number of estimators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20,</a:t>
                      </a:r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 </a:t>
                      </a:r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30,</a:t>
                      </a:r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 </a:t>
                      </a:r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40,</a:t>
                      </a:r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 </a:t>
                      </a:r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Random Forest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Maximum tree depth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15, 25, 50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9EEDC-5E6D-A553-E028-04B81E7FB3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627457E-CF4F-72CB-2CF8-E8A545635240}"/>
              </a:ext>
            </a:extLst>
          </p:cNvPr>
          <p:cNvSpPr txBox="1">
            <a:spLocks/>
          </p:cNvSpPr>
          <p:nvPr/>
        </p:nvSpPr>
        <p:spPr>
          <a:xfrm>
            <a:off x="502919" y="1280160"/>
            <a:ext cx="8266177" cy="190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202020"/>
                </a:solidFill>
              </a:rPr>
              <a:t>Random Forest (scored highest return in original paper)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dirty="0">
                <a:solidFill>
                  <a:srgbClr val="202020"/>
                </a:solidFill>
              </a:rPr>
              <a:t>LightGCN (scored highest ranking accuracy in original paper)</a:t>
            </a:r>
          </a:p>
          <a:p>
            <a:pPr marL="228600" indent="0">
              <a:spcBef>
                <a:spcPts val="200"/>
              </a:spcBef>
              <a:spcAft>
                <a:spcPts val="600"/>
              </a:spcAft>
              <a:buNone/>
            </a:pPr>
            <a:endParaRPr lang="en-SG" dirty="0">
              <a:solidFill>
                <a:srgbClr val="20202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Result</a:t>
            </a:r>
            <a:r>
              <a:rPr lang="en-SG" b="1" dirty="0"/>
              <a:t>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Findings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Aggregate results over 69 splits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391052"/>
              </p:ext>
            </p:extLst>
          </p:nvPr>
        </p:nvGraphicFramePr>
        <p:xfrm>
          <a:off x="728548" y="1379721"/>
          <a:ext cx="7686903" cy="3201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3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36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Ranking Accuracy</a:t>
                      </a:r>
                    </a:p>
                    <a:p>
                      <a:pPr algn="ctr"/>
                      <a:r>
                        <a:rPr lang="en-GB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nDCG@10</a:t>
                      </a:r>
                      <a:endParaRPr sz="1000" b="0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Returns</a:t>
                      </a:r>
                    </a:p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ROI@10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Risk Suitability</a:t>
                      </a:r>
                    </a:p>
                    <a:p>
                      <a:pPr algn="ctr"/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PC@10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Harmonic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Balance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Normalized PC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 algn="l"/>
                      <a:r>
                        <a:rPr lang="en-GB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Random Forest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0.019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+0.014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0.054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1.06×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 algn="l"/>
                      <a:r>
                        <a:rPr lang="en-GB" sz="1000" b="0" dirty="0" err="1">
                          <a:solidFill>
                            <a:srgbClr val="202020"/>
                          </a:solidFill>
                          <a:latin typeface="Arial"/>
                        </a:rPr>
                        <a:t>LightGCN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0.330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−0.005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0.794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0.428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1.17×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n-SG" sz="1000" dirty="0">
                          <a:solidFill>
                            <a:srgbClr val="202020"/>
                          </a:solidFill>
                        </a:rPr>
                        <a:t>LightGCN with risk-based segmentation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0.332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−0.007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0.821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0.411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1.19×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n-SG" sz="1000" b="0" dirty="0">
                          <a:solidFill>
                            <a:srgbClr val="202020"/>
                          </a:solidFill>
                          <a:latin typeface="+mn-lt"/>
                        </a:rPr>
                        <a:t>LightGC</a:t>
                      </a:r>
                      <a:r>
                        <a:rPr lang="en-SG" sz="1000" dirty="0">
                          <a:solidFill>
                            <a:srgbClr val="202020"/>
                          </a:solidFill>
                        </a:rPr>
                        <a:t>N with risk-based segmentation + Coherence margin loss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0.309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−0.007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0.918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0.407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1.40×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n-SG" sz="1000" dirty="0">
                          <a:solidFill>
                            <a:srgbClr val="202020"/>
                          </a:solidFill>
                        </a:rPr>
                        <a:t>LightGCN with risk-based segmentation + Customer risk-band regrouping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0.352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−0.006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0.949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020"/>
                          </a:solidFill>
                          <a:latin typeface="Arial"/>
                        </a:rPr>
                        <a:t>0.452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202020"/>
                          </a:solidFill>
                          <a:latin typeface="Arial"/>
                        </a:rPr>
                        <a:t>-</a:t>
                      </a:r>
                      <a:endParaRPr sz="1000" b="1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6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n-SG" sz="1000" dirty="0">
                          <a:solidFill>
                            <a:srgbClr val="202020"/>
                          </a:solidFill>
                        </a:rPr>
                        <a:t>LightGCN with risk-based segmentation + Both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0.333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−0.005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0.982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0.444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solidFill>
                            <a:srgbClr val="202020"/>
                          </a:solidFill>
                          <a:latin typeface="Arial"/>
                        </a:rPr>
                        <a:t>-</a:t>
                      </a:r>
                      <a:endParaRPr sz="100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D68F2-B7C2-2183-55CD-9075467245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GB" sz="2000" b="1" dirty="0">
                <a:solidFill>
                  <a:srgbClr val="156082"/>
                </a:solidFill>
              </a:rPr>
              <a:t>Visualization of the delta compared to baseline </a:t>
            </a:r>
            <a:r>
              <a:rPr lang="en-GB" sz="2000" b="1" dirty="0" err="1">
                <a:solidFill>
                  <a:srgbClr val="156082"/>
                </a:solidFill>
              </a:rPr>
              <a:t>LightGCN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D1513-502C-AFF8-974F-36079FDBA0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3870A-FC3C-73AF-F43B-F8AB45E9F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781" y="1247561"/>
            <a:ext cx="6093813" cy="351970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>
            <a:normAutofit/>
          </a:bodyPr>
          <a:lstStyle/>
          <a:p>
            <a:r>
              <a:rPr lang="en-GB" sz="2000" b="1" dirty="0">
                <a:solidFill>
                  <a:srgbClr val="156082"/>
                </a:solidFill>
              </a:rPr>
              <a:t>Normalized Profile Coherence at band-level</a:t>
            </a:r>
            <a:endParaRPr sz="2000" b="1" dirty="0">
              <a:solidFill>
                <a:srgbClr val="15608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308700"/>
              </p:ext>
            </p:extLst>
          </p:nvPr>
        </p:nvGraphicFramePr>
        <p:xfrm>
          <a:off x="502920" y="1506265"/>
          <a:ext cx="8266176" cy="205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9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6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6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6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6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5604"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Risk band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Random Forest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LightGCN</a:t>
                      </a:r>
                      <a:endParaRPr sz="1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LightGCN with risk-based seg.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LightGCN</a:t>
                      </a: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 with risk-based seg. + Coherence margin loss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LightGCN</a:t>
                      </a: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 with risk-based seg. + Customer risk-band regrouping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LightGCN</a:t>
                      </a:r>
                      <a:r>
                        <a:rPr lang="en-GB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 with risk-based seg. + Both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Conservative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Income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1.13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1.25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Balanced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Aggressive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1.88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1.35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1.17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1.97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020"/>
                          </a:solidFill>
                          <a:latin typeface="Arial"/>
                        </a:rPr>
                        <a:t>2.24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02020"/>
                          </a:solidFill>
                          <a:latin typeface="Arial"/>
                        </a:rPr>
                        <a:t>2.68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12385-B588-C5A8-4F7A-DFC6E9E13F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/>
              <a:t>Conclusion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SG" sz="1800" dirty="0"/>
              <a:t>Limitations and Future Work</a:t>
            </a:r>
            <a:endParaRPr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sz="2000" b="1" dirty="0">
                <a:solidFill>
                  <a:srgbClr val="156082"/>
                </a:solidFill>
              </a:rPr>
              <a:t>Limitations &amp;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04620"/>
            <a:ext cx="7882127" cy="3063240"/>
          </a:xfrm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b="1" dirty="0">
                <a:solidFill>
                  <a:schemeClr val="tx1"/>
                </a:solidFill>
                <a:latin typeface="Arial"/>
              </a:rPr>
              <a:t>Robustness of Methodology</a:t>
            </a:r>
            <a:endParaRPr lang="en-SG" b="1" dirty="0">
              <a:solidFill>
                <a:schemeClr val="tx1"/>
              </a:solidFill>
            </a:endParaRPr>
          </a:p>
          <a:p>
            <a:pPr marL="971550" lvl="1" indent="-2857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tx1"/>
                </a:solidFill>
                <a:latin typeface="Arial"/>
              </a:rPr>
              <a:t>Only </a:t>
            </a:r>
            <a:r>
              <a:rPr lang="en-SG" sz="1200" dirty="0">
                <a:solidFill>
                  <a:schemeClr val="tx1"/>
                </a:solidFill>
              </a:rPr>
              <a:t>L</a:t>
            </a:r>
            <a:r>
              <a:rPr lang="en-SG" sz="1200" dirty="0">
                <a:solidFill>
                  <a:schemeClr val="tx1"/>
                </a:solidFill>
                <a:latin typeface="Arial"/>
              </a:rPr>
              <a:t>ightGCN experimented on</a:t>
            </a:r>
          </a:p>
          <a:p>
            <a:pPr marL="971550" lvl="1" indent="-2857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tx1"/>
                </a:solidFill>
              </a:rPr>
              <a:t>Lack of full pareto sweep for the coherence margin loss function</a:t>
            </a:r>
            <a:endParaRPr sz="1200" dirty="0">
              <a:solidFill>
                <a:schemeClr val="tx1"/>
              </a:solidFill>
              <a:latin typeface="Arial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GB" b="1" dirty="0">
                <a:solidFill>
                  <a:schemeClr val="tx1"/>
                </a:solidFill>
                <a:latin typeface="Arial"/>
              </a:rPr>
              <a:t>Regrouping leakage</a:t>
            </a:r>
          </a:p>
          <a:p>
            <a:pPr marL="971550" lvl="1" indent="-2857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R</a:t>
            </a:r>
            <a:r>
              <a:rPr lang="en-GB" sz="1200" dirty="0">
                <a:solidFill>
                  <a:schemeClr val="tx1"/>
                </a:solidFill>
                <a:latin typeface="Arial"/>
              </a:rPr>
              <a:t>evealed bands use entire buy history of a customer</a:t>
            </a:r>
            <a:endParaRPr lang="en-GB" sz="1200" dirty="0">
              <a:solidFill>
                <a:schemeClr val="tx1"/>
              </a:solidFill>
            </a:endParaRPr>
          </a:p>
          <a:p>
            <a:pPr marL="971550" lvl="1" indent="-2857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tx1"/>
                </a:solidFill>
              </a:rPr>
              <a:t>Future work to implement a p</a:t>
            </a:r>
            <a:r>
              <a:rPr sz="1200" dirty="0">
                <a:solidFill>
                  <a:schemeClr val="tx1"/>
                </a:solidFill>
                <a:latin typeface="Arial"/>
              </a:rPr>
              <a:t>er-split rolling variant using only training-window buys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SG" b="1" dirty="0">
                <a:solidFill>
                  <a:schemeClr val="tx1"/>
                </a:solidFill>
                <a:latin typeface="Arial"/>
              </a:rPr>
              <a:t>Associative premium</a:t>
            </a:r>
            <a:endParaRPr lang="en-SG" b="1" dirty="0">
              <a:solidFill>
                <a:schemeClr val="tx1"/>
              </a:solidFill>
            </a:endParaRPr>
          </a:p>
          <a:p>
            <a:pPr marL="971550" lvl="1" indent="-2857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tx1"/>
                </a:solidFill>
                <a:latin typeface="Arial"/>
              </a:rPr>
              <a:t>Conduct a </a:t>
            </a:r>
            <a:r>
              <a:rPr lang="en-SG" sz="1200" dirty="0">
                <a:solidFill>
                  <a:schemeClr val="tx1"/>
                </a:solidFill>
              </a:rPr>
              <a:t>Difference-in-Differences (</a:t>
            </a:r>
            <a:r>
              <a:rPr lang="en-SG" sz="1200" dirty="0" err="1">
                <a:solidFill>
                  <a:schemeClr val="tx1"/>
                </a:solidFill>
              </a:rPr>
              <a:t>DiD</a:t>
            </a:r>
            <a:r>
              <a:rPr lang="en-SG" sz="1200" dirty="0">
                <a:solidFill>
                  <a:schemeClr val="tx1"/>
                </a:solidFill>
              </a:rPr>
              <a:t>) regression to estimate causal effects</a:t>
            </a:r>
            <a:endParaRPr lang="en-SG" sz="120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ACE9B-0649-82A9-6301-E239D84E10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Conclusion</a:t>
            </a:r>
            <a:endParaRPr sz="2000" b="1" dirty="0">
              <a:solidFill>
                <a:srgbClr val="15608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0936" y="1417320"/>
            <a:ext cx="7882127" cy="2976372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b="1" dirty="0">
                <a:solidFill>
                  <a:schemeClr val="tx1"/>
                </a:solidFill>
                <a:latin typeface="Arial"/>
              </a:rPr>
              <a:t>Central finding</a:t>
            </a:r>
            <a:endParaRPr lang="en-SG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0" dirty="0">
                <a:solidFill>
                  <a:schemeClr val="tx1"/>
                </a:solidFill>
                <a:latin typeface="Arial"/>
              </a:rPr>
              <a:t>A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recommender</a:t>
            </a:r>
            <a:r>
              <a:rPr lang="en-SG" sz="1200" b="0" dirty="0">
                <a:solidFill>
                  <a:schemeClr val="tx1"/>
                </a:solidFill>
                <a:latin typeface="Arial"/>
              </a:rPr>
              <a:t> system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 can be made </a:t>
            </a:r>
            <a:r>
              <a:rPr lang="en-SG" sz="1200" b="0" dirty="0">
                <a:solidFill>
                  <a:schemeClr val="tx1"/>
                </a:solidFill>
                <a:latin typeface="Arial"/>
              </a:rPr>
              <a:t>risk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suitable while </a:t>
            </a:r>
            <a:r>
              <a:rPr lang="en-SG" sz="1200" dirty="0">
                <a:solidFill>
                  <a:schemeClr val="tx1"/>
                </a:solidFill>
                <a:latin typeface="Arial"/>
              </a:rPr>
              <a:t>improving</a:t>
            </a:r>
            <a:r>
              <a:rPr lang="en-SG" sz="1200" b="1" dirty="0">
                <a:solidFill>
                  <a:schemeClr val="tx1"/>
                </a:solidFill>
                <a:latin typeface="Arial"/>
              </a:rPr>
              <a:t>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accuracy and return</a:t>
            </a:r>
            <a:endParaRPr lang="en-SG" sz="12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tx1"/>
                </a:solidFill>
              </a:rPr>
              <a:t>Customer r</a:t>
            </a:r>
            <a:r>
              <a:rPr lang="en-SG" sz="1200" dirty="0">
                <a:solidFill>
                  <a:schemeClr val="tx1"/>
                </a:solidFill>
                <a:latin typeface="Arial"/>
              </a:rPr>
              <a:t>egrouping </a:t>
            </a:r>
            <a:r>
              <a:rPr lang="en-SG" sz="1200" dirty="0">
                <a:solidFill>
                  <a:schemeClr val="tx1"/>
                </a:solidFill>
              </a:rPr>
              <a:t>approach raises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 </a:t>
            </a:r>
            <a:r>
              <a:rPr lang="en-SG" sz="1200" b="0" dirty="0">
                <a:solidFill>
                  <a:schemeClr val="tx1"/>
                </a:solidFill>
                <a:latin typeface="Arial"/>
              </a:rPr>
              <a:t>risk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suitability</a:t>
            </a:r>
            <a:r>
              <a:rPr lang="en-SG" sz="1200" b="0" dirty="0">
                <a:solidFill>
                  <a:schemeClr val="tx1"/>
                </a:solidFill>
                <a:latin typeface="Arial"/>
              </a:rPr>
              <a:t> and ranking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 accuracy at no cost to return</a:t>
            </a:r>
            <a:endParaRPr lang="en-SG" sz="12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0" dirty="0">
                <a:solidFill>
                  <a:schemeClr val="tx1"/>
                </a:solidFill>
                <a:latin typeface="Arial"/>
              </a:rPr>
              <a:t>Coherence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margin loss </a:t>
            </a:r>
            <a:r>
              <a:rPr lang="en-SG" sz="1200" dirty="0">
                <a:solidFill>
                  <a:schemeClr val="tx1"/>
                </a:solidFill>
              </a:rPr>
              <a:t>approach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buys </a:t>
            </a:r>
            <a:r>
              <a:rPr lang="en-SG" sz="1200" b="0" dirty="0">
                <a:solidFill>
                  <a:schemeClr val="tx1"/>
                </a:solidFill>
                <a:latin typeface="Arial"/>
              </a:rPr>
              <a:t>risk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suitability </a:t>
            </a:r>
            <a:r>
              <a:rPr lang="en-SG" sz="1200" b="0" dirty="0">
                <a:solidFill>
                  <a:schemeClr val="tx1"/>
                </a:solidFill>
                <a:latin typeface="Arial"/>
              </a:rPr>
              <a:t>at the cost of ranking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accuracy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b="1" dirty="0">
                <a:solidFill>
                  <a:schemeClr val="tx1"/>
                </a:solidFill>
                <a:latin typeface="Arial"/>
              </a:rPr>
              <a:t>Broader impact</a:t>
            </a:r>
            <a:endParaRPr lang="en-SG" b="1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tx1"/>
                </a:solidFill>
                <a:latin typeface="Arial"/>
              </a:rPr>
              <a:t>A regulatory </a:t>
            </a:r>
            <a:r>
              <a:rPr lang="en-SG" sz="1200" b="0" dirty="0">
                <a:solidFill>
                  <a:schemeClr val="tx1"/>
                </a:solidFill>
                <a:latin typeface="Arial"/>
              </a:rPr>
              <a:t>risk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suitability can be encoded </a:t>
            </a:r>
            <a:r>
              <a:rPr lang="en-SG" sz="1200" b="0" dirty="0">
                <a:solidFill>
                  <a:schemeClr val="tx1"/>
                </a:solidFill>
                <a:latin typeface="Arial"/>
              </a:rPr>
              <a:t>or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 </a:t>
            </a:r>
            <a:r>
              <a:rPr sz="1200" dirty="0">
                <a:solidFill>
                  <a:schemeClr val="tx1"/>
                </a:solidFill>
                <a:latin typeface="Arial"/>
              </a:rPr>
              <a:t>corrected at </a:t>
            </a:r>
            <a:r>
              <a:rPr lang="en-SG" sz="1200" dirty="0">
                <a:solidFill>
                  <a:schemeClr val="tx1"/>
                </a:solidFill>
                <a:latin typeface="Arial"/>
              </a:rPr>
              <a:t>its</a:t>
            </a:r>
            <a:r>
              <a:rPr sz="1200" dirty="0">
                <a:solidFill>
                  <a:schemeClr val="tx1"/>
                </a:solidFill>
                <a:latin typeface="Arial"/>
              </a:rPr>
              <a:t> data source</a:t>
            </a:r>
            <a:endParaRPr lang="en-SG" sz="1200" dirty="0">
              <a:solidFill>
                <a:schemeClr val="tx1"/>
              </a:solidFill>
              <a:latin typeface="Arial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chemeClr val="tx1"/>
                </a:solidFill>
              </a:rPr>
              <a:t>A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 path for recommenders in other regulated domains</a:t>
            </a:r>
            <a:r>
              <a:rPr lang="en-SG" sz="1200" dirty="0">
                <a:solidFill>
                  <a:schemeClr val="tx1"/>
                </a:solidFill>
              </a:rPr>
              <a:t> </a:t>
            </a:r>
            <a:r>
              <a:rPr sz="1200" b="0" dirty="0">
                <a:solidFill>
                  <a:schemeClr val="tx1"/>
                </a:solidFill>
                <a:latin typeface="Arial"/>
              </a:rPr>
              <a:t>(e.g. insurance product suitability)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736E1-4FDE-2E81-8B53-31EC61EACE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 dirty="0"/>
              <a:t>github.com/</a:t>
            </a:r>
            <a:r>
              <a:rPr lang="en-SG" dirty="0" err="1"/>
              <a:t>Samthesimpsons</a:t>
            </a:r>
            <a:r>
              <a:rPr lang="en-SG" dirty="0"/>
              <a:t>/Risk-Based-Segmentation-for-FAR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b="1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1800" dirty="0"/>
              <a:t>Questions &amp; Answer</a:t>
            </a:r>
            <a:r>
              <a:rPr lang="en-SG" sz="1800" dirty="0"/>
              <a:t>s</a:t>
            </a:r>
            <a:endParaRPr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SG" b="1" dirty="0"/>
              <a:t>Appendix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749808"/>
            <a:ext cx="8138160" cy="566928"/>
          </a:xfrm>
        </p:spPr>
        <p:txBody>
          <a:bodyPr wrap="square" anchor="t"/>
          <a:lstStyle/>
          <a:p>
            <a:r>
              <a:rPr lang="en-SG" sz="2000" b="1" dirty="0">
                <a:solidFill>
                  <a:srgbClr val="156082"/>
                </a:solidFill>
              </a:rPr>
              <a:t>Full </a:t>
            </a:r>
            <a:r>
              <a:rPr sz="2000" b="1" dirty="0">
                <a:solidFill>
                  <a:srgbClr val="156082"/>
                </a:solidFill>
              </a:rPr>
              <a:t>OLS coefficient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98965"/>
              </p:ext>
            </p:extLst>
          </p:nvPr>
        </p:nvGraphicFramePr>
        <p:xfrm>
          <a:off x="1210215" y="1316735"/>
          <a:ext cx="7127577" cy="3124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3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95% C</a:t>
                      </a:r>
                      <a:r>
                        <a:rPr lang="en-SG" sz="1050" b="1" dirty="0">
                          <a:solidFill>
                            <a:srgbClr val="FFFFFF"/>
                          </a:solidFill>
                          <a:latin typeface="Arial"/>
                        </a:rPr>
                        <a:t>I</a:t>
                      </a:r>
                      <a:endParaRPr sz="10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50" b="1" dirty="0">
                          <a:solidFill>
                            <a:srgbClr val="FFFFFF"/>
                          </a:solidFill>
                          <a:latin typeface="Arial"/>
                        </a:rPr>
                        <a:t>p-value</a:t>
                      </a:r>
                      <a:endParaRPr sz="10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Intercept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−0.0471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[−0.0746, −0.0195]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8.1e-4</a:t>
                      </a:r>
                      <a:endParaRPr sz="1050" b="0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1" dirty="0" err="1">
                          <a:solidFill>
                            <a:srgbClr val="202020"/>
                          </a:solidFill>
                          <a:latin typeface="Arial"/>
                        </a:rPr>
                        <a:t>is_coherent</a:t>
                      </a:r>
                      <a:endParaRPr sz="1050" b="1" dirty="0">
                        <a:solidFill>
                          <a:srgbClr val="202020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+0.0294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020"/>
                          </a:solidFill>
                          <a:latin typeface="Arial"/>
                        </a:rPr>
                        <a:t>[+0.0215, +0.0372]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202020"/>
                          </a:solidFill>
                          <a:latin typeface="Arial"/>
                        </a:rPr>
                        <a:t>2.3e-13</a:t>
                      </a:r>
                    </a:p>
                  </a:txBody>
                  <a:tcPr marL="54864" marR="54864" marT="18288" marB="18288" anchor="ctr">
                    <a:solidFill>
                      <a:srgbClr val="FC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asset_volatility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−0.1025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[−0.1349, −0.0701]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5.5e-10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C(type)[Legal Entity]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+0.0154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[−0.0798, +0.1106]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0.751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C(type)[Mass]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[−0.0248, +0.0269]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0.936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C(type)[Premium]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+0.0058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[−0.0206, +0.0322]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C(type)[Professional]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+0.0247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[−0.0084, +0.0578]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0.143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C(year)[2019]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+0.1759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[+0.1507, +0.2012]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1.4e-42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C(year)[2020]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+0.2107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[+0.1986, +0.2227]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6e-259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C(year)[2021]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+0.0754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[+0.0651, +0.0858]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4.1e-46</a:t>
                      </a:r>
                    </a:p>
                  </a:txBody>
                  <a:tcPr marL="54864" marR="54864" marT="18288" marB="18288" anchor="ctr"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C(year)[2022]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020"/>
                          </a:solidFill>
                          <a:latin typeface="Arial"/>
                        </a:rPr>
                        <a:t>−0.0195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02020"/>
                          </a:solidFill>
                          <a:latin typeface="Arial"/>
                        </a:rPr>
                        <a:t>[−0.0283, −0.0107]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202020"/>
                          </a:solidFill>
                          <a:latin typeface="Arial"/>
                        </a:rPr>
                        <a:t>1.4e-5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919E6-1A5F-5574-654C-FF13F6BD00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SG"/>
              <a:t>github.com/Samthesimpsons/Risk-Based-Segmentation-for-FAR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2516</Words>
  <Application>Microsoft Office PowerPoint</Application>
  <PresentationFormat>On-screen Show (16:9)</PresentationFormat>
  <Paragraphs>535</Paragraphs>
  <Slides>32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Cambria Math</vt:lpstr>
      <vt:lpstr>Calibri</vt:lpstr>
      <vt:lpstr>Play</vt:lpstr>
      <vt:lpstr>Office Theme</vt:lpstr>
      <vt:lpstr>Risk-Based Segmentation for Financial Asset Recommendation Balancing Return, Accuracy and Risk Suitability </vt:lpstr>
      <vt:lpstr>Introduction</vt:lpstr>
      <vt:lpstr>What is Financial Asset Recommendation (FAR)?</vt:lpstr>
      <vt:lpstr>The FAR-Trans dataset</vt:lpstr>
      <vt:lpstr>The FAR-Trans benchmarking</vt:lpstr>
      <vt:lpstr>The FAR-Trans benchmarking</vt:lpstr>
      <vt:lpstr>Filling in the missing gap of risk suitability</vt:lpstr>
      <vt:lpstr>Analytical Study</vt:lpstr>
      <vt:lpstr>Measuring Risk Suitability: Profile Coherence</vt:lpstr>
      <vt:lpstr>Discordance is prevalent and it is a customer-level trait</vt:lpstr>
      <vt:lpstr>Discordance is not a single-year artefact</vt:lpstr>
      <vt:lpstr>Regression Study</vt:lpstr>
      <vt:lpstr>Methodology</vt:lpstr>
      <vt:lpstr>LightGCN baseline model – Embedding Based</vt:lpstr>
      <vt:lpstr>LightGCN baseline model – Forward Propagation</vt:lpstr>
      <vt:lpstr>LightGCN baseline model – Back Propagation</vt:lpstr>
      <vt:lpstr>Risk-based segmentation approach</vt:lpstr>
      <vt:lpstr>Alternative approaches</vt:lpstr>
      <vt:lpstr>Experimental Setup</vt:lpstr>
      <vt:lpstr>Normalisation of Profile Coherence metric</vt:lpstr>
      <vt:lpstr>Data training test split</vt:lpstr>
      <vt:lpstr>Configurations &amp; hyperparameter grids</vt:lpstr>
      <vt:lpstr>Results</vt:lpstr>
      <vt:lpstr>Aggregate results over 69 splits</vt:lpstr>
      <vt:lpstr>Visualization of the delta compared to baseline LightGCN</vt:lpstr>
      <vt:lpstr>Normalized Profile Coherence at band-level</vt:lpstr>
      <vt:lpstr>Conclusion</vt:lpstr>
      <vt:lpstr>Limitations &amp; future work</vt:lpstr>
      <vt:lpstr>Conclusion</vt:lpstr>
      <vt:lpstr>Thank You</vt:lpstr>
      <vt:lpstr>Appendix</vt:lpstr>
      <vt:lpstr>Full OLS coefficient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Sim</cp:lastModifiedBy>
  <cp:revision>26</cp:revision>
  <dcterms:modified xsi:type="dcterms:W3CDTF">2026-06-28T14:16:16Z</dcterms:modified>
</cp:coreProperties>
</file>